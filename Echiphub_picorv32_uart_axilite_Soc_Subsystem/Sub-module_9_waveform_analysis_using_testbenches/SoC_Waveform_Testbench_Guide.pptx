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embeddedFontLst>
    <p:embeddedFont>
      <p:font typeface="Consolas" panose="020B0609020204030204" pitchFamily="49" charset="0"/>
      <p:regular r:id="rId16"/>
      <p:bold r:id="rId17"/>
      <p:italic r:id="rId18"/>
      <p:boldItalic r:id="rId19"/>
    </p:embeddedFont>
    <p:embeddedFont>
      <p:font typeface="Poppins" panose="000005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hhC4tzJuw3xmqvP9hCCZsxh7HDd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 name="Google Shape;2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e6c10605ba_0_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e6c10605ba_0_2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g3e6c10605ba_0_26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e6c10605ba_0_2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e6c10605ba_0_26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g3e6c10605ba_0_26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3e6c10605ba_0_2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3e6c10605ba_0_26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g3e6c10605ba_0_26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e6c10605b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3e6c10605ba_0_2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g3e6c10605ba_0_27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6" name="Google Shape;60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7" name="Google Shape;60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9" name="Google Shape;62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0" name="Google Shape;63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
        <p:cNvGrpSpPr/>
        <p:nvPr/>
      </p:nvGrpSpPr>
      <p:grpSpPr>
        <a:xfrm>
          <a:off x="0" y="0"/>
          <a:ext cx="0" cy="0"/>
          <a:chOff x="0" y="0"/>
          <a:chExt cx="0" cy="0"/>
        </a:xfrm>
      </p:grpSpPr>
      <p:sp>
        <p:nvSpPr>
          <p:cNvPr id="16" name="Google Shape;16;p1"/>
          <p:cNvSpPr/>
          <p:nvPr/>
        </p:nvSpPr>
        <p:spPr>
          <a:xfrm>
            <a:off x="643850" y="1097275"/>
            <a:ext cx="75858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B0F0"/>
              </a:buClr>
              <a:buSzPts val="1100"/>
              <a:buFont typeface="Calibri"/>
              <a:buNone/>
            </a:pPr>
            <a:r>
              <a:rPr lang="en-US" sz="1600" b="1" dirty="0">
                <a:solidFill>
                  <a:schemeClr val="dk1"/>
                </a:solidFill>
                <a:latin typeface="Calibri"/>
                <a:ea typeface="Calibri"/>
                <a:cs typeface="Calibri"/>
                <a:sym typeface="Calibri"/>
              </a:rPr>
              <a:t>Sub-module 9</a:t>
            </a:r>
            <a:endParaRPr sz="1600" b="0" i="0" u="none" strike="noStrike" cap="none" dirty="0">
              <a:solidFill>
                <a:schemeClr val="dk1"/>
              </a:solidFill>
              <a:latin typeface="Calibri"/>
              <a:ea typeface="Calibri"/>
              <a:cs typeface="Calibri"/>
              <a:sym typeface="Calibri"/>
            </a:endParaRPr>
          </a:p>
        </p:txBody>
      </p:sp>
      <p:sp>
        <p:nvSpPr>
          <p:cNvPr id="17" name="Google Shape;17;p1"/>
          <p:cNvSpPr/>
          <p:nvPr/>
        </p:nvSpPr>
        <p:spPr>
          <a:xfrm>
            <a:off x="643850" y="1417317"/>
            <a:ext cx="7585800" cy="164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4000"/>
              <a:buFont typeface="Calibri"/>
              <a:buNone/>
            </a:pPr>
            <a:r>
              <a:rPr lang="en-US" sz="4000" b="1" i="0" u="none" strike="noStrike" cap="none">
                <a:solidFill>
                  <a:schemeClr val="dk1"/>
                </a:solidFill>
                <a:latin typeface="Poppins"/>
                <a:ea typeface="Poppins"/>
                <a:cs typeface="Poppins"/>
                <a:sym typeface="Poppins"/>
              </a:rPr>
              <a:t>Waveform Analysis</a:t>
            </a:r>
            <a:endParaRPr sz="4000" b="1" i="0" u="none" strike="noStrike" cap="none">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FFFFFF"/>
              </a:buClr>
              <a:buSzPts val="4000"/>
              <a:buFont typeface="Calibri"/>
              <a:buNone/>
            </a:pPr>
            <a:r>
              <a:rPr lang="en-US" sz="4000" b="1" i="0" u="none" strike="noStrike" cap="none">
                <a:solidFill>
                  <a:schemeClr val="dk1"/>
                </a:solidFill>
                <a:latin typeface="Poppins"/>
                <a:ea typeface="Poppins"/>
                <a:cs typeface="Poppins"/>
                <a:sym typeface="Poppins"/>
              </a:rPr>
              <a:t>Using Testbenches</a:t>
            </a:r>
            <a:endParaRPr sz="4000" b="1" i="0" u="none" strike="noStrike" cap="none">
              <a:solidFill>
                <a:schemeClr val="dk1"/>
              </a:solidFill>
              <a:latin typeface="Poppins"/>
              <a:ea typeface="Poppins"/>
              <a:cs typeface="Poppins"/>
              <a:sym typeface="Poppins"/>
            </a:endParaRPr>
          </a:p>
        </p:txBody>
      </p:sp>
      <p:sp>
        <p:nvSpPr>
          <p:cNvPr id="18" name="Google Shape;18;p1"/>
          <p:cNvSpPr/>
          <p:nvPr/>
        </p:nvSpPr>
        <p:spPr>
          <a:xfrm>
            <a:off x="643850" y="3200408"/>
            <a:ext cx="75858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A8C4D8"/>
              </a:buClr>
              <a:buSzPts val="1300"/>
              <a:buFont typeface="Calibri"/>
              <a:buNone/>
            </a:pPr>
            <a:r>
              <a:rPr lang="en-US" sz="1300" b="0" i="1" u="none" strike="noStrike" cap="none">
                <a:solidFill>
                  <a:srgbClr val="666666"/>
                </a:solidFill>
                <a:latin typeface="Calibri"/>
                <a:ea typeface="Calibri"/>
                <a:cs typeface="Calibri"/>
                <a:sym typeface="Calibri"/>
              </a:rPr>
              <a:t>From RTL Design to Simulation-Ready Waveforms</a:t>
            </a:r>
            <a:endParaRPr sz="1300" b="0" i="0" u="none" strike="noStrike" cap="none">
              <a:solidFill>
                <a:srgbClr val="666666"/>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24" name="Google Shape;24;p2"/>
          <p:cNvSpPr/>
          <p:nvPr/>
        </p:nvSpPr>
        <p:spPr>
          <a:xfrm>
            <a:off x="396700" y="662470"/>
            <a:ext cx="8229600" cy="548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F3864"/>
              </a:buClr>
              <a:buSzPts val="3000"/>
              <a:buFont typeface="Calibri"/>
              <a:buNone/>
            </a:pPr>
            <a:r>
              <a:rPr lang="en-US" sz="3000" b="1" i="0" u="none" strike="noStrike" cap="none">
                <a:solidFill>
                  <a:schemeClr val="dk1"/>
                </a:solidFill>
                <a:latin typeface="Calibri"/>
                <a:ea typeface="Calibri"/>
                <a:cs typeface="Calibri"/>
                <a:sym typeface="Calibri"/>
              </a:rPr>
              <a:t>What We'll Cover</a:t>
            </a:r>
            <a:endParaRPr sz="3000" b="0" i="0" u="none" strike="noStrike" cap="none">
              <a:solidFill>
                <a:schemeClr val="dk1"/>
              </a:solidFill>
              <a:latin typeface="Calibri"/>
              <a:ea typeface="Calibri"/>
              <a:cs typeface="Calibri"/>
              <a:sym typeface="Calibri"/>
            </a:endParaRPr>
          </a:p>
        </p:txBody>
      </p:sp>
      <p:sp>
        <p:nvSpPr>
          <p:cNvPr id="25" name="Google Shape;25;p2"/>
          <p:cNvSpPr/>
          <p:nvPr/>
        </p:nvSpPr>
        <p:spPr>
          <a:xfrm>
            <a:off x="532075" y="1319225"/>
            <a:ext cx="4122115" cy="623255"/>
          </a:xfrm>
          <a:custGeom>
            <a:avLst/>
            <a:gdLst/>
            <a:ahLst/>
            <a:cxnLst/>
            <a:rect l="l" t="t" r="r" b="b"/>
            <a:pathLst>
              <a:path w="11216640" h="1755648" extrusionOk="0">
                <a:moveTo>
                  <a:pt x="0" y="0"/>
                </a:moveTo>
                <a:lnTo>
                  <a:pt x="11216640" y="0"/>
                </a:lnTo>
                <a:lnTo>
                  <a:pt x="11216640" y="1755648"/>
                </a:lnTo>
                <a:lnTo>
                  <a:pt x="0" y="1755648"/>
                </a:lnTo>
                <a:close/>
              </a:path>
            </a:pathLst>
          </a:custGeom>
          <a:solidFill>
            <a:srgbClr val="FFFFFF"/>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grpSp>
        <p:nvGrpSpPr>
          <p:cNvPr id="26" name="Google Shape;26;p2"/>
          <p:cNvGrpSpPr/>
          <p:nvPr/>
        </p:nvGrpSpPr>
        <p:grpSpPr>
          <a:xfrm>
            <a:off x="639448" y="1405664"/>
            <a:ext cx="375779" cy="429731"/>
            <a:chOff x="0" y="-47625"/>
            <a:chExt cx="1024200" cy="1218057"/>
          </a:xfrm>
        </p:grpSpPr>
        <p:sp>
          <p:nvSpPr>
            <p:cNvPr id="27" name="Google Shape;27;p2"/>
            <p:cNvSpPr/>
            <p:nvPr/>
          </p:nvSpPr>
          <p:spPr>
            <a:xfrm>
              <a:off x="0" y="0"/>
              <a:ext cx="1024128" cy="1170432"/>
            </a:xfrm>
            <a:custGeom>
              <a:avLst/>
              <a:gdLst/>
              <a:ahLst/>
              <a:cxnLst/>
              <a:rect l="l" t="t" r="r" b="b"/>
              <a:pathLst>
                <a:path w="1024128" h="1170432" extrusionOk="0">
                  <a:moveTo>
                    <a:pt x="0" y="0"/>
                  </a:moveTo>
                  <a:lnTo>
                    <a:pt x="1024128" y="0"/>
                  </a:lnTo>
                  <a:lnTo>
                    <a:pt x="1024128" y="1170432"/>
                  </a:lnTo>
                  <a:lnTo>
                    <a:pt x="0" y="1170432"/>
                  </a:lnTo>
                  <a:close/>
                </a:path>
              </a:pathLst>
            </a:custGeom>
            <a:blipFill rotWithShape="1">
              <a:blip r:embed="rId3">
                <a:alphaModFix amt="0"/>
              </a:blip>
              <a:stretch>
                <a:fillRect l="-96642" r="-96630"/>
              </a:stretch>
            </a:blip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28" name="Google Shape;28;p2"/>
            <p:cNvSpPr txBox="1"/>
            <p:nvPr/>
          </p:nvSpPr>
          <p:spPr>
            <a:xfrm>
              <a:off x="0" y="-47625"/>
              <a:ext cx="1024200" cy="1218000"/>
            </a:xfrm>
            <a:prstGeom prst="rect">
              <a:avLst/>
            </a:prstGeom>
            <a:noFill/>
            <a:ln>
              <a:noFill/>
            </a:ln>
          </p:spPr>
          <p:txBody>
            <a:bodyPr spcFirstLastPara="1" wrap="square" lIns="0" tIns="0" rIns="0" bIns="0" anchor="ctr" anchorCtr="0">
              <a:noAutofit/>
            </a:bodyPr>
            <a:lstStyle/>
            <a:p>
              <a:pPr marL="0" marR="0" lvl="0" indent="0" algn="l" rtl="0">
                <a:lnSpc>
                  <a:spcPct val="120007"/>
                </a:lnSpc>
                <a:spcBef>
                  <a:spcPts val="0"/>
                </a:spcBef>
                <a:spcAft>
                  <a:spcPts val="0"/>
                </a:spcAft>
                <a:buClr>
                  <a:srgbClr val="000000"/>
                </a:buClr>
                <a:buSzPts val="1489"/>
                <a:buFont typeface="Arial"/>
                <a:buNone/>
              </a:pPr>
              <a:r>
                <a:rPr lang="en-US" sz="1489" b="1" i="0" u="none" strike="noStrike" cap="none">
                  <a:solidFill>
                    <a:srgbClr val="2E74B5"/>
                  </a:solidFill>
                  <a:latin typeface="Calibri"/>
                  <a:ea typeface="Calibri"/>
                  <a:cs typeface="Calibri"/>
                  <a:sym typeface="Calibri"/>
                </a:rPr>
                <a:t>01</a:t>
              </a:r>
              <a:endParaRPr sz="745" b="0" i="0" u="none" strike="noStrike" cap="none">
                <a:solidFill>
                  <a:srgbClr val="000000"/>
                </a:solidFill>
                <a:latin typeface="Arial"/>
                <a:ea typeface="Arial"/>
                <a:cs typeface="Arial"/>
                <a:sym typeface="Arial"/>
              </a:endParaRPr>
            </a:p>
          </p:txBody>
        </p:sp>
      </p:grpSp>
      <p:grpSp>
        <p:nvGrpSpPr>
          <p:cNvPr id="29" name="Google Shape;29;p2"/>
          <p:cNvGrpSpPr/>
          <p:nvPr/>
        </p:nvGrpSpPr>
        <p:grpSpPr>
          <a:xfrm>
            <a:off x="1044833" y="1399286"/>
            <a:ext cx="30288" cy="459257"/>
            <a:chOff x="0" y="0"/>
            <a:chExt cx="82550" cy="1301750"/>
          </a:xfrm>
        </p:grpSpPr>
        <p:sp>
          <p:nvSpPr>
            <p:cNvPr id="30" name="Google Shape;30;p2"/>
            <p:cNvSpPr/>
            <p:nvPr/>
          </p:nvSpPr>
          <p:spPr>
            <a:xfrm>
              <a:off x="16891" y="16891"/>
              <a:ext cx="48768" cy="1267968"/>
            </a:xfrm>
            <a:custGeom>
              <a:avLst/>
              <a:gdLst/>
              <a:ahLst/>
              <a:cxnLst/>
              <a:rect l="l" t="t" r="r" b="b"/>
              <a:pathLst>
                <a:path w="48768" h="1267968" extrusionOk="0">
                  <a:moveTo>
                    <a:pt x="0" y="0"/>
                  </a:moveTo>
                  <a:lnTo>
                    <a:pt x="48768" y="0"/>
                  </a:lnTo>
                  <a:lnTo>
                    <a:pt x="48768" y="1267968"/>
                  </a:lnTo>
                  <a:lnTo>
                    <a:pt x="0" y="1267968"/>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31" name="Google Shape;31;p2"/>
            <p:cNvSpPr/>
            <p:nvPr/>
          </p:nvSpPr>
          <p:spPr>
            <a:xfrm>
              <a:off x="0" y="0"/>
              <a:ext cx="82550" cy="1301750"/>
            </a:xfrm>
            <a:custGeom>
              <a:avLst/>
              <a:gdLst/>
              <a:ahLst/>
              <a:cxnLst/>
              <a:rect l="l" t="t" r="r" b="b"/>
              <a:pathLst>
                <a:path w="82550" h="1301750" extrusionOk="0">
                  <a:moveTo>
                    <a:pt x="16891" y="0"/>
                  </a:moveTo>
                  <a:lnTo>
                    <a:pt x="65659" y="0"/>
                  </a:lnTo>
                  <a:cubicBezTo>
                    <a:pt x="75057" y="0"/>
                    <a:pt x="82550" y="7620"/>
                    <a:pt x="82550" y="16891"/>
                  </a:cubicBezTo>
                  <a:lnTo>
                    <a:pt x="82550" y="1284859"/>
                  </a:lnTo>
                  <a:cubicBezTo>
                    <a:pt x="82550" y="1294257"/>
                    <a:pt x="74930" y="1301750"/>
                    <a:pt x="656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5659" y="1267968"/>
                  </a:lnTo>
                  <a:lnTo>
                    <a:pt x="65659" y="1284859"/>
                  </a:lnTo>
                  <a:lnTo>
                    <a:pt x="48768" y="1284859"/>
                  </a:lnTo>
                  <a:lnTo>
                    <a:pt x="48768" y="16891"/>
                  </a:lnTo>
                  <a:lnTo>
                    <a:pt x="65659" y="16891"/>
                  </a:lnTo>
                  <a:lnTo>
                    <a:pt x="65659" y="33909"/>
                  </a:lnTo>
                  <a:lnTo>
                    <a:pt x="16891" y="33909"/>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grpSp>
      <p:sp>
        <p:nvSpPr>
          <p:cNvPr id="32" name="Google Shape;32;p2"/>
          <p:cNvSpPr/>
          <p:nvPr/>
        </p:nvSpPr>
        <p:spPr>
          <a:xfrm>
            <a:off x="532075" y="2050517"/>
            <a:ext cx="4122115" cy="623255"/>
          </a:xfrm>
          <a:custGeom>
            <a:avLst/>
            <a:gdLst/>
            <a:ahLst/>
            <a:cxnLst/>
            <a:rect l="l" t="t" r="r" b="b"/>
            <a:pathLst>
              <a:path w="11216640" h="1755648" extrusionOk="0">
                <a:moveTo>
                  <a:pt x="0" y="0"/>
                </a:moveTo>
                <a:lnTo>
                  <a:pt x="11216640" y="0"/>
                </a:lnTo>
                <a:lnTo>
                  <a:pt x="11216640" y="1755648"/>
                </a:lnTo>
                <a:lnTo>
                  <a:pt x="0" y="1755648"/>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grpSp>
        <p:nvGrpSpPr>
          <p:cNvPr id="33" name="Google Shape;33;p2"/>
          <p:cNvGrpSpPr/>
          <p:nvPr/>
        </p:nvGrpSpPr>
        <p:grpSpPr>
          <a:xfrm>
            <a:off x="639448" y="2136957"/>
            <a:ext cx="375779" cy="429731"/>
            <a:chOff x="0" y="-47625"/>
            <a:chExt cx="1024200" cy="1218057"/>
          </a:xfrm>
        </p:grpSpPr>
        <p:sp>
          <p:nvSpPr>
            <p:cNvPr id="34" name="Google Shape;34;p2"/>
            <p:cNvSpPr/>
            <p:nvPr/>
          </p:nvSpPr>
          <p:spPr>
            <a:xfrm>
              <a:off x="0" y="0"/>
              <a:ext cx="1024128" cy="1170432"/>
            </a:xfrm>
            <a:custGeom>
              <a:avLst/>
              <a:gdLst/>
              <a:ahLst/>
              <a:cxnLst/>
              <a:rect l="l" t="t" r="r" b="b"/>
              <a:pathLst>
                <a:path w="1024128" h="1170432" extrusionOk="0">
                  <a:moveTo>
                    <a:pt x="0" y="0"/>
                  </a:moveTo>
                  <a:lnTo>
                    <a:pt x="1024128" y="0"/>
                  </a:lnTo>
                  <a:lnTo>
                    <a:pt x="1024128" y="1170432"/>
                  </a:lnTo>
                  <a:lnTo>
                    <a:pt x="0" y="1170432"/>
                  </a:lnTo>
                  <a:close/>
                </a:path>
              </a:pathLst>
            </a:custGeom>
            <a:blipFill rotWithShape="1">
              <a:blip r:embed="rId3">
                <a:alphaModFix amt="0"/>
              </a:blip>
              <a:stretch>
                <a:fillRect l="-96642" r="-96630"/>
              </a:stretch>
            </a:blip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35" name="Google Shape;35;p2"/>
            <p:cNvSpPr txBox="1"/>
            <p:nvPr/>
          </p:nvSpPr>
          <p:spPr>
            <a:xfrm>
              <a:off x="0" y="-47625"/>
              <a:ext cx="1024200" cy="1218000"/>
            </a:xfrm>
            <a:prstGeom prst="rect">
              <a:avLst/>
            </a:prstGeom>
            <a:noFill/>
            <a:ln>
              <a:noFill/>
            </a:ln>
          </p:spPr>
          <p:txBody>
            <a:bodyPr spcFirstLastPara="1" wrap="square" lIns="0" tIns="0" rIns="0" bIns="0" anchor="ctr" anchorCtr="0">
              <a:noAutofit/>
            </a:bodyPr>
            <a:lstStyle/>
            <a:p>
              <a:pPr marL="0" marR="0" lvl="0" indent="0" algn="l" rtl="0">
                <a:lnSpc>
                  <a:spcPct val="120007"/>
                </a:lnSpc>
                <a:spcBef>
                  <a:spcPts val="0"/>
                </a:spcBef>
                <a:spcAft>
                  <a:spcPts val="0"/>
                </a:spcAft>
                <a:buClr>
                  <a:srgbClr val="000000"/>
                </a:buClr>
                <a:buSzPts val="1489"/>
                <a:buFont typeface="Arial"/>
                <a:buNone/>
              </a:pPr>
              <a:r>
                <a:rPr lang="en-US" sz="1489" b="1" i="0" u="none" strike="noStrike" cap="none">
                  <a:solidFill>
                    <a:srgbClr val="2E74B5"/>
                  </a:solidFill>
                  <a:latin typeface="Calibri"/>
                  <a:ea typeface="Calibri"/>
                  <a:cs typeface="Calibri"/>
                  <a:sym typeface="Calibri"/>
                </a:rPr>
                <a:t>02</a:t>
              </a:r>
              <a:endParaRPr sz="745" b="0" i="0" u="none" strike="noStrike" cap="none">
                <a:solidFill>
                  <a:srgbClr val="000000"/>
                </a:solidFill>
                <a:latin typeface="Arial"/>
                <a:ea typeface="Arial"/>
                <a:cs typeface="Arial"/>
                <a:sym typeface="Arial"/>
              </a:endParaRPr>
            </a:p>
          </p:txBody>
        </p:sp>
      </p:grpSp>
      <p:grpSp>
        <p:nvGrpSpPr>
          <p:cNvPr id="36" name="Google Shape;36;p2"/>
          <p:cNvGrpSpPr/>
          <p:nvPr/>
        </p:nvGrpSpPr>
        <p:grpSpPr>
          <a:xfrm>
            <a:off x="1176315" y="1399275"/>
            <a:ext cx="3220758" cy="459309"/>
            <a:chOff x="0" y="-38100"/>
            <a:chExt cx="8778300" cy="769620"/>
          </a:xfrm>
        </p:grpSpPr>
        <p:sp>
          <p:nvSpPr>
            <p:cNvPr id="37" name="Google Shape;37;p2"/>
            <p:cNvSpPr/>
            <p:nvPr/>
          </p:nvSpPr>
          <p:spPr>
            <a:xfrm>
              <a:off x="0" y="0"/>
              <a:ext cx="8778240" cy="731520"/>
            </a:xfrm>
            <a:custGeom>
              <a:avLst/>
              <a:gdLst/>
              <a:ahLst/>
              <a:cxnLst/>
              <a:rect l="l" t="t" r="r" b="b"/>
              <a:pathLst>
                <a:path w="8778240" h="731520" extrusionOk="0">
                  <a:moveTo>
                    <a:pt x="0" y="0"/>
                  </a:moveTo>
                  <a:lnTo>
                    <a:pt x="8778240" y="0"/>
                  </a:lnTo>
                  <a:lnTo>
                    <a:pt x="8778240" y="731520"/>
                  </a:lnTo>
                  <a:lnTo>
                    <a:pt x="0" y="731520"/>
                  </a:lnTo>
                  <a:close/>
                </a:path>
              </a:pathLst>
            </a:custGeom>
            <a:blipFill rotWithShape="1">
              <a:blip r:embed="rId3">
                <a:alphaModFix amt="0"/>
              </a:blip>
              <a:stretch>
                <a:fillRect t="-183820" b="-183820"/>
              </a:stretch>
            </a:blip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sp>
          <p:nvSpPr>
            <p:cNvPr id="38" name="Google Shape;38;p2"/>
            <p:cNvSpPr txBox="1"/>
            <p:nvPr/>
          </p:nvSpPr>
          <p:spPr>
            <a:xfrm>
              <a:off x="0" y="-38100"/>
              <a:ext cx="8778300" cy="769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F618D"/>
                </a:buClr>
                <a:buSzPts val="1100"/>
                <a:buFont typeface="Calibri"/>
                <a:buNone/>
              </a:pPr>
              <a:r>
                <a:rPr lang="en-US">
                  <a:solidFill>
                    <a:srgbClr val="1F618D"/>
                  </a:solidFill>
                  <a:latin typeface="Calibri"/>
                  <a:ea typeface="Calibri"/>
                  <a:cs typeface="Calibri"/>
                  <a:sym typeface="Calibri"/>
                </a:rPr>
                <a:t>Testbench Fundamentals</a:t>
              </a:r>
              <a:endParaRPr i="0" u="none" strike="noStrike" cap="none">
                <a:solidFill>
                  <a:srgbClr val="1F3864"/>
                </a:solidFill>
                <a:latin typeface="Calibri"/>
                <a:ea typeface="Calibri"/>
                <a:cs typeface="Calibri"/>
                <a:sym typeface="Calibri"/>
              </a:endParaRPr>
            </a:p>
          </p:txBody>
        </p:sp>
      </p:grpSp>
      <p:grpSp>
        <p:nvGrpSpPr>
          <p:cNvPr id="39" name="Google Shape;39;p2"/>
          <p:cNvGrpSpPr/>
          <p:nvPr/>
        </p:nvGrpSpPr>
        <p:grpSpPr>
          <a:xfrm>
            <a:off x="1044833" y="2130579"/>
            <a:ext cx="30288" cy="459257"/>
            <a:chOff x="0" y="0"/>
            <a:chExt cx="82550" cy="1301750"/>
          </a:xfrm>
        </p:grpSpPr>
        <p:sp>
          <p:nvSpPr>
            <p:cNvPr id="40" name="Google Shape;40;p2"/>
            <p:cNvSpPr/>
            <p:nvPr/>
          </p:nvSpPr>
          <p:spPr>
            <a:xfrm>
              <a:off x="16891" y="16891"/>
              <a:ext cx="48768" cy="1267968"/>
            </a:xfrm>
            <a:custGeom>
              <a:avLst/>
              <a:gdLst/>
              <a:ahLst/>
              <a:cxnLst/>
              <a:rect l="l" t="t" r="r" b="b"/>
              <a:pathLst>
                <a:path w="48768" h="1267968" extrusionOk="0">
                  <a:moveTo>
                    <a:pt x="0" y="0"/>
                  </a:moveTo>
                  <a:lnTo>
                    <a:pt x="48768" y="0"/>
                  </a:lnTo>
                  <a:lnTo>
                    <a:pt x="48768" y="1267968"/>
                  </a:lnTo>
                  <a:lnTo>
                    <a:pt x="0" y="1267968"/>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41" name="Google Shape;41;p2"/>
            <p:cNvSpPr/>
            <p:nvPr/>
          </p:nvSpPr>
          <p:spPr>
            <a:xfrm>
              <a:off x="0" y="0"/>
              <a:ext cx="82550" cy="1301750"/>
            </a:xfrm>
            <a:custGeom>
              <a:avLst/>
              <a:gdLst/>
              <a:ahLst/>
              <a:cxnLst/>
              <a:rect l="l" t="t" r="r" b="b"/>
              <a:pathLst>
                <a:path w="82550" h="1301750" extrusionOk="0">
                  <a:moveTo>
                    <a:pt x="16891" y="0"/>
                  </a:moveTo>
                  <a:lnTo>
                    <a:pt x="65659" y="0"/>
                  </a:lnTo>
                  <a:cubicBezTo>
                    <a:pt x="75057" y="0"/>
                    <a:pt x="82550" y="7620"/>
                    <a:pt x="82550" y="16891"/>
                  </a:cubicBezTo>
                  <a:lnTo>
                    <a:pt x="82550" y="1284859"/>
                  </a:lnTo>
                  <a:cubicBezTo>
                    <a:pt x="82550" y="1294257"/>
                    <a:pt x="74930" y="1301750"/>
                    <a:pt x="656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5659" y="1267968"/>
                  </a:lnTo>
                  <a:lnTo>
                    <a:pt x="65659" y="1284859"/>
                  </a:lnTo>
                  <a:lnTo>
                    <a:pt x="48768" y="1284859"/>
                  </a:lnTo>
                  <a:lnTo>
                    <a:pt x="48768" y="16891"/>
                  </a:lnTo>
                  <a:lnTo>
                    <a:pt x="65659" y="16891"/>
                  </a:lnTo>
                  <a:lnTo>
                    <a:pt x="65659" y="33909"/>
                  </a:lnTo>
                  <a:lnTo>
                    <a:pt x="16891" y="33909"/>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grpSp>
      <p:grpSp>
        <p:nvGrpSpPr>
          <p:cNvPr id="42" name="Google Shape;42;p2"/>
          <p:cNvGrpSpPr/>
          <p:nvPr/>
        </p:nvGrpSpPr>
        <p:grpSpPr>
          <a:xfrm>
            <a:off x="1176315" y="2130581"/>
            <a:ext cx="3220758" cy="459232"/>
            <a:chOff x="0" y="-38100"/>
            <a:chExt cx="8778300" cy="769620"/>
          </a:xfrm>
        </p:grpSpPr>
        <p:sp>
          <p:nvSpPr>
            <p:cNvPr id="43" name="Google Shape;43;p2"/>
            <p:cNvSpPr/>
            <p:nvPr/>
          </p:nvSpPr>
          <p:spPr>
            <a:xfrm>
              <a:off x="0" y="0"/>
              <a:ext cx="8778240" cy="731520"/>
            </a:xfrm>
            <a:custGeom>
              <a:avLst/>
              <a:gdLst/>
              <a:ahLst/>
              <a:cxnLst/>
              <a:rect l="l" t="t" r="r" b="b"/>
              <a:pathLst>
                <a:path w="8778240" h="731520" extrusionOk="0">
                  <a:moveTo>
                    <a:pt x="0" y="0"/>
                  </a:moveTo>
                  <a:lnTo>
                    <a:pt x="8778240" y="0"/>
                  </a:lnTo>
                  <a:lnTo>
                    <a:pt x="8778240" y="731520"/>
                  </a:lnTo>
                  <a:lnTo>
                    <a:pt x="0" y="731520"/>
                  </a:lnTo>
                  <a:close/>
                </a:path>
              </a:pathLst>
            </a:custGeom>
            <a:blipFill rotWithShape="1">
              <a:blip r:embed="rId3">
                <a:alphaModFix amt="0"/>
              </a:blip>
              <a:stretch>
                <a:fillRect t="-183820" b="-183820"/>
              </a:stretch>
            </a:blip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sp>
          <p:nvSpPr>
            <p:cNvPr id="44" name="Google Shape;44;p2"/>
            <p:cNvSpPr txBox="1"/>
            <p:nvPr/>
          </p:nvSpPr>
          <p:spPr>
            <a:xfrm>
              <a:off x="0" y="-38100"/>
              <a:ext cx="8778300" cy="769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F618D"/>
                </a:buClr>
                <a:buSzPts val="1100"/>
                <a:buFont typeface="Calibri"/>
                <a:buNone/>
              </a:pPr>
              <a:r>
                <a:rPr lang="en-US">
                  <a:solidFill>
                    <a:srgbClr val="1F618D"/>
                  </a:solidFill>
                  <a:latin typeface="Calibri"/>
                  <a:ea typeface="Calibri"/>
                  <a:cs typeface="Calibri"/>
                  <a:sym typeface="Calibri"/>
                </a:rPr>
                <a:t>Project Testbench Files</a:t>
              </a:r>
              <a:endParaRPr i="0" u="none" strike="noStrike" cap="none">
                <a:solidFill>
                  <a:srgbClr val="1F3864"/>
                </a:solidFill>
                <a:latin typeface="Calibri"/>
                <a:ea typeface="Calibri"/>
                <a:cs typeface="Calibri"/>
                <a:sym typeface="Calibri"/>
              </a:endParaRPr>
            </a:p>
          </p:txBody>
        </p:sp>
      </p:grpSp>
      <p:sp>
        <p:nvSpPr>
          <p:cNvPr id="45" name="Google Shape;45;p2"/>
          <p:cNvSpPr/>
          <p:nvPr/>
        </p:nvSpPr>
        <p:spPr>
          <a:xfrm>
            <a:off x="532075" y="2781810"/>
            <a:ext cx="4122115" cy="623255"/>
          </a:xfrm>
          <a:custGeom>
            <a:avLst/>
            <a:gdLst/>
            <a:ahLst/>
            <a:cxnLst/>
            <a:rect l="l" t="t" r="r" b="b"/>
            <a:pathLst>
              <a:path w="11216640" h="1755648" extrusionOk="0">
                <a:moveTo>
                  <a:pt x="0" y="0"/>
                </a:moveTo>
                <a:lnTo>
                  <a:pt x="11216640" y="0"/>
                </a:lnTo>
                <a:lnTo>
                  <a:pt x="11216640" y="1755648"/>
                </a:lnTo>
                <a:lnTo>
                  <a:pt x="0" y="1755648"/>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grpSp>
        <p:nvGrpSpPr>
          <p:cNvPr id="46" name="Google Shape;46;p2"/>
          <p:cNvGrpSpPr/>
          <p:nvPr/>
        </p:nvGrpSpPr>
        <p:grpSpPr>
          <a:xfrm>
            <a:off x="639448" y="2868249"/>
            <a:ext cx="375779" cy="429731"/>
            <a:chOff x="0" y="-47625"/>
            <a:chExt cx="1024200" cy="1218057"/>
          </a:xfrm>
        </p:grpSpPr>
        <p:sp>
          <p:nvSpPr>
            <p:cNvPr id="47" name="Google Shape;47;p2"/>
            <p:cNvSpPr/>
            <p:nvPr/>
          </p:nvSpPr>
          <p:spPr>
            <a:xfrm>
              <a:off x="0" y="0"/>
              <a:ext cx="1024128" cy="1170432"/>
            </a:xfrm>
            <a:custGeom>
              <a:avLst/>
              <a:gdLst/>
              <a:ahLst/>
              <a:cxnLst/>
              <a:rect l="l" t="t" r="r" b="b"/>
              <a:pathLst>
                <a:path w="1024128" h="1170432" extrusionOk="0">
                  <a:moveTo>
                    <a:pt x="0" y="0"/>
                  </a:moveTo>
                  <a:lnTo>
                    <a:pt x="1024128" y="0"/>
                  </a:lnTo>
                  <a:lnTo>
                    <a:pt x="1024128" y="1170432"/>
                  </a:lnTo>
                  <a:lnTo>
                    <a:pt x="0" y="1170432"/>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48" name="Google Shape;48;p2"/>
            <p:cNvSpPr txBox="1"/>
            <p:nvPr/>
          </p:nvSpPr>
          <p:spPr>
            <a:xfrm>
              <a:off x="0" y="-47625"/>
              <a:ext cx="1024200" cy="1218000"/>
            </a:xfrm>
            <a:prstGeom prst="rect">
              <a:avLst/>
            </a:prstGeom>
            <a:noFill/>
            <a:ln>
              <a:noFill/>
            </a:ln>
          </p:spPr>
          <p:txBody>
            <a:bodyPr spcFirstLastPara="1" wrap="square" lIns="0" tIns="0" rIns="0" bIns="0" anchor="ctr" anchorCtr="0">
              <a:noAutofit/>
            </a:bodyPr>
            <a:lstStyle/>
            <a:p>
              <a:pPr marL="0" marR="0" lvl="0" indent="0" algn="l" rtl="0">
                <a:lnSpc>
                  <a:spcPct val="120007"/>
                </a:lnSpc>
                <a:spcBef>
                  <a:spcPts val="0"/>
                </a:spcBef>
                <a:spcAft>
                  <a:spcPts val="0"/>
                </a:spcAft>
                <a:buClr>
                  <a:srgbClr val="000000"/>
                </a:buClr>
                <a:buSzPts val="1489"/>
                <a:buFont typeface="Arial"/>
                <a:buNone/>
              </a:pPr>
              <a:r>
                <a:rPr lang="en-US" sz="1489" b="1" i="0" u="none" strike="noStrike" cap="none">
                  <a:solidFill>
                    <a:srgbClr val="2E74B5"/>
                  </a:solidFill>
                  <a:latin typeface="Calibri"/>
                  <a:ea typeface="Calibri"/>
                  <a:cs typeface="Calibri"/>
                  <a:sym typeface="Calibri"/>
                </a:rPr>
                <a:t>03</a:t>
              </a:r>
              <a:endParaRPr sz="745" b="0" i="0" u="none" strike="noStrike" cap="none">
                <a:solidFill>
                  <a:srgbClr val="000000"/>
                </a:solidFill>
                <a:latin typeface="Arial"/>
                <a:ea typeface="Arial"/>
                <a:cs typeface="Arial"/>
                <a:sym typeface="Arial"/>
              </a:endParaRPr>
            </a:p>
          </p:txBody>
        </p:sp>
      </p:grpSp>
      <p:grpSp>
        <p:nvGrpSpPr>
          <p:cNvPr id="49" name="Google Shape;49;p2"/>
          <p:cNvGrpSpPr/>
          <p:nvPr/>
        </p:nvGrpSpPr>
        <p:grpSpPr>
          <a:xfrm>
            <a:off x="1044833" y="2861871"/>
            <a:ext cx="30288" cy="459257"/>
            <a:chOff x="0" y="0"/>
            <a:chExt cx="82550" cy="1301750"/>
          </a:xfrm>
        </p:grpSpPr>
        <p:sp>
          <p:nvSpPr>
            <p:cNvPr id="50" name="Google Shape;50;p2"/>
            <p:cNvSpPr/>
            <p:nvPr/>
          </p:nvSpPr>
          <p:spPr>
            <a:xfrm>
              <a:off x="16891" y="16891"/>
              <a:ext cx="48768" cy="1267968"/>
            </a:xfrm>
            <a:custGeom>
              <a:avLst/>
              <a:gdLst/>
              <a:ahLst/>
              <a:cxnLst/>
              <a:rect l="l" t="t" r="r" b="b"/>
              <a:pathLst>
                <a:path w="48768" h="1267968" extrusionOk="0">
                  <a:moveTo>
                    <a:pt x="0" y="0"/>
                  </a:moveTo>
                  <a:lnTo>
                    <a:pt x="48768" y="0"/>
                  </a:lnTo>
                  <a:lnTo>
                    <a:pt x="48768" y="1267968"/>
                  </a:lnTo>
                  <a:lnTo>
                    <a:pt x="0" y="1267968"/>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51" name="Google Shape;51;p2"/>
            <p:cNvSpPr/>
            <p:nvPr/>
          </p:nvSpPr>
          <p:spPr>
            <a:xfrm>
              <a:off x="0" y="0"/>
              <a:ext cx="82550" cy="1301750"/>
            </a:xfrm>
            <a:custGeom>
              <a:avLst/>
              <a:gdLst/>
              <a:ahLst/>
              <a:cxnLst/>
              <a:rect l="l" t="t" r="r" b="b"/>
              <a:pathLst>
                <a:path w="82550" h="1301750" extrusionOk="0">
                  <a:moveTo>
                    <a:pt x="16891" y="0"/>
                  </a:moveTo>
                  <a:lnTo>
                    <a:pt x="65659" y="0"/>
                  </a:lnTo>
                  <a:cubicBezTo>
                    <a:pt x="75057" y="0"/>
                    <a:pt x="82550" y="7620"/>
                    <a:pt x="82550" y="16891"/>
                  </a:cubicBezTo>
                  <a:lnTo>
                    <a:pt x="82550" y="1284859"/>
                  </a:lnTo>
                  <a:cubicBezTo>
                    <a:pt x="82550" y="1294257"/>
                    <a:pt x="74930" y="1301750"/>
                    <a:pt x="656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5659" y="1267968"/>
                  </a:lnTo>
                  <a:lnTo>
                    <a:pt x="65659" y="1284859"/>
                  </a:lnTo>
                  <a:lnTo>
                    <a:pt x="48768" y="1284859"/>
                  </a:lnTo>
                  <a:lnTo>
                    <a:pt x="48768" y="16891"/>
                  </a:lnTo>
                  <a:lnTo>
                    <a:pt x="65659" y="16891"/>
                  </a:lnTo>
                  <a:lnTo>
                    <a:pt x="65659" y="33909"/>
                  </a:lnTo>
                  <a:lnTo>
                    <a:pt x="16891" y="33909"/>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grpSp>
      <p:grpSp>
        <p:nvGrpSpPr>
          <p:cNvPr id="52" name="Google Shape;52;p2"/>
          <p:cNvGrpSpPr/>
          <p:nvPr/>
        </p:nvGrpSpPr>
        <p:grpSpPr>
          <a:xfrm>
            <a:off x="1176315" y="2868243"/>
            <a:ext cx="3220758" cy="429756"/>
            <a:chOff x="0" y="-38100"/>
            <a:chExt cx="8778300" cy="769620"/>
          </a:xfrm>
        </p:grpSpPr>
        <p:sp>
          <p:nvSpPr>
            <p:cNvPr id="53" name="Google Shape;53;p2"/>
            <p:cNvSpPr/>
            <p:nvPr/>
          </p:nvSpPr>
          <p:spPr>
            <a:xfrm>
              <a:off x="0" y="0"/>
              <a:ext cx="8778240" cy="731520"/>
            </a:xfrm>
            <a:custGeom>
              <a:avLst/>
              <a:gdLst/>
              <a:ahLst/>
              <a:cxnLst/>
              <a:rect l="l" t="t" r="r" b="b"/>
              <a:pathLst>
                <a:path w="8778240" h="731520" extrusionOk="0">
                  <a:moveTo>
                    <a:pt x="0" y="0"/>
                  </a:moveTo>
                  <a:lnTo>
                    <a:pt x="8778240" y="0"/>
                  </a:lnTo>
                  <a:lnTo>
                    <a:pt x="8778240" y="731520"/>
                  </a:lnTo>
                  <a:lnTo>
                    <a:pt x="0" y="731520"/>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sp>
          <p:nvSpPr>
            <p:cNvPr id="54" name="Google Shape;54;p2"/>
            <p:cNvSpPr txBox="1"/>
            <p:nvPr/>
          </p:nvSpPr>
          <p:spPr>
            <a:xfrm>
              <a:off x="0" y="-38100"/>
              <a:ext cx="8778300" cy="769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F618D"/>
                </a:buClr>
                <a:buSzPts val="1100"/>
                <a:buFont typeface="Calibri"/>
                <a:buNone/>
              </a:pPr>
              <a:r>
                <a:rPr lang="en-US">
                  <a:solidFill>
                    <a:srgbClr val="1F618D"/>
                  </a:solidFill>
                  <a:latin typeface="Calibri"/>
                  <a:ea typeface="Calibri"/>
                  <a:cs typeface="Calibri"/>
                  <a:sym typeface="Calibri"/>
                </a:rPr>
                <a:t>VCD vs FST Format</a:t>
              </a:r>
              <a:endParaRPr>
                <a:solidFill>
                  <a:srgbClr val="1F3864"/>
                </a:solidFill>
                <a:latin typeface="Calibri"/>
                <a:ea typeface="Calibri"/>
                <a:cs typeface="Calibri"/>
                <a:sym typeface="Calibri"/>
              </a:endParaRPr>
            </a:p>
          </p:txBody>
        </p:sp>
      </p:grpSp>
      <p:sp>
        <p:nvSpPr>
          <p:cNvPr id="55" name="Google Shape;55;p2"/>
          <p:cNvSpPr/>
          <p:nvPr/>
        </p:nvSpPr>
        <p:spPr>
          <a:xfrm>
            <a:off x="532075" y="3513102"/>
            <a:ext cx="4122115" cy="623255"/>
          </a:xfrm>
          <a:custGeom>
            <a:avLst/>
            <a:gdLst/>
            <a:ahLst/>
            <a:cxnLst/>
            <a:rect l="l" t="t" r="r" b="b"/>
            <a:pathLst>
              <a:path w="11216640" h="1755648" extrusionOk="0">
                <a:moveTo>
                  <a:pt x="0" y="0"/>
                </a:moveTo>
                <a:lnTo>
                  <a:pt x="11216640" y="0"/>
                </a:lnTo>
                <a:lnTo>
                  <a:pt x="11216640" y="1755648"/>
                </a:lnTo>
                <a:lnTo>
                  <a:pt x="0" y="1755648"/>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grpSp>
        <p:nvGrpSpPr>
          <p:cNvPr id="56" name="Google Shape;56;p2"/>
          <p:cNvGrpSpPr/>
          <p:nvPr/>
        </p:nvGrpSpPr>
        <p:grpSpPr>
          <a:xfrm>
            <a:off x="639448" y="3599542"/>
            <a:ext cx="375779" cy="429731"/>
            <a:chOff x="0" y="-47625"/>
            <a:chExt cx="1024200" cy="1218057"/>
          </a:xfrm>
        </p:grpSpPr>
        <p:sp>
          <p:nvSpPr>
            <p:cNvPr id="57" name="Google Shape;57;p2"/>
            <p:cNvSpPr/>
            <p:nvPr/>
          </p:nvSpPr>
          <p:spPr>
            <a:xfrm>
              <a:off x="0" y="0"/>
              <a:ext cx="1024128" cy="1170432"/>
            </a:xfrm>
            <a:custGeom>
              <a:avLst/>
              <a:gdLst/>
              <a:ahLst/>
              <a:cxnLst/>
              <a:rect l="l" t="t" r="r" b="b"/>
              <a:pathLst>
                <a:path w="1024128" h="1170432" extrusionOk="0">
                  <a:moveTo>
                    <a:pt x="0" y="0"/>
                  </a:moveTo>
                  <a:lnTo>
                    <a:pt x="1024128" y="0"/>
                  </a:lnTo>
                  <a:lnTo>
                    <a:pt x="1024128" y="1170432"/>
                  </a:lnTo>
                  <a:lnTo>
                    <a:pt x="0" y="1170432"/>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58" name="Google Shape;58;p2"/>
            <p:cNvSpPr txBox="1"/>
            <p:nvPr/>
          </p:nvSpPr>
          <p:spPr>
            <a:xfrm>
              <a:off x="0" y="-47625"/>
              <a:ext cx="1024200" cy="1218000"/>
            </a:xfrm>
            <a:prstGeom prst="rect">
              <a:avLst/>
            </a:prstGeom>
            <a:noFill/>
            <a:ln>
              <a:noFill/>
            </a:ln>
          </p:spPr>
          <p:txBody>
            <a:bodyPr spcFirstLastPara="1" wrap="square" lIns="0" tIns="0" rIns="0" bIns="0" anchor="ctr" anchorCtr="0">
              <a:noAutofit/>
            </a:bodyPr>
            <a:lstStyle/>
            <a:p>
              <a:pPr marL="0" marR="0" lvl="0" indent="0" algn="l" rtl="0">
                <a:lnSpc>
                  <a:spcPct val="120007"/>
                </a:lnSpc>
                <a:spcBef>
                  <a:spcPts val="0"/>
                </a:spcBef>
                <a:spcAft>
                  <a:spcPts val="0"/>
                </a:spcAft>
                <a:buClr>
                  <a:srgbClr val="000000"/>
                </a:buClr>
                <a:buSzPts val="1489"/>
                <a:buFont typeface="Arial"/>
                <a:buNone/>
              </a:pPr>
              <a:r>
                <a:rPr lang="en-US" sz="1489" b="1" i="0" u="none" strike="noStrike" cap="none">
                  <a:solidFill>
                    <a:srgbClr val="2E74B5"/>
                  </a:solidFill>
                  <a:latin typeface="Calibri"/>
                  <a:ea typeface="Calibri"/>
                  <a:cs typeface="Calibri"/>
                  <a:sym typeface="Calibri"/>
                </a:rPr>
                <a:t>04</a:t>
              </a:r>
              <a:endParaRPr sz="745" b="0" i="0" u="none" strike="noStrike" cap="none">
                <a:solidFill>
                  <a:srgbClr val="000000"/>
                </a:solidFill>
                <a:latin typeface="Arial"/>
                <a:ea typeface="Arial"/>
                <a:cs typeface="Arial"/>
                <a:sym typeface="Arial"/>
              </a:endParaRPr>
            </a:p>
          </p:txBody>
        </p:sp>
      </p:grpSp>
      <p:grpSp>
        <p:nvGrpSpPr>
          <p:cNvPr id="59" name="Google Shape;59;p2"/>
          <p:cNvGrpSpPr/>
          <p:nvPr/>
        </p:nvGrpSpPr>
        <p:grpSpPr>
          <a:xfrm>
            <a:off x="1044833" y="3593164"/>
            <a:ext cx="30288" cy="459257"/>
            <a:chOff x="0" y="0"/>
            <a:chExt cx="82550" cy="1301750"/>
          </a:xfrm>
        </p:grpSpPr>
        <p:sp>
          <p:nvSpPr>
            <p:cNvPr id="60" name="Google Shape;60;p2"/>
            <p:cNvSpPr/>
            <p:nvPr/>
          </p:nvSpPr>
          <p:spPr>
            <a:xfrm>
              <a:off x="16891" y="16891"/>
              <a:ext cx="48768" cy="1267968"/>
            </a:xfrm>
            <a:custGeom>
              <a:avLst/>
              <a:gdLst/>
              <a:ahLst/>
              <a:cxnLst/>
              <a:rect l="l" t="t" r="r" b="b"/>
              <a:pathLst>
                <a:path w="48768" h="1267968" extrusionOk="0">
                  <a:moveTo>
                    <a:pt x="0" y="0"/>
                  </a:moveTo>
                  <a:lnTo>
                    <a:pt x="48768" y="0"/>
                  </a:lnTo>
                  <a:lnTo>
                    <a:pt x="48768" y="1267968"/>
                  </a:lnTo>
                  <a:lnTo>
                    <a:pt x="0" y="1267968"/>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61" name="Google Shape;61;p2"/>
            <p:cNvSpPr/>
            <p:nvPr/>
          </p:nvSpPr>
          <p:spPr>
            <a:xfrm>
              <a:off x="0" y="0"/>
              <a:ext cx="82550" cy="1301750"/>
            </a:xfrm>
            <a:custGeom>
              <a:avLst/>
              <a:gdLst/>
              <a:ahLst/>
              <a:cxnLst/>
              <a:rect l="l" t="t" r="r" b="b"/>
              <a:pathLst>
                <a:path w="82550" h="1301750" extrusionOk="0">
                  <a:moveTo>
                    <a:pt x="16891" y="0"/>
                  </a:moveTo>
                  <a:lnTo>
                    <a:pt x="65659" y="0"/>
                  </a:lnTo>
                  <a:cubicBezTo>
                    <a:pt x="75057" y="0"/>
                    <a:pt x="82550" y="7620"/>
                    <a:pt x="82550" y="16891"/>
                  </a:cubicBezTo>
                  <a:lnTo>
                    <a:pt x="82550" y="1284859"/>
                  </a:lnTo>
                  <a:cubicBezTo>
                    <a:pt x="82550" y="1294257"/>
                    <a:pt x="74930" y="1301750"/>
                    <a:pt x="656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5659" y="1267968"/>
                  </a:lnTo>
                  <a:lnTo>
                    <a:pt x="65659" y="1284859"/>
                  </a:lnTo>
                  <a:lnTo>
                    <a:pt x="48768" y="1284859"/>
                  </a:lnTo>
                  <a:lnTo>
                    <a:pt x="48768" y="16891"/>
                  </a:lnTo>
                  <a:lnTo>
                    <a:pt x="65659" y="16891"/>
                  </a:lnTo>
                  <a:lnTo>
                    <a:pt x="65659" y="33909"/>
                  </a:lnTo>
                  <a:lnTo>
                    <a:pt x="16891" y="33909"/>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grpSp>
      <p:grpSp>
        <p:nvGrpSpPr>
          <p:cNvPr id="62" name="Google Shape;62;p2"/>
          <p:cNvGrpSpPr/>
          <p:nvPr/>
        </p:nvGrpSpPr>
        <p:grpSpPr>
          <a:xfrm>
            <a:off x="1176315" y="3599543"/>
            <a:ext cx="3220758" cy="429756"/>
            <a:chOff x="0" y="-38100"/>
            <a:chExt cx="8778300" cy="769620"/>
          </a:xfrm>
        </p:grpSpPr>
        <p:sp>
          <p:nvSpPr>
            <p:cNvPr id="63" name="Google Shape;63;p2"/>
            <p:cNvSpPr/>
            <p:nvPr/>
          </p:nvSpPr>
          <p:spPr>
            <a:xfrm>
              <a:off x="0" y="0"/>
              <a:ext cx="8778240" cy="731520"/>
            </a:xfrm>
            <a:custGeom>
              <a:avLst/>
              <a:gdLst/>
              <a:ahLst/>
              <a:cxnLst/>
              <a:rect l="l" t="t" r="r" b="b"/>
              <a:pathLst>
                <a:path w="8778240" h="731520" extrusionOk="0">
                  <a:moveTo>
                    <a:pt x="0" y="0"/>
                  </a:moveTo>
                  <a:lnTo>
                    <a:pt x="8778240" y="0"/>
                  </a:lnTo>
                  <a:lnTo>
                    <a:pt x="8778240" y="731520"/>
                  </a:lnTo>
                  <a:lnTo>
                    <a:pt x="0" y="731520"/>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sp>
          <p:nvSpPr>
            <p:cNvPr id="64" name="Google Shape;64;p2"/>
            <p:cNvSpPr txBox="1"/>
            <p:nvPr/>
          </p:nvSpPr>
          <p:spPr>
            <a:xfrm>
              <a:off x="0" y="-38100"/>
              <a:ext cx="8778300" cy="769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F618D"/>
                </a:buClr>
                <a:buSzPts val="1100"/>
                <a:buFont typeface="Calibri"/>
                <a:buNone/>
              </a:pPr>
              <a:r>
                <a:rPr lang="en-US">
                  <a:solidFill>
                    <a:srgbClr val="1F618D"/>
                  </a:solidFill>
                  <a:latin typeface="Calibri"/>
                  <a:ea typeface="Calibri"/>
                  <a:cs typeface="Calibri"/>
                  <a:sym typeface="Calibri"/>
                </a:rPr>
                <a:t>Lab Commands</a:t>
              </a:r>
              <a:endParaRPr i="0" u="none" strike="noStrike" cap="none">
                <a:solidFill>
                  <a:srgbClr val="1F3864"/>
                </a:solidFill>
                <a:latin typeface="Calibri"/>
                <a:ea typeface="Calibri"/>
                <a:cs typeface="Calibri"/>
                <a:sym typeface="Calibri"/>
              </a:endParaRPr>
            </a:p>
          </p:txBody>
        </p:sp>
      </p:grpSp>
      <p:sp>
        <p:nvSpPr>
          <p:cNvPr id="65" name="Google Shape;65;p2"/>
          <p:cNvSpPr/>
          <p:nvPr/>
        </p:nvSpPr>
        <p:spPr>
          <a:xfrm>
            <a:off x="4827004" y="1319225"/>
            <a:ext cx="4122115" cy="623255"/>
          </a:xfrm>
          <a:custGeom>
            <a:avLst/>
            <a:gdLst/>
            <a:ahLst/>
            <a:cxnLst/>
            <a:rect l="l" t="t" r="r" b="b"/>
            <a:pathLst>
              <a:path w="11216640" h="1755648" extrusionOk="0">
                <a:moveTo>
                  <a:pt x="0" y="0"/>
                </a:moveTo>
                <a:lnTo>
                  <a:pt x="11216640" y="0"/>
                </a:lnTo>
                <a:lnTo>
                  <a:pt x="11216640" y="1755648"/>
                </a:lnTo>
                <a:lnTo>
                  <a:pt x="0" y="1755648"/>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grpSp>
        <p:nvGrpSpPr>
          <p:cNvPr id="66" name="Google Shape;66;p2"/>
          <p:cNvGrpSpPr/>
          <p:nvPr/>
        </p:nvGrpSpPr>
        <p:grpSpPr>
          <a:xfrm>
            <a:off x="4934378" y="1405664"/>
            <a:ext cx="375779" cy="429731"/>
            <a:chOff x="0" y="-47625"/>
            <a:chExt cx="1024200" cy="1218057"/>
          </a:xfrm>
        </p:grpSpPr>
        <p:sp>
          <p:nvSpPr>
            <p:cNvPr id="67" name="Google Shape;67;p2"/>
            <p:cNvSpPr/>
            <p:nvPr/>
          </p:nvSpPr>
          <p:spPr>
            <a:xfrm>
              <a:off x="0" y="0"/>
              <a:ext cx="1024128" cy="1170432"/>
            </a:xfrm>
            <a:custGeom>
              <a:avLst/>
              <a:gdLst/>
              <a:ahLst/>
              <a:cxnLst/>
              <a:rect l="l" t="t" r="r" b="b"/>
              <a:pathLst>
                <a:path w="1024128" h="1170432" extrusionOk="0">
                  <a:moveTo>
                    <a:pt x="0" y="0"/>
                  </a:moveTo>
                  <a:lnTo>
                    <a:pt x="1024128" y="0"/>
                  </a:lnTo>
                  <a:lnTo>
                    <a:pt x="1024128" y="1170432"/>
                  </a:lnTo>
                  <a:lnTo>
                    <a:pt x="0" y="1170432"/>
                  </a:lnTo>
                  <a:close/>
                </a:path>
              </a:pathLst>
            </a:custGeom>
            <a:blipFill rotWithShape="1">
              <a:blip r:embed="rId3">
                <a:alphaModFix amt="0"/>
              </a:blip>
              <a:stretch>
                <a:fillRect l="-96642" r="-96630"/>
              </a:stretch>
            </a:blip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68" name="Google Shape;68;p2"/>
            <p:cNvSpPr txBox="1"/>
            <p:nvPr/>
          </p:nvSpPr>
          <p:spPr>
            <a:xfrm>
              <a:off x="0" y="-47625"/>
              <a:ext cx="1024200" cy="1218000"/>
            </a:xfrm>
            <a:prstGeom prst="rect">
              <a:avLst/>
            </a:prstGeom>
            <a:noFill/>
            <a:ln>
              <a:noFill/>
            </a:ln>
          </p:spPr>
          <p:txBody>
            <a:bodyPr spcFirstLastPara="1" wrap="square" lIns="0" tIns="0" rIns="0" bIns="0" anchor="ctr" anchorCtr="0">
              <a:noAutofit/>
            </a:bodyPr>
            <a:lstStyle/>
            <a:p>
              <a:pPr marL="0" marR="0" lvl="0" indent="0" algn="l" rtl="0">
                <a:lnSpc>
                  <a:spcPct val="120007"/>
                </a:lnSpc>
                <a:spcBef>
                  <a:spcPts val="0"/>
                </a:spcBef>
                <a:spcAft>
                  <a:spcPts val="0"/>
                </a:spcAft>
                <a:buClr>
                  <a:srgbClr val="000000"/>
                </a:buClr>
                <a:buSzPts val="1489"/>
                <a:buFont typeface="Arial"/>
                <a:buNone/>
              </a:pPr>
              <a:r>
                <a:rPr lang="en-US" sz="1489" b="1" i="0" u="none" strike="noStrike" cap="none">
                  <a:solidFill>
                    <a:srgbClr val="2E74B5"/>
                  </a:solidFill>
                  <a:latin typeface="Calibri"/>
                  <a:ea typeface="Calibri"/>
                  <a:cs typeface="Calibri"/>
                  <a:sym typeface="Calibri"/>
                </a:rPr>
                <a:t>0</a:t>
              </a:r>
              <a:r>
                <a:rPr lang="en-US" sz="1489" b="1">
                  <a:solidFill>
                    <a:srgbClr val="2E74B5"/>
                  </a:solidFill>
                  <a:latin typeface="Calibri"/>
                  <a:ea typeface="Calibri"/>
                  <a:cs typeface="Calibri"/>
                  <a:sym typeface="Calibri"/>
                </a:rPr>
                <a:t>6</a:t>
              </a:r>
              <a:endParaRPr sz="745" b="0" i="0" u="none" strike="noStrike" cap="none">
                <a:solidFill>
                  <a:srgbClr val="000000"/>
                </a:solidFill>
                <a:latin typeface="Arial"/>
                <a:ea typeface="Arial"/>
                <a:cs typeface="Arial"/>
                <a:sym typeface="Arial"/>
              </a:endParaRPr>
            </a:p>
          </p:txBody>
        </p:sp>
      </p:grpSp>
      <p:grpSp>
        <p:nvGrpSpPr>
          <p:cNvPr id="69" name="Google Shape;69;p2"/>
          <p:cNvGrpSpPr/>
          <p:nvPr/>
        </p:nvGrpSpPr>
        <p:grpSpPr>
          <a:xfrm>
            <a:off x="5339763" y="1399286"/>
            <a:ext cx="30288" cy="459257"/>
            <a:chOff x="0" y="0"/>
            <a:chExt cx="82550" cy="1301750"/>
          </a:xfrm>
        </p:grpSpPr>
        <p:sp>
          <p:nvSpPr>
            <p:cNvPr id="70" name="Google Shape;70;p2"/>
            <p:cNvSpPr/>
            <p:nvPr/>
          </p:nvSpPr>
          <p:spPr>
            <a:xfrm>
              <a:off x="16891" y="16891"/>
              <a:ext cx="48768" cy="1267968"/>
            </a:xfrm>
            <a:custGeom>
              <a:avLst/>
              <a:gdLst/>
              <a:ahLst/>
              <a:cxnLst/>
              <a:rect l="l" t="t" r="r" b="b"/>
              <a:pathLst>
                <a:path w="48768" h="1267968" extrusionOk="0">
                  <a:moveTo>
                    <a:pt x="0" y="0"/>
                  </a:moveTo>
                  <a:lnTo>
                    <a:pt x="48768" y="0"/>
                  </a:lnTo>
                  <a:lnTo>
                    <a:pt x="48768" y="1267968"/>
                  </a:lnTo>
                  <a:lnTo>
                    <a:pt x="0" y="1267968"/>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71" name="Google Shape;71;p2"/>
            <p:cNvSpPr/>
            <p:nvPr/>
          </p:nvSpPr>
          <p:spPr>
            <a:xfrm>
              <a:off x="0" y="0"/>
              <a:ext cx="82550" cy="1301750"/>
            </a:xfrm>
            <a:custGeom>
              <a:avLst/>
              <a:gdLst/>
              <a:ahLst/>
              <a:cxnLst/>
              <a:rect l="l" t="t" r="r" b="b"/>
              <a:pathLst>
                <a:path w="82550" h="1301750" extrusionOk="0">
                  <a:moveTo>
                    <a:pt x="16891" y="0"/>
                  </a:moveTo>
                  <a:lnTo>
                    <a:pt x="65659" y="0"/>
                  </a:lnTo>
                  <a:cubicBezTo>
                    <a:pt x="75057" y="0"/>
                    <a:pt x="82550" y="7620"/>
                    <a:pt x="82550" y="16891"/>
                  </a:cubicBezTo>
                  <a:lnTo>
                    <a:pt x="82550" y="1284859"/>
                  </a:lnTo>
                  <a:cubicBezTo>
                    <a:pt x="82550" y="1294257"/>
                    <a:pt x="74930" y="1301750"/>
                    <a:pt x="656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5659" y="1267968"/>
                  </a:lnTo>
                  <a:lnTo>
                    <a:pt x="65659" y="1284859"/>
                  </a:lnTo>
                  <a:lnTo>
                    <a:pt x="48768" y="1284859"/>
                  </a:lnTo>
                  <a:lnTo>
                    <a:pt x="48768" y="16891"/>
                  </a:lnTo>
                  <a:lnTo>
                    <a:pt x="65659" y="16891"/>
                  </a:lnTo>
                  <a:lnTo>
                    <a:pt x="65659" y="33909"/>
                  </a:lnTo>
                  <a:lnTo>
                    <a:pt x="16891" y="33909"/>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grpSp>
      <p:grpSp>
        <p:nvGrpSpPr>
          <p:cNvPr id="72" name="Google Shape;72;p2"/>
          <p:cNvGrpSpPr/>
          <p:nvPr/>
        </p:nvGrpSpPr>
        <p:grpSpPr>
          <a:xfrm>
            <a:off x="5471249" y="1399277"/>
            <a:ext cx="3220758" cy="429756"/>
            <a:chOff x="0" y="-38100"/>
            <a:chExt cx="8778300" cy="769620"/>
          </a:xfrm>
        </p:grpSpPr>
        <p:sp>
          <p:nvSpPr>
            <p:cNvPr id="73" name="Google Shape;73;p2"/>
            <p:cNvSpPr/>
            <p:nvPr/>
          </p:nvSpPr>
          <p:spPr>
            <a:xfrm>
              <a:off x="0" y="0"/>
              <a:ext cx="8778240" cy="731520"/>
            </a:xfrm>
            <a:custGeom>
              <a:avLst/>
              <a:gdLst/>
              <a:ahLst/>
              <a:cxnLst/>
              <a:rect l="l" t="t" r="r" b="b"/>
              <a:pathLst>
                <a:path w="8778240" h="731520" extrusionOk="0">
                  <a:moveTo>
                    <a:pt x="0" y="0"/>
                  </a:moveTo>
                  <a:lnTo>
                    <a:pt x="8778240" y="0"/>
                  </a:lnTo>
                  <a:lnTo>
                    <a:pt x="8778240" y="731520"/>
                  </a:lnTo>
                  <a:lnTo>
                    <a:pt x="0" y="731520"/>
                  </a:lnTo>
                  <a:close/>
                </a:path>
              </a:pathLst>
            </a:custGeom>
            <a:blipFill rotWithShape="1">
              <a:blip r:embed="rId3">
                <a:alphaModFix amt="0"/>
              </a:blip>
              <a:stretch>
                <a:fillRect t="-183820" b="-183820"/>
              </a:stretch>
            </a:blip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sp>
          <p:nvSpPr>
            <p:cNvPr id="74" name="Google Shape;74;p2"/>
            <p:cNvSpPr txBox="1"/>
            <p:nvPr/>
          </p:nvSpPr>
          <p:spPr>
            <a:xfrm>
              <a:off x="0" y="-38100"/>
              <a:ext cx="8778300" cy="769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F618D"/>
                </a:buClr>
                <a:buSzPts val="1100"/>
                <a:buFont typeface="Calibri"/>
                <a:buNone/>
              </a:pPr>
              <a:r>
                <a:rPr lang="en-US">
                  <a:solidFill>
                    <a:srgbClr val="1F618D"/>
                  </a:solidFill>
                  <a:latin typeface="Calibri"/>
                  <a:ea typeface="Calibri"/>
                  <a:cs typeface="Calibri"/>
                  <a:sym typeface="Calibri"/>
                </a:rPr>
                <a:t>AXI Handshake in GTKWave</a:t>
              </a:r>
              <a:endParaRPr i="0" u="none" strike="noStrike" cap="none">
                <a:solidFill>
                  <a:srgbClr val="1F3864"/>
                </a:solidFill>
                <a:latin typeface="Calibri"/>
                <a:ea typeface="Calibri"/>
                <a:cs typeface="Calibri"/>
                <a:sym typeface="Calibri"/>
              </a:endParaRPr>
            </a:p>
          </p:txBody>
        </p:sp>
      </p:grpSp>
      <p:sp>
        <p:nvSpPr>
          <p:cNvPr id="75" name="Google Shape;75;p2"/>
          <p:cNvSpPr/>
          <p:nvPr/>
        </p:nvSpPr>
        <p:spPr>
          <a:xfrm>
            <a:off x="4827004" y="2050517"/>
            <a:ext cx="4122115" cy="623255"/>
          </a:xfrm>
          <a:custGeom>
            <a:avLst/>
            <a:gdLst/>
            <a:ahLst/>
            <a:cxnLst/>
            <a:rect l="l" t="t" r="r" b="b"/>
            <a:pathLst>
              <a:path w="11216640" h="1755648" extrusionOk="0">
                <a:moveTo>
                  <a:pt x="0" y="0"/>
                </a:moveTo>
                <a:lnTo>
                  <a:pt x="11216640" y="0"/>
                </a:lnTo>
                <a:lnTo>
                  <a:pt x="11216640" y="1755648"/>
                </a:lnTo>
                <a:lnTo>
                  <a:pt x="0" y="1755648"/>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grpSp>
        <p:nvGrpSpPr>
          <p:cNvPr id="76" name="Google Shape;76;p2"/>
          <p:cNvGrpSpPr/>
          <p:nvPr/>
        </p:nvGrpSpPr>
        <p:grpSpPr>
          <a:xfrm>
            <a:off x="4934378" y="2136957"/>
            <a:ext cx="375779" cy="429731"/>
            <a:chOff x="0" y="-47625"/>
            <a:chExt cx="1024200" cy="1218057"/>
          </a:xfrm>
        </p:grpSpPr>
        <p:sp>
          <p:nvSpPr>
            <p:cNvPr id="77" name="Google Shape;77;p2"/>
            <p:cNvSpPr/>
            <p:nvPr/>
          </p:nvSpPr>
          <p:spPr>
            <a:xfrm>
              <a:off x="0" y="0"/>
              <a:ext cx="1024128" cy="1170432"/>
            </a:xfrm>
            <a:custGeom>
              <a:avLst/>
              <a:gdLst/>
              <a:ahLst/>
              <a:cxnLst/>
              <a:rect l="l" t="t" r="r" b="b"/>
              <a:pathLst>
                <a:path w="1024128" h="1170432" extrusionOk="0">
                  <a:moveTo>
                    <a:pt x="0" y="0"/>
                  </a:moveTo>
                  <a:lnTo>
                    <a:pt x="1024128" y="0"/>
                  </a:lnTo>
                  <a:lnTo>
                    <a:pt x="1024128" y="1170432"/>
                  </a:lnTo>
                  <a:lnTo>
                    <a:pt x="0" y="1170432"/>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78" name="Google Shape;78;p2"/>
            <p:cNvSpPr txBox="1"/>
            <p:nvPr/>
          </p:nvSpPr>
          <p:spPr>
            <a:xfrm>
              <a:off x="0" y="-47625"/>
              <a:ext cx="1024200" cy="1218000"/>
            </a:xfrm>
            <a:prstGeom prst="rect">
              <a:avLst/>
            </a:prstGeom>
            <a:noFill/>
            <a:ln>
              <a:noFill/>
            </a:ln>
          </p:spPr>
          <p:txBody>
            <a:bodyPr spcFirstLastPara="1" wrap="square" lIns="0" tIns="0" rIns="0" bIns="0" anchor="ctr" anchorCtr="0">
              <a:noAutofit/>
            </a:bodyPr>
            <a:lstStyle/>
            <a:p>
              <a:pPr marL="0" marR="0" lvl="0" indent="0" algn="l" rtl="0">
                <a:lnSpc>
                  <a:spcPct val="120007"/>
                </a:lnSpc>
                <a:spcBef>
                  <a:spcPts val="0"/>
                </a:spcBef>
                <a:spcAft>
                  <a:spcPts val="0"/>
                </a:spcAft>
                <a:buClr>
                  <a:srgbClr val="000000"/>
                </a:buClr>
                <a:buSzPts val="1489"/>
                <a:buFont typeface="Arial"/>
                <a:buNone/>
              </a:pPr>
              <a:r>
                <a:rPr lang="en-US" sz="1489" b="1" i="0" u="none" strike="noStrike" cap="none">
                  <a:solidFill>
                    <a:srgbClr val="2E74B5"/>
                  </a:solidFill>
                  <a:latin typeface="Calibri"/>
                  <a:ea typeface="Calibri"/>
                  <a:cs typeface="Calibri"/>
                  <a:sym typeface="Calibri"/>
                </a:rPr>
                <a:t>0</a:t>
              </a:r>
              <a:r>
                <a:rPr lang="en-US" sz="1489" b="1">
                  <a:solidFill>
                    <a:srgbClr val="2E74B5"/>
                  </a:solidFill>
                  <a:latin typeface="Calibri"/>
                  <a:ea typeface="Calibri"/>
                  <a:cs typeface="Calibri"/>
                  <a:sym typeface="Calibri"/>
                </a:rPr>
                <a:t>7</a:t>
              </a:r>
              <a:endParaRPr sz="745" b="0" i="0" u="none" strike="noStrike" cap="none">
                <a:solidFill>
                  <a:srgbClr val="000000"/>
                </a:solidFill>
                <a:latin typeface="Arial"/>
                <a:ea typeface="Arial"/>
                <a:cs typeface="Arial"/>
                <a:sym typeface="Arial"/>
              </a:endParaRPr>
            </a:p>
          </p:txBody>
        </p:sp>
      </p:grpSp>
      <p:grpSp>
        <p:nvGrpSpPr>
          <p:cNvPr id="79" name="Google Shape;79;p2"/>
          <p:cNvGrpSpPr/>
          <p:nvPr/>
        </p:nvGrpSpPr>
        <p:grpSpPr>
          <a:xfrm>
            <a:off x="5339763" y="2130579"/>
            <a:ext cx="30288" cy="459257"/>
            <a:chOff x="0" y="0"/>
            <a:chExt cx="82550" cy="1301750"/>
          </a:xfrm>
        </p:grpSpPr>
        <p:sp>
          <p:nvSpPr>
            <p:cNvPr id="80" name="Google Shape;80;p2"/>
            <p:cNvSpPr/>
            <p:nvPr/>
          </p:nvSpPr>
          <p:spPr>
            <a:xfrm>
              <a:off x="16891" y="16891"/>
              <a:ext cx="48768" cy="1267968"/>
            </a:xfrm>
            <a:custGeom>
              <a:avLst/>
              <a:gdLst/>
              <a:ahLst/>
              <a:cxnLst/>
              <a:rect l="l" t="t" r="r" b="b"/>
              <a:pathLst>
                <a:path w="48768" h="1267968" extrusionOk="0">
                  <a:moveTo>
                    <a:pt x="0" y="0"/>
                  </a:moveTo>
                  <a:lnTo>
                    <a:pt x="48768" y="0"/>
                  </a:lnTo>
                  <a:lnTo>
                    <a:pt x="48768" y="1267968"/>
                  </a:lnTo>
                  <a:lnTo>
                    <a:pt x="0" y="1267968"/>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81" name="Google Shape;81;p2"/>
            <p:cNvSpPr/>
            <p:nvPr/>
          </p:nvSpPr>
          <p:spPr>
            <a:xfrm>
              <a:off x="0" y="0"/>
              <a:ext cx="82550" cy="1301750"/>
            </a:xfrm>
            <a:custGeom>
              <a:avLst/>
              <a:gdLst/>
              <a:ahLst/>
              <a:cxnLst/>
              <a:rect l="l" t="t" r="r" b="b"/>
              <a:pathLst>
                <a:path w="82550" h="1301750" extrusionOk="0">
                  <a:moveTo>
                    <a:pt x="16891" y="0"/>
                  </a:moveTo>
                  <a:lnTo>
                    <a:pt x="65659" y="0"/>
                  </a:lnTo>
                  <a:cubicBezTo>
                    <a:pt x="75057" y="0"/>
                    <a:pt x="82550" y="7620"/>
                    <a:pt x="82550" y="16891"/>
                  </a:cubicBezTo>
                  <a:lnTo>
                    <a:pt x="82550" y="1284859"/>
                  </a:lnTo>
                  <a:cubicBezTo>
                    <a:pt x="82550" y="1294257"/>
                    <a:pt x="74930" y="1301750"/>
                    <a:pt x="656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5659" y="1267968"/>
                  </a:lnTo>
                  <a:lnTo>
                    <a:pt x="65659" y="1284859"/>
                  </a:lnTo>
                  <a:lnTo>
                    <a:pt x="48768" y="1284859"/>
                  </a:lnTo>
                  <a:lnTo>
                    <a:pt x="48768" y="16891"/>
                  </a:lnTo>
                  <a:lnTo>
                    <a:pt x="65659" y="16891"/>
                  </a:lnTo>
                  <a:lnTo>
                    <a:pt x="65659" y="33909"/>
                  </a:lnTo>
                  <a:lnTo>
                    <a:pt x="16891" y="33909"/>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grpSp>
      <p:grpSp>
        <p:nvGrpSpPr>
          <p:cNvPr id="82" name="Google Shape;82;p2"/>
          <p:cNvGrpSpPr/>
          <p:nvPr/>
        </p:nvGrpSpPr>
        <p:grpSpPr>
          <a:xfrm>
            <a:off x="5471249" y="2136953"/>
            <a:ext cx="3220758" cy="429756"/>
            <a:chOff x="0" y="-38100"/>
            <a:chExt cx="8778300" cy="769620"/>
          </a:xfrm>
        </p:grpSpPr>
        <p:sp>
          <p:nvSpPr>
            <p:cNvPr id="83" name="Google Shape;83;p2"/>
            <p:cNvSpPr/>
            <p:nvPr/>
          </p:nvSpPr>
          <p:spPr>
            <a:xfrm>
              <a:off x="0" y="0"/>
              <a:ext cx="8778240" cy="731520"/>
            </a:xfrm>
            <a:custGeom>
              <a:avLst/>
              <a:gdLst/>
              <a:ahLst/>
              <a:cxnLst/>
              <a:rect l="l" t="t" r="r" b="b"/>
              <a:pathLst>
                <a:path w="8778240" h="731520" extrusionOk="0">
                  <a:moveTo>
                    <a:pt x="0" y="0"/>
                  </a:moveTo>
                  <a:lnTo>
                    <a:pt x="8778240" y="0"/>
                  </a:lnTo>
                  <a:lnTo>
                    <a:pt x="8778240" y="731520"/>
                  </a:lnTo>
                  <a:lnTo>
                    <a:pt x="0" y="731520"/>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sp>
          <p:nvSpPr>
            <p:cNvPr id="84" name="Google Shape;84;p2"/>
            <p:cNvSpPr txBox="1"/>
            <p:nvPr/>
          </p:nvSpPr>
          <p:spPr>
            <a:xfrm>
              <a:off x="0" y="-38100"/>
              <a:ext cx="8778300" cy="769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F618D"/>
                </a:buClr>
                <a:buSzPts val="1100"/>
                <a:buFont typeface="Calibri"/>
                <a:buNone/>
              </a:pPr>
              <a:r>
                <a:rPr lang="en-US">
                  <a:solidFill>
                    <a:srgbClr val="1F618D"/>
                  </a:solidFill>
                  <a:latin typeface="Calibri"/>
                  <a:ea typeface="Calibri"/>
                  <a:cs typeface="Calibri"/>
                  <a:sym typeface="Calibri"/>
                </a:rPr>
                <a:t>UART Frame Decode</a:t>
              </a:r>
              <a:endParaRPr>
                <a:solidFill>
                  <a:srgbClr val="1F3864"/>
                </a:solidFill>
                <a:latin typeface="Calibri"/>
                <a:ea typeface="Calibri"/>
                <a:cs typeface="Calibri"/>
                <a:sym typeface="Calibri"/>
              </a:endParaRPr>
            </a:p>
          </p:txBody>
        </p:sp>
      </p:grpSp>
      <p:sp>
        <p:nvSpPr>
          <p:cNvPr id="85" name="Google Shape;85;p2"/>
          <p:cNvSpPr/>
          <p:nvPr/>
        </p:nvSpPr>
        <p:spPr>
          <a:xfrm>
            <a:off x="4827000" y="2781835"/>
            <a:ext cx="4122115" cy="623255"/>
          </a:xfrm>
          <a:custGeom>
            <a:avLst/>
            <a:gdLst/>
            <a:ahLst/>
            <a:cxnLst/>
            <a:rect l="l" t="t" r="r" b="b"/>
            <a:pathLst>
              <a:path w="11216640" h="1755648" extrusionOk="0">
                <a:moveTo>
                  <a:pt x="0" y="0"/>
                </a:moveTo>
                <a:lnTo>
                  <a:pt x="11216640" y="0"/>
                </a:lnTo>
                <a:lnTo>
                  <a:pt x="11216640" y="1755648"/>
                </a:lnTo>
                <a:lnTo>
                  <a:pt x="0" y="1755648"/>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grpSp>
        <p:nvGrpSpPr>
          <p:cNvPr id="86" name="Google Shape;86;p2"/>
          <p:cNvGrpSpPr/>
          <p:nvPr/>
        </p:nvGrpSpPr>
        <p:grpSpPr>
          <a:xfrm>
            <a:off x="4934373" y="2868274"/>
            <a:ext cx="375779" cy="429731"/>
            <a:chOff x="0" y="-47625"/>
            <a:chExt cx="1024200" cy="1218057"/>
          </a:xfrm>
        </p:grpSpPr>
        <p:sp>
          <p:nvSpPr>
            <p:cNvPr id="87" name="Google Shape;87;p2"/>
            <p:cNvSpPr/>
            <p:nvPr/>
          </p:nvSpPr>
          <p:spPr>
            <a:xfrm>
              <a:off x="0" y="0"/>
              <a:ext cx="1024128" cy="1170432"/>
            </a:xfrm>
            <a:custGeom>
              <a:avLst/>
              <a:gdLst/>
              <a:ahLst/>
              <a:cxnLst/>
              <a:rect l="l" t="t" r="r" b="b"/>
              <a:pathLst>
                <a:path w="1024128" h="1170432" extrusionOk="0">
                  <a:moveTo>
                    <a:pt x="0" y="0"/>
                  </a:moveTo>
                  <a:lnTo>
                    <a:pt x="1024128" y="0"/>
                  </a:lnTo>
                  <a:lnTo>
                    <a:pt x="1024128" y="1170432"/>
                  </a:lnTo>
                  <a:lnTo>
                    <a:pt x="0" y="1170432"/>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88" name="Google Shape;88;p2"/>
            <p:cNvSpPr txBox="1"/>
            <p:nvPr/>
          </p:nvSpPr>
          <p:spPr>
            <a:xfrm>
              <a:off x="0" y="-47625"/>
              <a:ext cx="1024200" cy="1218000"/>
            </a:xfrm>
            <a:prstGeom prst="rect">
              <a:avLst/>
            </a:prstGeom>
            <a:noFill/>
            <a:ln>
              <a:noFill/>
            </a:ln>
          </p:spPr>
          <p:txBody>
            <a:bodyPr spcFirstLastPara="1" wrap="square" lIns="0" tIns="0" rIns="0" bIns="0" anchor="ctr" anchorCtr="0">
              <a:noAutofit/>
            </a:bodyPr>
            <a:lstStyle/>
            <a:p>
              <a:pPr marL="0" marR="0" lvl="0" indent="0" algn="l" rtl="0">
                <a:lnSpc>
                  <a:spcPct val="120007"/>
                </a:lnSpc>
                <a:spcBef>
                  <a:spcPts val="0"/>
                </a:spcBef>
                <a:spcAft>
                  <a:spcPts val="0"/>
                </a:spcAft>
                <a:buClr>
                  <a:srgbClr val="000000"/>
                </a:buClr>
                <a:buSzPts val="1489"/>
                <a:buFont typeface="Arial"/>
                <a:buNone/>
              </a:pPr>
              <a:r>
                <a:rPr lang="en-US" sz="1489" b="1" i="0" u="none" strike="noStrike" cap="none">
                  <a:solidFill>
                    <a:srgbClr val="2E74B5"/>
                  </a:solidFill>
                  <a:latin typeface="Calibri"/>
                  <a:ea typeface="Calibri"/>
                  <a:cs typeface="Calibri"/>
                  <a:sym typeface="Calibri"/>
                </a:rPr>
                <a:t>0</a:t>
              </a:r>
              <a:r>
                <a:rPr lang="en-US" sz="1489" b="1">
                  <a:solidFill>
                    <a:srgbClr val="2E74B5"/>
                  </a:solidFill>
                  <a:latin typeface="Calibri"/>
                  <a:ea typeface="Calibri"/>
                  <a:cs typeface="Calibri"/>
                  <a:sym typeface="Calibri"/>
                </a:rPr>
                <a:t>8</a:t>
              </a:r>
              <a:endParaRPr sz="745" b="0" i="0" u="none" strike="noStrike" cap="none">
                <a:solidFill>
                  <a:srgbClr val="000000"/>
                </a:solidFill>
                <a:latin typeface="Arial"/>
                <a:ea typeface="Arial"/>
                <a:cs typeface="Arial"/>
                <a:sym typeface="Arial"/>
              </a:endParaRPr>
            </a:p>
          </p:txBody>
        </p:sp>
      </p:grpSp>
      <p:grpSp>
        <p:nvGrpSpPr>
          <p:cNvPr id="89" name="Google Shape;89;p2"/>
          <p:cNvGrpSpPr/>
          <p:nvPr/>
        </p:nvGrpSpPr>
        <p:grpSpPr>
          <a:xfrm>
            <a:off x="5339758" y="2861896"/>
            <a:ext cx="30288" cy="459257"/>
            <a:chOff x="0" y="0"/>
            <a:chExt cx="82550" cy="1301750"/>
          </a:xfrm>
        </p:grpSpPr>
        <p:sp>
          <p:nvSpPr>
            <p:cNvPr id="90" name="Google Shape;90;p2"/>
            <p:cNvSpPr/>
            <p:nvPr/>
          </p:nvSpPr>
          <p:spPr>
            <a:xfrm>
              <a:off x="16891" y="16891"/>
              <a:ext cx="48768" cy="1267968"/>
            </a:xfrm>
            <a:custGeom>
              <a:avLst/>
              <a:gdLst/>
              <a:ahLst/>
              <a:cxnLst/>
              <a:rect l="l" t="t" r="r" b="b"/>
              <a:pathLst>
                <a:path w="48768" h="1267968" extrusionOk="0">
                  <a:moveTo>
                    <a:pt x="0" y="0"/>
                  </a:moveTo>
                  <a:lnTo>
                    <a:pt x="48768" y="0"/>
                  </a:lnTo>
                  <a:lnTo>
                    <a:pt x="48768" y="1267968"/>
                  </a:lnTo>
                  <a:lnTo>
                    <a:pt x="0" y="1267968"/>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91" name="Google Shape;91;p2"/>
            <p:cNvSpPr/>
            <p:nvPr/>
          </p:nvSpPr>
          <p:spPr>
            <a:xfrm>
              <a:off x="0" y="0"/>
              <a:ext cx="82550" cy="1301750"/>
            </a:xfrm>
            <a:custGeom>
              <a:avLst/>
              <a:gdLst/>
              <a:ahLst/>
              <a:cxnLst/>
              <a:rect l="l" t="t" r="r" b="b"/>
              <a:pathLst>
                <a:path w="82550" h="1301750" extrusionOk="0">
                  <a:moveTo>
                    <a:pt x="16891" y="0"/>
                  </a:moveTo>
                  <a:lnTo>
                    <a:pt x="65659" y="0"/>
                  </a:lnTo>
                  <a:cubicBezTo>
                    <a:pt x="75057" y="0"/>
                    <a:pt x="82550" y="7620"/>
                    <a:pt x="82550" y="16891"/>
                  </a:cubicBezTo>
                  <a:lnTo>
                    <a:pt x="82550" y="1284859"/>
                  </a:lnTo>
                  <a:cubicBezTo>
                    <a:pt x="82550" y="1294257"/>
                    <a:pt x="74930" y="1301750"/>
                    <a:pt x="656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5659" y="1267968"/>
                  </a:lnTo>
                  <a:lnTo>
                    <a:pt x="65659" y="1284859"/>
                  </a:lnTo>
                  <a:lnTo>
                    <a:pt x="48768" y="1284859"/>
                  </a:lnTo>
                  <a:lnTo>
                    <a:pt x="48768" y="16891"/>
                  </a:lnTo>
                  <a:lnTo>
                    <a:pt x="65659" y="16891"/>
                  </a:lnTo>
                  <a:lnTo>
                    <a:pt x="65659" y="33909"/>
                  </a:lnTo>
                  <a:lnTo>
                    <a:pt x="16891" y="33909"/>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grpSp>
      <p:grpSp>
        <p:nvGrpSpPr>
          <p:cNvPr id="92" name="Google Shape;92;p2"/>
          <p:cNvGrpSpPr/>
          <p:nvPr/>
        </p:nvGrpSpPr>
        <p:grpSpPr>
          <a:xfrm>
            <a:off x="5471240" y="2868268"/>
            <a:ext cx="3220758" cy="429756"/>
            <a:chOff x="0" y="-38100"/>
            <a:chExt cx="8778300" cy="769620"/>
          </a:xfrm>
        </p:grpSpPr>
        <p:sp>
          <p:nvSpPr>
            <p:cNvPr id="93" name="Google Shape;93;p2"/>
            <p:cNvSpPr/>
            <p:nvPr/>
          </p:nvSpPr>
          <p:spPr>
            <a:xfrm>
              <a:off x="0" y="0"/>
              <a:ext cx="8778240" cy="731520"/>
            </a:xfrm>
            <a:custGeom>
              <a:avLst/>
              <a:gdLst/>
              <a:ahLst/>
              <a:cxnLst/>
              <a:rect l="l" t="t" r="r" b="b"/>
              <a:pathLst>
                <a:path w="8778240" h="731520" extrusionOk="0">
                  <a:moveTo>
                    <a:pt x="0" y="0"/>
                  </a:moveTo>
                  <a:lnTo>
                    <a:pt x="8778240" y="0"/>
                  </a:lnTo>
                  <a:lnTo>
                    <a:pt x="8778240" y="731520"/>
                  </a:lnTo>
                  <a:lnTo>
                    <a:pt x="0" y="731520"/>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sp>
          <p:nvSpPr>
            <p:cNvPr id="94" name="Google Shape;94;p2"/>
            <p:cNvSpPr txBox="1"/>
            <p:nvPr/>
          </p:nvSpPr>
          <p:spPr>
            <a:xfrm>
              <a:off x="0" y="-38100"/>
              <a:ext cx="8778300" cy="769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F618D"/>
                </a:buClr>
                <a:buSzPts val="1100"/>
                <a:buFont typeface="Calibri"/>
                <a:buNone/>
              </a:pPr>
              <a:r>
                <a:rPr lang="en-US">
                  <a:solidFill>
                    <a:srgbClr val="1F618D"/>
                  </a:solidFill>
                  <a:latin typeface="Calibri"/>
                  <a:ea typeface="Calibri"/>
                  <a:cs typeface="Calibri"/>
                  <a:sym typeface="Calibri"/>
                </a:rPr>
                <a:t>AXI Handshake in GTKWave</a:t>
              </a:r>
              <a:endParaRPr>
                <a:solidFill>
                  <a:srgbClr val="1F3864"/>
                </a:solidFill>
                <a:latin typeface="Calibri"/>
                <a:ea typeface="Calibri"/>
                <a:cs typeface="Calibri"/>
                <a:sym typeface="Calibri"/>
              </a:endParaRPr>
            </a:p>
          </p:txBody>
        </p:sp>
      </p:grpSp>
      <p:sp>
        <p:nvSpPr>
          <p:cNvPr id="95" name="Google Shape;95;p2"/>
          <p:cNvSpPr/>
          <p:nvPr/>
        </p:nvSpPr>
        <p:spPr>
          <a:xfrm>
            <a:off x="4827000" y="3513127"/>
            <a:ext cx="4122115" cy="623255"/>
          </a:xfrm>
          <a:custGeom>
            <a:avLst/>
            <a:gdLst/>
            <a:ahLst/>
            <a:cxnLst/>
            <a:rect l="l" t="t" r="r" b="b"/>
            <a:pathLst>
              <a:path w="11216640" h="1755648" extrusionOk="0">
                <a:moveTo>
                  <a:pt x="0" y="0"/>
                </a:moveTo>
                <a:lnTo>
                  <a:pt x="11216640" y="0"/>
                </a:lnTo>
                <a:lnTo>
                  <a:pt x="11216640" y="1755648"/>
                </a:lnTo>
                <a:lnTo>
                  <a:pt x="0" y="1755648"/>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grpSp>
        <p:nvGrpSpPr>
          <p:cNvPr id="96" name="Google Shape;96;p2"/>
          <p:cNvGrpSpPr/>
          <p:nvPr/>
        </p:nvGrpSpPr>
        <p:grpSpPr>
          <a:xfrm>
            <a:off x="4934373" y="3599567"/>
            <a:ext cx="375779" cy="429731"/>
            <a:chOff x="0" y="-47625"/>
            <a:chExt cx="1024200" cy="1218057"/>
          </a:xfrm>
        </p:grpSpPr>
        <p:sp>
          <p:nvSpPr>
            <p:cNvPr id="97" name="Google Shape;97;p2"/>
            <p:cNvSpPr/>
            <p:nvPr/>
          </p:nvSpPr>
          <p:spPr>
            <a:xfrm>
              <a:off x="0" y="0"/>
              <a:ext cx="1024128" cy="1170432"/>
            </a:xfrm>
            <a:custGeom>
              <a:avLst/>
              <a:gdLst/>
              <a:ahLst/>
              <a:cxnLst/>
              <a:rect l="l" t="t" r="r" b="b"/>
              <a:pathLst>
                <a:path w="1024128" h="1170432" extrusionOk="0">
                  <a:moveTo>
                    <a:pt x="0" y="0"/>
                  </a:moveTo>
                  <a:lnTo>
                    <a:pt x="1024128" y="0"/>
                  </a:lnTo>
                  <a:lnTo>
                    <a:pt x="1024128" y="1170432"/>
                  </a:lnTo>
                  <a:lnTo>
                    <a:pt x="0" y="1170432"/>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98" name="Google Shape;98;p2"/>
            <p:cNvSpPr txBox="1"/>
            <p:nvPr/>
          </p:nvSpPr>
          <p:spPr>
            <a:xfrm>
              <a:off x="0" y="-47625"/>
              <a:ext cx="1024200" cy="1218000"/>
            </a:xfrm>
            <a:prstGeom prst="rect">
              <a:avLst/>
            </a:prstGeom>
            <a:noFill/>
            <a:ln>
              <a:noFill/>
            </a:ln>
          </p:spPr>
          <p:txBody>
            <a:bodyPr spcFirstLastPara="1" wrap="square" lIns="0" tIns="0" rIns="0" bIns="0" anchor="ctr" anchorCtr="0">
              <a:noAutofit/>
            </a:bodyPr>
            <a:lstStyle/>
            <a:p>
              <a:pPr marL="0" marR="0" lvl="0" indent="0" algn="l" rtl="0">
                <a:lnSpc>
                  <a:spcPct val="120007"/>
                </a:lnSpc>
                <a:spcBef>
                  <a:spcPts val="0"/>
                </a:spcBef>
                <a:spcAft>
                  <a:spcPts val="0"/>
                </a:spcAft>
                <a:buClr>
                  <a:srgbClr val="000000"/>
                </a:buClr>
                <a:buSzPts val="1489"/>
                <a:buFont typeface="Arial"/>
                <a:buNone/>
              </a:pPr>
              <a:r>
                <a:rPr lang="en-US" sz="1489" b="1" i="0" u="none" strike="noStrike" cap="none">
                  <a:solidFill>
                    <a:srgbClr val="2E74B5"/>
                  </a:solidFill>
                  <a:latin typeface="Calibri"/>
                  <a:ea typeface="Calibri"/>
                  <a:cs typeface="Calibri"/>
                  <a:sym typeface="Calibri"/>
                </a:rPr>
                <a:t>0</a:t>
              </a:r>
              <a:r>
                <a:rPr lang="en-US" sz="1489" b="1">
                  <a:solidFill>
                    <a:srgbClr val="2E74B5"/>
                  </a:solidFill>
                  <a:latin typeface="Calibri"/>
                  <a:ea typeface="Calibri"/>
                  <a:cs typeface="Calibri"/>
                  <a:sym typeface="Calibri"/>
                </a:rPr>
                <a:t>9</a:t>
              </a:r>
              <a:endParaRPr sz="745" b="0" i="0" u="none" strike="noStrike" cap="none">
                <a:solidFill>
                  <a:srgbClr val="000000"/>
                </a:solidFill>
                <a:latin typeface="Arial"/>
                <a:ea typeface="Arial"/>
                <a:cs typeface="Arial"/>
                <a:sym typeface="Arial"/>
              </a:endParaRPr>
            </a:p>
          </p:txBody>
        </p:sp>
      </p:grpSp>
      <p:grpSp>
        <p:nvGrpSpPr>
          <p:cNvPr id="99" name="Google Shape;99;p2"/>
          <p:cNvGrpSpPr/>
          <p:nvPr/>
        </p:nvGrpSpPr>
        <p:grpSpPr>
          <a:xfrm>
            <a:off x="5339758" y="3593189"/>
            <a:ext cx="30288" cy="459257"/>
            <a:chOff x="0" y="0"/>
            <a:chExt cx="82550" cy="1301750"/>
          </a:xfrm>
        </p:grpSpPr>
        <p:sp>
          <p:nvSpPr>
            <p:cNvPr id="100" name="Google Shape;100;p2"/>
            <p:cNvSpPr/>
            <p:nvPr/>
          </p:nvSpPr>
          <p:spPr>
            <a:xfrm>
              <a:off x="16891" y="16891"/>
              <a:ext cx="48768" cy="1267968"/>
            </a:xfrm>
            <a:custGeom>
              <a:avLst/>
              <a:gdLst/>
              <a:ahLst/>
              <a:cxnLst/>
              <a:rect l="l" t="t" r="r" b="b"/>
              <a:pathLst>
                <a:path w="48768" h="1267968" extrusionOk="0">
                  <a:moveTo>
                    <a:pt x="0" y="0"/>
                  </a:moveTo>
                  <a:lnTo>
                    <a:pt x="48768" y="0"/>
                  </a:lnTo>
                  <a:lnTo>
                    <a:pt x="48768" y="1267968"/>
                  </a:lnTo>
                  <a:lnTo>
                    <a:pt x="0" y="1267968"/>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101" name="Google Shape;101;p2"/>
            <p:cNvSpPr/>
            <p:nvPr/>
          </p:nvSpPr>
          <p:spPr>
            <a:xfrm>
              <a:off x="0" y="0"/>
              <a:ext cx="82550" cy="1301750"/>
            </a:xfrm>
            <a:custGeom>
              <a:avLst/>
              <a:gdLst/>
              <a:ahLst/>
              <a:cxnLst/>
              <a:rect l="l" t="t" r="r" b="b"/>
              <a:pathLst>
                <a:path w="82550" h="1301750" extrusionOk="0">
                  <a:moveTo>
                    <a:pt x="16891" y="0"/>
                  </a:moveTo>
                  <a:lnTo>
                    <a:pt x="65659" y="0"/>
                  </a:lnTo>
                  <a:cubicBezTo>
                    <a:pt x="75057" y="0"/>
                    <a:pt x="82550" y="7620"/>
                    <a:pt x="82550" y="16891"/>
                  </a:cubicBezTo>
                  <a:lnTo>
                    <a:pt x="82550" y="1284859"/>
                  </a:lnTo>
                  <a:cubicBezTo>
                    <a:pt x="82550" y="1294257"/>
                    <a:pt x="74930" y="1301750"/>
                    <a:pt x="656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5659" y="1267968"/>
                  </a:lnTo>
                  <a:lnTo>
                    <a:pt x="65659" y="1284859"/>
                  </a:lnTo>
                  <a:lnTo>
                    <a:pt x="48768" y="1284859"/>
                  </a:lnTo>
                  <a:lnTo>
                    <a:pt x="48768" y="16891"/>
                  </a:lnTo>
                  <a:lnTo>
                    <a:pt x="65659" y="16891"/>
                  </a:lnTo>
                  <a:lnTo>
                    <a:pt x="65659" y="33909"/>
                  </a:lnTo>
                  <a:lnTo>
                    <a:pt x="16891" y="33909"/>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grpSp>
      <p:grpSp>
        <p:nvGrpSpPr>
          <p:cNvPr id="102" name="Google Shape;102;p2"/>
          <p:cNvGrpSpPr/>
          <p:nvPr/>
        </p:nvGrpSpPr>
        <p:grpSpPr>
          <a:xfrm>
            <a:off x="5471240" y="3599568"/>
            <a:ext cx="3220758" cy="429756"/>
            <a:chOff x="0" y="-38100"/>
            <a:chExt cx="8778300" cy="769620"/>
          </a:xfrm>
        </p:grpSpPr>
        <p:sp>
          <p:nvSpPr>
            <p:cNvPr id="103" name="Google Shape;103;p2"/>
            <p:cNvSpPr/>
            <p:nvPr/>
          </p:nvSpPr>
          <p:spPr>
            <a:xfrm>
              <a:off x="0" y="0"/>
              <a:ext cx="8778240" cy="731520"/>
            </a:xfrm>
            <a:custGeom>
              <a:avLst/>
              <a:gdLst/>
              <a:ahLst/>
              <a:cxnLst/>
              <a:rect l="l" t="t" r="r" b="b"/>
              <a:pathLst>
                <a:path w="8778240" h="731520" extrusionOk="0">
                  <a:moveTo>
                    <a:pt x="0" y="0"/>
                  </a:moveTo>
                  <a:lnTo>
                    <a:pt x="8778240" y="0"/>
                  </a:lnTo>
                  <a:lnTo>
                    <a:pt x="8778240" y="731520"/>
                  </a:lnTo>
                  <a:lnTo>
                    <a:pt x="0" y="731520"/>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sp>
          <p:nvSpPr>
            <p:cNvPr id="104" name="Google Shape;104;p2"/>
            <p:cNvSpPr txBox="1"/>
            <p:nvPr/>
          </p:nvSpPr>
          <p:spPr>
            <a:xfrm>
              <a:off x="0" y="-38100"/>
              <a:ext cx="8778300" cy="769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F618D"/>
                </a:buClr>
                <a:buSzPts val="1100"/>
                <a:buFont typeface="Calibri"/>
                <a:buNone/>
              </a:pPr>
              <a:r>
                <a:rPr lang="en-US">
                  <a:solidFill>
                    <a:srgbClr val="1F618D"/>
                  </a:solidFill>
                  <a:latin typeface="Calibri"/>
                  <a:ea typeface="Calibri"/>
                  <a:cs typeface="Calibri"/>
                  <a:sym typeface="Calibri"/>
                </a:rPr>
                <a:t>Debug Patterns</a:t>
              </a:r>
              <a:endParaRPr>
                <a:solidFill>
                  <a:srgbClr val="1F3864"/>
                </a:solidFill>
                <a:latin typeface="Calibri"/>
                <a:ea typeface="Calibri"/>
                <a:cs typeface="Calibri"/>
                <a:sym typeface="Calibri"/>
              </a:endParaRPr>
            </a:p>
          </p:txBody>
        </p:sp>
      </p:grpSp>
      <p:sp>
        <p:nvSpPr>
          <p:cNvPr id="105" name="Google Shape;105;p2"/>
          <p:cNvSpPr/>
          <p:nvPr/>
        </p:nvSpPr>
        <p:spPr>
          <a:xfrm>
            <a:off x="532075" y="4244377"/>
            <a:ext cx="4122115" cy="623255"/>
          </a:xfrm>
          <a:custGeom>
            <a:avLst/>
            <a:gdLst/>
            <a:ahLst/>
            <a:cxnLst/>
            <a:rect l="l" t="t" r="r" b="b"/>
            <a:pathLst>
              <a:path w="11216640" h="1755648" extrusionOk="0">
                <a:moveTo>
                  <a:pt x="0" y="0"/>
                </a:moveTo>
                <a:lnTo>
                  <a:pt x="11216640" y="0"/>
                </a:lnTo>
                <a:lnTo>
                  <a:pt x="11216640" y="1755648"/>
                </a:lnTo>
                <a:lnTo>
                  <a:pt x="0" y="1755648"/>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grpSp>
        <p:nvGrpSpPr>
          <p:cNvPr id="106" name="Google Shape;106;p2"/>
          <p:cNvGrpSpPr/>
          <p:nvPr/>
        </p:nvGrpSpPr>
        <p:grpSpPr>
          <a:xfrm>
            <a:off x="639448" y="4330817"/>
            <a:ext cx="375779" cy="429731"/>
            <a:chOff x="0" y="-47625"/>
            <a:chExt cx="1024200" cy="1218057"/>
          </a:xfrm>
        </p:grpSpPr>
        <p:sp>
          <p:nvSpPr>
            <p:cNvPr id="107" name="Google Shape;107;p2"/>
            <p:cNvSpPr/>
            <p:nvPr/>
          </p:nvSpPr>
          <p:spPr>
            <a:xfrm>
              <a:off x="0" y="0"/>
              <a:ext cx="1024128" cy="1170432"/>
            </a:xfrm>
            <a:custGeom>
              <a:avLst/>
              <a:gdLst/>
              <a:ahLst/>
              <a:cxnLst/>
              <a:rect l="l" t="t" r="r" b="b"/>
              <a:pathLst>
                <a:path w="1024128" h="1170432" extrusionOk="0">
                  <a:moveTo>
                    <a:pt x="0" y="0"/>
                  </a:moveTo>
                  <a:lnTo>
                    <a:pt x="1024128" y="0"/>
                  </a:lnTo>
                  <a:lnTo>
                    <a:pt x="1024128" y="1170432"/>
                  </a:lnTo>
                  <a:lnTo>
                    <a:pt x="0" y="1170432"/>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108" name="Google Shape;108;p2"/>
            <p:cNvSpPr txBox="1"/>
            <p:nvPr/>
          </p:nvSpPr>
          <p:spPr>
            <a:xfrm>
              <a:off x="0" y="-47625"/>
              <a:ext cx="1024200" cy="1218000"/>
            </a:xfrm>
            <a:prstGeom prst="rect">
              <a:avLst/>
            </a:prstGeom>
            <a:noFill/>
            <a:ln>
              <a:noFill/>
            </a:ln>
          </p:spPr>
          <p:txBody>
            <a:bodyPr spcFirstLastPara="1" wrap="square" lIns="0" tIns="0" rIns="0" bIns="0" anchor="ctr" anchorCtr="0">
              <a:noAutofit/>
            </a:bodyPr>
            <a:lstStyle/>
            <a:p>
              <a:pPr marL="0" marR="0" lvl="0" indent="0" algn="l" rtl="0">
                <a:lnSpc>
                  <a:spcPct val="120007"/>
                </a:lnSpc>
                <a:spcBef>
                  <a:spcPts val="0"/>
                </a:spcBef>
                <a:spcAft>
                  <a:spcPts val="0"/>
                </a:spcAft>
                <a:buClr>
                  <a:srgbClr val="000000"/>
                </a:buClr>
                <a:buSzPts val="1489"/>
                <a:buFont typeface="Arial"/>
                <a:buNone/>
              </a:pPr>
              <a:r>
                <a:rPr lang="en-US" sz="1489" b="1" i="0" u="none" strike="noStrike" cap="none">
                  <a:solidFill>
                    <a:srgbClr val="2E74B5"/>
                  </a:solidFill>
                  <a:latin typeface="Calibri"/>
                  <a:ea typeface="Calibri"/>
                  <a:cs typeface="Calibri"/>
                  <a:sym typeface="Calibri"/>
                </a:rPr>
                <a:t>0</a:t>
              </a:r>
              <a:r>
                <a:rPr lang="en-US" sz="1489" b="1">
                  <a:solidFill>
                    <a:srgbClr val="2E74B5"/>
                  </a:solidFill>
                  <a:latin typeface="Calibri"/>
                  <a:ea typeface="Calibri"/>
                  <a:cs typeface="Calibri"/>
                  <a:sym typeface="Calibri"/>
                </a:rPr>
                <a:t>5</a:t>
              </a:r>
              <a:endParaRPr sz="745" b="0" i="0" u="none" strike="noStrike" cap="none">
                <a:solidFill>
                  <a:srgbClr val="000000"/>
                </a:solidFill>
                <a:latin typeface="Arial"/>
                <a:ea typeface="Arial"/>
                <a:cs typeface="Arial"/>
                <a:sym typeface="Arial"/>
              </a:endParaRPr>
            </a:p>
          </p:txBody>
        </p:sp>
      </p:grpSp>
      <p:grpSp>
        <p:nvGrpSpPr>
          <p:cNvPr id="109" name="Google Shape;109;p2"/>
          <p:cNvGrpSpPr/>
          <p:nvPr/>
        </p:nvGrpSpPr>
        <p:grpSpPr>
          <a:xfrm>
            <a:off x="1044833" y="4324439"/>
            <a:ext cx="30288" cy="459257"/>
            <a:chOff x="0" y="0"/>
            <a:chExt cx="82550" cy="1301750"/>
          </a:xfrm>
        </p:grpSpPr>
        <p:sp>
          <p:nvSpPr>
            <p:cNvPr id="110" name="Google Shape;110;p2"/>
            <p:cNvSpPr/>
            <p:nvPr/>
          </p:nvSpPr>
          <p:spPr>
            <a:xfrm>
              <a:off x="16891" y="16891"/>
              <a:ext cx="48768" cy="1267968"/>
            </a:xfrm>
            <a:custGeom>
              <a:avLst/>
              <a:gdLst/>
              <a:ahLst/>
              <a:cxnLst/>
              <a:rect l="l" t="t" r="r" b="b"/>
              <a:pathLst>
                <a:path w="48768" h="1267968" extrusionOk="0">
                  <a:moveTo>
                    <a:pt x="0" y="0"/>
                  </a:moveTo>
                  <a:lnTo>
                    <a:pt x="48768" y="0"/>
                  </a:lnTo>
                  <a:lnTo>
                    <a:pt x="48768" y="1267968"/>
                  </a:lnTo>
                  <a:lnTo>
                    <a:pt x="0" y="1267968"/>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sp>
          <p:nvSpPr>
            <p:cNvPr id="111" name="Google Shape;111;p2"/>
            <p:cNvSpPr/>
            <p:nvPr/>
          </p:nvSpPr>
          <p:spPr>
            <a:xfrm>
              <a:off x="0" y="0"/>
              <a:ext cx="82550" cy="1301750"/>
            </a:xfrm>
            <a:custGeom>
              <a:avLst/>
              <a:gdLst/>
              <a:ahLst/>
              <a:cxnLst/>
              <a:rect l="l" t="t" r="r" b="b"/>
              <a:pathLst>
                <a:path w="82550" h="1301750" extrusionOk="0">
                  <a:moveTo>
                    <a:pt x="16891" y="0"/>
                  </a:moveTo>
                  <a:lnTo>
                    <a:pt x="65659" y="0"/>
                  </a:lnTo>
                  <a:cubicBezTo>
                    <a:pt x="75057" y="0"/>
                    <a:pt x="82550" y="7620"/>
                    <a:pt x="82550" y="16891"/>
                  </a:cubicBezTo>
                  <a:lnTo>
                    <a:pt x="82550" y="1284859"/>
                  </a:lnTo>
                  <a:cubicBezTo>
                    <a:pt x="82550" y="1294257"/>
                    <a:pt x="74930" y="1301750"/>
                    <a:pt x="656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65659" y="1267968"/>
                  </a:lnTo>
                  <a:lnTo>
                    <a:pt x="65659" y="1284859"/>
                  </a:lnTo>
                  <a:lnTo>
                    <a:pt x="48768" y="1284859"/>
                  </a:lnTo>
                  <a:lnTo>
                    <a:pt x="48768" y="16891"/>
                  </a:lnTo>
                  <a:lnTo>
                    <a:pt x="65659" y="16891"/>
                  </a:lnTo>
                  <a:lnTo>
                    <a:pt x="65659" y="33909"/>
                  </a:lnTo>
                  <a:lnTo>
                    <a:pt x="16891" y="33909"/>
                  </a:lnTo>
                  <a:close/>
                </a:path>
              </a:pathLst>
            </a:custGeom>
            <a:solidFill>
              <a:srgbClr val="DAEAF7"/>
            </a:solid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sz="957" b="0" i="0" u="none" strike="noStrike" cap="none">
                <a:solidFill>
                  <a:srgbClr val="000000"/>
                </a:solidFill>
                <a:latin typeface="Calibri"/>
                <a:ea typeface="Calibri"/>
                <a:cs typeface="Calibri"/>
                <a:sym typeface="Calibri"/>
              </a:endParaRPr>
            </a:p>
          </p:txBody>
        </p:sp>
      </p:grpSp>
      <p:grpSp>
        <p:nvGrpSpPr>
          <p:cNvPr id="112" name="Google Shape;112;p2"/>
          <p:cNvGrpSpPr/>
          <p:nvPr/>
        </p:nvGrpSpPr>
        <p:grpSpPr>
          <a:xfrm>
            <a:off x="1176315" y="4330818"/>
            <a:ext cx="3220758" cy="429756"/>
            <a:chOff x="0" y="-38100"/>
            <a:chExt cx="8778300" cy="769620"/>
          </a:xfrm>
        </p:grpSpPr>
        <p:sp>
          <p:nvSpPr>
            <p:cNvPr id="113" name="Google Shape;113;p2"/>
            <p:cNvSpPr/>
            <p:nvPr/>
          </p:nvSpPr>
          <p:spPr>
            <a:xfrm>
              <a:off x="0" y="0"/>
              <a:ext cx="8778240" cy="731520"/>
            </a:xfrm>
            <a:custGeom>
              <a:avLst/>
              <a:gdLst/>
              <a:ahLst/>
              <a:cxnLst/>
              <a:rect l="l" t="t" r="r" b="b"/>
              <a:pathLst>
                <a:path w="8778240" h="731520" extrusionOk="0">
                  <a:moveTo>
                    <a:pt x="0" y="0"/>
                  </a:moveTo>
                  <a:lnTo>
                    <a:pt x="8778240" y="0"/>
                  </a:lnTo>
                  <a:lnTo>
                    <a:pt x="8778240" y="731520"/>
                  </a:lnTo>
                  <a:lnTo>
                    <a:pt x="0" y="731520"/>
                  </a:lnTo>
                  <a:close/>
                </a:path>
              </a:pathLst>
            </a:custGeom>
            <a:noFill/>
            <a:ln>
              <a:noFill/>
            </a:ln>
          </p:spPr>
          <p:txBody>
            <a:bodyPr spcFirstLastPara="1" wrap="square" lIns="48625" tIns="24300" rIns="48625" bIns="24300" anchor="t" anchorCtr="0">
              <a:noAutofit/>
            </a:bodyPr>
            <a:lstStyle/>
            <a:p>
              <a:pPr marL="0" marR="0" lvl="0" indent="0" algn="l" rtl="0">
                <a:lnSpc>
                  <a:spcPct val="100000"/>
                </a:lnSpc>
                <a:spcBef>
                  <a:spcPts val="0"/>
                </a:spcBef>
                <a:spcAft>
                  <a:spcPts val="0"/>
                </a:spcAft>
                <a:buClr>
                  <a:srgbClr val="000000"/>
                </a:buClr>
                <a:buSzPts val="957"/>
                <a:buFont typeface="Arial"/>
                <a:buNone/>
              </a:pPr>
              <a:endParaRPr i="0" u="none" strike="noStrike" cap="none">
                <a:solidFill>
                  <a:srgbClr val="000000"/>
                </a:solidFill>
                <a:latin typeface="Calibri"/>
                <a:ea typeface="Calibri"/>
                <a:cs typeface="Calibri"/>
                <a:sym typeface="Calibri"/>
              </a:endParaRPr>
            </a:p>
          </p:txBody>
        </p:sp>
        <p:sp>
          <p:nvSpPr>
            <p:cNvPr id="114" name="Google Shape;114;p2"/>
            <p:cNvSpPr txBox="1"/>
            <p:nvPr/>
          </p:nvSpPr>
          <p:spPr>
            <a:xfrm>
              <a:off x="0" y="-38100"/>
              <a:ext cx="8778300" cy="769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F618D"/>
                </a:buClr>
                <a:buSzPts val="1100"/>
                <a:buFont typeface="Calibri"/>
                <a:buNone/>
              </a:pPr>
              <a:r>
                <a:rPr lang="en-US">
                  <a:solidFill>
                    <a:srgbClr val="1F618D"/>
                  </a:solidFill>
                  <a:latin typeface="Calibri"/>
                  <a:ea typeface="Calibri"/>
                  <a:cs typeface="Calibri"/>
                  <a:sym typeface="Calibri"/>
                </a:rPr>
                <a:t>Signal Grouping by Layer</a:t>
              </a:r>
              <a:endParaRPr i="0" u="none" strike="noStrike" cap="none">
                <a:solidFill>
                  <a:srgbClr val="1F3864"/>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p:nvPr/>
        </p:nvSpPr>
        <p:spPr>
          <a:xfrm>
            <a:off x="377600" y="603450"/>
            <a:ext cx="83091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F3864"/>
              </a:buClr>
              <a:buSzPts val="2600"/>
              <a:buFont typeface="Calibri"/>
              <a:buNone/>
            </a:pPr>
            <a:r>
              <a:rPr lang="en-US" sz="2600" b="1" i="0" u="none" strike="noStrike" cap="none">
                <a:solidFill>
                  <a:schemeClr val="dk1"/>
                </a:solidFill>
                <a:latin typeface="Calibri"/>
                <a:ea typeface="Calibri"/>
                <a:cs typeface="Calibri"/>
                <a:sym typeface="Calibri"/>
              </a:rPr>
              <a:t>What is a Testbench?</a:t>
            </a:r>
            <a:endParaRPr sz="2600" b="0" i="0" u="none" strike="noStrike" cap="none">
              <a:solidFill>
                <a:schemeClr val="dk1"/>
              </a:solidFill>
              <a:latin typeface="Calibri"/>
              <a:ea typeface="Calibri"/>
              <a:cs typeface="Calibri"/>
              <a:sym typeface="Calibri"/>
            </a:endParaRPr>
          </a:p>
        </p:txBody>
      </p:sp>
      <p:sp>
        <p:nvSpPr>
          <p:cNvPr id="121" name="Google Shape;121;p3"/>
          <p:cNvSpPr/>
          <p:nvPr/>
        </p:nvSpPr>
        <p:spPr>
          <a:xfrm>
            <a:off x="457200" y="1194512"/>
            <a:ext cx="8229600" cy="591900"/>
          </a:xfrm>
          <a:prstGeom prst="rect">
            <a:avLst/>
          </a:prstGeom>
          <a:solidFill>
            <a:srgbClr val="DAEAF7"/>
          </a:solidFill>
          <a:ln w="12700" cap="flat" cmpd="sng">
            <a:solidFill>
              <a:srgbClr val="2E74B5"/>
            </a:solidFill>
            <a:prstDash val="solid"/>
            <a:round/>
            <a:headEnd type="none" w="sm" len="sm"/>
            <a:tailEnd type="none" w="sm" len="sm"/>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3"/>
          <p:cNvSpPr/>
          <p:nvPr/>
        </p:nvSpPr>
        <p:spPr>
          <a:xfrm>
            <a:off x="640080" y="1216032"/>
            <a:ext cx="7863900" cy="511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F3864"/>
              </a:buClr>
              <a:buSzPts val="1100"/>
              <a:buFont typeface="Calibri"/>
              <a:buNone/>
            </a:pPr>
            <a:r>
              <a:rPr lang="en-US" sz="1100" b="1" i="0" u="none" strike="noStrike" cap="none">
                <a:solidFill>
                  <a:srgbClr val="1F3864"/>
                </a:solidFill>
                <a:latin typeface="Calibri"/>
                <a:ea typeface="Calibri"/>
                <a:cs typeface="Calibri"/>
                <a:sym typeface="Calibri"/>
              </a:rPr>
              <a:t>Analogy:  </a:t>
            </a:r>
            <a:r>
              <a:rPr lang="en-US" sz="1100" b="0" i="0" u="none" strike="noStrike" cap="none">
                <a:solidFill>
                  <a:srgbClr val="1E293B"/>
                </a:solidFill>
                <a:latin typeface="Calibri"/>
                <a:ea typeface="Calibri"/>
                <a:cs typeface="Calibri"/>
                <a:sym typeface="Calibri"/>
              </a:rPr>
              <a:t>Think of your SoC as a new car engine, and the testbench as the diagnostic rig in the factory. It provides the fuel (clock) and presses the pedals (stimuli) to ensure the engine runs correctly before it ever hits the road.</a:t>
            </a:r>
            <a:endParaRPr sz="1100" b="0" i="0" u="none" strike="noStrike" cap="none">
              <a:solidFill>
                <a:schemeClr val="dk1"/>
              </a:solidFill>
              <a:latin typeface="Calibri"/>
              <a:ea typeface="Calibri"/>
              <a:cs typeface="Calibri"/>
              <a:sym typeface="Calibri"/>
            </a:endParaRPr>
          </a:p>
        </p:txBody>
      </p:sp>
      <p:sp>
        <p:nvSpPr>
          <p:cNvPr id="123" name="Google Shape;123;p3"/>
          <p:cNvSpPr/>
          <p:nvPr/>
        </p:nvSpPr>
        <p:spPr>
          <a:xfrm>
            <a:off x="457200" y="1920240"/>
            <a:ext cx="2651760" cy="34747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3"/>
          <p:cNvSpPr/>
          <p:nvPr/>
        </p:nvSpPr>
        <p:spPr>
          <a:xfrm>
            <a:off x="457200" y="2267712"/>
            <a:ext cx="2651760" cy="2560320"/>
          </a:xfrm>
          <a:prstGeom prst="rect">
            <a:avLst/>
          </a:prstGeom>
          <a:solidFill>
            <a:srgbClr val="F8FAFC">
              <a:alpha val="60000"/>
            </a:srgbClr>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3"/>
          <p:cNvSpPr/>
          <p:nvPr/>
        </p:nvSpPr>
        <p:spPr>
          <a:xfrm>
            <a:off x="548640" y="2304288"/>
            <a:ext cx="2468880" cy="7315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1E293B"/>
              </a:buClr>
              <a:buSzPts val="1050"/>
              <a:buFont typeface="Calibri"/>
              <a:buChar char="•"/>
            </a:pPr>
            <a:r>
              <a:rPr lang="en-US" sz="1050" b="0" i="0" u="none" strike="noStrike" cap="none" dirty="0">
                <a:solidFill>
                  <a:srgbClr val="1E293B"/>
                </a:solidFill>
                <a:latin typeface="Calibri"/>
                <a:ea typeface="Calibri"/>
                <a:cs typeface="Calibri"/>
                <a:sym typeface="Calibri"/>
              </a:rPr>
              <a:t>An extra Verilog module that wraps your DUT (Device Under Test)</a:t>
            </a:r>
            <a:endParaRPr sz="1050" b="0" i="0" u="none" strike="noStrike" cap="none" dirty="0">
              <a:solidFill>
                <a:schemeClr val="dk1"/>
              </a:solidFill>
              <a:latin typeface="Calibri"/>
              <a:ea typeface="Calibri"/>
              <a:cs typeface="Calibri"/>
              <a:sym typeface="Calibri"/>
            </a:endParaRPr>
          </a:p>
        </p:txBody>
      </p:sp>
      <p:sp>
        <p:nvSpPr>
          <p:cNvPr id="126" name="Google Shape;126;p3"/>
          <p:cNvSpPr/>
          <p:nvPr/>
        </p:nvSpPr>
        <p:spPr>
          <a:xfrm>
            <a:off x="548640" y="3081528"/>
            <a:ext cx="2468880" cy="7315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Simulation-only — never synthesized to real hardware</a:t>
            </a:r>
            <a:endParaRPr sz="1050" b="0" i="0" u="none" strike="noStrike" cap="none">
              <a:solidFill>
                <a:schemeClr val="dk1"/>
              </a:solidFill>
              <a:latin typeface="Calibri"/>
              <a:ea typeface="Calibri"/>
              <a:cs typeface="Calibri"/>
              <a:sym typeface="Calibri"/>
            </a:endParaRPr>
          </a:p>
        </p:txBody>
      </p:sp>
      <p:sp>
        <p:nvSpPr>
          <p:cNvPr id="127" name="Google Shape;127;p3"/>
          <p:cNvSpPr/>
          <p:nvPr/>
        </p:nvSpPr>
        <p:spPr>
          <a:xfrm>
            <a:off x="548640" y="3858768"/>
            <a:ext cx="2468880" cy="7315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Sits outside the design and talks to it via ports</a:t>
            </a:r>
            <a:endParaRPr sz="1050" b="0" i="0" u="none" strike="noStrike" cap="none">
              <a:solidFill>
                <a:schemeClr val="dk1"/>
              </a:solidFill>
              <a:latin typeface="Calibri"/>
              <a:ea typeface="Calibri"/>
              <a:cs typeface="Calibri"/>
              <a:sym typeface="Calibri"/>
            </a:endParaRPr>
          </a:p>
        </p:txBody>
      </p:sp>
      <p:sp>
        <p:nvSpPr>
          <p:cNvPr id="128" name="Google Shape;128;p3"/>
          <p:cNvSpPr/>
          <p:nvPr/>
        </p:nvSpPr>
        <p:spPr>
          <a:xfrm>
            <a:off x="3291840" y="1920240"/>
            <a:ext cx="2651760" cy="347472"/>
          </a:xfrm>
          <a:prstGeom prst="rect">
            <a:avLst/>
          </a:prstGeom>
          <a:solidFill>
            <a:srgbClr val="8E7CC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3"/>
          <p:cNvSpPr/>
          <p:nvPr/>
        </p:nvSpPr>
        <p:spPr>
          <a:xfrm>
            <a:off x="3291840" y="2267712"/>
            <a:ext cx="2651760" cy="2560320"/>
          </a:xfrm>
          <a:prstGeom prst="rect">
            <a:avLst/>
          </a:prstGeom>
          <a:solidFill>
            <a:srgbClr val="F8FAFC">
              <a:alpha val="60000"/>
            </a:srgbClr>
          </a:solidFill>
          <a:ln w="12700" cap="flat" cmpd="sng">
            <a:solidFill>
              <a:srgbClr val="E2E8F0"/>
            </a:solidFill>
            <a:prstDash val="solid"/>
            <a:round/>
            <a:headEnd type="none" w="sm" len="sm"/>
            <a:tailEnd type="none" w="sm" len="sm"/>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3"/>
          <p:cNvSpPr/>
          <p:nvPr/>
        </p:nvSpPr>
        <p:spPr>
          <a:xfrm>
            <a:off x="3383280" y="2304288"/>
            <a:ext cx="2468880" cy="7315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Drives clock, reset, and bus stimuli into the DUT</a:t>
            </a:r>
            <a:endParaRPr sz="1050" b="0" i="0" u="none" strike="noStrike" cap="none">
              <a:solidFill>
                <a:schemeClr val="dk1"/>
              </a:solidFill>
              <a:latin typeface="Calibri"/>
              <a:ea typeface="Calibri"/>
              <a:cs typeface="Calibri"/>
              <a:sym typeface="Calibri"/>
            </a:endParaRPr>
          </a:p>
        </p:txBody>
      </p:sp>
      <p:sp>
        <p:nvSpPr>
          <p:cNvPr id="131" name="Google Shape;131;p3"/>
          <p:cNvSpPr/>
          <p:nvPr/>
        </p:nvSpPr>
        <p:spPr>
          <a:xfrm>
            <a:off x="3383280" y="3081528"/>
            <a:ext cx="2468880" cy="7315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Observes outputs via waveforms (VCD/FSDB) and logs</a:t>
            </a:r>
            <a:endParaRPr sz="1050" b="0" i="0" u="none" strike="noStrike" cap="none">
              <a:solidFill>
                <a:schemeClr val="dk1"/>
              </a:solidFill>
              <a:latin typeface="Calibri"/>
              <a:ea typeface="Calibri"/>
              <a:cs typeface="Calibri"/>
              <a:sym typeface="Calibri"/>
            </a:endParaRPr>
          </a:p>
        </p:txBody>
      </p:sp>
      <p:sp>
        <p:nvSpPr>
          <p:cNvPr id="132" name="Google Shape;132;p3"/>
          <p:cNvSpPr/>
          <p:nvPr/>
        </p:nvSpPr>
        <p:spPr>
          <a:xfrm>
            <a:off x="3383280" y="3858768"/>
            <a:ext cx="2468880" cy="7315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Uses assertions ($assert) to auto-check correctness</a:t>
            </a:r>
            <a:endParaRPr sz="1050" b="0" i="0" u="none" strike="noStrike" cap="none">
              <a:solidFill>
                <a:schemeClr val="dk1"/>
              </a:solidFill>
              <a:latin typeface="Calibri"/>
              <a:ea typeface="Calibri"/>
              <a:cs typeface="Calibri"/>
              <a:sym typeface="Calibri"/>
            </a:endParaRPr>
          </a:p>
        </p:txBody>
      </p:sp>
      <p:sp>
        <p:nvSpPr>
          <p:cNvPr id="133" name="Google Shape;133;p3"/>
          <p:cNvSpPr/>
          <p:nvPr/>
        </p:nvSpPr>
        <p:spPr>
          <a:xfrm>
            <a:off x="6126480" y="1920240"/>
            <a:ext cx="2651760" cy="347472"/>
          </a:xfrm>
          <a:prstGeom prst="rect">
            <a:avLst/>
          </a:prstGeom>
          <a:solidFill>
            <a:srgbClr val="2E7D6A"/>
          </a:solidFill>
          <a:ln w="12700" cap="flat" cmpd="sng">
            <a:solidFill>
              <a:srgbClr val="2E7D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3"/>
          <p:cNvSpPr/>
          <p:nvPr/>
        </p:nvSpPr>
        <p:spPr>
          <a:xfrm>
            <a:off x="6126480" y="1920240"/>
            <a:ext cx="2651760" cy="34747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Why It Matters</a:t>
            </a:r>
            <a:endParaRPr sz="1200" b="0" i="0" u="none" strike="noStrike" cap="none">
              <a:solidFill>
                <a:schemeClr val="dk1"/>
              </a:solidFill>
              <a:latin typeface="Calibri"/>
              <a:ea typeface="Calibri"/>
              <a:cs typeface="Calibri"/>
              <a:sym typeface="Calibri"/>
            </a:endParaRPr>
          </a:p>
        </p:txBody>
      </p:sp>
      <p:sp>
        <p:nvSpPr>
          <p:cNvPr id="135" name="Google Shape;135;p3"/>
          <p:cNvSpPr/>
          <p:nvPr/>
        </p:nvSpPr>
        <p:spPr>
          <a:xfrm>
            <a:off x="6126480" y="2267712"/>
            <a:ext cx="2651760" cy="2560320"/>
          </a:xfrm>
          <a:prstGeom prst="rect">
            <a:avLst/>
          </a:prstGeom>
          <a:solidFill>
            <a:srgbClr val="F8FAFC">
              <a:alpha val="60000"/>
            </a:srgbClr>
          </a:solidFill>
          <a:ln w="12700" cap="flat" cmpd="sng">
            <a:solidFill>
              <a:srgbClr val="E2E8F0"/>
            </a:solidFill>
            <a:prstDash val="solid"/>
            <a:round/>
            <a:headEnd type="none" w="sm" len="sm"/>
            <a:tailEnd type="none" w="sm" len="sm"/>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3"/>
          <p:cNvSpPr/>
          <p:nvPr/>
        </p:nvSpPr>
        <p:spPr>
          <a:xfrm>
            <a:off x="6217920" y="2304288"/>
            <a:ext cx="2468880" cy="7315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Catches bugs before expensive silicon is made</a:t>
            </a:r>
            <a:endParaRPr sz="1050" b="0" i="0" u="none" strike="noStrike" cap="none">
              <a:solidFill>
                <a:schemeClr val="dk1"/>
              </a:solidFill>
              <a:latin typeface="Calibri"/>
              <a:ea typeface="Calibri"/>
              <a:cs typeface="Calibri"/>
              <a:sym typeface="Calibri"/>
            </a:endParaRPr>
          </a:p>
        </p:txBody>
      </p:sp>
      <p:sp>
        <p:nvSpPr>
          <p:cNvPr id="137" name="Google Shape;137;p3"/>
          <p:cNvSpPr/>
          <p:nvPr/>
        </p:nvSpPr>
        <p:spPr>
          <a:xfrm>
            <a:off x="6217920" y="3081528"/>
            <a:ext cx="2468880" cy="7315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Simulates real-world conditions safely</a:t>
            </a:r>
            <a:endParaRPr sz="1050" b="0" i="0" u="none" strike="noStrike" cap="none">
              <a:solidFill>
                <a:schemeClr val="dk1"/>
              </a:solidFill>
              <a:latin typeface="Calibri"/>
              <a:ea typeface="Calibri"/>
              <a:cs typeface="Calibri"/>
              <a:sym typeface="Calibri"/>
            </a:endParaRPr>
          </a:p>
        </p:txBody>
      </p:sp>
      <p:sp>
        <p:nvSpPr>
          <p:cNvPr id="138" name="Google Shape;138;p3"/>
          <p:cNvSpPr/>
          <p:nvPr/>
        </p:nvSpPr>
        <p:spPr>
          <a:xfrm>
            <a:off x="6217920" y="3858768"/>
            <a:ext cx="2468880" cy="7315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Required step before tapeout in any SoC project</a:t>
            </a:r>
            <a:endParaRPr sz="1050" b="0" i="0" u="none" strike="noStrike" cap="none">
              <a:solidFill>
                <a:schemeClr val="dk1"/>
              </a:solidFill>
              <a:latin typeface="Calibri"/>
              <a:ea typeface="Calibri"/>
              <a:cs typeface="Calibri"/>
              <a:sym typeface="Calibri"/>
            </a:endParaRPr>
          </a:p>
        </p:txBody>
      </p:sp>
      <p:sp>
        <p:nvSpPr>
          <p:cNvPr id="139" name="Google Shape;139;p3"/>
          <p:cNvSpPr/>
          <p:nvPr/>
        </p:nvSpPr>
        <p:spPr>
          <a:xfrm>
            <a:off x="457200" y="1920240"/>
            <a:ext cx="26517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What It Is</a:t>
            </a:r>
            <a:endParaRPr sz="1200" b="0" i="0" u="none" strike="noStrike" cap="none">
              <a:solidFill>
                <a:schemeClr val="dk1"/>
              </a:solidFill>
              <a:latin typeface="Calibri"/>
              <a:ea typeface="Calibri"/>
              <a:cs typeface="Calibri"/>
              <a:sym typeface="Calibri"/>
            </a:endParaRPr>
          </a:p>
        </p:txBody>
      </p:sp>
      <p:sp>
        <p:nvSpPr>
          <p:cNvPr id="140" name="Google Shape;140;p3"/>
          <p:cNvSpPr/>
          <p:nvPr/>
        </p:nvSpPr>
        <p:spPr>
          <a:xfrm>
            <a:off x="3291840" y="1920240"/>
            <a:ext cx="26517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What It Does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4"/>
          <p:cNvSpPr/>
          <p:nvPr/>
        </p:nvSpPr>
        <p:spPr>
          <a:xfrm>
            <a:off x="417300" y="609975"/>
            <a:ext cx="8309400" cy="43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F3864"/>
              </a:buClr>
              <a:buSzPts val="2600"/>
              <a:buFont typeface="Calibri"/>
              <a:buNone/>
            </a:pPr>
            <a:r>
              <a:rPr lang="en-US" sz="2800" b="1" i="0" u="none" strike="noStrike" cap="none">
                <a:solidFill>
                  <a:schemeClr val="dk1"/>
                </a:solidFill>
                <a:latin typeface="Calibri"/>
                <a:ea typeface="Calibri"/>
                <a:cs typeface="Calibri"/>
                <a:sym typeface="Calibri"/>
              </a:rPr>
              <a:t>Testbench Skeleton</a:t>
            </a:r>
            <a:endParaRPr sz="2800" b="1" i="0" u="none" strike="noStrike" cap="none">
              <a:solidFill>
                <a:schemeClr val="dk1"/>
              </a:solidFill>
              <a:latin typeface="Calibri"/>
              <a:ea typeface="Calibri"/>
              <a:cs typeface="Calibri"/>
              <a:sym typeface="Calibri"/>
            </a:endParaRPr>
          </a:p>
        </p:txBody>
      </p:sp>
      <p:sp>
        <p:nvSpPr>
          <p:cNvPr id="147" name="Google Shape;147;p4"/>
          <p:cNvSpPr/>
          <p:nvPr/>
        </p:nvSpPr>
        <p:spPr>
          <a:xfrm>
            <a:off x="492143" y="1199629"/>
            <a:ext cx="384000" cy="484500"/>
          </a:xfrm>
          <a:prstGeom prst="rect">
            <a:avLst/>
          </a:prstGeom>
          <a:solidFill>
            <a:srgbClr val="1F618D"/>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148" name="Google Shape;148;p4"/>
          <p:cNvSpPr/>
          <p:nvPr/>
        </p:nvSpPr>
        <p:spPr>
          <a:xfrm>
            <a:off x="528719" y="1236205"/>
            <a:ext cx="3291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FFFFFF"/>
              </a:buClr>
              <a:buSzPts val="1050"/>
              <a:buFont typeface="Calibri"/>
              <a:buNone/>
            </a:pPr>
            <a:r>
              <a:rPr lang="en-US" sz="1000" b="1" i="0" u="none" strike="noStrike" cap="none">
                <a:solidFill>
                  <a:srgbClr val="FFFFFF"/>
                </a:solidFill>
                <a:latin typeface="Calibri"/>
                <a:ea typeface="Calibri"/>
                <a:cs typeface="Calibri"/>
                <a:sym typeface="Calibri"/>
              </a:rPr>
              <a:t>Step</a:t>
            </a:r>
            <a:endParaRPr sz="1000" b="0" i="0" u="none" strike="noStrike" cap="none">
              <a:solidFill>
                <a:srgbClr val="000000"/>
              </a:solidFill>
              <a:latin typeface="Calibri"/>
              <a:ea typeface="Calibri"/>
              <a:cs typeface="Calibri"/>
              <a:sym typeface="Calibri"/>
            </a:endParaRPr>
          </a:p>
        </p:txBody>
      </p:sp>
      <p:sp>
        <p:nvSpPr>
          <p:cNvPr id="149" name="Google Shape;149;p4"/>
          <p:cNvSpPr/>
          <p:nvPr/>
        </p:nvSpPr>
        <p:spPr>
          <a:xfrm>
            <a:off x="876191" y="1199629"/>
            <a:ext cx="1005900" cy="484500"/>
          </a:xfrm>
          <a:prstGeom prst="rect">
            <a:avLst/>
          </a:prstGeom>
          <a:solidFill>
            <a:srgbClr val="1F618D"/>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150" name="Google Shape;150;p4"/>
          <p:cNvSpPr/>
          <p:nvPr/>
        </p:nvSpPr>
        <p:spPr>
          <a:xfrm>
            <a:off x="912767" y="1236205"/>
            <a:ext cx="9510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FFFFFF"/>
              </a:buClr>
              <a:buSzPts val="1050"/>
              <a:buFont typeface="Calibri"/>
              <a:buNone/>
            </a:pPr>
            <a:r>
              <a:rPr lang="en-US" sz="1000" b="1" i="0" u="none" strike="noStrike" cap="none">
                <a:solidFill>
                  <a:srgbClr val="FFFFFF"/>
                </a:solidFill>
                <a:latin typeface="Calibri"/>
                <a:ea typeface="Calibri"/>
                <a:cs typeface="Calibri"/>
                <a:sym typeface="Calibri"/>
              </a:rPr>
              <a:t>Task</a:t>
            </a:r>
            <a:endParaRPr sz="1000" b="0" i="0" u="none" strike="noStrike" cap="none">
              <a:solidFill>
                <a:srgbClr val="000000"/>
              </a:solidFill>
              <a:latin typeface="Calibri"/>
              <a:ea typeface="Calibri"/>
              <a:cs typeface="Calibri"/>
              <a:sym typeface="Calibri"/>
            </a:endParaRPr>
          </a:p>
        </p:txBody>
      </p:sp>
      <p:sp>
        <p:nvSpPr>
          <p:cNvPr id="151" name="Google Shape;151;p4"/>
          <p:cNvSpPr/>
          <p:nvPr/>
        </p:nvSpPr>
        <p:spPr>
          <a:xfrm>
            <a:off x="1882025" y="1199638"/>
            <a:ext cx="2040000" cy="484500"/>
          </a:xfrm>
          <a:prstGeom prst="rect">
            <a:avLst/>
          </a:prstGeom>
          <a:solidFill>
            <a:srgbClr val="1F618D"/>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152" name="Google Shape;152;p4"/>
          <p:cNvSpPr/>
          <p:nvPr/>
        </p:nvSpPr>
        <p:spPr>
          <a:xfrm>
            <a:off x="1913409" y="1236213"/>
            <a:ext cx="19929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FFFFFF"/>
              </a:buClr>
              <a:buSzPts val="1050"/>
              <a:buFont typeface="Consolas"/>
              <a:buNone/>
            </a:pPr>
            <a:r>
              <a:rPr lang="en-US" sz="1000" b="1" i="0" u="none" strike="noStrike" cap="none">
                <a:solidFill>
                  <a:srgbClr val="FFFFFF"/>
                </a:solidFill>
                <a:latin typeface="Consolas"/>
                <a:ea typeface="Consolas"/>
                <a:cs typeface="Consolas"/>
                <a:sym typeface="Consolas"/>
              </a:rPr>
              <a:t>Generic Verilog</a:t>
            </a:r>
            <a:endParaRPr sz="1000" b="0" i="0" u="none" strike="noStrike" cap="none">
              <a:solidFill>
                <a:srgbClr val="000000"/>
              </a:solidFill>
              <a:latin typeface="Calibri"/>
              <a:ea typeface="Calibri"/>
              <a:cs typeface="Calibri"/>
              <a:sym typeface="Calibri"/>
            </a:endParaRPr>
          </a:p>
        </p:txBody>
      </p:sp>
      <p:sp>
        <p:nvSpPr>
          <p:cNvPr id="153" name="Google Shape;153;p4"/>
          <p:cNvSpPr/>
          <p:nvPr/>
        </p:nvSpPr>
        <p:spPr>
          <a:xfrm>
            <a:off x="3922021" y="1190341"/>
            <a:ext cx="4827900" cy="484500"/>
          </a:xfrm>
          <a:prstGeom prst="rect">
            <a:avLst/>
          </a:prstGeom>
          <a:solidFill>
            <a:srgbClr val="1F618D"/>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154" name="Google Shape;154;p4"/>
          <p:cNvSpPr/>
          <p:nvPr/>
        </p:nvSpPr>
        <p:spPr>
          <a:xfrm>
            <a:off x="3958597" y="1226917"/>
            <a:ext cx="47733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FFFFFF"/>
              </a:buClr>
              <a:buSzPts val="1050"/>
              <a:buFont typeface="Consolas"/>
              <a:buNone/>
            </a:pPr>
            <a:r>
              <a:rPr lang="en-US" sz="1000" b="1" i="0" u="none" strike="noStrike" cap="none">
                <a:solidFill>
                  <a:srgbClr val="FFFFFF"/>
                </a:solidFill>
                <a:latin typeface="Consolas"/>
                <a:ea typeface="Consolas"/>
                <a:cs typeface="Consolas"/>
                <a:sym typeface="Consolas"/>
              </a:rPr>
              <a:t>THIS Project (tb_top.v)</a:t>
            </a:r>
            <a:endParaRPr sz="1000" b="0" i="0" u="none" strike="noStrike" cap="none">
              <a:solidFill>
                <a:srgbClr val="000000"/>
              </a:solidFill>
              <a:latin typeface="Calibri"/>
              <a:ea typeface="Calibri"/>
              <a:cs typeface="Calibri"/>
              <a:sym typeface="Calibri"/>
            </a:endParaRPr>
          </a:p>
        </p:txBody>
      </p:sp>
      <p:sp>
        <p:nvSpPr>
          <p:cNvPr id="155" name="Google Shape;155;p4"/>
          <p:cNvSpPr/>
          <p:nvPr/>
        </p:nvSpPr>
        <p:spPr>
          <a:xfrm>
            <a:off x="492143" y="1684261"/>
            <a:ext cx="384000" cy="4845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28719" y="1720837"/>
            <a:ext cx="3291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1000"/>
              <a:buFont typeface="Calibri"/>
              <a:buNone/>
            </a:pPr>
            <a:r>
              <a:rPr lang="en-US" sz="1000" b="0" i="0" u="none" strike="noStrike" cap="none">
                <a:solidFill>
                  <a:srgbClr val="1A2B3C"/>
                </a:solidFill>
                <a:latin typeface="Calibri"/>
                <a:ea typeface="Calibri"/>
                <a:cs typeface="Calibri"/>
                <a:sym typeface="Calibri"/>
              </a:rPr>
              <a:t>01</a:t>
            </a:r>
            <a:endParaRPr sz="1000" b="0" i="0" u="none" strike="noStrike" cap="none">
              <a:solidFill>
                <a:srgbClr val="000000"/>
              </a:solidFill>
              <a:latin typeface="Calibri"/>
              <a:ea typeface="Calibri"/>
              <a:cs typeface="Calibri"/>
              <a:sym typeface="Calibri"/>
            </a:endParaRPr>
          </a:p>
        </p:txBody>
      </p:sp>
      <p:sp>
        <p:nvSpPr>
          <p:cNvPr id="157" name="Google Shape;157;p4"/>
          <p:cNvSpPr/>
          <p:nvPr/>
        </p:nvSpPr>
        <p:spPr>
          <a:xfrm>
            <a:off x="876191" y="1684261"/>
            <a:ext cx="1005900" cy="4845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4"/>
          <p:cNvSpPr/>
          <p:nvPr/>
        </p:nvSpPr>
        <p:spPr>
          <a:xfrm>
            <a:off x="912767" y="1720837"/>
            <a:ext cx="9510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1000"/>
              <a:buFont typeface="Calibri"/>
              <a:buNone/>
            </a:pPr>
            <a:r>
              <a:rPr lang="en-US" sz="1000" b="0" i="0" u="none" strike="noStrike" cap="none" dirty="0">
                <a:solidFill>
                  <a:srgbClr val="1A2B3C"/>
                </a:solidFill>
                <a:latin typeface="Calibri"/>
                <a:ea typeface="Calibri"/>
                <a:cs typeface="Calibri"/>
                <a:sym typeface="Calibri"/>
              </a:rPr>
              <a:t>Define Module</a:t>
            </a:r>
            <a:endParaRPr sz="1000" b="0" i="0" u="none" strike="noStrike" cap="none" dirty="0">
              <a:solidFill>
                <a:srgbClr val="000000"/>
              </a:solidFill>
              <a:latin typeface="Calibri"/>
              <a:ea typeface="Calibri"/>
              <a:cs typeface="Calibri"/>
              <a:sym typeface="Calibri"/>
            </a:endParaRPr>
          </a:p>
        </p:txBody>
      </p:sp>
      <p:sp>
        <p:nvSpPr>
          <p:cNvPr id="159" name="Google Shape;159;p4"/>
          <p:cNvSpPr/>
          <p:nvPr/>
        </p:nvSpPr>
        <p:spPr>
          <a:xfrm>
            <a:off x="1882025" y="1684267"/>
            <a:ext cx="2040000" cy="4845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1913409" y="1720843"/>
            <a:ext cx="19929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50"/>
              <a:buFont typeface="Consolas"/>
              <a:buNone/>
            </a:pPr>
            <a:r>
              <a:rPr lang="en-US" sz="850" b="0" i="0" u="none" strike="noStrike" cap="none" dirty="0">
                <a:solidFill>
                  <a:srgbClr val="0D3349"/>
                </a:solidFill>
                <a:latin typeface="Consolas"/>
                <a:ea typeface="Consolas"/>
                <a:cs typeface="Consolas"/>
                <a:sym typeface="Consolas"/>
              </a:rPr>
              <a:t>module </a:t>
            </a:r>
            <a:r>
              <a:rPr lang="en-US" sz="850" b="0" i="0" u="none" strike="noStrike" cap="none" dirty="0" err="1">
                <a:solidFill>
                  <a:srgbClr val="0D3349"/>
                </a:solidFill>
                <a:latin typeface="Consolas"/>
                <a:ea typeface="Consolas"/>
                <a:cs typeface="Consolas"/>
                <a:sym typeface="Consolas"/>
              </a:rPr>
              <a:t>tb_soc</a:t>
            </a:r>
            <a:r>
              <a:rPr lang="en-US" sz="850" b="0" i="0" u="none" strike="noStrike" cap="none" dirty="0">
                <a:solidFill>
                  <a:srgbClr val="0D3349"/>
                </a:solidFill>
                <a:latin typeface="Consolas"/>
                <a:ea typeface="Consolas"/>
                <a:cs typeface="Consolas"/>
                <a:sym typeface="Consolas"/>
              </a:rPr>
              <a:t>;</a:t>
            </a:r>
            <a:endParaRPr sz="850" b="0" i="0" u="none" strike="noStrike" cap="none" dirty="0">
              <a:solidFill>
                <a:srgbClr val="000000"/>
              </a:solidFill>
              <a:latin typeface="Calibri"/>
              <a:ea typeface="Calibri"/>
              <a:cs typeface="Calibri"/>
              <a:sym typeface="Calibri"/>
            </a:endParaRPr>
          </a:p>
        </p:txBody>
      </p:sp>
      <p:sp>
        <p:nvSpPr>
          <p:cNvPr id="161" name="Google Shape;161;p4"/>
          <p:cNvSpPr/>
          <p:nvPr/>
        </p:nvSpPr>
        <p:spPr>
          <a:xfrm>
            <a:off x="3922021" y="1674973"/>
            <a:ext cx="4827900" cy="4845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a:off x="3958597" y="1711549"/>
            <a:ext cx="47733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50"/>
              <a:buFont typeface="Consolas"/>
              <a:buNone/>
            </a:pPr>
            <a:r>
              <a:rPr lang="en-US" sz="850" b="0" i="0" u="none" strike="noStrike" cap="none" dirty="0">
                <a:solidFill>
                  <a:srgbClr val="0D3349"/>
                </a:solidFill>
                <a:latin typeface="Consolas"/>
                <a:ea typeface="Consolas"/>
                <a:cs typeface="Consolas"/>
                <a:sym typeface="Consolas"/>
              </a:rPr>
              <a:t>module </a:t>
            </a:r>
            <a:r>
              <a:rPr lang="en-US" sz="850" b="0" i="0" u="none" strike="noStrike" cap="none" dirty="0" err="1">
                <a:solidFill>
                  <a:srgbClr val="0D3349"/>
                </a:solidFill>
                <a:latin typeface="Consolas"/>
                <a:ea typeface="Consolas"/>
                <a:cs typeface="Consolas"/>
                <a:sym typeface="Consolas"/>
              </a:rPr>
              <a:t>tb_top</a:t>
            </a:r>
            <a:r>
              <a:rPr lang="en-US" sz="850" b="0" i="0" u="none" strike="noStrike" cap="none" dirty="0">
                <a:solidFill>
                  <a:srgbClr val="0D3349"/>
                </a:solidFill>
                <a:latin typeface="Consolas"/>
                <a:ea typeface="Consolas"/>
                <a:cs typeface="Consolas"/>
                <a:sym typeface="Consolas"/>
              </a:rPr>
              <a:t>;  // no ports, simulation-only</a:t>
            </a:r>
            <a:endParaRPr sz="850" b="0" i="0" u="none" strike="noStrike" cap="none" dirty="0">
              <a:solidFill>
                <a:srgbClr val="000000"/>
              </a:solidFill>
              <a:latin typeface="Calibri"/>
              <a:ea typeface="Calibri"/>
              <a:cs typeface="Calibri"/>
              <a:sym typeface="Calibri"/>
            </a:endParaRPr>
          </a:p>
        </p:txBody>
      </p:sp>
      <p:sp>
        <p:nvSpPr>
          <p:cNvPr id="163" name="Google Shape;163;p4"/>
          <p:cNvSpPr/>
          <p:nvPr/>
        </p:nvSpPr>
        <p:spPr>
          <a:xfrm>
            <a:off x="492143" y="2168893"/>
            <a:ext cx="384000" cy="4845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28719" y="2205469"/>
            <a:ext cx="3291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1000"/>
              <a:buFont typeface="Calibri"/>
              <a:buNone/>
            </a:pPr>
            <a:r>
              <a:rPr lang="en-US" sz="1000" b="0" i="0" u="none" strike="noStrike" cap="none">
                <a:solidFill>
                  <a:srgbClr val="1A2B3C"/>
                </a:solidFill>
                <a:latin typeface="Calibri"/>
                <a:ea typeface="Calibri"/>
                <a:cs typeface="Calibri"/>
                <a:sym typeface="Calibri"/>
              </a:rPr>
              <a:t>02</a:t>
            </a:r>
            <a:endParaRPr sz="1000" b="0" i="0" u="none" strike="noStrike" cap="none">
              <a:solidFill>
                <a:srgbClr val="000000"/>
              </a:solidFill>
              <a:latin typeface="Calibri"/>
              <a:ea typeface="Calibri"/>
              <a:cs typeface="Calibri"/>
              <a:sym typeface="Calibri"/>
            </a:endParaRPr>
          </a:p>
        </p:txBody>
      </p:sp>
      <p:sp>
        <p:nvSpPr>
          <p:cNvPr id="165" name="Google Shape;165;p4"/>
          <p:cNvSpPr/>
          <p:nvPr/>
        </p:nvSpPr>
        <p:spPr>
          <a:xfrm>
            <a:off x="876191" y="2168893"/>
            <a:ext cx="1005900" cy="4845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912767" y="2205469"/>
            <a:ext cx="9510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1000"/>
              <a:buFont typeface="Calibri"/>
              <a:buNone/>
            </a:pPr>
            <a:r>
              <a:rPr lang="en-US" sz="1000" b="0" i="0" u="none" strike="noStrike" cap="none">
                <a:solidFill>
                  <a:srgbClr val="1A2B3C"/>
                </a:solidFill>
                <a:latin typeface="Calibri"/>
                <a:ea typeface="Calibri"/>
                <a:cs typeface="Calibri"/>
                <a:sym typeface="Calibri"/>
              </a:rPr>
              <a:t>Generate Clock</a:t>
            </a:r>
            <a:endParaRPr sz="1000" b="0" i="0" u="none" strike="noStrike" cap="none">
              <a:solidFill>
                <a:srgbClr val="000000"/>
              </a:solidFill>
              <a:latin typeface="Calibri"/>
              <a:ea typeface="Calibri"/>
              <a:cs typeface="Calibri"/>
              <a:sym typeface="Calibri"/>
            </a:endParaRPr>
          </a:p>
        </p:txBody>
      </p:sp>
      <p:sp>
        <p:nvSpPr>
          <p:cNvPr id="167" name="Google Shape;167;p4"/>
          <p:cNvSpPr/>
          <p:nvPr/>
        </p:nvSpPr>
        <p:spPr>
          <a:xfrm>
            <a:off x="1882025" y="2168896"/>
            <a:ext cx="2040000" cy="4845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1913409" y="2205472"/>
            <a:ext cx="19929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always #5 clk = ~clk</a:t>
            </a:r>
            <a:endParaRPr sz="850" b="0" i="0" u="none" strike="noStrike" cap="none">
              <a:solidFill>
                <a:srgbClr val="000000"/>
              </a:solidFill>
              <a:latin typeface="Calibri"/>
              <a:ea typeface="Calibri"/>
              <a:cs typeface="Calibri"/>
              <a:sym typeface="Calibri"/>
            </a:endParaRPr>
          </a:p>
        </p:txBody>
      </p:sp>
      <p:sp>
        <p:nvSpPr>
          <p:cNvPr id="169" name="Google Shape;169;p4"/>
          <p:cNvSpPr/>
          <p:nvPr/>
        </p:nvSpPr>
        <p:spPr>
          <a:xfrm>
            <a:off x="3922021" y="2159605"/>
            <a:ext cx="4827900" cy="4845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4"/>
          <p:cNvSpPr/>
          <p:nvPr/>
        </p:nvSpPr>
        <p:spPr>
          <a:xfrm>
            <a:off x="3958597" y="2196181"/>
            <a:ext cx="47733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always #10 clk = ~clk  // 50 MHz (10ns half-period)</a:t>
            </a:r>
            <a:endParaRPr sz="850" b="0" i="0" u="none" strike="noStrike" cap="none">
              <a:solidFill>
                <a:srgbClr val="000000"/>
              </a:solidFill>
              <a:latin typeface="Calibri"/>
              <a:ea typeface="Calibri"/>
              <a:cs typeface="Calibri"/>
              <a:sym typeface="Calibri"/>
            </a:endParaRPr>
          </a:p>
        </p:txBody>
      </p:sp>
      <p:sp>
        <p:nvSpPr>
          <p:cNvPr id="171" name="Google Shape;171;p4"/>
          <p:cNvSpPr/>
          <p:nvPr/>
        </p:nvSpPr>
        <p:spPr>
          <a:xfrm>
            <a:off x="492143" y="2653525"/>
            <a:ext cx="384000" cy="4845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528719" y="2690101"/>
            <a:ext cx="3291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1000"/>
              <a:buFont typeface="Calibri"/>
              <a:buNone/>
            </a:pPr>
            <a:r>
              <a:rPr lang="en-US" sz="1000" b="0" i="0" u="none" strike="noStrike" cap="none">
                <a:solidFill>
                  <a:srgbClr val="1A2B3C"/>
                </a:solidFill>
                <a:latin typeface="Calibri"/>
                <a:ea typeface="Calibri"/>
                <a:cs typeface="Calibri"/>
                <a:sym typeface="Calibri"/>
              </a:rPr>
              <a:t>03</a:t>
            </a:r>
            <a:endParaRPr sz="1000" b="0" i="0" u="none" strike="noStrike" cap="none">
              <a:solidFill>
                <a:srgbClr val="000000"/>
              </a:solidFill>
              <a:latin typeface="Calibri"/>
              <a:ea typeface="Calibri"/>
              <a:cs typeface="Calibri"/>
              <a:sym typeface="Calibri"/>
            </a:endParaRPr>
          </a:p>
        </p:txBody>
      </p:sp>
      <p:sp>
        <p:nvSpPr>
          <p:cNvPr id="173" name="Google Shape;173;p4"/>
          <p:cNvSpPr/>
          <p:nvPr/>
        </p:nvSpPr>
        <p:spPr>
          <a:xfrm>
            <a:off x="876191" y="2653525"/>
            <a:ext cx="1005900" cy="4845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912767" y="2690101"/>
            <a:ext cx="9510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1000"/>
              <a:buFont typeface="Calibri"/>
              <a:buNone/>
            </a:pPr>
            <a:r>
              <a:rPr lang="en-US" sz="1000" b="0" i="0" u="none" strike="noStrike" cap="none">
                <a:solidFill>
                  <a:srgbClr val="1A2B3C"/>
                </a:solidFill>
                <a:latin typeface="Calibri"/>
                <a:ea typeface="Calibri"/>
                <a:cs typeface="Calibri"/>
                <a:sym typeface="Calibri"/>
              </a:rPr>
              <a:t>Apply Reset</a:t>
            </a:r>
            <a:endParaRPr sz="1000" b="0" i="0" u="none" strike="noStrike" cap="none">
              <a:solidFill>
                <a:srgbClr val="000000"/>
              </a:solidFill>
              <a:latin typeface="Calibri"/>
              <a:ea typeface="Calibri"/>
              <a:cs typeface="Calibri"/>
              <a:sym typeface="Calibri"/>
            </a:endParaRPr>
          </a:p>
        </p:txBody>
      </p:sp>
      <p:sp>
        <p:nvSpPr>
          <p:cNvPr id="175" name="Google Shape;175;p4"/>
          <p:cNvSpPr/>
          <p:nvPr/>
        </p:nvSpPr>
        <p:spPr>
          <a:xfrm>
            <a:off x="1882025" y="2653525"/>
            <a:ext cx="2040000" cy="4845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4"/>
          <p:cNvSpPr/>
          <p:nvPr/>
        </p:nvSpPr>
        <p:spPr>
          <a:xfrm>
            <a:off x="1913409" y="2690101"/>
            <a:ext cx="19929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rstn=0 for N cycles</a:t>
            </a:r>
            <a:endParaRPr sz="850" b="0" i="0" u="none" strike="noStrike" cap="none">
              <a:solidFill>
                <a:srgbClr val="000000"/>
              </a:solidFill>
              <a:latin typeface="Calibri"/>
              <a:ea typeface="Calibri"/>
              <a:cs typeface="Calibri"/>
              <a:sym typeface="Calibri"/>
            </a:endParaRPr>
          </a:p>
        </p:txBody>
      </p:sp>
      <p:sp>
        <p:nvSpPr>
          <p:cNvPr id="177" name="Google Shape;177;p4"/>
          <p:cNvSpPr/>
          <p:nvPr/>
        </p:nvSpPr>
        <p:spPr>
          <a:xfrm>
            <a:off x="3922021" y="2644237"/>
            <a:ext cx="4827900" cy="4845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4"/>
          <p:cNvSpPr/>
          <p:nvPr/>
        </p:nvSpPr>
        <p:spPr>
          <a:xfrm>
            <a:off x="3958597" y="2680813"/>
            <a:ext cx="47733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reset&lt;=1; repeat(10) @(posedge clk); reset&lt;=0;</a:t>
            </a:r>
            <a:endParaRPr sz="850" b="0" i="0" u="none" strike="noStrike" cap="none">
              <a:solidFill>
                <a:srgbClr val="000000"/>
              </a:solidFill>
              <a:latin typeface="Calibri"/>
              <a:ea typeface="Calibri"/>
              <a:cs typeface="Calibri"/>
              <a:sym typeface="Calibri"/>
            </a:endParaRPr>
          </a:p>
        </p:txBody>
      </p:sp>
      <p:sp>
        <p:nvSpPr>
          <p:cNvPr id="179" name="Google Shape;179;p4"/>
          <p:cNvSpPr/>
          <p:nvPr/>
        </p:nvSpPr>
        <p:spPr>
          <a:xfrm>
            <a:off x="492143" y="3138157"/>
            <a:ext cx="384000" cy="4845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4"/>
          <p:cNvSpPr/>
          <p:nvPr/>
        </p:nvSpPr>
        <p:spPr>
          <a:xfrm>
            <a:off x="528719" y="3174732"/>
            <a:ext cx="3291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1000"/>
              <a:buFont typeface="Calibri"/>
              <a:buNone/>
            </a:pPr>
            <a:r>
              <a:rPr lang="en-US" sz="1000" b="0" i="0" u="none" strike="noStrike" cap="none">
                <a:solidFill>
                  <a:srgbClr val="1A2B3C"/>
                </a:solidFill>
                <a:latin typeface="Calibri"/>
                <a:ea typeface="Calibri"/>
                <a:cs typeface="Calibri"/>
                <a:sym typeface="Calibri"/>
              </a:rPr>
              <a:t>04</a:t>
            </a:r>
            <a:endParaRPr sz="1000" b="0" i="0" u="none" strike="noStrike" cap="none">
              <a:solidFill>
                <a:srgbClr val="000000"/>
              </a:solidFill>
              <a:latin typeface="Calibri"/>
              <a:ea typeface="Calibri"/>
              <a:cs typeface="Calibri"/>
              <a:sym typeface="Calibri"/>
            </a:endParaRPr>
          </a:p>
        </p:txBody>
      </p:sp>
      <p:sp>
        <p:nvSpPr>
          <p:cNvPr id="181" name="Google Shape;181;p4"/>
          <p:cNvSpPr/>
          <p:nvPr/>
        </p:nvSpPr>
        <p:spPr>
          <a:xfrm>
            <a:off x="876191" y="3138157"/>
            <a:ext cx="1005900" cy="4845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4"/>
          <p:cNvSpPr/>
          <p:nvPr/>
        </p:nvSpPr>
        <p:spPr>
          <a:xfrm>
            <a:off x="912767" y="3174732"/>
            <a:ext cx="9510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1000"/>
              <a:buFont typeface="Calibri"/>
              <a:buNone/>
            </a:pPr>
            <a:r>
              <a:rPr lang="en-US" sz="1000" b="0" i="0" u="none" strike="noStrike" cap="none">
                <a:solidFill>
                  <a:srgbClr val="1A2B3C"/>
                </a:solidFill>
                <a:latin typeface="Calibri"/>
                <a:ea typeface="Calibri"/>
                <a:cs typeface="Calibri"/>
                <a:sym typeface="Calibri"/>
              </a:rPr>
              <a:t>Instantiate DUT</a:t>
            </a:r>
            <a:endParaRPr sz="1000" b="0" i="0" u="none" strike="noStrike" cap="none">
              <a:solidFill>
                <a:srgbClr val="000000"/>
              </a:solidFill>
              <a:latin typeface="Calibri"/>
              <a:ea typeface="Calibri"/>
              <a:cs typeface="Calibri"/>
              <a:sym typeface="Calibri"/>
            </a:endParaRPr>
          </a:p>
        </p:txBody>
      </p:sp>
      <p:sp>
        <p:nvSpPr>
          <p:cNvPr id="183" name="Google Shape;183;p4"/>
          <p:cNvSpPr/>
          <p:nvPr/>
        </p:nvSpPr>
        <p:spPr>
          <a:xfrm>
            <a:off x="1882025" y="3138154"/>
            <a:ext cx="2040000" cy="4845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4"/>
          <p:cNvSpPr/>
          <p:nvPr/>
        </p:nvSpPr>
        <p:spPr>
          <a:xfrm>
            <a:off x="1913409" y="3174730"/>
            <a:ext cx="19929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soc_top DUT (…)</a:t>
            </a:r>
            <a:endParaRPr sz="850" b="0" i="0" u="none" strike="noStrike" cap="none">
              <a:solidFill>
                <a:srgbClr val="000000"/>
              </a:solidFill>
              <a:latin typeface="Calibri"/>
              <a:ea typeface="Calibri"/>
              <a:cs typeface="Calibri"/>
              <a:sym typeface="Calibri"/>
            </a:endParaRPr>
          </a:p>
        </p:txBody>
      </p:sp>
      <p:sp>
        <p:nvSpPr>
          <p:cNvPr id="185" name="Google Shape;185;p4"/>
          <p:cNvSpPr/>
          <p:nvPr/>
        </p:nvSpPr>
        <p:spPr>
          <a:xfrm>
            <a:off x="3922021" y="3128869"/>
            <a:ext cx="4827900" cy="4845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4"/>
          <p:cNvSpPr/>
          <p:nvPr/>
        </p:nvSpPr>
        <p:spPr>
          <a:xfrm>
            <a:off x="3958597" y="3165445"/>
            <a:ext cx="47733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top u_dut(.clk(clk),.reset(reset),.uart_tx(uart_tx_pin),.uart_rx(uart_rx_pin));</a:t>
            </a:r>
            <a:endParaRPr sz="850" b="0" i="0" u="none" strike="noStrike" cap="none">
              <a:solidFill>
                <a:srgbClr val="000000"/>
              </a:solidFill>
              <a:latin typeface="Calibri"/>
              <a:ea typeface="Calibri"/>
              <a:cs typeface="Calibri"/>
              <a:sym typeface="Calibri"/>
            </a:endParaRPr>
          </a:p>
        </p:txBody>
      </p:sp>
      <p:sp>
        <p:nvSpPr>
          <p:cNvPr id="187" name="Google Shape;187;p4"/>
          <p:cNvSpPr/>
          <p:nvPr/>
        </p:nvSpPr>
        <p:spPr>
          <a:xfrm>
            <a:off x="492143" y="3622789"/>
            <a:ext cx="384000" cy="4845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4"/>
          <p:cNvSpPr/>
          <p:nvPr/>
        </p:nvSpPr>
        <p:spPr>
          <a:xfrm>
            <a:off x="528719" y="3659364"/>
            <a:ext cx="3291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1000"/>
              <a:buFont typeface="Calibri"/>
              <a:buNone/>
            </a:pPr>
            <a:r>
              <a:rPr lang="en-US" sz="1000" b="0" i="0" u="none" strike="noStrike" cap="none">
                <a:solidFill>
                  <a:srgbClr val="1A2B3C"/>
                </a:solidFill>
                <a:latin typeface="Calibri"/>
                <a:ea typeface="Calibri"/>
                <a:cs typeface="Calibri"/>
                <a:sym typeface="Calibri"/>
              </a:rPr>
              <a:t>05</a:t>
            </a:r>
            <a:endParaRPr sz="1000" b="0" i="0" u="none" strike="noStrike" cap="none">
              <a:solidFill>
                <a:srgbClr val="000000"/>
              </a:solidFill>
              <a:latin typeface="Calibri"/>
              <a:ea typeface="Calibri"/>
              <a:cs typeface="Calibri"/>
              <a:sym typeface="Calibri"/>
            </a:endParaRPr>
          </a:p>
        </p:txBody>
      </p:sp>
      <p:sp>
        <p:nvSpPr>
          <p:cNvPr id="189" name="Google Shape;189;p4"/>
          <p:cNvSpPr/>
          <p:nvPr/>
        </p:nvSpPr>
        <p:spPr>
          <a:xfrm>
            <a:off x="876191" y="3622789"/>
            <a:ext cx="1005900" cy="4845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4"/>
          <p:cNvSpPr/>
          <p:nvPr/>
        </p:nvSpPr>
        <p:spPr>
          <a:xfrm>
            <a:off x="912767" y="3659364"/>
            <a:ext cx="9510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1000"/>
              <a:buFont typeface="Calibri"/>
              <a:buNone/>
            </a:pPr>
            <a:r>
              <a:rPr lang="en-US" sz="1000" b="0" i="0" u="none" strike="noStrike" cap="none">
                <a:solidFill>
                  <a:srgbClr val="1A2B3C"/>
                </a:solidFill>
                <a:latin typeface="Calibri"/>
                <a:ea typeface="Calibri"/>
                <a:cs typeface="Calibri"/>
                <a:sym typeface="Calibri"/>
              </a:rPr>
              <a:t>Preload Memory</a:t>
            </a:r>
            <a:endParaRPr sz="1000" b="0" i="0" u="none" strike="noStrike" cap="none">
              <a:solidFill>
                <a:srgbClr val="000000"/>
              </a:solidFill>
              <a:latin typeface="Calibri"/>
              <a:ea typeface="Calibri"/>
              <a:cs typeface="Calibri"/>
              <a:sym typeface="Calibri"/>
            </a:endParaRPr>
          </a:p>
        </p:txBody>
      </p:sp>
      <p:sp>
        <p:nvSpPr>
          <p:cNvPr id="191" name="Google Shape;191;p4"/>
          <p:cNvSpPr/>
          <p:nvPr/>
        </p:nvSpPr>
        <p:spPr>
          <a:xfrm>
            <a:off x="1882025" y="3622784"/>
            <a:ext cx="2040000" cy="4845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4"/>
          <p:cNvSpPr/>
          <p:nvPr/>
        </p:nvSpPr>
        <p:spPr>
          <a:xfrm>
            <a:off x="1913409" y="3659359"/>
            <a:ext cx="19929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$readmemh("prog.hex",rom)</a:t>
            </a:r>
            <a:endParaRPr sz="850" b="0" i="0" u="none" strike="noStrike" cap="none">
              <a:solidFill>
                <a:srgbClr val="000000"/>
              </a:solidFill>
              <a:latin typeface="Calibri"/>
              <a:ea typeface="Calibri"/>
              <a:cs typeface="Calibri"/>
              <a:sym typeface="Calibri"/>
            </a:endParaRPr>
          </a:p>
        </p:txBody>
      </p:sp>
      <p:sp>
        <p:nvSpPr>
          <p:cNvPr id="193" name="Google Shape;193;p4"/>
          <p:cNvSpPr/>
          <p:nvPr/>
        </p:nvSpPr>
        <p:spPr>
          <a:xfrm>
            <a:off x="3922021" y="3613501"/>
            <a:ext cx="4827900" cy="4845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4"/>
          <p:cNvSpPr/>
          <p:nvPr/>
        </p:nvSpPr>
        <p:spPr>
          <a:xfrm>
            <a:off x="3958597" y="3650077"/>
            <a:ext cx="47733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ROM gets hex via +romhex=rtl/rom.hex plusarg → DUT's rom.v calls $readmemh</a:t>
            </a:r>
            <a:endParaRPr sz="850" b="0" i="0" u="none" strike="noStrike" cap="none">
              <a:solidFill>
                <a:srgbClr val="000000"/>
              </a:solidFill>
              <a:latin typeface="Calibri"/>
              <a:ea typeface="Calibri"/>
              <a:cs typeface="Calibri"/>
              <a:sym typeface="Calibri"/>
            </a:endParaRPr>
          </a:p>
        </p:txBody>
      </p:sp>
      <p:sp>
        <p:nvSpPr>
          <p:cNvPr id="195" name="Google Shape;195;p4"/>
          <p:cNvSpPr/>
          <p:nvPr/>
        </p:nvSpPr>
        <p:spPr>
          <a:xfrm>
            <a:off x="492143" y="4107421"/>
            <a:ext cx="384000" cy="4845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4"/>
          <p:cNvSpPr/>
          <p:nvPr/>
        </p:nvSpPr>
        <p:spPr>
          <a:xfrm>
            <a:off x="528719" y="4143997"/>
            <a:ext cx="3291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1000"/>
              <a:buFont typeface="Calibri"/>
              <a:buNone/>
            </a:pPr>
            <a:r>
              <a:rPr lang="en-US" sz="1000" b="0" i="0" u="none" strike="noStrike" cap="none">
                <a:solidFill>
                  <a:srgbClr val="1A2B3C"/>
                </a:solidFill>
                <a:latin typeface="Calibri"/>
                <a:ea typeface="Calibri"/>
                <a:cs typeface="Calibri"/>
                <a:sym typeface="Calibri"/>
              </a:rPr>
              <a:t>06</a:t>
            </a:r>
            <a:endParaRPr sz="1000" b="0" i="0" u="none" strike="noStrike" cap="none">
              <a:solidFill>
                <a:srgbClr val="000000"/>
              </a:solidFill>
              <a:latin typeface="Calibri"/>
              <a:ea typeface="Calibri"/>
              <a:cs typeface="Calibri"/>
              <a:sym typeface="Calibri"/>
            </a:endParaRPr>
          </a:p>
        </p:txBody>
      </p:sp>
      <p:sp>
        <p:nvSpPr>
          <p:cNvPr id="197" name="Google Shape;197;p4"/>
          <p:cNvSpPr/>
          <p:nvPr/>
        </p:nvSpPr>
        <p:spPr>
          <a:xfrm>
            <a:off x="876191" y="4107421"/>
            <a:ext cx="1005900" cy="4845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4"/>
          <p:cNvSpPr/>
          <p:nvPr/>
        </p:nvSpPr>
        <p:spPr>
          <a:xfrm>
            <a:off x="912767" y="4143997"/>
            <a:ext cx="9510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1000"/>
              <a:buFont typeface="Calibri"/>
              <a:buNone/>
            </a:pPr>
            <a:r>
              <a:rPr lang="en-US" sz="1000" b="0" i="0" u="none" strike="noStrike" cap="none">
                <a:solidFill>
                  <a:srgbClr val="1A2B3C"/>
                </a:solidFill>
                <a:latin typeface="Calibri"/>
                <a:ea typeface="Calibri"/>
                <a:cs typeface="Calibri"/>
                <a:sym typeface="Calibri"/>
              </a:rPr>
              <a:t>UART Monitor</a:t>
            </a:r>
            <a:endParaRPr sz="1000" b="0" i="0" u="none" strike="noStrike" cap="none">
              <a:solidFill>
                <a:srgbClr val="000000"/>
              </a:solidFill>
              <a:latin typeface="Calibri"/>
              <a:ea typeface="Calibri"/>
              <a:cs typeface="Calibri"/>
              <a:sym typeface="Calibri"/>
            </a:endParaRPr>
          </a:p>
        </p:txBody>
      </p:sp>
      <p:sp>
        <p:nvSpPr>
          <p:cNvPr id="199" name="Google Shape;199;p4"/>
          <p:cNvSpPr/>
          <p:nvPr/>
        </p:nvSpPr>
        <p:spPr>
          <a:xfrm>
            <a:off x="1882025" y="4107413"/>
            <a:ext cx="2040000" cy="4845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4"/>
          <p:cNvSpPr/>
          <p:nvPr/>
        </p:nvSpPr>
        <p:spPr>
          <a:xfrm>
            <a:off x="1913409" y="4143989"/>
            <a:ext cx="19929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N/A in generic TB</a:t>
            </a:r>
            <a:endParaRPr sz="850" b="0" i="0" u="none" strike="noStrike" cap="none">
              <a:solidFill>
                <a:srgbClr val="000000"/>
              </a:solidFill>
              <a:latin typeface="Calibri"/>
              <a:ea typeface="Calibri"/>
              <a:cs typeface="Calibri"/>
              <a:sym typeface="Calibri"/>
            </a:endParaRPr>
          </a:p>
        </p:txBody>
      </p:sp>
      <p:sp>
        <p:nvSpPr>
          <p:cNvPr id="201" name="Google Shape;201;p4"/>
          <p:cNvSpPr/>
          <p:nvPr/>
        </p:nvSpPr>
        <p:spPr>
          <a:xfrm>
            <a:off x="3922021" y="4098133"/>
            <a:ext cx="4827900" cy="4845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4"/>
          <p:cNvSpPr/>
          <p:nvPr/>
        </p:nvSpPr>
        <p:spPr>
          <a:xfrm>
            <a:off x="3958597" y="4134709"/>
            <a:ext cx="4773300" cy="4299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Independent initial begin: uart_monitor — detects falling edge, counts bit periods, builds byte → rx_fifo</a:t>
            </a:r>
            <a:endParaRPr sz="850" b="0" i="0" u="none" strike="noStrike" cap="non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5"/>
          <p:cNvSpPr/>
          <p:nvPr/>
        </p:nvSpPr>
        <p:spPr>
          <a:xfrm>
            <a:off x="220275" y="454450"/>
            <a:ext cx="8466300" cy="435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F3864"/>
              </a:buClr>
              <a:buSzPts val="2600"/>
              <a:buFont typeface="Calibri"/>
              <a:buNone/>
            </a:pPr>
            <a:r>
              <a:rPr lang="en-US" sz="2600" b="1" i="0" u="none" strike="noStrike" cap="none">
                <a:solidFill>
                  <a:schemeClr val="dk1"/>
                </a:solidFill>
                <a:latin typeface="Calibri"/>
                <a:ea typeface="Calibri"/>
                <a:cs typeface="Calibri"/>
                <a:sym typeface="Calibri"/>
              </a:rPr>
              <a:t>The Simulation Flow</a:t>
            </a:r>
            <a:endParaRPr sz="2600" b="0" i="0" u="none" strike="noStrike" cap="none">
              <a:solidFill>
                <a:schemeClr val="dk1"/>
              </a:solidFill>
              <a:latin typeface="Calibri"/>
              <a:ea typeface="Calibri"/>
              <a:cs typeface="Calibri"/>
              <a:sym typeface="Calibri"/>
            </a:endParaRPr>
          </a:p>
        </p:txBody>
      </p:sp>
      <p:sp>
        <p:nvSpPr>
          <p:cNvPr id="209" name="Google Shape;209;p5"/>
          <p:cNvSpPr/>
          <p:nvPr/>
        </p:nvSpPr>
        <p:spPr>
          <a:xfrm>
            <a:off x="399200" y="767275"/>
            <a:ext cx="8283300" cy="30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1100"/>
              <a:buFont typeface="Calibri"/>
              <a:buNone/>
            </a:pPr>
            <a:r>
              <a:rPr lang="en-US" sz="1100" b="0" i="1" u="none" strike="noStrike" cap="none">
                <a:solidFill>
                  <a:srgbClr val="2C5F7A"/>
                </a:solidFill>
                <a:latin typeface="Calibri"/>
                <a:ea typeface="Calibri"/>
                <a:cs typeface="Calibri"/>
                <a:sym typeface="Calibri"/>
              </a:rPr>
              <a:t>make soc → VCD → FST → GTKWave → Iterate</a:t>
            </a:r>
            <a:endParaRPr sz="1100" b="0" i="0" u="none" strike="noStrike" cap="none">
              <a:solidFill>
                <a:srgbClr val="000000"/>
              </a:solidFill>
              <a:latin typeface="Calibri"/>
              <a:ea typeface="Calibri"/>
              <a:cs typeface="Calibri"/>
              <a:sym typeface="Calibri"/>
            </a:endParaRPr>
          </a:p>
        </p:txBody>
      </p:sp>
      <p:sp>
        <p:nvSpPr>
          <p:cNvPr id="210" name="Google Shape;210;p5"/>
          <p:cNvSpPr/>
          <p:nvPr/>
        </p:nvSpPr>
        <p:spPr>
          <a:xfrm>
            <a:off x="310800" y="1070956"/>
            <a:ext cx="1520700" cy="12840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5"/>
          <p:cNvSpPr/>
          <p:nvPr/>
        </p:nvSpPr>
        <p:spPr>
          <a:xfrm>
            <a:off x="310800" y="1070956"/>
            <a:ext cx="1520700" cy="260100"/>
          </a:xfrm>
          <a:prstGeom prst="rect">
            <a:avLst/>
          </a:prstGeom>
          <a:solidFill>
            <a:srgbClr val="1A5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5"/>
          <p:cNvSpPr/>
          <p:nvPr/>
        </p:nvSpPr>
        <p:spPr>
          <a:xfrm>
            <a:off x="310800" y="1070956"/>
            <a:ext cx="265200" cy="26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1</a:t>
            </a:r>
            <a:endParaRPr sz="1100" b="0" i="0" u="none" strike="noStrike" cap="none">
              <a:solidFill>
                <a:srgbClr val="000000"/>
              </a:solidFill>
              <a:latin typeface="Calibri"/>
              <a:ea typeface="Calibri"/>
              <a:cs typeface="Calibri"/>
              <a:sym typeface="Calibri"/>
            </a:endParaRPr>
          </a:p>
        </p:txBody>
      </p:sp>
      <p:sp>
        <p:nvSpPr>
          <p:cNvPr id="213" name="Google Shape;213;p5"/>
          <p:cNvSpPr/>
          <p:nvPr/>
        </p:nvSpPr>
        <p:spPr>
          <a:xfrm>
            <a:off x="576013" y="1070956"/>
            <a:ext cx="1237500" cy="26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Calibri"/>
              <a:buNone/>
            </a:pPr>
            <a:r>
              <a:rPr lang="en-US" sz="1050" b="1" i="0" u="none" strike="noStrike" cap="none">
                <a:solidFill>
                  <a:srgbClr val="FFFFFF"/>
                </a:solidFill>
                <a:latin typeface="Calibri"/>
                <a:ea typeface="Calibri"/>
                <a:cs typeface="Calibri"/>
                <a:sym typeface="Calibri"/>
              </a:rPr>
              <a:t>COMPILE</a:t>
            </a:r>
            <a:endParaRPr sz="1050" b="0" i="0" u="none" strike="noStrike" cap="none">
              <a:solidFill>
                <a:srgbClr val="000000"/>
              </a:solidFill>
              <a:latin typeface="Calibri"/>
              <a:ea typeface="Calibri"/>
              <a:cs typeface="Calibri"/>
              <a:sym typeface="Calibri"/>
            </a:endParaRPr>
          </a:p>
        </p:txBody>
      </p:sp>
      <p:sp>
        <p:nvSpPr>
          <p:cNvPr id="214" name="Google Shape;214;p5"/>
          <p:cNvSpPr/>
          <p:nvPr/>
        </p:nvSpPr>
        <p:spPr>
          <a:xfrm>
            <a:off x="310800" y="1331255"/>
            <a:ext cx="1520700" cy="329700"/>
          </a:xfrm>
          <a:prstGeom prst="rect">
            <a:avLst/>
          </a:prstGeom>
          <a:solidFill>
            <a:srgbClr val="D5E8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5"/>
          <p:cNvSpPr/>
          <p:nvPr/>
        </p:nvSpPr>
        <p:spPr>
          <a:xfrm>
            <a:off x="355002" y="1339931"/>
            <a:ext cx="1449900" cy="3123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make soc</a:t>
            </a:r>
            <a:endParaRPr sz="780" b="0" i="0" u="none" strike="noStrike" cap="none">
              <a:solidFill>
                <a:srgbClr val="000000"/>
              </a:solidFill>
              <a:latin typeface="Calibri"/>
              <a:ea typeface="Calibri"/>
              <a:cs typeface="Calibri"/>
              <a:sym typeface="Calibri"/>
            </a:endParaRPr>
          </a:p>
        </p:txBody>
      </p:sp>
      <p:sp>
        <p:nvSpPr>
          <p:cNvPr id="216" name="Google Shape;216;p5"/>
          <p:cNvSpPr/>
          <p:nvPr/>
        </p:nvSpPr>
        <p:spPr>
          <a:xfrm>
            <a:off x="372683" y="1695673"/>
            <a:ext cx="1414500" cy="6249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A2B3C"/>
              </a:buClr>
              <a:buSzPts val="900"/>
              <a:buFont typeface="Calibri"/>
              <a:buNone/>
            </a:pPr>
            <a:r>
              <a:rPr lang="en-US" sz="900" b="0" i="0" u="none" strike="noStrike" cap="none">
                <a:solidFill>
                  <a:srgbClr val="1A2B3C"/>
                </a:solidFill>
                <a:latin typeface="Calibri"/>
                <a:ea typeface="Calibri"/>
                <a:cs typeface="Calibri"/>
                <a:sym typeface="Calibri"/>
              </a:rPr>
              <a:t>Verilator --binary --trace</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900"/>
              <a:buFont typeface="Calibri"/>
              <a:buNone/>
            </a:pPr>
            <a:r>
              <a:rPr lang="en-US" sz="900" b="0" i="0" u="none" strike="noStrike" cap="none">
                <a:solidFill>
                  <a:srgbClr val="1A2B3C"/>
                </a:solidFill>
                <a:latin typeface="Calibri"/>
                <a:ea typeface="Calibri"/>
                <a:cs typeface="Calibri"/>
                <a:sym typeface="Calibri"/>
              </a:rPr>
              <a:t>9 RTL files + tb/tb_top.v</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900"/>
              <a:buFont typeface="Calibri"/>
              <a:buNone/>
            </a:pPr>
            <a:r>
              <a:rPr lang="en-US" sz="900" b="0" i="0" u="none" strike="noStrike" cap="none">
                <a:solidFill>
                  <a:srgbClr val="1A2B3C"/>
                </a:solidFill>
                <a:latin typeface="Calibri"/>
                <a:ea typeface="Calibri"/>
                <a:cs typeface="Calibri"/>
                <a:sym typeface="Calibri"/>
              </a:rPr>
              <a:t>→ obj_soc/sim_soc</a:t>
            </a:r>
            <a:endParaRPr sz="900" b="0" i="0" u="none" strike="noStrike" cap="none">
              <a:solidFill>
                <a:srgbClr val="000000"/>
              </a:solidFill>
              <a:latin typeface="Calibri"/>
              <a:ea typeface="Calibri"/>
              <a:cs typeface="Calibri"/>
              <a:sym typeface="Calibri"/>
            </a:endParaRPr>
          </a:p>
        </p:txBody>
      </p:sp>
      <p:cxnSp>
        <p:nvCxnSpPr>
          <p:cNvPr id="217" name="Google Shape;217;p5"/>
          <p:cNvCxnSpPr/>
          <p:nvPr/>
        </p:nvCxnSpPr>
        <p:spPr>
          <a:xfrm>
            <a:off x="1840193" y="1713026"/>
            <a:ext cx="70800" cy="0"/>
          </a:xfrm>
          <a:prstGeom prst="straightConnector1">
            <a:avLst/>
          </a:prstGeom>
          <a:noFill/>
          <a:ln w="25400" cap="flat" cmpd="sng">
            <a:solidFill>
              <a:srgbClr val="2E86C1"/>
            </a:solidFill>
            <a:prstDash val="solid"/>
            <a:round/>
            <a:headEnd type="none" w="sm" len="sm"/>
            <a:tailEnd type="none" w="sm" len="sm"/>
          </a:ln>
        </p:spPr>
      </p:cxnSp>
      <p:sp>
        <p:nvSpPr>
          <p:cNvPr id="218" name="Google Shape;218;p5"/>
          <p:cNvSpPr/>
          <p:nvPr/>
        </p:nvSpPr>
        <p:spPr>
          <a:xfrm>
            <a:off x="1902076" y="1070956"/>
            <a:ext cx="1520700" cy="12840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1902076" y="1070956"/>
            <a:ext cx="1520700" cy="260100"/>
          </a:xfrm>
          <a:prstGeom prst="rect">
            <a:avLst/>
          </a:prstGeom>
          <a:solidFill>
            <a:srgbClr val="1E6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5"/>
          <p:cNvSpPr/>
          <p:nvPr/>
        </p:nvSpPr>
        <p:spPr>
          <a:xfrm>
            <a:off x="1902076" y="1070956"/>
            <a:ext cx="265200" cy="26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2</a:t>
            </a:r>
            <a:endParaRPr sz="1100" b="0" i="0" u="none" strike="noStrike" cap="none">
              <a:solidFill>
                <a:srgbClr val="000000"/>
              </a:solidFill>
              <a:latin typeface="Calibri"/>
              <a:ea typeface="Calibri"/>
              <a:cs typeface="Calibri"/>
              <a:sym typeface="Calibri"/>
            </a:endParaRPr>
          </a:p>
        </p:txBody>
      </p:sp>
      <p:sp>
        <p:nvSpPr>
          <p:cNvPr id="221" name="Google Shape;221;p5"/>
          <p:cNvSpPr/>
          <p:nvPr/>
        </p:nvSpPr>
        <p:spPr>
          <a:xfrm>
            <a:off x="2167289" y="1070956"/>
            <a:ext cx="1237500" cy="26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Calibri"/>
              <a:buNone/>
            </a:pPr>
            <a:r>
              <a:rPr lang="en-US" sz="1050" b="1" i="0" u="none" strike="noStrike" cap="none">
                <a:solidFill>
                  <a:srgbClr val="FFFFFF"/>
                </a:solidFill>
                <a:latin typeface="Calibri"/>
                <a:ea typeface="Calibri"/>
                <a:cs typeface="Calibri"/>
                <a:sym typeface="Calibri"/>
              </a:rPr>
              <a:t>RUN</a:t>
            </a:r>
            <a:endParaRPr sz="1050" b="0" i="0" u="none" strike="noStrike" cap="none">
              <a:solidFill>
                <a:srgbClr val="000000"/>
              </a:solidFill>
              <a:latin typeface="Calibri"/>
              <a:ea typeface="Calibri"/>
              <a:cs typeface="Calibri"/>
              <a:sym typeface="Calibri"/>
            </a:endParaRPr>
          </a:p>
        </p:txBody>
      </p:sp>
      <p:sp>
        <p:nvSpPr>
          <p:cNvPr id="222" name="Google Shape;222;p5"/>
          <p:cNvSpPr/>
          <p:nvPr/>
        </p:nvSpPr>
        <p:spPr>
          <a:xfrm>
            <a:off x="1902076" y="1331255"/>
            <a:ext cx="1520700" cy="329700"/>
          </a:xfrm>
          <a:prstGeom prst="rect">
            <a:avLst/>
          </a:prstGeom>
          <a:solidFill>
            <a:srgbClr val="D5E8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a:off x="1946278" y="1339931"/>
            <a:ext cx="1449900" cy="3123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./obj_soc/sim_soc +romhex=rtl/rom.hex</a:t>
            </a:r>
            <a:endParaRPr sz="780" b="0" i="0" u="none" strike="noStrike" cap="none">
              <a:solidFill>
                <a:srgbClr val="000000"/>
              </a:solidFill>
              <a:latin typeface="Calibri"/>
              <a:ea typeface="Calibri"/>
              <a:cs typeface="Calibri"/>
              <a:sym typeface="Calibri"/>
            </a:endParaRPr>
          </a:p>
        </p:txBody>
      </p:sp>
      <p:sp>
        <p:nvSpPr>
          <p:cNvPr id="224" name="Google Shape;224;p5"/>
          <p:cNvSpPr/>
          <p:nvPr/>
        </p:nvSpPr>
        <p:spPr>
          <a:xfrm>
            <a:off x="1963959" y="1695673"/>
            <a:ext cx="1414500" cy="6249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A2B3C"/>
              </a:buClr>
              <a:buSzPts val="900"/>
              <a:buFont typeface="Calibri"/>
              <a:buNone/>
            </a:pPr>
            <a:r>
              <a:rPr lang="en-US" sz="900" b="0" i="0" u="none" strike="noStrike" cap="none">
                <a:solidFill>
                  <a:srgbClr val="1A2B3C"/>
                </a:solidFill>
                <a:latin typeface="Calibri"/>
                <a:ea typeface="Calibri"/>
                <a:cs typeface="Calibri"/>
                <a:sym typeface="Calibri"/>
              </a:rPr>
              <a:t>Executes simulation</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900"/>
              <a:buFont typeface="Calibri"/>
              <a:buNone/>
            </a:pPr>
            <a:r>
              <a:rPr lang="en-US" sz="900" b="0" i="0" u="none" strike="noStrike" cap="none">
                <a:solidFill>
                  <a:srgbClr val="1A2B3C"/>
                </a:solidFill>
                <a:latin typeface="Calibri"/>
                <a:ea typeface="Calibri"/>
                <a:cs typeface="Calibri"/>
                <a:sym typeface="Calibri"/>
              </a:rPr>
              <a:t>Output: tb_top.vcd (147 MB raw VCD)</a:t>
            </a:r>
            <a:endParaRPr sz="900" b="0" i="0" u="none" strike="noStrike" cap="none">
              <a:solidFill>
                <a:srgbClr val="000000"/>
              </a:solidFill>
              <a:latin typeface="Calibri"/>
              <a:ea typeface="Calibri"/>
              <a:cs typeface="Calibri"/>
              <a:sym typeface="Calibri"/>
            </a:endParaRPr>
          </a:p>
        </p:txBody>
      </p:sp>
      <p:cxnSp>
        <p:nvCxnSpPr>
          <p:cNvPr id="225" name="Google Shape;225;p5"/>
          <p:cNvCxnSpPr/>
          <p:nvPr/>
        </p:nvCxnSpPr>
        <p:spPr>
          <a:xfrm>
            <a:off x="3431470" y="1713026"/>
            <a:ext cx="70800" cy="0"/>
          </a:xfrm>
          <a:prstGeom prst="straightConnector1">
            <a:avLst/>
          </a:prstGeom>
          <a:noFill/>
          <a:ln w="25400" cap="flat" cmpd="sng">
            <a:solidFill>
              <a:srgbClr val="2E86C1"/>
            </a:solidFill>
            <a:prstDash val="solid"/>
            <a:round/>
            <a:headEnd type="none" w="sm" len="sm"/>
            <a:tailEnd type="none" w="sm" len="sm"/>
          </a:ln>
        </p:spPr>
      </p:cxnSp>
      <p:sp>
        <p:nvSpPr>
          <p:cNvPr id="226" name="Google Shape;226;p5"/>
          <p:cNvSpPr/>
          <p:nvPr/>
        </p:nvSpPr>
        <p:spPr>
          <a:xfrm>
            <a:off x="3493353" y="1070956"/>
            <a:ext cx="1520700" cy="12840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3493353" y="1070956"/>
            <a:ext cx="1520700" cy="260100"/>
          </a:xfrm>
          <a:prstGeom prst="rect">
            <a:avLst/>
          </a:prstGeom>
          <a:solidFill>
            <a:srgbClr val="6B3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5"/>
          <p:cNvSpPr/>
          <p:nvPr/>
        </p:nvSpPr>
        <p:spPr>
          <a:xfrm>
            <a:off x="3493353" y="1070956"/>
            <a:ext cx="265200" cy="26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3</a:t>
            </a:r>
            <a:endParaRPr sz="1100" b="0" i="0" u="none" strike="noStrike" cap="none">
              <a:solidFill>
                <a:srgbClr val="000000"/>
              </a:solidFill>
              <a:latin typeface="Calibri"/>
              <a:ea typeface="Calibri"/>
              <a:cs typeface="Calibri"/>
              <a:sym typeface="Calibri"/>
            </a:endParaRPr>
          </a:p>
        </p:txBody>
      </p:sp>
      <p:sp>
        <p:nvSpPr>
          <p:cNvPr id="229" name="Google Shape;229;p5"/>
          <p:cNvSpPr/>
          <p:nvPr/>
        </p:nvSpPr>
        <p:spPr>
          <a:xfrm>
            <a:off x="3758565" y="1070956"/>
            <a:ext cx="1237500" cy="26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Calibri"/>
              <a:buNone/>
            </a:pPr>
            <a:r>
              <a:rPr lang="en-US" sz="1050" b="1" i="0" u="none" strike="noStrike" cap="none">
                <a:solidFill>
                  <a:srgbClr val="FFFFFF"/>
                </a:solidFill>
                <a:latin typeface="Calibri"/>
                <a:ea typeface="Calibri"/>
                <a:cs typeface="Calibri"/>
                <a:sym typeface="Calibri"/>
              </a:rPr>
              <a:t>CONVERT</a:t>
            </a:r>
            <a:endParaRPr sz="1050" b="0" i="0" u="none" strike="noStrike" cap="none">
              <a:solidFill>
                <a:srgbClr val="000000"/>
              </a:solidFill>
              <a:latin typeface="Calibri"/>
              <a:ea typeface="Calibri"/>
              <a:cs typeface="Calibri"/>
              <a:sym typeface="Calibri"/>
            </a:endParaRPr>
          </a:p>
        </p:txBody>
      </p:sp>
      <p:sp>
        <p:nvSpPr>
          <p:cNvPr id="230" name="Google Shape;230;p5"/>
          <p:cNvSpPr/>
          <p:nvPr/>
        </p:nvSpPr>
        <p:spPr>
          <a:xfrm>
            <a:off x="3493353" y="1331255"/>
            <a:ext cx="1520700" cy="329700"/>
          </a:xfrm>
          <a:prstGeom prst="rect">
            <a:avLst/>
          </a:prstGeom>
          <a:solidFill>
            <a:srgbClr val="D5E8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5"/>
          <p:cNvSpPr/>
          <p:nvPr/>
        </p:nvSpPr>
        <p:spPr>
          <a:xfrm>
            <a:off x="3537555" y="1339931"/>
            <a:ext cx="1449900" cy="3123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vcd2fst tb_top.vcd tb_top.fst</a:t>
            </a:r>
            <a:endParaRPr sz="780" b="0" i="0" u="none" strike="noStrike" cap="none">
              <a:solidFill>
                <a:srgbClr val="000000"/>
              </a:solidFill>
              <a:latin typeface="Calibri"/>
              <a:ea typeface="Calibri"/>
              <a:cs typeface="Calibri"/>
              <a:sym typeface="Calibri"/>
            </a:endParaRPr>
          </a:p>
        </p:txBody>
      </p:sp>
      <p:sp>
        <p:nvSpPr>
          <p:cNvPr id="232" name="Google Shape;232;p5"/>
          <p:cNvSpPr/>
          <p:nvPr/>
        </p:nvSpPr>
        <p:spPr>
          <a:xfrm>
            <a:off x="3555236" y="1695673"/>
            <a:ext cx="1414500" cy="6249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A2B3C"/>
              </a:buClr>
              <a:buSzPts val="900"/>
              <a:buFont typeface="Calibri"/>
              <a:buNone/>
            </a:pPr>
            <a:r>
              <a:rPr lang="en-US" sz="900" b="0" i="0" u="none" strike="noStrike" cap="none">
                <a:solidFill>
                  <a:srgbClr val="1A2B3C"/>
                </a:solidFill>
                <a:latin typeface="Calibri"/>
                <a:ea typeface="Calibri"/>
                <a:cs typeface="Calibri"/>
                <a:sym typeface="Calibri"/>
              </a:rPr>
              <a:t>Compress: 147 MB → ~5 MB (28× smaller)</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900"/>
              <a:buFont typeface="Calibri"/>
              <a:buNone/>
            </a:pPr>
            <a:r>
              <a:rPr lang="en-US" sz="900" b="0" i="0" u="none" strike="noStrike" cap="none">
                <a:solidFill>
                  <a:srgbClr val="1A2B3C"/>
                </a:solidFill>
                <a:latin typeface="Calibri"/>
                <a:ea typeface="Calibri"/>
                <a:cs typeface="Calibri"/>
                <a:sym typeface="Calibri"/>
              </a:rPr>
              <a:t>Faster GTKWave loading</a:t>
            </a:r>
            <a:endParaRPr sz="900" b="0" i="0" u="none" strike="noStrike" cap="none">
              <a:solidFill>
                <a:srgbClr val="000000"/>
              </a:solidFill>
              <a:latin typeface="Calibri"/>
              <a:ea typeface="Calibri"/>
              <a:cs typeface="Calibri"/>
              <a:sym typeface="Calibri"/>
            </a:endParaRPr>
          </a:p>
        </p:txBody>
      </p:sp>
      <p:cxnSp>
        <p:nvCxnSpPr>
          <p:cNvPr id="233" name="Google Shape;233;p5"/>
          <p:cNvCxnSpPr/>
          <p:nvPr/>
        </p:nvCxnSpPr>
        <p:spPr>
          <a:xfrm>
            <a:off x="5022746" y="1713026"/>
            <a:ext cx="70800" cy="0"/>
          </a:xfrm>
          <a:prstGeom prst="straightConnector1">
            <a:avLst/>
          </a:prstGeom>
          <a:noFill/>
          <a:ln w="25400" cap="flat" cmpd="sng">
            <a:solidFill>
              <a:srgbClr val="2E86C1"/>
            </a:solidFill>
            <a:prstDash val="solid"/>
            <a:round/>
            <a:headEnd type="none" w="sm" len="sm"/>
            <a:tailEnd type="none" w="sm" len="sm"/>
          </a:ln>
        </p:spPr>
      </p:cxnSp>
      <p:sp>
        <p:nvSpPr>
          <p:cNvPr id="234" name="Google Shape;234;p5"/>
          <p:cNvSpPr/>
          <p:nvPr/>
        </p:nvSpPr>
        <p:spPr>
          <a:xfrm>
            <a:off x="5084629" y="1070956"/>
            <a:ext cx="1520700" cy="12840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
          <p:cNvSpPr/>
          <p:nvPr/>
        </p:nvSpPr>
        <p:spPr>
          <a:xfrm>
            <a:off x="5084629" y="1070956"/>
            <a:ext cx="1520700" cy="260100"/>
          </a:xfrm>
          <a:prstGeom prst="rect">
            <a:avLst/>
          </a:prstGeom>
          <a:solidFill>
            <a:srgbClr val="1F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5"/>
          <p:cNvSpPr/>
          <p:nvPr/>
        </p:nvSpPr>
        <p:spPr>
          <a:xfrm>
            <a:off x="5084629" y="1070956"/>
            <a:ext cx="265200" cy="26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4</a:t>
            </a:r>
            <a:endParaRPr sz="1100" b="0" i="0" u="none" strike="noStrike" cap="none">
              <a:solidFill>
                <a:srgbClr val="000000"/>
              </a:solidFill>
              <a:latin typeface="Calibri"/>
              <a:ea typeface="Calibri"/>
              <a:cs typeface="Calibri"/>
              <a:sym typeface="Calibri"/>
            </a:endParaRPr>
          </a:p>
        </p:txBody>
      </p:sp>
      <p:sp>
        <p:nvSpPr>
          <p:cNvPr id="237" name="Google Shape;237;p5"/>
          <p:cNvSpPr/>
          <p:nvPr/>
        </p:nvSpPr>
        <p:spPr>
          <a:xfrm>
            <a:off x="5349842" y="1070956"/>
            <a:ext cx="1237500" cy="26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Calibri"/>
              <a:buNone/>
            </a:pPr>
            <a:r>
              <a:rPr lang="en-US" sz="1050" b="1" i="0" u="none" strike="noStrike" cap="none">
                <a:solidFill>
                  <a:srgbClr val="FFFFFF"/>
                </a:solidFill>
                <a:latin typeface="Calibri"/>
                <a:ea typeface="Calibri"/>
                <a:cs typeface="Calibri"/>
                <a:sym typeface="Calibri"/>
              </a:rPr>
              <a:t>INSPECT</a:t>
            </a:r>
            <a:endParaRPr sz="1050" b="0" i="0" u="none" strike="noStrike" cap="none">
              <a:solidFill>
                <a:srgbClr val="000000"/>
              </a:solidFill>
              <a:latin typeface="Calibri"/>
              <a:ea typeface="Calibri"/>
              <a:cs typeface="Calibri"/>
              <a:sym typeface="Calibri"/>
            </a:endParaRPr>
          </a:p>
        </p:txBody>
      </p:sp>
      <p:sp>
        <p:nvSpPr>
          <p:cNvPr id="238" name="Google Shape;238;p5"/>
          <p:cNvSpPr/>
          <p:nvPr/>
        </p:nvSpPr>
        <p:spPr>
          <a:xfrm>
            <a:off x="5084629" y="1331255"/>
            <a:ext cx="1520700" cy="329700"/>
          </a:xfrm>
          <a:prstGeom prst="rect">
            <a:avLst/>
          </a:prstGeom>
          <a:solidFill>
            <a:srgbClr val="D5E8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
          <p:cNvSpPr/>
          <p:nvPr/>
        </p:nvSpPr>
        <p:spPr>
          <a:xfrm>
            <a:off x="5128831" y="1339931"/>
            <a:ext cx="1449900" cy="3123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make wave  OR  gtkwave tb_top.fst</a:t>
            </a:r>
            <a:endParaRPr sz="780" b="0" i="0" u="none" strike="noStrike" cap="none">
              <a:solidFill>
                <a:srgbClr val="000000"/>
              </a:solidFill>
              <a:latin typeface="Calibri"/>
              <a:ea typeface="Calibri"/>
              <a:cs typeface="Calibri"/>
              <a:sym typeface="Calibri"/>
            </a:endParaRPr>
          </a:p>
        </p:txBody>
      </p:sp>
      <p:sp>
        <p:nvSpPr>
          <p:cNvPr id="240" name="Google Shape;240;p5"/>
          <p:cNvSpPr/>
          <p:nvPr/>
        </p:nvSpPr>
        <p:spPr>
          <a:xfrm>
            <a:off x="5146512" y="1695673"/>
            <a:ext cx="1414500" cy="6249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A2B3C"/>
              </a:buClr>
              <a:buSzPts val="900"/>
              <a:buFont typeface="Calibri"/>
              <a:buNone/>
            </a:pPr>
            <a:r>
              <a:rPr lang="en-US" sz="900" b="0" i="0" u="none" strike="noStrike" cap="none">
                <a:solidFill>
                  <a:srgbClr val="1A2B3C"/>
                </a:solidFill>
                <a:latin typeface="Calibri"/>
                <a:ea typeface="Calibri"/>
                <a:cs typeface="Calibri"/>
                <a:sym typeface="Calibri"/>
              </a:rPr>
              <a:t>GTKWave opens tb_top.fst</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900"/>
              <a:buFont typeface="Calibri"/>
              <a:buNone/>
            </a:pPr>
            <a:r>
              <a:rPr lang="en-US" sz="900" b="0" i="0" u="none" strike="noStrike" cap="none">
                <a:solidFill>
                  <a:srgbClr val="1A2B3C"/>
                </a:solidFill>
                <a:latin typeface="Calibri"/>
                <a:ea typeface="Calibri"/>
                <a:cs typeface="Calibri"/>
                <a:sym typeface="Calibri"/>
              </a:rPr>
              <a:t>5-layer signal analysis</a:t>
            </a:r>
            <a:endParaRPr sz="900" b="0" i="0" u="none" strike="noStrike" cap="none">
              <a:solidFill>
                <a:srgbClr val="000000"/>
              </a:solidFill>
              <a:latin typeface="Calibri"/>
              <a:ea typeface="Calibri"/>
              <a:cs typeface="Calibri"/>
              <a:sym typeface="Calibri"/>
            </a:endParaRPr>
          </a:p>
        </p:txBody>
      </p:sp>
      <p:cxnSp>
        <p:nvCxnSpPr>
          <p:cNvPr id="241" name="Google Shape;241;p5"/>
          <p:cNvCxnSpPr/>
          <p:nvPr/>
        </p:nvCxnSpPr>
        <p:spPr>
          <a:xfrm>
            <a:off x="6614022" y="1713026"/>
            <a:ext cx="70800" cy="0"/>
          </a:xfrm>
          <a:prstGeom prst="straightConnector1">
            <a:avLst/>
          </a:prstGeom>
          <a:noFill/>
          <a:ln w="25400" cap="flat" cmpd="sng">
            <a:solidFill>
              <a:srgbClr val="2E86C1"/>
            </a:solidFill>
            <a:prstDash val="solid"/>
            <a:round/>
            <a:headEnd type="none" w="sm" len="sm"/>
            <a:tailEnd type="none" w="sm" len="sm"/>
          </a:ln>
        </p:spPr>
      </p:cxnSp>
      <p:sp>
        <p:nvSpPr>
          <p:cNvPr id="242" name="Google Shape;242;p5"/>
          <p:cNvSpPr/>
          <p:nvPr/>
        </p:nvSpPr>
        <p:spPr>
          <a:xfrm>
            <a:off x="6675905" y="1070956"/>
            <a:ext cx="1520700" cy="12840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5"/>
          <p:cNvSpPr/>
          <p:nvPr/>
        </p:nvSpPr>
        <p:spPr>
          <a:xfrm>
            <a:off x="6675905" y="1070956"/>
            <a:ext cx="1520700" cy="260100"/>
          </a:xfrm>
          <a:prstGeom prst="rect">
            <a:avLst/>
          </a:prstGeom>
          <a:solidFill>
            <a:srgbClr val="5B2C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5"/>
          <p:cNvSpPr/>
          <p:nvPr/>
        </p:nvSpPr>
        <p:spPr>
          <a:xfrm>
            <a:off x="6675905" y="1070956"/>
            <a:ext cx="265200" cy="26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5</a:t>
            </a:r>
            <a:endParaRPr sz="1100" b="0" i="0" u="none" strike="noStrike" cap="none">
              <a:solidFill>
                <a:srgbClr val="000000"/>
              </a:solidFill>
              <a:latin typeface="Calibri"/>
              <a:ea typeface="Calibri"/>
              <a:cs typeface="Calibri"/>
              <a:sym typeface="Calibri"/>
            </a:endParaRPr>
          </a:p>
        </p:txBody>
      </p:sp>
      <p:sp>
        <p:nvSpPr>
          <p:cNvPr id="245" name="Google Shape;245;p5"/>
          <p:cNvSpPr/>
          <p:nvPr/>
        </p:nvSpPr>
        <p:spPr>
          <a:xfrm>
            <a:off x="6941118" y="1070956"/>
            <a:ext cx="1237500" cy="26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Calibri"/>
              <a:buNone/>
            </a:pPr>
            <a:r>
              <a:rPr lang="en-US" sz="1050" b="1" i="0" u="none" strike="noStrike" cap="none">
                <a:solidFill>
                  <a:srgbClr val="FFFFFF"/>
                </a:solidFill>
                <a:latin typeface="Calibri"/>
                <a:ea typeface="Calibri"/>
                <a:cs typeface="Calibri"/>
                <a:sym typeface="Calibri"/>
              </a:rPr>
              <a:t>ITERATE</a:t>
            </a:r>
            <a:endParaRPr sz="1050" b="0" i="0" u="none" strike="noStrike" cap="none">
              <a:solidFill>
                <a:srgbClr val="000000"/>
              </a:solidFill>
              <a:latin typeface="Calibri"/>
              <a:ea typeface="Calibri"/>
              <a:cs typeface="Calibri"/>
              <a:sym typeface="Calibri"/>
            </a:endParaRPr>
          </a:p>
        </p:txBody>
      </p:sp>
      <p:sp>
        <p:nvSpPr>
          <p:cNvPr id="246" name="Google Shape;246;p5"/>
          <p:cNvSpPr/>
          <p:nvPr/>
        </p:nvSpPr>
        <p:spPr>
          <a:xfrm>
            <a:off x="6675905" y="1331255"/>
            <a:ext cx="1520700" cy="329700"/>
          </a:xfrm>
          <a:prstGeom prst="rect">
            <a:avLst/>
          </a:prstGeom>
          <a:solidFill>
            <a:srgbClr val="D5E8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5"/>
          <p:cNvSpPr/>
          <p:nvPr/>
        </p:nvSpPr>
        <p:spPr>
          <a:xfrm>
            <a:off x="6720107" y="1339931"/>
            <a:ext cx="1449900" cy="3123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Fix RTL → make soc → make wave</a:t>
            </a:r>
            <a:endParaRPr sz="780" b="0" i="0" u="none" strike="noStrike" cap="none">
              <a:solidFill>
                <a:srgbClr val="000000"/>
              </a:solidFill>
              <a:latin typeface="Calibri"/>
              <a:ea typeface="Calibri"/>
              <a:cs typeface="Calibri"/>
              <a:sym typeface="Calibri"/>
            </a:endParaRPr>
          </a:p>
        </p:txBody>
      </p:sp>
      <p:sp>
        <p:nvSpPr>
          <p:cNvPr id="248" name="Google Shape;248;p5"/>
          <p:cNvSpPr/>
          <p:nvPr/>
        </p:nvSpPr>
        <p:spPr>
          <a:xfrm>
            <a:off x="6737788" y="1695673"/>
            <a:ext cx="1414500" cy="6249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A2B3C"/>
              </a:buClr>
              <a:buSzPts val="900"/>
              <a:buFont typeface="Calibri"/>
              <a:buNone/>
            </a:pPr>
            <a:r>
              <a:rPr lang="en-US" sz="900" b="0" i="0" u="none" strike="noStrike" cap="none">
                <a:solidFill>
                  <a:srgbClr val="1A2B3C"/>
                </a:solidFill>
                <a:latin typeface="Calibri"/>
                <a:ea typeface="Calibri"/>
                <a:cs typeface="Calibri"/>
                <a:sym typeface="Calibri"/>
              </a:rPr>
              <a:t>Repeat until:</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900"/>
              <a:buFont typeface="Calibri"/>
              <a:buNone/>
            </a:pPr>
            <a:r>
              <a:rPr lang="en-US" sz="900" b="0" i="0" u="none" strike="noStrike" cap="none">
                <a:solidFill>
                  <a:srgbClr val="1A2B3C"/>
                </a:solidFill>
                <a:latin typeface="Calibri"/>
                <a:ea typeface="Calibri"/>
                <a:cs typeface="Calibri"/>
                <a:sym typeface="Calibri"/>
              </a:rPr>
              <a:t>✅ TEST PASSED in console</a:t>
            </a:r>
            <a:endParaRPr sz="900" b="0" i="0" u="none" strike="noStrike" cap="none">
              <a:solidFill>
                <a:srgbClr val="000000"/>
              </a:solidFill>
              <a:latin typeface="Calibri"/>
              <a:ea typeface="Calibri"/>
              <a:cs typeface="Calibri"/>
              <a:sym typeface="Calibri"/>
            </a:endParaRPr>
          </a:p>
        </p:txBody>
      </p:sp>
      <p:sp>
        <p:nvSpPr>
          <p:cNvPr id="249" name="Google Shape;249;p5"/>
          <p:cNvSpPr/>
          <p:nvPr/>
        </p:nvSpPr>
        <p:spPr>
          <a:xfrm>
            <a:off x="310800" y="2441861"/>
            <a:ext cx="8522400" cy="277500"/>
          </a:xfrm>
          <a:prstGeom prst="rect">
            <a:avLst/>
          </a:prstGeom>
          <a:solidFill>
            <a:srgbClr val="FEF9E7"/>
          </a:solidFill>
          <a:ln w="12700" cap="flat" cmpd="sng">
            <a:solidFill>
              <a:srgbClr val="F0B2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5"/>
          <p:cNvSpPr/>
          <p:nvPr/>
        </p:nvSpPr>
        <p:spPr>
          <a:xfrm>
            <a:off x="399204" y="2450538"/>
            <a:ext cx="8345400" cy="26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84212"/>
              </a:buClr>
              <a:buSzPts val="950"/>
              <a:buFont typeface="Calibri"/>
              <a:buNone/>
            </a:pPr>
            <a:r>
              <a:rPr lang="en-US" sz="950" b="0" i="0" u="none" strike="noStrike" cap="none">
                <a:solidFill>
                  <a:srgbClr val="784212"/>
                </a:solidFill>
                <a:latin typeface="Calibri"/>
                <a:ea typeface="Calibri"/>
                <a:cs typeface="Calibri"/>
                <a:sym typeface="Calibri"/>
              </a:rPr>
              <a:t>⚠️  Icarus Verilog, ModelSim, and QuestaSim are NOT used in this course — use Verilator only.</a:t>
            </a:r>
            <a:endParaRPr sz="950" b="0" i="0" u="none" strike="noStrike" cap="none">
              <a:solidFill>
                <a:srgbClr val="000000"/>
              </a:solidFill>
              <a:latin typeface="Calibri"/>
              <a:ea typeface="Calibri"/>
              <a:cs typeface="Calibri"/>
              <a:sym typeface="Calibri"/>
            </a:endParaRPr>
          </a:p>
        </p:txBody>
      </p:sp>
      <p:sp>
        <p:nvSpPr>
          <p:cNvPr id="251" name="Google Shape;251;p5"/>
          <p:cNvSpPr/>
          <p:nvPr/>
        </p:nvSpPr>
        <p:spPr>
          <a:xfrm>
            <a:off x="310800" y="2788926"/>
            <a:ext cx="8522400" cy="22125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5"/>
          <p:cNvSpPr/>
          <p:nvPr/>
        </p:nvSpPr>
        <p:spPr>
          <a:xfrm>
            <a:off x="310800" y="2788926"/>
            <a:ext cx="8522400" cy="242700"/>
          </a:xfrm>
          <a:prstGeom prst="rect">
            <a:avLst/>
          </a:prstGeom>
          <a:solidFill>
            <a:srgbClr val="1F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5"/>
          <p:cNvSpPr/>
          <p:nvPr/>
        </p:nvSpPr>
        <p:spPr>
          <a:xfrm>
            <a:off x="399204" y="2788926"/>
            <a:ext cx="8345400" cy="242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Calibri"/>
              <a:buNone/>
            </a:pPr>
            <a:r>
              <a:rPr lang="en-US" sz="1050" b="1" i="0" u="none" strike="noStrike" cap="none">
                <a:solidFill>
                  <a:srgbClr val="FFFFFF"/>
                </a:solidFill>
                <a:latin typeface="Calibri"/>
                <a:ea typeface="Calibri"/>
                <a:cs typeface="Calibri"/>
                <a:sym typeface="Calibri"/>
              </a:rPr>
              <a:t>Waveform</a:t>
            </a:r>
            <a:r>
              <a:rPr lang="en-US" sz="1050" b="1">
                <a:solidFill>
                  <a:srgbClr val="FFFFFF"/>
                </a:solidFill>
                <a:latin typeface="Calibri"/>
                <a:ea typeface="Calibri"/>
                <a:cs typeface="Calibri"/>
                <a:sym typeface="Calibri"/>
              </a:rPr>
              <a:t> </a:t>
            </a:r>
            <a:r>
              <a:rPr lang="en-US" sz="1050" b="1" i="0" u="none" strike="noStrike" cap="none">
                <a:solidFill>
                  <a:srgbClr val="FFFFFF"/>
                </a:solidFill>
                <a:latin typeface="Calibri"/>
                <a:ea typeface="Calibri"/>
                <a:cs typeface="Calibri"/>
                <a:sym typeface="Calibri"/>
              </a:rPr>
              <a:t>VCD File</a:t>
            </a:r>
            <a:r>
              <a:rPr lang="en-US" sz="1050" b="1">
                <a:solidFill>
                  <a:srgbClr val="FFFFFF"/>
                </a:solidFill>
                <a:latin typeface="Calibri"/>
                <a:ea typeface="Calibri"/>
                <a:cs typeface="Calibri"/>
                <a:sym typeface="Calibri"/>
              </a:rPr>
              <a:t> </a:t>
            </a:r>
            <a:r>
              <a:rPr lang="en-US" sz="1050" b="1" i="0" u="none" strike="noStrike" cap="none">
                <a:solidFill>
                  <a:srgbClr val="FFFFFF"/>
                </a:solidFill>
                <a:latin typeface="Calibri"/>
                <a:ea typeface="Calibri"/>
                <a:cs typeface="Calibri"/>
                <a:sym typeface="Calibri"/>
              </a:rPr>
              <a:t> Size Reference</a:t>
            </a:r>
            <a:endParaRPr sz="1050" b="0" i="0" u="none" strike="noStrike" cap="none">
              <a:solidFill>
                <a:srgbClr val="000000"/>
              </a:solidFill>
              <a:latin typeface="Calibri"/>
              <a:ea typeface="Calibri"/>
              <a:cs typeface="Calibri"/>
              <a:sym typeface="Calibri"/>
            </a:endParaRPr>
          </a:p>
        </p:txBody>
      </p:sp>
      <p:sp>
        <p:nvSpPr>
          <p:cNvPr id="254" name="Google Shape;254;p5"/>
          <p:cNvSpPr/>
          <p:nvPr/>
        </p:nvSpPr>
        <p:spPr>
          <a:xfrm>
            <a:off x="310800" y="3049224"/>
            <a:ext cx="1591200" cy="3210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5"/>
          <p:cNvSpPr/>
          <p:nvPr/>
        </p:nvSpPr>
        <p:spPr>
          <a:xfrm>
            <a:off x="363843" y="3057901"/>
            <a:ext cx="15207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950"/>
              <a:buFont typeface="Consolas"/>
              <a:buNone/>
            </a:pPr>
            <a:r>
              <a:rPr lang="en-US" sz="950" b="0" i="0" u="none" strike="noStrike" cap="none">
                <a:solidFill>
                  <a:srgbClr val="0D3349"/>
                </a:solidFill>
                <a:latin typeface="Consolas"/>
                <a:ea typeface="Consolas"/>
                <a:cs typeface="Consolas"/>
                <a:sym typeface="Consolas"/>
              </a:rPr>
              <a:t>make pico</a:t>
            </a:r>
            <a:endParaRPr sz="950" b="0" i="0" u="none" strike="noStrike" cap="none">
              <a:solidFill>
                <a:srgbClr val="000000"/>
              </a:solidFill>
              <a:latin typeface="Calibri"/>
              <a:ea typeface="Calibri"/>
              <a:cs typeface="Calibri"/>
              <a:sym typeface="Calibri"/>
            </a:endParaRPr>
          </a:p>
        </p:txBody>
      </p:sp>
      <p:sp>
        <p:nvSpPr>
          <p:cNvPr id="256" name="Google Shape;256;p5"/>
          <p:cNvSpPr/>
          <p:nvPr/>
        </p:nvSpPr>
        <p:spPr>
          <a:xfrm>
            <a:off x="1902076" y="3049224"/>
            <a:ext cx="3713100" cy="3210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5"/>
          <p:cNvSpPr/>
          <p:nvPr/>
        </p:nvSpPr>
        <p:spPr>
          <a:xfrm>
            <a:off x="1955119" y="3057901"/>
            <a:ext cx="36423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tb_picorv32.vcd</a:t>
            </a:r>
            <a:endParaRPr sz="880" b="0" i="0" u="none" strike="noStrike" cap="none">
              <a:solidFill>
                <a:srgbClr val="000000"/>
              </a:solidFill>
              <a:latin typeface="Calibri"/>
              <a:ea typeface="Calibri"/>
              <a:cs typeface="Calibri"/>
              <a:sym typeface="Calibri"/>
            </a:endParaRPr>
          </a:p>
        </p:txBody>
      </p:sp>
      <p:sp>
        <p:nvSpPr>
          <p:cNvPr id="258" name="Google Shape;258;p5"/>
          <p:cNvSpPr/>
          <p:nvPr/>
        </p:nvSpPr>
        <p:spPr>
          <a:xfrm>
            <a:off x="5615054" y="3049224"/>
            <a:ext cx="3041100" cy="3210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5"/>
          <p:cNvSpPr/>
          <p:nvPr/>
        </p:nvSpPr>
        <p:spPr>
          <a:xfrm>
            <a:off x="5668097" y="3057901"/>
            <a:ext cx="29703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36 KB</a:t>
            </a:r>
            <a:endParaRPr sz="950" b="0" i="0" u="none" strike="noStrike" cap="none">
              <a:solidFill>
                <a:srgbClr val="000000"/>
              </a:solidFill>
              <a:latin typeface="Calibri"/>
              <a:ea typeface="Calibri"/>
              <a:cs typeface="Calibri"/>
              <a:sym typeface="Calibri"/>
            </a:endParaRPr>
          </a:p>
        </p:txBody>
      </p:sp>
      <p:sp>
        <p:nvSpPr>
          <p:cNvPr id="260" name="Google Shape;260;p5"/>
          <p:cNvSpPr/>
          <p:nvPr/>
        </p:nvSpPr>
        <p:spPr>
          <a:xfrm>
            <a:off x="310800" y="3370259"/>
            <a:ext cx="1591200" cy="3210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5"/>
          <p:cNvSpPr/>
          <p:nvPr/>
        </p:nvSpPr>
        <p:spPr>
          <a:xfrm>
            <a:off x="363843" y="3378936"/>
            <a:ext cx="15207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950"/>
              <a:buFont typeface="Consolas"/>
              <a:buNone/>
            </a:pPr>
            <a:r>
              <a:rPr lang="en-US" sz="950" b="0" i="0" u="none" strike="noStrike" cap="none">
                <a:solidFill>
                  <a:srgbClr val="0D3349"/>
                </a:solidFill>
                <a:latin typeface="Consolas"/>
                <a:ea typeface="Consolas"/>
                <a:cs typeface="Consolas"/>
                <a:sym typeface="Consolas"/>
              </a:rPr>
              <a:t>make axi_sa</a:t>
            </a:r>
            <a:endParaRPr sz="950" b="0" i="0" u="none" strike="noStrike" cap="none">
              <a:solidFill>
                <a:srgbClr val="000000"/>
              </a:solidFill>
              <a:latin typeface="Calibri"/>
              <a:ea typeface="Calibri"/>
              <a:cs typeface="Calibri"/>
              <a:sym typeface="Calibri"/>
            </a:endParaRPr>
          </a:p>
        </p:txBody>
      </p:sp>
      <p:sp>
        <p:nvSpPr>
          <p:cNvPr id="262" name="Google Shape;262;p5"/>
          <p:cNvSpPr/>
          <p:nvPr/>
        </p:nvSpPr>
        <p:spPr>
          <a:xfrm>
            <a:off x="1902076" y="3370259"/>
            <a:ext cx="3713100" cy="3210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5"/>
          <p:cNvSpPr/>
          <p:nvPr/>
        </p:nvSpPr>
        <p:spPr>
          <a:xfrm>
            <a:off x="1955119" y="3378936"/>
            <a:ext cx="36423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tb_axi_lite_standalone.vcd</a:t>
            </a:r>
            <a:endParaRPr sz="880" b="0" i="0" u="none" strike="noStrike" cap="none">
              <a:solidFill>
                <a:srgbClr val="000000"/>
              </a:solidFill>
              <a:latin typeface="Calibri"/>
              <a:ea typeface="Calibri"/>
              <a:cs typeface="Calibri"/>
              <a:sym typeface="Calibri"/>
            </a:endParaRPr>
          </a:p>
        </p:txBody>
      </p:sp>
      <p:sp>
        <p:nvSpPr>
          <p:cNvPr id="264" name="Google Shape;264;p5"/>
          <p:cNvSpPr/>
          <p:nvPr/>
        </p:nvSpPr>
        <p:spPr>
          <a:xfrm>
            <a:off x="5615054" y="3370259"/>
            <a:ext cx="3041100" cy="3210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5"/>
          <p:cNvSpPr/>
          <p:nvPr/>
        </p:nvSpPr>
        <p:spPr>
          <a:xfrm>
            <a:off x="5668097" y="3378936"/>
            <a:ext cx="29703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3.8 KB</a:t>
            </a:r>
            <a:endParaRPr sz="950" b="0" i="0" u="none" strike="noStrike" cap="none">
              <a:solidFill>
                <a:srgbClr val="000000"/>
              </a:solidFill>
              <a:latin typeface="Calibri"/>
              <a:ea typeface="Calibri"/>
              <a:cs typeface="Calibri"/>
              <a:sym typeface="Calibri"/>
            </a:endParaRPr>
          </a:p>
        </p:txBody>
      </p:sp>
      <p:sp>
        <p:nvSpPr>
          <p:cNvPr id="266" name="Google Shape;266;p5"/>
          <p:cNvSpPr/>
          <p:nvPr/>
        </p:nvSpPr>
        <p:spPr>
          <a:xfrm>
            <a:off x="310800" y="3691294"/>
            <a:ext cx="1591200" cy="3210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5"/>
          <p:cNvSpPr/>
          <p:nvPr/>
        </p:nvSpPr>
        <p:spPr>
          <a:xfrm>
            <a:off x="363843" y="3699970"/>
            <a:ext cx="15207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950"/>
              <a:buFont typeface="Consolas"/>
              <a:buNone/>
            </a:pPr>
            <a:r>
              <a:rPr lang="en-US" sz="950" b="0" i="0" u="none" strike="noStrike" cap="none">
                <a:solidFill>
                  <a:srgbClr val="0D3349"/>
                </a:solidFill>
                <a:latin typeface="Consolas"/>
                <a:ea typeface="Consolas"/>
                <a:cs typeface="Consolas"/>
                <a:sym typeface="Consolas"/>
              </a:rPr>
              <a:t>make uart</a:t>
            </a:r>
            <a:endParaRPr sz="950" b="0" i="0" u="none" strike="noStrike" cap="none">
              <a:solidFill>
                <a:srgbClr val="000000"/>
              </a:solidFill>
              <a:latin typeface="Calibri"/>
              <a:ea typeface="Calibri"/>
              <a:cs typeface="Calibri"/>
              <a:sym typeface="Calibri"/>
            </a:endParaRPr>
          </a:p>
        </p:txBody>
      </p:sp>
      <p:sp>
        <p:nvSpPr>
          <p:cNvPr id="268" name="Google Shape;268;p5"/>
          <p:cNvSpPr/>
          <p:nvPr/>
        </p:nvSpPr>
        <p:spPr>
          <a:xfrm>
            <a:off x="1902076" y="3691294"/>
            <a:ext cx="3713100" cy="3210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5"/>
          <p:cNvSpPr/>
          <p:nvPr/>
        </p:nvSpPr>
        <p:spPr>
          <a:xfrm>
            <a:off x="1955119" y="3699970"/>
            <a:ext cx="36423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tb_uart.vcd</a:t>
            </a:r>
            <a:endParaRPr sz="880" b="0" i="0" u="none" strike="noStrike" cap="none">
              <a:solidFill>
                <a:srgbClr val="000000"/>
              </a:solidFill>
              <a:latin typeface="Calibri"/>
              <a:ea typeface="Calibri"/>
              <a:cs typeface="Calibri"/>
              <a:sym typeface="Calibri"/>
            </a:endParaRPr>
          </a:p>
        </p:txBody>
      </p:sp>
      <p:sp>
        <p:nvSpPr>
          <p:cNvPr id="270" name="Google Shape;270;p5"/>
          <p:cNvSpPr/>
          <p:nvPr/>
        </p:nvSpPr>
        <p:spPr>
          <a:xfrm>
            <a:off x="5615054" y="3691294"/>
            <a:ext cx="3041100" cy="3210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5"/>
          <p:cNvSpPr/>
          <p:nvPr/>
        </p:nvSpPr>
        <p:spPr>
          <a:xfrm>
            <a:off x="5668097" y="3699970"/>
            <a:ext cx="29703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2.9 MB</a:t>
            </a:r>
            <a:endParaRPr sz="950" b="0" i="0" u="none" strike="noStrike" cap="none">
              <a:solidFill>
                <a:srgbClr val="000000"/>
              </a:solidFill>
              <a:latin typeface="Calibri"/>
              <a:ea typeface="Calibri"/>
              <a:cs typeface="Calibri"/>
              <a:sym typeface="Calibri"/>
            </a:endParaRPr>
          </a:p>
        </p:txBody>
      </p:sp>
      <p:sp>
        <p:nvSpPr>
          <p:cNvPr id="272" name="Google Shape;272;p5"/>
          <p:cNvSpPr/>
          <p:nvPr/>
        </p:nvSpPr>
        <p:spPr>
          <a:xfrm>
            <a:off x="310800" y="4012328"/>
            <a:ext cx="1591200" cy="3210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5"/>
          <p:cNvSpPr/>
          <p:nvPr/>
        </p:nvSpPr>
        <p:spPr>
          <a:xfrm>
            <a:off x="363843" y="4021005"/>
            <a:ext cx="15207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950"/>
              <a:buFont typeface="Consolas"/>
              <a:buNone/>
            </a:pPr>
            <a:r>
              <a:rPr lang="en-US" sz="950" b="0" i="0" u="none" strike="noStrike" cap="none">
                <a:solidFill>
                  <a:srgbClr val="0D3349"/>
                </a:solidFill>
                <a:latin typeface="Consolas"/>
                <a:ea typeface="Consolas"/>
                <a:cs typeface="Consolas"/>
                <a:sym typeface="Consolas"/>
              </a:rPr>
              <a:t>make riscv_axi</a:t>
            </a:r>
            <a:endParaRPr sz="950" b="0" i="0" u="none" strike="noStrike" cap="none">
              <a:solidFill>
                <a:srgbClr val="000000"/>
              </a:solidFill>
              <a:latin typeface="Calibri"/>
              <a:ea typeface="Calibri"/>
              <a:cs typeface="Calibri"/>
              <a:sym typeface="Calibri"/>
            </a:endParaRPr>
          </a:p>
        </p:txBody>
      </p:sp>
      <p:sp>
        <p:nvSpPr>
          <p:cNvPr id="274" name="Google Shape;274;p5"/>
          <p:cNvSpPr/>
          <p:nvPr/>
        </p:nvSpPr>
        <p:spPr>
          <a:xfrm>
            <a:off x="1902076" y="4012328"/>
            <a:ext cx="3713100" cy="3210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5"/>
          <p:cNvSpPr/>
          <p:nvPr/>
        </p:nvSpPr>
        <p:spPr>
          <a:xfrm>
            <a:off x="1955119" y="4021005"/>
            <a:ext cx="36423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tb_riscv_axi_lite.vcd</a:t>
            </a:r>
            <a:endParaRPr sz="880" b="0" i="0" u="none" strike="noStrike" cap="none">
              <a:solidFill>
                <a:srgbClr val="000000"/>
              </a:solidFill>
              <a:latin typeface="Calibri"/>
              <a:ea typeface="Calibri"/>
              <a:cs typeface="Calibri"/>
              <a:sym typeface="Calibri"/>
            </a:endParaRPr>
          </a:p>
        </p:txBody>
      </p:sp>
      <p:sp>
        <p:nvSpPr>
          <p:cNvPr id="276" name="Google Shape;276;p5"/>
          <p:cNvSpPr/>
          <p:nvPr/>
        </p:nvSpPr>
        <p:spPr>
          <a:xfrm>
            <a:off x="5615054" y="4012328"/>
            <a:ext cx="3041100" cy="3210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5"/>
          <p:cNvSpPr/>
          <p:nvPr/>
        </p:nvSpPr>
        <p:spPr>
          <a:xfrm>
            <a:off x="5668097" y="4021005"/>
            <a:ext cx="29703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3.3 KB</a:t>
            </a:r>
            <a:endParaRPr sz="950" b="0" i="0" u="none" strike="noStrike" cap="none">
              <a:solidFill>
                <a:srgbClr val="000000"/>
              </a:solidFill>
              <a:latin typeface="Calibri"/>
              <a:ea typeface="Calibri"/>
              <a:cs typeface="Calibri"/>
              <a:sym typeface="Calibri"/>
            </a:endParaRPr>
          </a:p>
        </p:txBody>
      </p:sp>
      <p:sp>
        <p:nvSpPr>
          <p:cNvPr id="278" name="Google Shape;278;p5"/>
          <p:cNvSpPr/>
          <p:nvPr/>
        </p:nvSpPr>
        <p:spPr>
          <a:xfrm>
            <a:off x="310800" y="4333363"/>
            <a:ext cx="1591200" cy="3210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5"/>
          <p:cNvSpPr/>
          <p:nvPr/>
        </p:nvSpPr>
        <p:spPr>
          <a:xfrm>
            <a:off x="363843" y="4342040"/>
            <a:ext cx="15207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950"/>
              <a:buFont typeface="Consolas"/>
              <a:buNone/>
            </a:pPr>
            <a:r>
              <a:rPr lang="en-US" sz="950" b="0" i="0" u="none" strike="noStrike" cap="none">
                <a:solidFill>
                  <a:srgbClr val="0D3349"/>
                </a:solidFill>
                <a:latin typeface="Consolas"/>
                <a:ea typeface="Consolas"/>
                <a:cs typeface="Consolas"/>
                <a:sym typeface="Consolas"/>
              </a:rPr>
              <a:t>make axi_uart</a:t>
            </a:r>
            <a:endParaRPr sz="950" b="0" i="0" u="none" strike="noStrike" cap="none">
              <a:solidFill>
                <a:srgbClr val="000000"/>
              </a:solidFill>
              <a:latin typeface="Calibri"/>
              <a:ea typeface="Calibri"/>
              <a:cs typeface="Calibri"/>
              <a:sym typeface="Calibri"/>
            </a:endParaRPr>
          </a:p>
        </p:txBody>
      </p:sp>
      <p:sp>
        <p:nvSpPr>
          <p:cNvPr id="280" name="Google Shape;280;p5"/>
          <p:cNvSpPr/>
          <p:nvPr/>
        </p:nvSpPr>
        <p:spPr>
          <a:xfrm>
            <a:off x="1902076" y="4333363"/>
            <a:ext cx="3713100" cy="3210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5"/>
          <p:cNvSpPr/>
          <p:nvPr/>
        </p:nvSpPr>
        <p:spPr>
          <a:xfrm>
            <a:off x="1955119" y="4342040"/>
            <a:ext cx="36423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tb_axi_lite.vcd</a:t>
            </a:r>
            <a:endParaRPr sz="880" b="0" i="0" u="none" strike="noStrike" cap="none">
              <a:solidFill>
                <a:srgbClr val="000000"/>
              </a:solidFill>
              <a:latin typeface="Calibri"/>
              <a:ea typeface="Calibri"/>
              <a:cs typeface="Calibri"/>
              <a:sym typeface="Calibri"/>
            </a:endParaRPr>
          </a:p>
        </p:txBody>
      </p:sp>
      <p:sp>
        <p:nvSpPr>
          <p:cNvPr id="282" name="Google Shape;282;p5"/>
          <p:cNvSpPr/>
          <p:nvPr/>
        </p:nvSpPr>
        <p:spPr>
          <a:xfrm>
            <a:off x="5615054" y="4333363"/>
            <a:ext cx="3041100" cy="3210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5"/>
          <p:cNvSpPr/>
          <p:nvPr/>
        </p:nvSpPr>
        <p:spPr>
          <a:xfrm>
            <a:off x="5668097" y="4342040"/>
            <a:ext cx="29703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1.9 MB</a:t>
            </a:r>
            <a:endParaRPr sz="950" b="0" i="0" u="none" strike="noStrike" cap="none">
              <a:solidFill>
                <a:srgbClr val="000000"/>
              </a:solidFill>
              <a:latin typeface="Calibri"/>
              <a:ea typeface="Calibri"/>
              <a:cs typeface="Calibri"/>
              <a:sym typeface="Calibri"/>
            </a:endParaRPr>
          </a:p>
        </p:txBody>
      </p:sp>
      <p:sp>
        <p:nvSpPr>
          <p:cNvPr id="284" name="Google Shape;284;p5"/>
          <p:cNvSpPr/>
          <p:nvPr/>
        </p:nvSpPr>
        <p:spPr>
          <a:xfrm>
            <a:off x="310800" y="4654398"/>
            <a:ext cx="1591200" cy="3210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5"/>
          <p:cNvSpPr/>
          <p:nvPr/>
        </p:nvSpPr>
        <p:spPr>
          <a:xfrm>
            <a:off x="363843" y="4663074"/>
            <a:ext cx="15207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950"/>
              <a:buFont typeface="Consolas"/>
              <a:buNone/>
            </a:pPr>
            <a:r>
              <a:rPr lang="en-US" sz="950" b="0" i="0" u="none" strike="noStrike" cap="none">
                <a:solidFill>
                  <a:srgbClr val="0D3349"/>
                </a:solidFill>
                <a:latin typeface="Consolas"/>
                <a:ea typeface="Consolas"/>
                <a:cs typeface="Consolas"/>
                <a:sym typeface="Consolas"/>
              </a:rPr>
              <a:t>make soc</a:t>
            </a:r>
            <a:endParaRPr sz="950" b="0" i="0" u="none" strike="noStrike" cap="none">
              <a:solidFill>
                <a:srgbClr val="000000"/>
              </a:solidFill>
              <a:latin typeface="Calibri"/>
              <a:ea typeface="Calibri"/>
              <a:cs typeface="Calibri"/>
              <a:sym typeface="Calibri"/>
            </a:endParaRPr>
          </a:p>
        </p:txBody>
      </p:sp>
      <p:sp>
        <p:nvSpPr>
          <p:cNvPr id="286" name="Google Shape;286;p5"/>
          <p:cNvSpPr/>
          <p:nvPr/>
        </p:nvSpPr>
        <p:spPr>
          <a:xfrm>
            <a:off x="1902076" y="4654398"/>
            <a:ext cx="3713100" cy="3210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5"/>
          <p:cNvSpPr/>
          <p:nvPr/>
        </p:nvSpPr>
        <p:spPr>
          <a:xfrm>
            <a:off x="1955119" y="4663074"/>
            <a:ext cx="36423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tb_top.vcd → tb_top.fst</a:t>
            </a:r>
            <a:endParaRPr sz="880" b="0" i="0" u="none" strike="noStrike" cap="none">
              <a:solidFill>
                <a:srgbClr val="000000"/>
              </a:solidFill>
              <a:latin typeface="Calibri"/>
              <a:ea typeface="Calibri"/>
              <a:cs typeface="Calibri"/>
              <a:sym typeface="Calibri"/>
            </a:endParaRPr>
          </a:p>
        </p:txBody>
      </p:sp>
      <p:sp>
        <p:nvSpPr>
          <p:cNvPr id="288" name="Google Shape;288;p5"/>
          <p:cNvSpPr/>
          <p:nvPr/>
        </p:nvSpPr>
        <p:spPr>
          <a:xfrm>
            <a:off x="5615054" y="4654398"/>
            <a:ext cx="3041100" cy="3210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5"/>
          <p:cNvSpPr/>
          <p:nvPr/>
        </p:nvSpPr>
        <p:spPr>
          <a:xfrm>
            <a:off x="5668097" y="4663074"/>
            <a:ext cx="2970300" cy="3036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2E86C1"/>
              </a:buClr>
              <a:buSzPts val="950"/>
              <a:buFont typeface="Calibri"/>
              <a:buNone/>
            </a:pPr>
            <a:r>
              <a:rPr lang="en-US" sz="950" b="1" i="0" u="none" strike="noStrike" cap="none">
                <a:solidFill>
                  <a:srgbClr val="2E86C1"/>
                </a:solidFill>
                <a:latin typeface="Calibri"/>
                <a:ea typeface="Calibri"/>
                <a:cs typeface="Calibri"/>
                <a:sym typeface="Calibri"/>
              </a:rPr>
              <a:t>147 MB → ~5 MB</a:t>
            </a:r>
            <a:endParaRPr sz="950" b="0" i="0" u="none" strike="noStrike" cap="non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6"/>
          <p:cNvSpPr/>
          <p:nvPr/>
        </p:nvSpPr>
        <p:spPr>
          <a:xfrm>
            <a:off x="320090" y="381214"/>
            <a:ext cx="8503800" cy="429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chemeClr val="dk1"/>
                </a:solidFill>
                <a:latin typeface="Calibri"/>
                <a:ea typeface="Calibri"/>
                <a:cs typeface="Calibri"/>
                <a:sym typeface="Calibri"/>
              </a:rPr>
              <a:t>GTKWave Setup: Opening THIS Project's Waveforms</a:t>
            </a:r>
            <a:endParaRPr sz="2000" b="0" i="0" u="none" strike="noStrike" cap="none">
              <a:solidFill>
                <a:schemeClr val="dk1"/>
              </a:solidFill>
              <a:latin typeface="Calibri"/>
              <a:ea typeface="Calibri"/>
              <a:cs typeface="Calibri"/>
              <a:sym typeface="Calibri"/>
            </a:endParaRPr>
          </a:p>
        </p:txBody>
      </p:sp>
      <p:sp>
        <p:nvSpPr>
          <p:cNvPr id="296" name="Google Shape;296;p6"/>
          <p:cNvSpPr/>
          <p:nvPr/>
        </p:nvSpPr>
        <p:spPr>
          <a:xfrm>
            <a:off x="518364" y="792700"/>
            <a:ext cx="81009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1100"/>
              <a:buFont typeface="Calibri"/>
              <a:buNone/>
            </a:pPr>
            <a:r>
              <a:rPr lang="en-US" sz="1100" b="0" i="1" u="none" strike="noStrike" cap="none">
                <a:solidFill>
                  <a:srgbClr val="2C5F7A"/>
                </a:solidFill>
                <a:latin typeface="Calibri"/>
                <a:ea typeface="Calibri"/>
                <a:cs typeface="Calibri"/>
                <a:sym typeface="Calibri"/>
              </a:rPr>
              <a:t>Step-by-step navigation guide</a:t>
            </a:r>
            <a:endParaRPr sz="1100" b="0" i="0" u="none" strike="noStrike" cap="none">
              <a:solidFill>
                <a:srgbClr val="000000"/>
              </a:solidFill>
              <a:latin typeface="Calibri"/>
              <a:ea typeface="Calibri"/>
              <a:cs typeface="Calibri"/>
              <a:sym typeface="Calibri"/>
            </a:endParaRPr>
          </a:p>
        </p:txBody>
      </p:sp>
      <p:sp>
        <p:nvSpPr>
          <p:cNvPr id="297" name="Google Shape;297;p6"/>
          <p:cNvSpPr/>
          <p:nvPr/>
        </p:nvSpPr>
        <p:spPr>
          <a:xfrm>
            <a:off x="387700" y="884143"/>
            <a:ext cx="3902700" cy="15729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a:off x="387700" y="884143"/>
            <a:ext cx="3902700" cy="255900"/>
          </a:xfrm>
          <a:prstGeom prst="rect">
            <a:avLst/>
          </a:prstGeom>
          <a:solidFill>
            <a:srgbClr val="1F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6"/>
          <p:cNvSpPr/>
          <p:nvPr/>
        </p:nvSpPr>
        <p:spPr>
          <a:xfrm>
            <a:off x="457383" y="884143"/>
            <a:ext cx="3771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Step 1 — Run Simulation</a:t>
            </a:r>
            <a:endParaRPr sz="1100" b="0" i="0" u="none" strike="noStrike" cap="none">
              <a:solidFill>
                <a:srgbClr val="000000"/>
              </a:solidFill>
              <a:latin typeface="Calibri"/>
              <a:ea typeface="Calibri"/>
              <a:cs typeface="Calibri"/>
              <a:sym typeface="Calibri"/>
            </a:endParaRPr>
          </a:p>
        </p:txBody>
      </p:sp>
      <p:sp>
        <p:nvSpPr>
          <p:cNvPr id="300" name="Google Shape;300;p6"/>
          <p:cNvSpPr/>
          <p:nvPr/>
        </p:nvSpPr>
        <p:spPr>
          <a:xfrm>
            <a:off x="457383" y="1176744"/>
            <a:ext cx="3832500" cy="664500"/>
          </a:xfrm>
          <a:prstGeom prst="rect">
            <a:avLst/>
          </a:prstGeom>
          <a:solidFill>
            <a:srgbClr val="D5E8F3"/>
          </a:solidFill>
          <a:ln w="12700" cap="flat" cmpd="sng">
            <a:solidFill>
              <a:srgbClr val="2E8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6"/>
          <p:cNvSpPr/>
          <p:nvPr/>
        </p:nvSpPr>
        <p:spPr>
          <a:xfrm>
            <a:off x="544498" y="1231619"/>
            <a:ext cx="3690000" cy="57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make soc           # compiles + runs + auto-opens GTKWave</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 OR manually:</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vcd2fst tb_top.vcd tb_top.fst</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gtkwave tb_top.fst &amp;</a:t>
            </a:r>
            <a:endParaRPr sz="900" b="0" i="0" u="none" strike="noStrike" cap="none">
              <a:solidFill>
                <a:srgbClr val="000000"/>
              </a:solidFill>
              <a:latin typeface="Calibri"/>
              <a:ea typeface="Calibri"/>
              <a:cs typeface="Calibri"/>
              <a:sym typeface="Calibri"/>
            </a:endParaRPr>
          </a:p>
        </p:txBody>
      </p:sp>
      <p:sp>
        <p:nvSpPr>
          <p:cNvPr id="302" name="Google Shape;302;p6"/>
          <p:cNvSpPr/>
          <p:nvPr/>
        </p:nvSpPr>
        <p:spPr>
          <a:xfrm>
            <a:off x="457383" y="1841147"/>
            <a:ext cx="3902700" cy="5793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A2B3C"/>
              </a:buClr>
              <a:buSzPts val="900"/>
              <a:buFont typeface="Calibri"/>
              <a:buNone/>
            </a:pPr>
            <a:r>
              <a:rPr lang="en-US" sz="900" b="0" i="0" u="none" strike="noStrike" cap="none">
                <a:solidFill>
                  <a:srgbClr val="1A2B3C"/>
                </a:solidFill>
                <a:latin typeface="Calibri"/>
                <a:ea typeface="Calibri"/>
                <a:cs typeface="Calibri"/>
                <a:sym typeface="Calibri"/>
              </a:rPr>
              <a:t>Both commands produce tb_top.fst (compressed for speed)</a:t>
            </a:r>
            <a:endParaRPr sz="900" b="0" i="0" u="none" strike="noStrike" cap="none">
              <a:solidFill>
                <a:srgbClr val="000000"/>
              </a:solidFill>
              <a:latin typeface="Calibri"/>
              <a:ea typeface="Calibri"/>
              <a:cs typeface="Calibri"/>
              <a:sym typeface="Calibri"/>
            </a:endParaRPr>
          </a:p>
        </p:txBody>
      </p:sp>
      <p:sp>
        <p:nvSpPr>
          <p:cNvPr id="303" name="Google Shape;303;p6"/>
          <p:cNvSpPr/>
          <p:nvPr/>
        </p:nvSpPr>
        <p:spPr>
          <a:xfrm>
            <a:off x="4504410" y="884147"/>
            <a:ext cx="4251900" cy="15729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4504410" y="884148"/>
            <a:ext cx="4251900" cy="255900"/>
          </a:xfrm>
          <a:prstGeom prst="rect">
            <a:avLst/>
          </a:prstGeom>
          <a:solidFill>
            <a:srgbClr val="1E6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6"/>
          <p:cNvSpPr/>
          <p:nvPr/>
        </p:nvSpPr>
        <p:spPr>
          <a:xfrm>
            <a:off x="4577562" y="884148"/>
            <a:ext cx="41604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Step 2 — Load Signal Hierarchy (SST Panel)</a:t>
            </a:r>
            <a:endParaRPr sz="1100" b="0" i="0" u="none" strike="noStrike" cap="none">
              <a:solidFill>
                <a:srgbClr val="000000"/>
              </a:solidFill>
              <a:latin typeface="Calibri"/>
              <a:ea typeface="Calibri"/>
              <a:cs typeface="Calibri"/>
              <a:sym typeface="Calibri"/>
            </a:endParaRPr>
          </a:p>
        </p:txBody>
      </p:sp>
      <p:sp>
        <p:nvSpPr>
          <p:cNvPr id="306" name="Google Shape;306;p6"/>
          <p:cNvSpPr/>
          <p:nvPr/>
        </p:nvSpPr>
        <p:spPr>
          <a:xfrm>
            <a:off x="4577562" y="1176756"/>
            <a:ext cx="4096500" cy="1234500"/>
          </a:xfrm>
          <a:prstGeom prst="rect">
            <a:avLst/>
          </a:prstGeom>
          <a:solidFill>
            <a:srgbClr val="D5E8F3"/>
          </a:solidFill>
          <a:ln w="12700" cap="flat" cmpd="sng">
            <a:solidFill>
              <a:srgbClr val="2E8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6"/>
          <p:cNvSpPr/>
          <p:nvPr/>
        </p:nvSpPr>
        <p:spPr>
          <a:xfrm>
            <a:off x="4669002" y="1231620"/>
            <a:ext cx="3959400" cy="1124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3349"/>
              </a:buClr>
              <a:buSzPts val="900"/>
              <a:buFont typeface="Consolas"/>
              <a:buNone/>
            </a:pPr>
            <a:r>
              <a:rPr lang="en-US" sz="900" b="0" i="0" u="none" strike="noStrike" cap="none" dirty="0">
                <a:solidFill>
                  <a:srgbClr val="0D3349"/>
                </a:solidFill>
                <a:latin typeface="Consolas"/>
                <a:ea typeface="Consolas"/>
                <a:cs typeface="Consolas"/>
                <a:sym typeface="Consolas"/>
              </a:rPr>
              <a:t>Expand: </a:t>
            </a:r>
            <a:r>
              <a:rPr lang="en-US" sz="900" b="0" i="0" u="none" strike="noStrike" cap="none" dirty="0" err="1">
                <a:solidFill>
                  <a:srgbClr val="0D3349"/>
                </a:solidFill>
                <a:latin typeface="Consolas"/>
                <a:ea typeface="Consolas"/>
                <a:cs typeface="Consolas"/>
                <a:sym typeface="Consolas"/>
              </a:rPr>
              <a:t>tb_top</a:t>
            </a:r>
            <a:r>
              <a:rPr lang="en-US" sz="900" b="0" i="0" u="none" strike="noStrike" cap="none" dirty="0">
                <a:solidFill>
                  <a:srgbClr val="0D3349"/>
                </a:solidFill>
                <a:latin typeface="Consolas"/>
                <a:ea typeface="Consolas"/>
                <a:cs typeface="Consolas"/>
                <a:sym typeface="Consolas"/>
              </a:rPr>
              <a:t> → </a:t>
            </a:r>
            <a:r>
              <a:rPr lang="en-US" sz="900" b="0" i="0" u="none" strike="noStrike" cap="none" dirty="0" err="1">
                <a:solidFill>
                  <a:srgbClr val="0D3349"/>
                </a:solidFill>
                <a:latin typeface="Consolas"/>
                <a:ea typeface="Consolas"/>
                <a:cs typeface="Consolas"/>
                <a:sym typeface="Consolas"/>
              </a:rPr>
              <a:t>u_dut</a:t>
            </a:r>
            <a:r>
              <a:rPr lang="en-US" sz="900" b="0" i="0" u="none" strike="noStrike" cap="none" dirty="0">
                <a:solidFill>
                  <a:srgbClr val="0D3349"/>
                </a:solidFill>
                <a:latin typeface="Consolas"/>
                <a:ea typeface="Consolas"/>
                <a:cs typeface="Consolas"/>
                <a:sym typeface="Consolas"/>
              </a:rPr>
              <a:t> (top module)</a:t>
            </a:r>
            <a:endParaRPr sz="900" b="0" i="0" u="none" strike="noStrike" cap="none" dirty="0">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dirty="0">
                <a:solidFill>
                  <a:srgbClr val="0D3349"/>
                </a:solidFill>
                <a:latin typeface="Consolas"/>
                <a:ea typeface="Consolas"/>
                <a:cs typeface="Consolas"/>
                <a:sym typeface="Consolas"/>
              </a:rPr>
              <a:t>  ├─ (CPU signals: </a:t>
            </a:r>
            <a:r>
              <a:rPr lang="en-US" sz="900" b="0" i="0" u="none" strike="noStrike" cap="none" dirty="0" err="1">
                <a:solidFill>
                  <a:srgbClr val="0D3349"/>
                </a:solidFill>
                <a:latin typeface="Consolas"/>
                <a:ea typeface="Consolas"/>
                <a:cs typeface="Consolas"/>
                <a:sym typeface="Consolas"/>
              </a:rPr>
              <a:t>b_state</a:t>
            </a:r>
            <a:r>
              <a:rPr lang="en-US" sz="900" b="0" i="0" u="none" strike="noStrike" cap="none" dirty="0">
                <a:solidFill>
                  <a:srgbClr val="0D3349"/>
                </a:solidFill>
                <a:latin typeface="Consolas"/>
                <a:ea typeface="Consolas"/>
                <a:cs typeface="Consolas"/>
                <a:sym typeface="Consolas"/>
              </a:rPr>
              <a:t>, </a:t>
            </a:r>
            <a:r>
              <a:rPr lang="en-US" sz="900" b="0" i="0" u="none" strike="noStrike" cap="none" dirty="0" err="1">
                <a:solidFill>
                  <a:srgbClr val="0D3349"/>
                </a:solidFill>
                <a:latin typeface="Consolas"/>
                <a:ea typeface="Consolas"/>
                <a:cs typeface="Consolas"/>
                <a:sym typeface="Consolas"/>
              </a:rPr>
              <a:t>m_axi</a:t>
            </a:r>
            <a:r>
              <a:rPr lang="en-US" sz="900" b="0" i="0" u="none" strike="noStrike" cap="none" dirty="0">
                <a:solidFill>
                  <a:srgbClr val="0D3349"/>
                </a:solidFill>
                <a:latin typeface="Consolas"/>
                <a:ea typeface="Consolas"/>
                <a:cs typeface="Consolas"/>
                <a:sym typeface="Consolas"/>
              </a:rPr>
              <a:t>_*)</a:t>
            </a:r>
            <a:endParaRPr sz="900" b="0" i="0" u="none" strike="noStrike" cap="none" dirty="0">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dirty="0">
                <a:solidFill>
                  <a:srgbClr val="0D3349"/>
                </a:solidFill>
                <a:latin typeface="Consolas"/>
                <a:ea typeface="Consolas"/>
                <a:cs typeface="Consolas"/>
                <a:sym typeface="Consolas"/>
              </a:rPr>
              <a:t>  ├─ </a:t>
            </a:r>
            <a:r>
              <a:rPr lang="en-US" sz="900" b="0" i="0" u="none" strike="noStrike" cap="none" dirty="0" err="1">
                <a:solidFill>
                  <a:srgbClr val="0D3349"/>
                </a:solidFill>
                <a:latin typeface="Consolas"/>
                <a:ea typeface="Consolas"/>
                <a:cs typeface="Consolas"/>
                <a:sym typeface="Consolas"/>
              </a:rPr>
              <a:t>u_cpu</a:t>
            </a:r>
            <a:r>
              <a:rPr lang="en-US" sz="900" b="0" i="0" u="none" strike="noStrike" cap="none" dirty="0">
                <a:solidFill>
                  <a:srgbClr val="0D3349"/>
                </a:solidFill>
                <a:latin typeface="Consolas"/>
                <a:ea typeface="Consolas"/>
                <a:cs typeface="Consolas"/>
                <a:sym typeface="Consolas"/>
              </a:rPr>
              <a:t> (picorv32 core)</a:t>
            </a:r>
            <a:endParaRPr sz="900" b="0" i="0" u="none" strike="noStrike" cap="none" dirty="0">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dirty="0">
                <a:solidFill>
                  <a:srgbClr val="0D3349"/>
                </a:solidFill>
                <a:latin typeface="Consolas"/>
                <a:ea typeface="Consolas"/>
                <a:cs typeface="Consolas"/>
                <a:sym typeface="Consolas"/>
              </a:rPr>
              <a:t>  ├─ </a:t>
            </a:r>
            <a:r>
              <a:rPr lang="en-US" sz="900" b="0" i="0" u="none" strike="noStrike" cap="none" dirty="0" err="1">
                <a:solidFill>
                  <a:srgbClr val="0D3349"/>
                </a:solidFill>
                <a:latin typeface="Consolas"/>
                <a:ea typeface="Consolas"/>
                <a:cs typeface="Consolas"/>
                <a:sym typeface="Consolas"/>
              </a:rPr>
              <a:t>u_interconnect</a:t>
            </a:r>
            <a:r>
              <a:rPr lang="en-US" sz="900" b="0" i="0" u="none" strike="noStrike" cap="none" dirty="0">
                <a:solidFill>
                  <a:srgbClr val="0D3349"/>
                </a:solidFill>
                <a:latin typeface="Consolas"/>
                <a:ea typeface="Consolas"/>
                <a:cs typeface="Consolas"/>
                <a:sym typeface="Consolas"/>
              </a:rPr>
              <a:t> (</a:t>
            </a:r>
            <a:r>
              <a:rPr lang="en-US" sz="900" b="0" i="0" u="none" strike="noStrike" cap="none" dirty="0" err="1">
                <a:solidFill>
                  <a:srgbClr val="0D3349"/>
                </a:solidFill>
                <a:latin typeface="Consolas"/>
                <a:ea typeface="Consolas"/>
                <a:cs typeface="Consolas"/>
                <a:sym typeface="Consolas"/>
              </a:rPr>
              <a:t>wr_sel</a:t>
            </a:r>
            <a:r>
              <a:rPr lang="en-US" sz="900" b="0" i="0" u="none" strike="noStrike" cap="none" dirty="0">
                <a:solidFill>
                  <a:srgbClr val="0D3349"/>
                </a:solidFill>
                <a:latin typeface="Consolas"/>
                <a:ea typeface="Consolas"/>
                <a:cs typeface="Consolas"/>
                <a:sym typeface="Consolas"/>
              </a:rPr>
              <a:t>, </a:t>
            </a:r>
            <a:r>
              <a:rPr lang="en-US" sz="900" b="0" i="0" u="none" strike="noStrike" cap="none" dirty="0" err="1">
                <a:solidFill>
                  <a:srgbClr val="0D3349"/>
                </a:solidFill>
                <a:latin typeface="Consolas"/>
                <a:ea typeface="Consolas"/>
                <a:cs typeface="Consolas"/>
                <a:sym typeface="Consolas"/>
              </a:rPr>
              <a:t>rd_sel</a:t>
            </a:r>
            <a:r>
              <a:rPr lang="en-US" sz="900" b="0" i="0" u="none" strike="noStrike" cap="none" dirty="0">
                <a:solidFill>
                  <a:srgbClr val="0D3349"/>
                </a:solidFill>
                <a:latin typeface="Consolas"/>
                <a:ea typeface="Consolas"/>
                <a:cs typeface="Consolas"/>
                <a:sym typeface="Consolas"/>
              </a:rPr>
              <a:t>)</a:t>
            </a:r>
            <a:endParaRPr sz="900" b="0" i="0" u="none" strike="noStrike" cap="none" dirty="0">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dirty="0">
                <a:solidFill>
                  <a:srgbClr val="0D3349"/>
                </a:solidFill>
                <a:latin typeface="Consolas"/>
                <a:ea typeface="Consolas"/>
                <a:cs typeface="Consolas"/>
                <a:sym typeface="Consolas"/>
              </a:rPr>
              <a:t>  ├─ </a:t>
            </a:r>
            <a:r>
              <a:rPr lang="en-US" sz="900" b="0" i="0" u="none" strike="noStrike" cap="none" dirty="0" err="1">
                <a:solidFill>
                  <a:srgbClr val="0D3349"/>
                </a:solidFill>
                <a:latin typeface="Consolas"/>
                <a:ea typeface="Consolas"/>
                <a:cs typeface="Consolas"/>
                <a:sym typeface="Consolas"/>
              </a:rPr>
              <a:t>u_uart</a:t>
            </a:r>
            <a:r>
              <a:rPr lang="en-US" sz="900" b="0" i="0" u="none" strike="noStrike" cap="none" dirty="0">
                <a:solidFill>
                  <a:srgbClr val="0D3349"/>
                </a:solidFill>
                <a:latin typeface="Consolas"/>
                <a:ea typeface="Consolas"/>
                <a:cs typeface="Consolas"/>
                <a:sym typeface="Consolas"/>
              </a:rPr>
              <a:t> (</a:t>
            </a:r>
            <a:r>
              <a:rPr lang="en-US" sz="900" b="0" i="0" u="none" strike="noStrike" cap="none" dirty="0" err="1">
                <a:solidFill>
                  <a:srgbClr val="0D3349"/>
                </a:solidFill>
                <a:latin typeface="Consolas"/>
                <a:ea typeface="Consolas"/>
                <a:cs typeface="Consolas"/>
                <a:sym typeface="Consolas"/>
              </a:rPr>
              <a:t>buf_valid</a:t>
            </a:r>
            <a:r>
              <a:rPr lang="en-US" sz="900" b="0" i="0" u="none" strike="noStrike" cap="none" dirty="0">
                <a:solidFill>
                  <a:srgbClr val="0D3349"/>
                </a:solidFill>
                <a:latin typeface="Consolas"/>
                <a:ea typeface="Consolas"/>
                <a:cs typeface="Consolas"/>
                <a:sym typeface="Consolas"/>
              </a:rPr>
              <a:t>, </a:t>
            </a:r>
            <a:r>
              <a:rPr lang="en-US" sz="900" b="0" i="0" u="none" strike="noStrike" cap="none" dirty="0" err="1">
                <a:solidFill>
                  <a:srgbClr val="0D3349"/>
                </a:solidFill>
                <a:latin typeface="Consolas"/>
                <a:ea typeface="Consolas"/>
                <a:cs typeface="Consolas"/>
                <a:sym typeface="Consolas"/>
              </a:rPr>
              <a:t>aw_got</a:t>
            </a:r>
            <a:r>
              <a:rPr lang="en-US" sz="900" b="0" i="0" u="none" strike="noStrike" cap="none" dirty="0">
                <a:solidFill>
                  <a:srgbClr val="0D3349"/>
                </a:solidFill>
                <a:latin typeface="Consolas"/>
                <a:ea typeface="Consolas"/>
                <a:cs typeface="Consolas"/>
                <a:sym typeface="Consolas"/>
              </a:rPr>
              <a:t>, </a:t>
            </a:r>
            <a:r>
              <a:rPr lang="en-US" sz="900" b="0" i="0" u="none" strike="noStrike" cap="none" dirty="0" err="1">
                <a:solidFill>
                  <a:srgbClr val="0D3349"/>
                </a:solidFill>
                <a:latin typeface="Consolas"/>
                <a:ea typeface="Consolas"/>
                <a:cs typeface="Consolas"/>
                <a:sym typeface="Consolas"/>
              </a:rPr>
              <a:t>w_got</a:t>
            </a:r>
            <a:r>
              <a:rPr lang="en-US" sz="900" b="0" i="0" u="none" strike="noStrike" cap="none" dirty="0">
                <a:solidFill>
                  <a:srgbClr val="0D3349"/>
                </a:solidFill>
                <a:latin typeface="Consolas"/>
                <a:ea typeface="Consolas"/>
                <a:cs typeface="Consolas"/>
                <a:sym typeface="Consolas"/>
              </a:rPr>
              <a:t>)</a:t>
            </a:r>
            <a:endParaRPr sz="900" b="0" i="0" u="none" strike="noStrike" cap="none" dirty="0">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dirty="0">
                <a:solidFill>
                  <a:srgbClr val="0D3349"/>
                </a:solidFill>
                <a:latin typeface="Consolas"/>
                <a:ea typeface="Consolas"/>
                <a:cs typeface="Consolas"/>
                <a:sym typeface="Consolas"/>
              </a:rPr>
              <a:t>  │   ├─ </a:t>
            </a:r>
            <a:r>
              <a:rPr lang="en-US" sz="900" b="0" i="0" u="none" strike="noStrike" cap="none" dirty="0" err="1">
                <a:solidFill>
                  <a:srgbClr val="0D3349"/>
                </a:solidFill>
                <a:latin typeface="Consolas"/>
                <a:ea typeface="Consolas"/>
                <a:cs typeface="Consolas"/>
                <a:sym typeface="Consolas"/>
              </a:rPr>
              <a:t>u_tx</a:t>
            </a:r>
            <a:r>
              <a:rPr lang="en-US" sz="900" b="0" i="0" u="none" strike="noStrike" cap="none" dirty="0">
                <a:solidFill>
                  <a:srgbClr val="0D3349"/>
                </a:solidFill>
                <a:latin typeface="Consolas"/>
                <a:ea typeface="Consolas"/>
                <a:cs typeface="Consolas"/>
                <a:sym typeface="Consolas"/>
              </a:rPr>
              <a:t> (state, </a:t>
            </a:r>
            <a:r>
              <a:rPr lang="en-US" sz="900" b="0" i="0" u="none" strike="noStrike" cap="none" dirty="0" err="1">
                <a:solidFill>
                  <a:srgbClr val="0D3349"/>
                </a:solidFill>
                <a:latin typeface="Consolas"/>
                <a:ea typeface="Consolas"/>
                <a:cs typeface="Consolas"/>
                <a:sym typeface="Consolas"/>
              </a:rPr>
              <a:t>clk_cnt</a:t>
            </a:r>
            <a:r>
              <a:rPr lang="en-US" sz="900" b="0" i="0" u="none" strike="noStrike" cap="none" dirty="0">
                <a:solidFill>
                  <a:srgbClr val="0D3349"/>
                </a:solidFill>
                <a:latin typeface="Consolas"/>
                <a:ea typeface="Consolas"/>
                <a:cs typeface="Consolas"/>
                <a:sym typeface="Consolas"/>
              </a:rPr>
              <a:t>, </a:t>
            </a:r>
            <a:r>
              <a:rPr lang="en-US" sz="900" b="0" i="0" u="none" strike="noStrike" cap="none" dirty="0" err="1">
                <a:solidFill>
                  <a:srgbClr val="0D3349"/>
                </a:solidFill>
                <a:latin typeface="Consolas"/>
                <a:ea typeface="Consolas"/>
                <a:cs typeface="Consolas"/>
                <a:sym typeface="Consolas"/>
              </a:rPr>
              <a:t>tx</a:t>
            </a:r>
            <a:r>
              <a:rPr lang="en-US" sz="900" b="0" i="0" u="none" strike="noStrike" cap="none" dirty="0">
                <a:solidFill>
                  <a:srgbClr val="0D3349"/>
                </a:solidFill>
                <a:latin typeface="Consolas"/>
                <a:ea typeface="Consolas"/>
                <a:cs typeface="Consolas"/>
                <a:sym typeface="Consolas"/>
              </a:rPr>
              <a:t>)</a:t>
            </a:r>
            <a:endParaRPr sz="900" b="0" i="0" u="none" strike="noStrike" cap="none" dirty="0">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dirty="0">
                <a:solidFill>
                  <a:srgbClr val="0D3349"/>
                </a:solidFill>
                <a:latin typeface="Consolas"/>
                <a:ea typeface="Consolas"/>
                <a:cs typeface="Consolas"/>
                <a:sym typeface="Consolas"/>
              </a:rPr>
              <a:t>  │   └─ </a:t>
            </a:r>
            <a:r>
              <a:rPr lang="en-US" sz="900" b="0" i="0" u="none" strike="noStrike" cap="none" dirty="0" err="1">
                <a:solidFill>
                  <a:srgbClr val="0D3349"/>
                </a:solidFill>
                <a:latin typeface="Consolas"/>
                <a:ea typeface="Consolas"/>
                <a:cs typeface="Consolas"/>
                <a:sym typeface="Consolas"/>
              </a:rPr>
              <a:t>u_rx</a:t>
            </a:r>
            <a:r>
              <a:rPr lang="en-US" sz="900" b="0" i="0" u="none" strike="noStrike" cap="none" dirty="0">
                <a:solidFill>
                  <a:srgbClr val="0D3349"/>
                </a:solidFill>
                <a:latin typeface="Consolas"/>
                <a:ea typeface="Consolas"/>
                <a:cs typeface="Consolas"/>
                <a:sym typeface="Consolas"/>
              </a:rPr>
              <a:t> (state, </a:t>
            </a:r>
            <a:r>
              <a:rPr lang="en-US" sz="900" b="0" i="0" u="none" strike="noStrike" cap="none" dirty="0" err="1">
                <a:solidFill>
                  <a:srgbClr val="0D3349"/>
                </a:solidFill>
                <a:latin typeface="Consolas"/>
                <a:ea typeface="Consolas"/>
                <a:cs typeface="Consolas"/>
                <a:sym typeface="Consolas"/>
              </a:rPr>
              <a:t>data_valid</a:t>
            </a:r>
            <a:r>
              <a:rPr lang="en-US" sz="900" b="0" i="0" u="none" strike="noStrike" cap="none" dirty="0">
                <a:solidFill>
                  <a:srgbClr val="0D3349"/>
                </a:solidFill>
                <a:latin typeface="Consolas"/>
                <a:ea typeface="Consolas"/>
                <a:cs typeface="Consolas"/>
                <a:sym typeface="Consolas"/>
              </a:rPr>
              <a:t>)</a:t>
            </a:r>
            <a:endParaRPr sz="900" b="0" i="0" u="none" strike="noStrike" cap="none" dirty="0">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dirty="0">
                <a:solidFill>
                  <a:srgbClr val="0D3349"/>
                </a:solidFill>
                <a:latin typeface="Consolas"/>
                <a:ea typeface="Consolas"/>
                <a:cs typeface="Consolas"/>
                <a:sym typeface="Consolas"/>
              </a:rPr>
              <a:t>  └─ </a:t>
            </a:r>
            <a:r>
              <a:rPr lang="en-US" sz="900" b="0" i="0" u="none" strike="noStrike" cap="none" dirty="0" err="1">
                <a:solidFill>
                  <a:srgbClr val="0D3349"/>
                </a:solidFill>
                <a:latin typeface="Consolas"/>
                <a:ea typeface="Consolas"/>
                <a:cs typeface="Consolas"/>
                <a:sym typeface="Consolas"/>
              </a:rPr>
              <a:t>u_rom</a:t>
            </a:r>
            <a:r>
              <a:rPr lang="en-US" sz="900" b="0" i="0" u="none" strike="noStrike" cap="none" dirty="0">
                <a:solidFill>
                  <a:srgbClr val="0D3349"/>
                </a:solidFill>
                <a:latin typeface="Consolas"/>
                <a:ea typeface="Consolas"/>
                <a:cs typeface="Consolas"/>
                <a:sym typeface="Consolas"/>
              </a:rPr>
              <a:t>, </a:t>
            </a:r>
            <a:r>
              <a:rPr lang="en-US" sz="900" b="0" i="0" u="none" strike="noStrike" cap="none" dirty="0" err="1">
                <a:solidFill>
                  <a:srgbClr val="0D3349"/>
                </a:solidFill>
                <a:latin typeface="Consolas"/>
                <a:ea typeface="Consolas"/>
                <a:cs typeface="Consolas"/>
                <a:sym typeface="Consolas"/>
              </a:rPr>
              <a:t>u_sram</a:t>
            </a:r>
            <a:endParaRPr sz="900" b="0" i="0" u="none" strike="noStrike" cap="none" dirty="0">
              <a:solidFill>
                <a:srgbClr val="000000"/>
              </a:solidFill>
              <a:latin typeface="Calibri"/>
              <a:ea typeface="Calibri"/>
              <a:cs typeface="Calibri"/>
              <a:sym typeface="Calibri"/>
            </a:endParaRPr>
          </a:p>
        </p:txBody>
      </p:sp>
      <p:sp>
        <p:nvSpPr>
          <p:cNvPr id="308" name="Google Shape;308;p6"/>
          <p:cNvSpPr/>
          <p:nvPr/>
        </p:nvSpPr>
        <p:spPr>
          <a:xfrm>
            <a:off x="387700" y="2530074"/>
            <a:ext cx="3902700" cy="19020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6"/>
          <p:cNvSpPr/>
          <p:nvPr/>
        </p:nvSpPr>
        <p:spPr>
          <a:xfrm>
            <a:off x="387700" y="2530074"/>
            <a:ext cx="3902700" cy="255900"/>
          </a:xfrm>
          <a:prstGeom prst="rect">
            <a:avLst/>
          </a:prstGeom>
          <a:solidFill>
            <a:srgbClr val="6B3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6"/>
          <p:cNvSpPr/>
          <p:nvPr/>
        </p:nvSpPr>
        <p:spPr>
          <a:xfrm>
            <a:off x="454838" y="2530074"/>
            <a:ext cx="38184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Step 3 — GTKWave Navigation Shortcuts</a:t>
            </a:r>
            <a:endParaRPr sz="1100" b="0" i="0" u="none" strike="noStrike" cap="none">
              <a:solidFill>
                <a:srgbClr val="000000"/>
              </a:solidFill>
              <a:latin typeface="Calibri"/>
              <a:ea typeface="Calibri"/>
              <a:cs typeface="Calibri"/>
              <a:sym typeface="Calibri"/>
            </a:endParaRPr>
          </a:p>
        </p:txBody>
      </p:sp>
      <p:sp>
        <p:nvSpPr>
          <p:cNvPr id="311" name="Google Shape;311;p6"/>
          <p:cNvSpPr/>
          <p:nvPr/>
        </p:nvSpPr>
        <p:spPr>
          <a:xfrm>
            <a:off x="457389" y="2822676"/>
            <a:ext cx="958500" cy="255900"/>
          </a:xfrm>
          <a:prstGeom prst="rect">
            <a:avLst/>
          </a:prstGeom>
          <a:solidFill>
            <a:srgbClr val="D5E8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a:off x="457389" y="2822676"/>
            <a:ext cx="9585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Ctrl+A</a:t>
            </a:r>
            <a:endParaRPr sz="850" b="0" i="0" u="none" strike="noStrike" cap="none">
              <a:solidFill>
                <a:srgbClr val="000000"/>
              </a:solidFill>
              <a:latin typeface="Calibri"/>
              <a:ea typeface="Calibri"/>
              <a:cs typeface="Calibri"/>
              <a:sym typeface="Calibri"/>
            </a:endParaRPr>
          </a:p>
        </p:txBody>
      </p:sp>
      <p:sp>
        <p:nvSpPr>
          <p:cNvPr id="313" name="Google Shape;313;p6"/>
          <p:cNvSpPr/>
          <p:nvPr/>
        </p:nvSpPr>
        <p:spPr>
          <a:xfrm>
            <a:off x="1467808" y="2840976"/>
            <a:ext cx="2772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Zoom to fit all time</a:t>
            </a:r>
            <a:endParaRPr sz="950" b="0" i="0" u="none" strike="noStrike" cap="none">
              <a:solidFill>
                <a:srgbClr val="000000"/>
              </a:solidFill>
              <a:latin typeface="Calibri"/>
              <a:ea typeface="Calibri"/>
              <a:cs typeface="Calibri"/>
              <a:sym typeface="Calibri"/>
            </a:endParaRPr>
          </a:p>
        </p:txBody>
      </p:sp>
      <p:sp>
        <p:nvSpPr>
          <p:cNvPr id="314" name="Google Shape;314;p6"/>
          <p:cNvSpPr/>
          <p:nvPr/>
        </p:nvSpPr>
        <p:spPr>
          <a:xfrm>
            <a:off x="457389" y="3142717"/>
            <a:ext cx="958500" cy="255900"/>
          </a:xfrm>
          <a:prstGeom prst="rect">
            <a:avLst/>
          </a:prstGeom>
          <a:solidFill>
            <a:srgbClr val="D5E8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6"/>
          <p:cNvSpPr/>
          <p:nvPr/>
        </p:nvSpPr>
        <p:spPr>
          <a:xfrm>
            <a:off x="457389" y="3142717"/>
            <a:ext cx="9585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Ctrl+Scroll</a:t>
            </a:r>
            <a:endParaRPr sz="850" b="0" i="0" u="none" strike="noStrike" cap="none">
              <a:solidFill>
                <a:srgbClr val="000000"/>
              </a:solidFill>
              <a:latin typeface="Calibri"/>
              <a:ea typeface="Calibri"/>
              <a:cs typeface="Calibri"/>
              <a:sym typeface="Calibri"/>
            </a:endParaRPr>
          </a:p>
        </p:txBody>
      </p:sp>
      <p:sp>
        <p:nvSpPr>
          <p:cNvPr id="316" name="Google Shape;316;p6"/>
          <p:cNvSpPr/>
          <p:nvPr/>
        </p:nvSpPr>
        <p:spPr>
          <a:xfrm>
            <a:off x="1467784" y="3161002"/>
            <a:ext cx="2772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Zoom in/out at cursor</a:t>
            </a:r>
            <a:endParaRPr sz="950" b="0" i="0" u="none" strike="noStrike" cap="none">
              <a:solidFill>
                <a:srgbClr val="000000"/>
              </a:solidFill>
              <a:latin typeface="Calibri"/>
              <a:ea typeface="Calibri"/>
              <a:cs typeface="Calibri"/>
              <a:sym typeface="Calibri"/>
            </a:endParaRPr>
          </a:p>
        </p:txBody>
      </p:sp>
      <p:sp>
        <p:nvSpPr>
          <p:cNvPr id="317" name="Google Shape;317;p6"/>
          <p:cNvSpPr/>
          <p:nvPr/>
        </p:nvSpPr>
        <p:spPr>
          <a:xfrm>
            <a:off x="457389" y="3462759"/>
            <a:ext cx="958500" cy="255900"/>
          </a:xfrm>
          <a:prstGeom prst="rect">
            <a:avLst/>
          </a:prstGeom>
          <a:solidFill>
            <a:srgbClr val="D5E8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6"/>
          <p:cNvSpPr/>
          <p:nvPr/>
        </p:nvSpPr>
        <p:spPr>
          <a:xfrm>
            <a:off x="457389" y="3462759"/>
            <a:ext cx="9585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T</a:t>
            </a:r>
            <a:endParaRPr sz="850" b="0" i="0" u="none" strike="noStrike" cap="none">
              <a:solidFill>
                <a:srgbClr val="000000"/>
              </a:solidFill>
              <a:latin typeface="Calibri"/>
              <a:ea typeface="Calibri"/>
              <a:cs typeface="Calibri"/>
              <a:sym typeface="Calibri"/>
            </a:endParaRPr>
          </a:p>
        </p:txBody>
      </p:sp>
      <p:sp>
        <p:nvSpPr>
          <p:cNvPr id="319" name="Google Shape;319;p6"/>
          <p:cNvSpPr/>
          <p:nvPr/>
        </p:nvSpPr>
        <p:spPr>
          <a:xfrm>
            <a:off x="1467784" y="3481053"/>
            <a:ext cx="2772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Place time marker</a:t>
            </a:r>
            <a:endParaRPr sz="950" b="0" i="0" u="none" strike="noStrike" cap="none">
              <a:solidFill>
                <a:srgbClr val="000000"/>
              </a:solidFill>
              <a:latin typeface="Calibri"/>
              <a:ea typeface="Calibri"/>
              <a:cs typeface="Calibri"/>
              <a:sym typeface="Calibri"/>
            </a:endParaRPr>
          </a:p>
        </p:txBody>
      </p:sp>
      <p:sp>
        <p:nvSpPr>
          <p:cNvPr id="320" name="Google Shape;320;p6"/>
          <p:cNvSpPr/>
          <p:nvPr/>
        </p:nvSpPr>
        <p:spPr>
          <a:xfrm>
            <a:off x="457389" y="3782800"/>
            <a:ext cx="958500" cy="255900"/>
          </a:xfrm>
          <a:prstGeom prst="rect">
            <a:avLst/>
          </a:prstGeom>
          <a:solidFill>
            <a:srgbClr val="D5E8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6"/>
          <p:cNvSpPr/>
          <p:nvPr/>
        </p:nvSpPr>
        <p:spPr>
          <a:xfrm>
            <a:off x="457389" y="3782800"/>
            <a:ext cx="9585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Ctrl+G</a:t>
            </a:r>
            <a:endParaRPr sz="850" b="0" i="0" u="none" strike="noStrike" cap="none">
              <a:solidFill>
                <a:srgbClr val="000000"/>
              </a:solidFill>
              <a:latin typeface="Calibri"/>
              <a:ea typeface="Calibri"/>
              <a:cs typeface="Calibri"/>
              <a:sym typeface="Calibri"/>
            </a:endParaRPr>
          </a:p>
        </p:txBody>
      </p:sp>
      <p:sp>
        <p:nvSpPr>
          <p:cNvPr id="322" name="Google Shape;322;p6"/>
          <p:cNvSpPr/>
          <p:nvPr/>
        </p:nvSpPr>
        <p:spPr>
          <a:xfrm>
            <a:off x="1467809" y="3801080"/>
            <a:ext cx="2772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Go to specific time (ns)</a:t>
            </a:r>
            <a:endParaRPr sz="950" b="0" i="0" u="none" strike="noStrike" cap="none">
              <a:solidFill>
                <a:srgbClr val="000000"/>
              </a:solidFill>
              <a:latin typeface="Calibri"/>
              <a:ea typeface="Calibri"/>
              <a:cs typeface="Calibri"/>
              <a:sym typeface="Calibri"/>
            </a:endParaRPr>
          </a:p>
        </p:txBody>
      </p:sp>
      <p:sp>
        <p:nvSpPr>
          <p:cNvPr id="323" name="Google Shape;323;p6"/>
          <p:cNvSpPr/>
          <p:nvPr/>
        </p:nvSpPr>
        <p:spPr>
          <a:xfrm>
            <a:off x="457389" y="4102841"/>
            <a:ext cx="958500" cy="255900"/>
          </a:xfrm>
          <a:prstGeom prst="rect">
            <a:avLst/>
          </a:prstGeom>
          <a:solidFill>
            <a:srgbClr val="D5E8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6"/>
          <p:cNvSpPr/>
          <p:nvPr/>
        </p:nvSpPr>
        <p:spPr>
          <a:xfrm>
            <a:off x="457389" y="4102841"/>
            <a:ext cx="9585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3349"/>
              </a:buClr>
              <a:buSzPts val="850"/>
              <a:buFont typeface="Consolas"/>
              <a:buNone/>
            </a:pPr>
            <a:r>
              <a:rPr lang="en-US" sz="850" b="0" i="0" u="none" strike="noStrike" cap="none">
                <a:solidFill>
                  <a:srgbClr val="0D3349"/>
                </a:solidFill>
                <a:latin typeface="Consolas"/>
                <a:ea typeface="Consolas"/>
                <a:cs typeface="Consolas"/>
                <a:sym typeface="Consolas"/>
              </a:rPr>
              <a:t>Right-click → Highlight</a:t>
            </a:r>
            <a:endParaRPr sz="850" b="0" i="0" u="none" strike="noStrike" cap="none">
              <a:solidFill>
                <a:srgbClr val="000000"/>
              </a:solidFill>
              <a:latin typeface="Calibri"/>
              <a:ea typeface="Calibri"/>
              <a:cs typeface="Calibri"/>
              <a:sym typeface="Calibri"/>
            </a:endParaRPr>
          </a:p>
        </p:txBody>
      </p:sp>
      <p:sp>
        <p:nvSpPr>
          <p:cNvPr id="325" name="Google Shape;325;p6"/>
          <p:cNvSpPr/>
          <p:nvPr/>
        </p:nvSpPr>
        <p:spPr>
          <a:xfrm>
            <a:off x="1467809" y="4121131"/>
            <a:ext cx="2772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Color-code signal groups</a:t>
            </a:r>
            <a:endParaRPr sz="950" b="0" i="0" u="none" strike="noStrike" cap="none">
              <a:solidFill>
                <a:srgbClr val="000000"/>
              </a:solidFill>
              <a:latin typeface="Calibri"/>
              <a:ea typeface="Calibri"/>
              <a:cs typeface="Calibri"/>
              <a:sym typeface="Calibri"/>
            </a:endParaRPr>
          </a:p>
        </p:txBody>
      </p:sp>
      <p:sp>
        <p:nvSpPr>
          <p:cNvPr id="326" name="Google Shape;326;p6"/>
          <p:cNvSpPr/>
          <p:nvPr/>
        </p:nvSpPr>
        <p:spPr>
          <a:xfrm>
            <a:off x="4504410" y="2530068"/>
            <a:ext cx="4251900" cy="19020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6"/>
          <p:cNvSpPr/>
          <p:nvPr/>
        </p:nvSpPr>
        <p:spPr>
          <a:xfrm>
            <a:off x="4504410" y="2530068"/>
            <a:ext cx="4251900" cy="255900"/>
          </a:xfrm>
          <a:prstGeom prst="rect">
            <a:avLst/>
          </a:prstGeom>
          <a:solidFill>
            <a:srgbClr val="1F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6"/>
          <p:cNvSpPr/>
          <p:nvPr/>
        </p:nvSpPr>
        <p:spPr>
          <a:xfrm>
            <a:off x="4577562" y="2530068"/>
            <a:ext cx="41604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Waveform Files by Lab</a:t>
            </a:r>
            <a:endParaRPr sz="1100" b="0" i="0" u="none" strike="noStrike" cap="none">
              <a:solidFill>
                <a:srgbClr val="000000"/>
              </a:solidFill>
              <a:latin typeface="Calibri"/>
              <a:ea typeface="Calibri"/>
              <a:cs typeface="Calibri"/>
              <a:sym typeface="Calibri"/>
            </a:endParaRPr>
          </a:p>
        </p:txBody>
      </p:sp>
      <p:sp>
        <p:nvSpPr>
          <p:cNvPr id="329" name="Google Shape;329;p6"/>
          <p:cNvSpPr/>
          <p:nvPr/>
        </p:nvSpPr>
        <p:spPr>
          <a:xfrm>
            <a:off x="4577562" y="2822676"/>
            <a:ext cx="4096500" cy="1572900"/>
          </a:xfrm>
          <a:prstGeom prst="rect">
            <a:avLst/>
          </a:prstGeom>
          <a:solidFill>
            <a:srgbClr val="D5E8F3"/>
          </a:solidFill>
          <a:ln w="12700" cap="flat" cmpd="sng">
            <a:solidFill>
              <a:srgbClr val="2E8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6"/>
          <p:cNvSpPr/>
          <p:nvPr/>
        </p:nvSpPr>
        <p:spPr>
          <a:xfrm>
            <a:off x="4669002" y="2877540"/>
            <a:ext cx="3959400" cy="1463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make pico      → tb_picorv32.vcd         (36 KB)</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make axi_sa    → tb_axi_lite_standalone.vcd (3.8 KB)</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make uart      → tb_uart.vcd             (2.9 MB)</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make riscv_axi → tb_riscv_axi_lite.vcd   (3.3 KB)</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make axi_uart  → tb_axi_lite.vcd         (1.9 MB)</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make soc       → tb_top.fst              (~5 MB)</a:t>
            </a:r>
            <a:endParaRPr sz="900" b="0" i="0" u="none" strike="noStrike" cap="none">
              <a:solidFill>
                <a:srgbClr val="000000"/>
              </a:solidFill>
              <a:latin typeface="Calibri"/>
              <a:ea typeface="Calibri"/>
              <a:cs typeface="Calibri"/>
              <a:sym typeface="Calibri"/>
            </a:endParaRPr>
          </a:p>
        </p:txBody>
      </p:sp>
      <p:sp>
        <p:nvSpPr>
          <p:cNvPr id="331" name="Google Shape;331;p6"/>
          <p:cNvSpPr/>
          <p:nvPr/>
        </p:nvSpPr>
        <p:spPr>
          <a:xfrm>
            <a:off x="347475" y="4482200"/>
            <a:ext cx="8416200" cy="496800"/>
          </a:xfrm>
          <a:prstGeom prst="rect">
            <a:avLst/>
          </a:prstGeom>
          <a:solidFill>
            <a:srgbClr val="D6EAF8"/>
          </a:solidFill>
          <a:ln w="12700" cap="flat" cmpd="sng">
            <a:solidFill>
              <a:srgbClr val="2E8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6"/>
          <p:cNvSpPr/>
          <p:nvPr/>
        </p:nvSpPr>
        <p:spPr>
          <a:xfrm>
            <a:off x="437009" y="4493887"/>
            <a:ext cx="8416200" cy="233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  Save your layout: File → Write Save File → waveform.gtkw   |   Reload: gtkwave tb_top.fst -a waveform.gtkw</a:t>
            </a:r>
            <a:endParaRPr sz="950" b="0" i="0" u="none" strike="noStrike" cap="none">
              <a:solidFill>
                <a:srgbClr val="000000"/>
              </a:solidFill>
              <a:latin typeface="Calibri"/>
              <a:ea typeface="Calibri"/>
              <a:cs typeface="Calibri"/>
              <a:sym typeface="Calibri"/>
            </a:endParaRPr>
          </a:p>
        </p:txBody>
      </p:sp>
      <p:sp>
        <p:nvSpPr>
          <p:cNvPr id="333" name="Google Shape;333;p6"/>
          <p:cNvSpPr/>
          <p:nvPr/>
        </p:nvSpPr>
        <p:spPr>
          <a:xfrm>
            <a:off x="437009" y="4715932"/>
            <a:ext cx="8416200" cy="233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900"/>
              <a:buFont typeface="Calibri"/>
              <a:buNone/>
            </a:pPr>
            <a:r>
              <a:rPr lang="en-US" sz="900" b="0" i="1" u="none" strike="noStrike" cap="none">
                <a:solidFill>
                  <a:srgbClr val="2C5F7A"/>
                </a:solidFill>
                <a:latin typeface="Calibri"/>
                <a:ea typeface="Calibri"/>
                <a:cs typeface="Calibri"/>
                <a:sym typeface="Calibri"/>
              </a:rPr>
              <a:t>Once signals are grouped by layer, the layout persists across simulation runs — you only have to arrange them once.</a:t>
            </a:r>
            <a:endParaRPr sz="900" b="0" i="0" u="none" strike="noStrike" cap="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g3e6c10605ba_0_260"/>
          <p:cNvSpPr/>
          <p:nvPr/>
        </p:nvSpPr>
        <p:spPr>
          <a:xfrm>
            <a:off x="278965" y="370151"/>
            <a:ext cx="8503800" cy="429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600" b="1" i="0" u="none" strike="noStrike" cap="none">
                <a:solidFill>
                  <a:schemeClr val="dk1"/>
                </a:solidFill>
                <a:latin typeface="Calibri"/>
                <a:ea typeface="Calibri"/>
                <a:cs typeface="Calibri"/>
                <a:sym typeface="Calibri"/>
              </a:rPr>
              <a:t>Layer-by-Layer GTKWave Analysis</a:t>
            </a:r>
            <a:endParaRPr sz="2600" b="0" i="0" u="none" strike="noStrike" cap="none">
              <a:solidFill>
                <a:schemeClr val="dk1"/>
              </a:solidFill>
              <a:latin typeface="Calibri"/>
              <a:ea typeface="Calibri"/>
              <a:cs typeface="Calibri"/>
              <a:sym typeface="Calibri"/>
            </a:endParaRPr>
          </a:p>
        </p:txBody>
      </p:sp>
      <p:sp>
        <p:nvSpPr>
          <p:cNvPr id="340" name="Google Shape;340;g3e6c10605ba_0_260"/>
          <p:cNvSpPr/>
          <p:nvPr/>
        </p:nvSpPr>
        <p:spPr>
          <a:xfrm>
            <a:off x="397840" y="717745"/>
            <a:ext cx="85038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1100"/>
              <a:buFont typeface="Calibri"/>
              <a:buNone/>
            </a:pPr>
            <a:r>
              <a:rPr lang="en-US" sz="1100" b="0" i="1" u="none" strike="noStrike" cap="none">
                <a:solidFill>
                  <a:srgbClr val="2C5F7A"/>
                </a:solidFill>
                <a:latin typeface="Calibri"/>
                <a:ea typeface="Calibri"/>
                <a:cs typeface="Calibri"/>
                <a:sym typeface="Calibri"/>
              </a:rPr>
              <a:t>Systematic 5-Layer Waveform Inspection Strategy</a:t>
            </a:r>
            <a:endParaRPr sz="1100" b="0" i="0" u="none" strike="noStrike" cap="none">
              <a:solidFill>
                <a:srgbClr val="000000"/>
              </a:solidFill>
              <a:latin typeface="Calibri"/>
              <a:ea typeface="Calibri"/>
              <a:cs typeface="Calibri"/>
              <a:sym typeface="Calibri"/>
            </a:endParaRPr>
          </a:p>
        </p:txBody>
      </p:sp>
      <p:sp>
        <p:nvSpPr>
          <p:cNvPr id="341" name="Google Shape;341;g3e6c10605ba_0_260"/>
          <p:cNvSpPr/>
          <p:nvPr/>
        </p:nvSpPr>
        <p:spPr>
          <a:xfrm>
            <a:off x="242392" y="800041"/>
            <a:ext cx="1664100" cy="19659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g3e6c10605ba_0_260"/>
          <p:cNvSpPr/>
          <p:nvPr/>
        </p:nvSpPr>
        <p:spPr>
          <a:xfrm>
            <a:off x="242392" y="800041"/>
            <a:ext cx="1664100" cy="475500"/>
          </a:xfrm>
          <a:prstGeom prst="rect">
            <a:avLst/>
          </a:prstGeom>
          <a:solidFill>
            <a:srgbClr val="1A5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g3e6c10605ba_0_260"/>
          <p:cNvSpPr/>
          <p:nvPr/>
        </p:nvSpPr>
        <p:spPr>
          <a:xfrm>
            <a:off x="242392" y="800041"/>
            <a:ext cx="16641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L1</a:t>
            </a:r>
            <a:endParaRPr sz="1400" b="0" i="0" u="none" strike="noStrike" cap="none">
              <a:solidFill>
                <a:srgbClr val="000000"/>
              </a:solidFill>
              <a:latin typeface="Calibri"/>
              <a:ea typeface="Calibri"/>
              <a:cs typeface="Calibri"/>
              <a:sym typeface="Calibri"/>
            </a:endParaRPr>
          </a:p>
        </p:txBody>
      </p:sp>
      <p:sp>
        <p:nvSpPr>
          <p:cNvPr id="344" name="Google Shape;344;g3e6c10605ba_0_260"/>
          <p:cNvSpPr/>
          <p:nvPr/>
        </p:nvSpPr>
        <p:spPr>
          <a:xfrm>
            <a:off x="242392" y="1056073"/>
            <a:ext cx="1664100" cy="219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System Health</a:t>
            </a:r>
            <a:endParaRPr sz="900" b="0" i="0" u="none" strike="noStrike" cap="none">
              <a:solidFill>
                <a:srgbClr val="000000"/>
              </a:solidFill>
              <a:latin typeface="Calibri"/>
              <a:ea typeface="Calibri"/>
              <a:cs typeface="Calibri"/>
              <a:sym typeface="Calibri"/>
            </a:endParaRPr>
          </a:p>
        </p:txBody>
      </p:sp>
      <p:sp>
        <p:nvSpPr>
          <p:cNvPr id="345" name="Google Shape;345;g3e6c10605ba_0_260"/>
          <p:cNvSpPr/>
          <p:nvPr/>
        </p:nvSpPr>
        <p:spPr>
          <a:xfrm>
            <a:off x="306400" y="1312105"/>
            <a:ext cx="1572900" cy="1417200"/>
          </a:xfrm>
          <a:prstGeom prst="rect">
            <a:avLst/>
          </a:prstGeom>
          <a:noFill/>
          <a:ln>
            <a:noFill/>
          </a:ln>
        </p:spPr>
        <p:txBody>
          <a:bodyPr spcFirstLastPara="1" wrap="square" lIns="25400" tIns="25400" rIns="25400" bIns="25400" anchor="t" anchorCtr="0">
            <a:noAutofit/>
          </a:bodyPr>
          <a:lstStyle/>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clk — clock toggling?</a:t>
            </a:r>
            <a:endParaRPr sz="85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reset — released after ~10 cycles?</a:t>
            </a:r>
            <a:endParaRPr sz="85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uart_tx_pin — transitions visible?</a:t>
            </a:r>
            <a:endParaRPr sz="850" b="0" i="0" u="none" strike="noStrike" cap="none">
              <a:solidFill>
                <a:srgbClr val="000000"/>
              </a:solidFill>
              <a:latin typeface="Calibri"/>
              <a:ea typeface="Calibri"/>
              <a:cs typeface="Calibri"/>
              <a:sym typeface="Calibri"/>
            </a:endParaRPr>
          </a:p>
        </p:txBody>
      </p:sp>
      <p:sp>
        <p:nvSpPr>
          <p:cNvPr id="346" name="Google Shape;346;g3e6c10605ba_0_260"/>
          <p:cNvSpPr/>
          <p:nvPr/>
        </p:nvSpPr>
        <p:spPr>
          <a:xfrm>
            <a:off x="1970608" y="800041"/>
            <a:ext cx="1664100" cy="19659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g3e6c10605ba_0_260"/>
          <p:cNvSpPr/>
          <p:nvPr/>
        </p:nvSpPr>
        <p:spPr>
          <a:xfrm>
            <a:off x="1970608" y="800041"/>
            <a:ext cx="1664100" cy="475500"/>
          </a:xfrm>
          <a:prstGeom prst="rect">
            <a:avLst/>
          </a:prstGeom>
          <a:solidFill>
            <a:srgbClr val="1E6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g3e6c10605ba_0_260"/>
          <p:cNvSpPr/>
          <p:nvPr/>
        </p:nvSpPr>
        <p:spPr>
          <a:xfrm>
            <a:off x="1970608" y="800041"/>
            <a:ext cx="16641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L2</a:t>
            </a:r>
            <a:endParaRPr sz="1400" b="0" i="0" u="none" strike="noStrike" cap="none">
              <a:solidFill>
                <a:srgbClr val="000000"/>
              </a:solidFill>
              <a:latin typeface="Calibri"/>
              <a:ea typeface="Calibri"/>
              <a:cs typeface="Calibri"/>
              <a:sym typeface="Calibri"/>
            </a:endParaRPr>
          </a:p>
        </p:txBody>
      </p:sp>
      <p:sp>
        <p:nvSpPr>
          <p:cNvPr id="349" name="Google Shape;349;g3e6c10605ba_0_260"/>
          <p:cNvSpPr/>
          <p:nvPr/>
        </p:nvSpPr>
        <p:spPr>
          <a:xfrm>
            <a:off x="1970608" y="1056073"/>
            <a:ext cx="1664100" cy="219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CPU Activity</a:t>
            </a:r>
            <a:endParaRPr sz="900" b="0" i="0" u="none" strike="noStrike" cap="none">
              <a:solidFill>
                <a:srgbClr val="000000"/>
              </a:solidFill>
              <a:latin typeface="Calibri"/>
              <a:ea typeface="Calibri"/>
              <a:cs typeface="Calibri"/>
              <a:sym typeface="Calibri"/>
            </a:endParaRPr>
          </a:p>
        </p:txBody>
      </p:sp>
      <p:sp>
        <p:nvSpPr>
          <p:cNvPr id="350" name="Google Shape;350;g3e6c10605ba_0_260"/>
          <p:cNvSpPr/>
          <p:nvPr/>
        </p:nvSpPr>
        <p:spPr>
          <a:xfrm>
            <a:off x="2034616" y="1312105"/>
            <a:ext cx="1572900" cy="1417200"/>
          </a:xfrm>
          <a:prstGeom prst="rect">
            <a:avLst/>
          </a:prstGeom>
          <a:noFill/>
          <a:ln>
            <a:noFill/>
          </a:ln>
        </p:spPr>
        <p:txBody>
          <a:bodyPr spcFirstLastPara="1" wrap="square" lIns="25400" tIns="25400" rIns="25400" bIns="25400" anchor="t" anchorCtr="0">
            <a:noAutofit/>
          </a:bodyPr>
          <a:lstStyle/>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u_cpu.mem_valid — asserted on every access</a:t>
            </a:r>
            <a:endParaRPr sz="85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u_cpu.mem_instr — HIGH=fetch, LOW=load/store</a:t>
            </a:r>
            <a:endParaRPr sz="85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u_cpu.mem_addr — PC during fetch; data addr during LW/SW</a:t>
            </a:r>
            <a:endParaRPr sz="850" b="0" i="0" u="none" strike="noStrike" cap="none">
              <a:solidFill>
                <a:srgbClr val="000000"/>
              </a:solidFill>
              <a:latin typeface="Calibri"/>
              <a:ea typeface="Calibri"/>
              <a:cs typeface="Calibri"/>
              <a:sym typeface="Calibri"/>
            </a:endParaRPr>
          </a:p>
        </p:txBody>
      </p:sp>
      <p:sp>
        <p:nvSpPr>
          <p:cNvPr id="351" name="Google Shape;351;g3e6c10605ba_0_260"/>
          <p:cNvSpPr/>
          <p:nvPr/>
        </p:nvSpPr>
        <p:spPr>
          <a:xfrm>
            <a:off x="3698824" y="800041"/>
            <a:ext cx="1664100" cy="19659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g3e6c10605ba_0_260"/>
          <p:cNvSpPr/>
          <p:nvPr/>
        </p:nvSpPr>
        <p:spPr>
          <a:xfrm>
            <a:off x="3698824" y="800041"/>
            <a:ext cx="1664100" cy="475500"/>
          </a:xfrm>
          <a:prstGeom prst="rect">
            <a:avLst/>
          </a:prstGeom>
          <a:solidFill>
            <a:srgbClr val="6B3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g3e6c10605ba_0_260"/>
          <p:cNvSpPr/>
          <p:nvPr/>
        </p:nvSpPr>
        <p:spPr>
          <a:xfrm>
            <a:off x="3698824" y="800041"/>
            <a:ext cx="16641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L3</a:t>
            </a:r>
            <a:endParaRPr sz="1400" b="0" i="0" u="none" strike="noStrike" cap="none">
              <a:solidFill>
                <a:srgbClr val="000000"/>
              </a:solidFill>
              <a:latin typeface="Calibri"/>
              <a:ea typeface="Calibri"/>
              <a:cs typeface="Calibri"/>
              <a:sym typeface="Calibri"/>
            </a:endParaRPr>
          </a:p>
        </p:txBody>
      </p:sp>
      <p:sp>
        <p:nvSpPr>
          <p:cNvPr id="354" name="Google Shape;354;g3e6c10605ba_0_260"/>
          <p:cNvSpPr/>
          <p:nvPr/>
        </p:nvSpPr>
        <p:spPr>
          <a:xfrm>
            <a:off x="3698824" y="1056073"/>
            <a:ext cx="1664100" cy="219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AXI Bridge FSM</a:t>
            </a:r>
            <a:endParaRPr sz="900" b="0" i="0" u="none" strike="noStrike" cap="none">
              <a:solidFill>
                <a:srgbClr val="000000"/>
              </a:solidFill>
              <a:latin typeface="Calibri"/>
              <a:ea typeface="Calibri"/>
              <a:cs typeface="Calibri"/>
              <a:sym typeface="Calibri"/>
            </a:endParaRPr>
          </a:p>
        </p:txBody>
      </p:sp>
      <p:sp>
        <p:nvSpPr>
          <p:cNvPr id="355" name="Google Shape;355;g3e6c10605ba_0_260"/>
          <p:cNvSpPr/>
          <p:nvPr/>
        </p:nvSpPr>
        <p:spPr>
          <a:xfrm>
            <a:off x="3762832" y="1312105"/>
            <a:ext cx="1572900" cy="1417200"/>
          </a:xfrm>
          <a:prstGeom prst="rect">
            <a:avLst/>
          </a:prstGeom>
          <a:noFill/>
          <a:ln>
            <a:noFill/>
          </a:ln>
        </p:spPr>
        <p:txBody>
          <a:bodyPr spcFirstLastPara="1" wrap="square" lIns="25400" tIns="25400" rIns="25400" bIns="25400" anchor="t" anchorCtr="0">
            <a:noAutofit/>
          </a:bodyPr>
          <a:lstStyle/>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b_state[2:0] — 0=IDLE, 1=WR_AW, 3=RD_AR, 4=RD_R</a:t>
            </a:r>
            <a:endParaRPr sz="85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m_axi_awvalid — write address presented</a:t>
            </a:r>
            <a:endParaRPr sz="85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m_axi_bvalid — write response from slave</a:t>
            </a:r>
            <a:endParaRPr sz="85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m_axi_rvalid — read data from slave</a:t>
            </a:r>
            <a:endParaRPr sz="850" b="0" i="0" u="none" strike="noStrike" cap="none">
              <a:solidFill>
                <a:srgbClr val="000000"/>
              </a:solidFill>
              <a:latin typeface="Calibri"/>
              <a:ea typeface="Calibri"/>
              <a:cs typeface="Calibri"/>
              <a:sym typeface="Calibri"/>
            </a:endParaRPr>
          </a:p>
        </p:txBody>
      </p:sp>
      <p:sp>
        <p:nvSpPr>
          <p:cNvPr id="356" name="Google Shape;356;g3e6c10605ba_0_260"/>
          <p:cNvSpPr/>
          <p:nvPr/>
        </p:nvSpPr>
        <p:spPr>
          <a:xfrm>
            <a:off x="5427040" y="800041"/>
            <a:ext cx="1664100" cy="19659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g3e6c10605ba_0_260"/>
          <p:cNvSpPr/>
          <p:nvPr/>
        </p:nvSpPr>
        <p:spPr>
          <a:xfrm>
            <a:off x="5427040" y="800041"/>
            <a:ext cx="1664100" cy="475500"/>
          </a:xfrm>
          <a:prstGeom prst="rect">
            <a:avLst/>
          </a:prstGeom>
          <a:solidFill>
            <a:srgbClr val="1F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g3e6c10605ba_0_260"/>
          <p:cNvSpPr/>
          <p:nvPr/>
        </p:nvSpPr>
        <p:spPr>
          <a:xfrm>
            <a:off x="5427040" y="800041"/>
            <a:ext cx="16641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L4</a:t>
            </a:r>
            <a:endParaRPr sz="1400" b="0" i="0" u="none" strike="noStrike" cap="none">
              <a:solidFill>
                <a:srgbClr val="000000"/>
              </a:solidFill>
              <a:latin typeface="Calibri"/>
              <a:ea typeface="Calibri"/>
              <a:cs typeface="Calibri"/>
              <a:sym typeface="Calibri"/>
            </a:endParaRPr>
          </a:p>
        </p:txBody>
      </p:sp>
      <p:sp>
        <p:nvSpPr>
          <p:cNvPr id="359" name="Google Shape;359;g3e6c10605ba_0_260"/>
          <p:cNvSpPr/>
          <p:nvPr/>
        </p:nvSpPr>
        <p:spPr>
          <a:xfrm>
            <a:off x="5427040" y="1056073"/>
            <a:ext cx="1664100" cy="219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Interconnect Routing</a:t>
            </a:r>
            <a:endParaRPr sz="900" b="0" i="0" u="none" strike="noStrike" cap="none">
              <a:solidFill>
                <a:srgbClr val="000000"/>
              </a:solidFill>
              <a:latin typeface="Calibri"/>
              <a:ea typeface="Calibri"/>
              <a:cs typeface="Calibri"/>
              <a:sym typeface="Calibri"/>
            </a:endParaRPr>
          </a:p>
        </p:txBody>
      </p:sp>
      <p:sp>
        <p:nvSpPr>
          <p:cNvPr id="360" name="Google Shape;360;g3e6c10605ba_0_260"/>
          <p:cNvSpPr/>
          <p:nvPr/>
        </p:nvSpPr>
        <p:spPr>
          <a:xfrm>
            <a:off x="5491048" y="1312105"/>
            <a:ext cx="1572900" cy="1417200"/>
          </a:xfrm>
          <a:prstGeom prst="rect">
            <a:avLst/>
          </a:prstGeom>
          <a:noFill/>
          <a:ln>
            <a:noFill/>
          </a:ln>
        </p:spPr>
        <p:txBody>
          <a:bodyPr spcFirstLastPara="1" wrap="square" lIns="25400" tIns="25400" rIns="25400" bIns="25400" anchor="t" anchorCtr="0">
            <a:noAutofit/>
          </a:bodyPr>
          <a:lstStyle/>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wr_sel[2:0] — one-hot: 001=ROM 010=SRAM 100=UART</a:t>
            </a:r>
            <a:endParaRPr sz="85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rd_sel[2:0] — same for reads</a:t>
            </a:r>
            <a:endParaRPr sz="85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wr_active — write transaction in progress</a:t>
            </a:r>
            <a:endParaRPr sz="85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rd_active — read transaction in progress</a:t>
            </a:r>
            <a:endParaRPr sz="850" b="0" i="0" u="none" strike="noStrike" cap="none">
              <a:solidFill>
                <a:srgbClr val="000000"/>
              </a:solidFill>
              <a:latin typeface="Calibri"/>
              <a:ea typeface="Calibri"/>
              <a:cs typeface="Calibri"/>
              <a:sym typeface="Calibri"/>
            </a:endParaRPr>
          </a:p>
        </p:txBody>
      </p:sp>
      <p:sp>
        <p:nvSpPr>
          <p:cNvPr id="361" name="Google Shape;361;g3e6c10605ba_0_260"/>
          <p:cNvSpPr/>
          <p:nvPr/>
        </p:nvSpPr>
        <p:spPr>
          <a:xfrm>
            <a:off x="7155256" y="800041"/>
            <a:ext cx="1664100" cy="19659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g3e6c10605ba_0_260"/>
          <p:cNvSpPr/>
          <p:nvPr/>
        </p:nvSpPr>
        <p:spPr>
          <a:xfrm>
            <a:off x="7155256" y="800041"/>
            <a:ext cx="1664100" cy="475500"/>
          </a:xfrm>
          <a:prstGeom prst="rect">
            <a:avLst/>
          </a:prstGeom>
          <a:solidFill>
            <a:srgbClr val="5B2C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g3e6c10605ba_0_260"/>
          <p:cNvSpPr/>
          <p:nvPr/>
        </p:nvSpPr>
        <p:spPr>
          <a:xfrm>
            <a:off x="7155256" y="800041"/>
            <a:ext cx="16641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L5</a:t>
            </a:r>
            <a:endParaRPr sz="1400" b="0" i="0" u="none" strike="noStrike" cap="none">
              <a:solidFill>
                <a:srgbClr val="000000"/>
              </a:solidFill>
              <a:latin typeface="Calibri"/>
              <a:ea typeface="Calibri"/>
              <a:cs typeface="Calibri"/>
              <a:sym typeface="Calibri"/>
            </a:endParaRPr>
          </a:p>
        </p:txBody>
      </p:sp>
      <p:sp>
        <p:nvSpPr>
          <p:cNvPr id="364" name="Google Shape;364;g3e6c10605ba_0_260"/>
          <p:cNvSpPr/>
          <p:nvPr/>
        </p:nvSpPr>
        <p:spPr>
          <a:xfrm>
            <a:off x="7155256" y="1056073"/>
            <a:ext cx="1664100" cy="219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Peripheral Detail (UART)</a:t>
            </a:r>
            <a:endParaRPr sz="900" b="0" i="0" u="none" strike="noStrike" cap="none">
              <a:solidFill>
                <a:srgbClr val="000000"/>
              </a:solidFill>
              <a:latin typeface="Calibri"/>
              <a:ea typeface="Calibri"/>
              <a:cs typeface="Calibri"/>
              <a:sym typeface="Calibri"/>
            </a:endParaRPr>
          </a:p>
        </p:txBody>
      </p:sp>
      <p:sp>
        <p:nvSpPr>
          <p:cNvPr id="365" name="Google Shape;365;g3e6c10605ba_0_260"/>
          <p:cNvSpPr/>
          <p:nvPr/>
        </p:nvSpPr>
        <p:spPr>
          <a:xfrm>
            <a:off x="7219264" y="1312105"/>
            <a:ext cx="1572900" cy="1417200"/>
          </a:xfrm>
          <a:prstGeom prst="rect">
            <a:avLst/>
          </a:prstGeom>
          <a:noFill/>
          <a:ln>
            <a:noFill/>
          </a:ln>
        </p:spPr>
        <p:txBody>
          <a:bodyPr spcFirstLastPara="1" wrap="square" lIns="25400" tIns="25400" rIns="25400" bIns="25400" anchor="t" anchorCtr="0">
            <a:noAutofit/>
          </a:bodyPr>
          <a:lstStyle/>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uart_axi.buf_valid — TX byte buffered</a:t>
            </a:r>
            <a:endParaRPr sz="85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uart_axi.u_tx.state — 0=IDLE 1=START 2=DATA 3=STOP</a:t>
            </a:r>
            <a:endParaRPr sz="85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uart_axi.u_tx.clk_cnt — baud counter (0→433)</a:t>
            </a:r>
            <a:endParaRPr sz="850" b="0" i="0" u="none" strike="noStrike" cap="none">
              <a:solidFill>
                <a:srgbClr val="000000"/>
              </a:solidFill>
              <a:latin typeface="Calibri"/>
              <a:ea typeface="Calibri"/>
              <a:cs typeface="Calibri"/>
              <a:sym typeface="Calibri"/>
            </a:endParaRPr>
          </a:p>
          <a:p>
            <a:pPr marL="342900" marR="0" lvl="0" indent="-342900" algn="l" rtl="0">
              <a:spcBef>
                <a:spcPts val="0"/>
              </a:spcBef>
              <a:spcAft>
                <a:spcPts val="0"/>
              </a:spcAft>
              <a:buClr>
                <a:srgbClr val="1A2B3C"/>
              </a:buClr>
              <a:buSzPts val="850"/>
              <a:buFont typeface="Consolas"/>
              <a:buChar char="•"/>
            </a:pPr>
            <a:r>
              <a:rPr lang="en-US" sz="850" b="0" i="0" u="none" strike="noStrike" cap="none">
                <a:solidFill>
                  <a:srgbClr val="1A2B3C"/>
                </a:solidFill>
                <a:latin typeface="Consolas"/>
                <a:ea typeface="Consolas"/>
                <a:cs typeface="Consolas"/>
                <a:sym typeface="Consolas"/>
              </a:rPr>
              <a:t>uart_axi.rx_buf_valid — RX byte waiting to be read</a:t>
            </a:r>
            <a:endParaRPr sz="850" b="0" i="0" u="none" strike="noStrike" cap="none">
              <a:solidFill>
                <a:srgbClr val="000000"/>
              </a:solidFill>
              <a:latin typeface="Calibri"/>
              <a:ea typeface="Calibri"/>
              <a:cs typeface="Calibri"/>
              <a:sym typeface="Calibri"/>
            </a:endParaRPr>
          </a:p>
        </p:txBody>
      </p:sp>
      <p:sp>
        <p:nvSpPr>
          <p:cNvPr id="366" name="Google Shape;366;g3e6c10605ba_0_260"/>
          <p:cNvSpPr/>
          <p:nvPr/>
        </p:nvSpPr>
        <p:spPr>
          <a:xfrm>
            <a:off x="320050" y="2839200"/>
            <a:ext cx="8503800" cy="21639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g3e6c10605ba_0_260"/>
          <p:cNvSpPr/>
          <p:nvPr/>
        </p:nvSpPr>
        <p:spPr>
          <a:xfrm>
            <a:off x="320050" y="2839200"/>
            <a:ext cx="8503800" cy="255900"/>
          </a:xfrm>
          <a:prstGeom prst="rect">
            <a:avLst/>
          </a:prstGeom>
          <a:solidFill>
            <a:srgbClr val="1F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g3e6c10605ba_0_260"/>
          <p:cNvSpPr/>
          <p:nvPr/>
        </p:nvSpPr>
        <p:spPr>
          <a:xfrm>
            <a:off x="411475" y="2839200"/>
            <a:ext cx="83211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Pattern: How to find a UART Byte Transmission</a:t>
            </a:r>
            <a:endParaRPr sz="1100" b="0" i="0" u="none" strike="noStrike" cap="none">
              <a:solidFill>
                <a:srgbClr val="000000"/>
              </a:solidFill>
              <a:latin typeface="Calibri"/>
              <a:ea typeface="Calibri"/>
              <a:cs typeface="Calibri"/>
              <a:sym typeface="Calibri"/>
            </a:endParaRPr>
          </a:p>
        </p:txBody>
      </p:sp>
      <p:sp>
        <p:nvSpPr>
          <p:cNvPr id="369" name="Google Shape;369;g3e6c10605ba_0_260"/>
          <p:cNvSpPr/>
          <p:nvPr/>
        </p:nvSpPr>
        <p:spPr>
          <a:xfrm>
            <a:off x="411482" y="3150093"/>
            <a:ext cx="274200" cy="274200"/>
          </a:xfrm>
          <a:prstGeom prst="rect">
            <a:avLst/>
          </a:prstGeom>
          <a:solidFill>
            <a:srgbClr val="2E86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g3e6c10605ba_0_260"/>
          <p:cNvSpPr/>
          <p:nvPr/>
        </p:nvSpPr>
        <p:spPr>
          <a:xfrm>
            <a:off x="411482" y="3150093"/>
            <a:ext cx="274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1</a:t>
            </a:r>
            <a:endParaRPr sz="1200" b="0" i="0" u="none" strike="noStrike" cap="none">
              <a:solidFill>
                <a:srgbClr val="000000"/>
              </a:solidFill>
              <a:latin typeface="Calibri"/>
              <a:ea typeface="Calibri"/>
              <a:cs typeface="Calibri"/>
              <a:sym typeface="Calibri"/>
            </a:endParaRPr>
          </a:p>
        </p:txBody>
      </p:sp>
      <p:sp>
        <p:nvSpPr>
          <p:cNvPr id="371" name="Google Shape;371;g3e6c10605ba_0_260"/>
          <p:cNvSpPr/>
          <p:nvPr/>
        </p:nvSpPr>
        <p:spPr>
          <a:xfrm>
            <a:off x="740666" y="3150093"/>
            <a:ext cx="83211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1000"/>
              <a:buFont typeface="Consolas"/>
              <a:buNone/>
            </a:pPr>
            <a:r>
              <a:rPr lang="en-US" sz="1000" b="1" i="0" u="none" strike="noStrike" cap="none">
                <a:solidFill>
                  <a:srgbClr val="1F618D"/>
                </a:solidFill>
                <a:latin typeface="Consolas"/>
                <a:ea typeface="Consolas"/>
                <a:cs typeface="Consolas"/>
                <a:sym typeface="Consolas"/>
              </a:rPr>
              <a:t>Find  wr_sel ≠ 0  AND  m_axi_awaddr = 0x10000000</a:t>
            </a:r>
            <a:endParaRPr sz="1000" b="0" i="0" u="none" strike="noStrike" cap="none">
              <a:solidFill>
                <a:srgbClr val="000000"/>
              </a:solidFill>
              <a:latin typeface="Calibri"/>
              <a:ea typeface="Calibri"/>
              <a:cs typeface="Calibri"/>
              <a:sym typeface="Calibri"/>
            </a:endParaRPr>
          </a:p>
        </p:txBody>
      </p:sp>
      <p:sp>
        <p:nvSpPr>
          <p:cNvPr id="372" name="Google Shape;372;g3e6c10605ba_0_260"/>
          <p:cNvSpPr/>
          <p:nvPr/>
        </p:nvSpPr>
        <p:spPr>
          <a:xfrm>
            <a:off x="740666" y="3406125"/>
            <a:ext cx="83211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900"/>
              <a:buFont typeface="Calibri"/>
              <a:buNone/>
            </a:pPr>
            <a:r>
              <a:rPr lang="en-US" sz="900" b="0" i="1" u="none" strike="noStrike" cap="none">
                <a:solidFill>
                  <a:srgbClr val="2C5F7A"/>
                </a:solidFill>
                <a:latin typeface="Calibri"/>
                <a:ea typeface="Calibri"/>
                <a:cs typeface="Calibri"/>
                <a:sym typeface="Calibri"/>
              </a:rPr>
              <a:t>This identifies a UART TX write transaction</a:t>
            </a:r>
            <a:endParaRPr sz="900" b="0" i="0" u="none" strike="noStrike" cap="none">
              <a:solidFill>
                <a:srgbClr val="000000"/>
              </a:solidFill>
              <a:latin typeface="Calibri"/>
              <a:ea typeface="Calibri"/>
              <a:cs typeface="Calibri"/>
              <a:sym typeface="Calibri"/>
            </a:endParaRPr>
          </a:p>
        </p:txBody>
      </p:sp>
      <p:sp>
        <p:nvSpPr>
          <p:cNvPr id="373" name="Google Shape;373;g3e6c10605ba_0_260"/>
          <p:cNvSpPr/>
          <p:nvPr/>
        </p:nvSpPr>
        <p:spPr>
          <a:xfrm>
            <a:off x="411482" y="3808461"/>
            <a:ext cx="274200" cy="274200"/>
          </a:xfrm>
          <a:prstGeom prst="rect">
            <a:avLst/>
          </a:prstGeom>
          <a:solidFill>
            <a:srgbClr val="2E86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g3e6c10605ba_0_260"/>
          <p:cNvSpPr/>
          <p:nvPr/>
        </p:nvSpPr>
        <p:spPr>
          <a:xfrm>
            <a:off x="411482" y="3808461"/>
            <a:ext cx="274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2</a:t>
            </a:r>
            <a:endParaRPr sz="1200" b="0" i="0" u="none" strike="noStrike" cap="none">
              <a:solidFill>
                <a:srgbClr val="000000"/>
              </a:solidFill>
              <a:latin typeface="Calibri"/>
              <a:ea typeface="Calibri"/>
              <a:cs typeface="Calibri"/>
              <a:sym typeface="Calibri"/>
            </a:endParaRPr>
          </a:p>
        </p:txBody>
      </p:sp>
      <p:sp>
        <p:nvSpPr>
          <p:cNvPr id="375" name="Google Shape;375;g3e6c10605ba_0_260"/>
          <p:cNvSpPr/>
          <p:nvPr/>
        </p:nvSpPr>
        <p:spPr>
          <a:xfrm>
            <a:off x="740666" y="3808461"/>
            <a:ext cx="83211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1000"/>
              <a:buFont typeface="Consolas"/>
              <a:buNone/>
            </a:pPr>
            <a:r>
              <a:rPr lang="en-US" sz="1000" b="1" i="0" u="none" strike="noStrike" cap="none">
                <a:solidFill>
                  <a:srgbClr val="1F618D"/>
                </a:solidFill>
                <a:latin typeface="Consolas"/>
                <a:ea typeface="Consolas"/>
                <a:cs typeface="Consolas"/>
                <a:sym typeface="Consolas"/>
              </a:rPr>
              <a:t>Follow  buf_valid = 1  →  u_tx.state: 0→1→2→3→…→0</a:t>
            </a:r>
            <a:endParaRPr sz="1000" b="0" i="0" u="none" strike="noStrike" cap="none">
              <a:solidFill>
                <a:srgbClr val="000000"/>
              </a:solidFill>
              <a:latin typeface="Calibri"/>
              <a:ea typeface="Calibri"/>
              <a:cs typeface="Calibri"/>
              <a:sym typeface="Calibri"/>
            </a:endParaRPr>
          </a:p>
        </p:txBody>
      </p:sp>
      <p:sp>
        <p:nvSpPr>
          <p:cNvPr id="376" name="Google Shape;376;g3e6c10605ba_0_260"/>
          <p:cNvSpPr/>
          <p:nvPr/>
        </p:nvSpPr>
        <p:spPr>
          <a:xfrm>
            <a:off x="740666" y="4064493"/>
            <a:ext cx="83211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900"/>
              <a:buFont typeface="Calibri"/>
              <a:buNone/>
            </a:pPr>
            <a:r>
              <a:rPr lang="en-US" sz="900" b="0" i="1" u="none" strike="noStrike" cap="none">
                <a:solidFill>
                  <a:srgbClr val="2C5F7A"/>
                </a:solidFill>
                <a:latin typeface="Calibri"/>
                <a:ea typeface="Calibri"/>
                <a:cs typeface="Calibri"/>
                <a:sym typeface="Calibri"/>
              </a:rPr>
              <a:t>TX state machine cycles through IDLE→START→DATA→STOP</a:t>
            </a:r>
            <a:endParaRPr sz="900" b="0" i="0" u="none" strike="noStrike" cap="none">
              <a:solidFill>
                <a:srgbClr val="000000"/>
              </a:solidFill>
              <a:latin typeface="Calibri"/>
              <a:ea typeface="Calibri"/>
              <a:cs typeface="Calibri"/>
              <a:sym typeface="Calibri"/>
            </a:endParaRPr>
          </a:p>
        </p:txBody>
      </p:sp>
      <p:sp>
        <p:nvSpPr>
          <p:cNvPr id="377" name="Google Shape;377;g3e6c10605ba_0_260"/>
          <p:cNvSpPr/>
          <p:nvPr/>
        </p:nvSpPr>
        <p:spPr>
          <a:xfrm>
            <a:off x="411482" y="4466829"/>
            <a:ext cx="274200" cy="274200"/>
          </a:xfrm>
          <a:prstGeom prst="rect">
            <a:avLst/>
          </a:prstGeom>
          <a:solidFill>
            <a:srgbClr val="2E86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g3e6c10605ba_0_260"/>
          <p:cNvSpPr/>
          <p:nvPr/>
        </p:nvSpPr>
        <p:spPr>
          <a:xfrm>
            <a:off x="411482" y="4466829"/>
            <a:ext cx="274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3</a:t>
            </a:r>
            <a:endParaRPr sz="1200" b="0" i="0" u="none" strike="noStrike" cap="none">
              <a:solidFill>
                <a:srgbClr val="000000"/>
              </a:solidFill>
              <a:latin typeface="Calibri"/>
              <a:ea typeface="Calibri"/>
              <a:cs typeface="Calibri"/>
              <a:sym typeface="Calibri"/>
            </a:endParaRPr>
          </a:p>
        </p:txBody>
      </p:sp>
      <p:sp>
        <p:nvSpPr>
          <p:cNvPr id="379" name="Google Shape;379;g3e6c10605ba_0_260"/>
          <p:cNvSpPr/>
          <p:nvPr/>
        </p:nvSpPr>
        <p:spPr>
          <a:xfrm>
            <a:off x="740666" y="4466829"/>
            <a:ext cx="83211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1000"/>
              <a:buFont typeface="Consolas"/>
              <a:buNone/>
            </a:pPr>
            <a:r>
              <a:rPr lang="en-US" sz="1000" b="1" i="0" u="none" strike="noStrike" cap="none">
                <a:solidFill>
                  <a:srgbClr val="1F618D"/>
                </a:solidFill>
                <a:latin typeface="Consolas"/>
                <a:ea typeface="Consolas"/>
                <a:cs typeface="Consolas"/>
                <a:sym typeface="Consolas"/>
              </a:rPr>
              <a:t>Zoom into  uart_tx_pin:  10 bit-periods = one complete frame</a:t>
            </a:r>
            <a:endParaRPr sz="1000" b="0" i="0" u="none" strike="noStrike" cap="none">
              <a:solidFill>
                <a:srgbClr val="000000"/>
              </a:solidFill>
              <a:latin typeface="Calibri"/>
              <a:ea typeface="Calibri"/>
              <a:cs typeface="Calibri"/>
              <a:sym typeface="Calibri"/>
            </a:endParaRPr>
          </a:p>
        </p:txBody>
      </p:sp>
      <p:sp>
        <p:nvSpPr>
          <p:cNvPr id="380" name="Google Shape;380;g3e6c10605ba_0_260"/>
          <p:cNvSpPr/>
          <p:nvPr/>
        </p:nvSpPr>
        <p:spPr>
          <a:xfrm>
            <a:off x="740666" y="4722861"/>
            <a:ext cx="83211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900"/>
              <a:buFont typeface="Calibri"/>
              <a:buNone/>
            </a:pPr>
            <a:r>
              <a:rPr lang="en-US" sz="900" b="0" i="1" u="none" strike="noStrike" cap="none">
                <a:solidFill>
                  <a:srgbClr val="2C5F7A"/>
                </a:solidFill>
                <a:latin typeface="Calibri"/>
                <a:ea typeface="Calibri"/>
                <a:cs typeface="Calibri"/>
                <a:sym typeface="Calibri"/>
              </a:rPr>
              <a:t>1 start bit + 8 data bits + 1 stop bit = 4340 cycles = 86.8 µs</a:t>
            </a:r>
            <a:endParaRPr sz="900" b="0" i="0" u="none" strike="noStrike" cap="non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g3e6c10605ba_0_264"/>
          <p:cNvSpPr/>
          <p:nvPr/>
        </p:nvSpPr>
        <p:spPr>
          <a:xfrm>
            <a:off x="394425" y="532475"/>
            <a:ext cx="8292300" cy="429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chemeClr val="dk1"/>
                </a:solidFill>
                <a:latin typeface="Calibri"/>
                <a:ea typeface="Calibri"/>
                <a:cs typeface="Calibri"/>
                <a:sym typeface="Calibri"/>
              </a:rPr>
              <a:t>Hands-On: Decode 'H' from uart_tx_pin</a:t>
            </a:r>
            <a:endParaRPr sz="2000" b="0" i="0" u="none" strike="noStrike" cap="none">
              <a:solidFill>
                <a:schemeClr val="dk1"/>
              </a:solidFill>
              <a:latin typeface="Calibri"/>
              <a:ea typeface="Calibri"/>
              <a:cs typeface="Calibri"/>
              <a:sym typeface="Calibri"/>
            </a:endParaRPr>
          </a:p>
        </p:txBody>
      </p:sp>
      <p:sp>
        <p:nvSpPr>
          <p:cNvPr id="387" name="Google Shape;387;g3e6c10605ba_0_264"/>
          <p:cNvSpPr/>
          <p:nvPr/>
        </p:nvSpPr>
        <p:spPr>
          <a:xfrm>
            <a:off x="394425" y="1053900"/>
            <a:ext cx="4147200" cy="17190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g3e6c10605ba_0_264"/>
          <p:cNvSpPr/>
          <p:nvPr/>
        </p:nvSpPr>
        <p:spPr>
          <a:xfrm>
            <a:off x="394425" y="1053900"/>
            <a:ext cx="321000" cy="1719000"/>
          </a:xfrm>
          <a:prstGeom prst="rect">
            <a:avLst/>
          </a:prstGeom>
          <a:solidFill>
            <a:srgbClr val="1A5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g3e6c10605ba_0_264"/>
          <p:cNvSpPr/>
          <p:nvPr/>
        </p:nvSpPr>
        <p:spPr>
          <a:xfrm>
            <a:off x="394425" y="1053900"/>
            <a:ext cx="321000" cy="329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rgbClr val="000000"/>
              </a:solidFill>
              <a:latin typeface="Calibri"/>
              <a:ea typeface="Calibri"/>
              <a:cs typeface="Calibri"/>
              <a:sym typeface="Calibri"/>
            </a:endParaRPr>
          </a:p>
        </p:txBody>
      </p:sp>
      <p:sp>
        <p:nvSpPr>
          <p:cNvPr id="390" name="Google Shape;390;g3e6c10605ba_0_264"/>
          <p:cNvSpPr/>
          <p:nvPr/>
        </p:nvSpPr>
        <p:spPr>
          <a:xfrm>
            <a:off x="769021" y="1108764"/>
            <a:ext cx="37191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1100"/>
              <a:buFont typeface="Calibri"/>
              <a:buNone/>
            </a:pPr>
            <a:r>
              <a:rPr lang="en-US" sz="1100" b="1" i="0" u="none" strike="noStrike" cap="none">
                <a:solidFill>
                  <a:srgbClr val="1F618D"/>
                </a:solidFill>
                <a:latin typeface="Calibri"/>
                <a:ea typeface="Calibri"/>
                <a:cs typeface="Calibri"/>
                <a:sym typeface="Calibri"/>
              </a:rPr>
              <a:t>Find Start Bit</a:t>
            </a:r>
            <a:endParaRPr sz="1100" b="0" i="0" u="none" strike="noStrike" cap="none">
              <a:solidFill>
                <a:srgbClr val="000000"/>
              </a:solidFill>
              <a:latin typeface="Calibri"/>
              <a:ea typeface="Calibri"/>
              <a:cs typeface="Calibri"/>
              <a:sym typeface="Calibri"/>
            </a:endParaRPr>
          </a:p>
        </p:txBody>
      </p:sp>
      <p:sp>
        <p:nvSpPr>
          <p:cNvPr id="391" name="Google Shape;391;g3e6c10605ba_0_264"/>
          <p:cNvSpPr/>
          <p:nvPr/>
        </p:nvSpPr>
        <p:spPr>
          <a:xfrm>
            <a:off x="769021" y="1383085"/>
            <a:ext cx="3719100" cy="128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Locate the falling edge of uart_tx_pin  (goes 1→0)</a:t>
            </a:r>
            <a:endParaRPr sz="95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Press  T  to place Marker 1 here</a:t>
            </a:r>
            <a:endParaRPr sz="95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This is the beginning of the UART frame</a:t>
            </a:r>
            <a:endParaRPr sz="950" b="0" i="0" u="none" strike="noStrike" cap="none">
              <a:solidFill>
                <a:srgbClr val="000000"/>
              </a:solidFill>
              <a:latin typeface="Calibri"/>
              <a:ea typeface="Calibri"/>
              <a:cs typeface="Calibri"/>
              <a:sym typeface="Calibri"/>
            </a:endParaRPr>
          </a:p>
        </p:txBody>
      </p:sp>
      <p:sp>
        <p:nvSpPr>
          <p:cNvPr id="392" name="Google Shape;392;g3e6c10605ba_0_264"/>
          <p:cNvSpPr/>
          <p:nvPr/>
        </p:nvSpPr>
        <p:spPr>
          <a:xfrm>
            <a:off x="4630924" y="1053900"/>
            <a:ext cx="4147200" cy="17190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g3e6c10605ba_0_264"/>
          <p:cNvSpPr/>
          <p:nvPr/>
        </p:nvSpPr>
        <p:spPr>
          <a:xfrm>
            <a:off x="4630924" y="1053900"/>
            <a:ext cx="321000" cy="1719000"/>
          </a:xfrm>
          <a:prstGeom prst="rect">
            <a:avLst/>
          </a:prstGeom>
          <a:solidFill>
            <a:srgbClr val="1E6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g3e6c10605ba_0_264"/>
          <p:cNvSpPr/>
          <p:nvPr/>
        </p:nvSpPr>
        <p:spPr>
          <a:xfrm>
            <a:off x="4630924" y="1053900"/>
            <a:ext cx="321000" cy="329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rgbClr val="000000"/>
              </a:solidFill>
              <a:latin typeface="Calibri"/>
              <a:ea typeface="Calibri"/>
              <a:cs typeface="Calibri"/>
              <a:sym typeface="Calibri"/>
            </a:endParaRPr>
          </a:p>
        </p:txBody>
      </p:sp>
      <p:sp>
        <p:nvSpPr>
          <p:cNvPr id="395" name="Google Shape;395;g3e6c10605ba_0_264"/>
          <p:cNvSpPr/>
          <p:nvPr/>
        </p:nvSpPr>
        <p:spPr>
          <a:xfrm>
            <a:off x="5005520" y="1108764"/>
            <a:ext cx="37191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1100"/>
              <a:buFont typeface="Calibri"/>
              <a:buNone/>
            </a:pPr>
            <a:r>
              <a:rPr lang="en-US" sz="1100" b="1" i="0" u="none" strike="noStrike" cap="none">
                <a:solidFill>
                  <a:srgbClr val="1F618D"/>
                </a:solidFill>
                <a:latin typeface="Calibri"/>
                <a:ea typeface="Calibri"/>
                <a:cs typeface="Calibri"/>
                <a:sym typeface="Calibri"/>
              </a:rPr>
              <a:t>Sample Each Data Bit at Mid-Period</a:t>
            </a:r>
            <a:endParaRPr sz="1100" b="0" i="0" u="none" strike="noStrike" cap="none">
              <a:solidFill>
                <a:srgbClr val="000000"/>
              </a:solidFill>
              <a:latin typeface="Calibri"/>
              <a:ea typeface="Calibri"/>
              <a:cs typeface="Calibri"/>
              <a:sym typeface="Calibri"/>
            </a:endParaRPr>
          </a:p>
        </p:txBody>
      </p:sp>
      <p:sp>
        <p:nvSpPr>
          <p:cNvPr id="396" name="Google Shape;396;g3e6c10605ba_0_264"/>
          <p:cNvSpPr/>
          <p:nvPr/>
        </p:nvSpPr>
        <p:spPr>
          <a:xfrm>
            <a:off x="5005520" y="1383085"/>
            <a:ext cx="37191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Each bit = 434 cycles = 8.68 µs</a:t>
            </a:r>
            <a:endParaRPr sz="95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Sample at Marker1 + 4.34 µs (half-bit offset) for D0, then +8.68 µs for each subsequent bit</a:t>
            </a:r>
            <a:endParaRPr sz="950" b="0" i="0" u="none" strike="noStrike" cap="none">
              <a:solidFill>
                <a:srgbClr val="000000"/>
              </a:solidFill>
              <a:latin typeface="Calibri"/>
              <a:ea typeface="Calibri"/>
              <a:cs typeface="Calibri"/>
              <a:sym typeface="Calibri"/>
            </a:endParaRPr>
          </a:p>
        </p:txBody>
      </p:sp>
      <p:sp>
        <p:nvSpPr>
          <p:cNvPr id="397" name="Google Shape;397;g3e6c10605ba_0_264"/>
          <p:cNvSpPr/>
          <p:nvPr/>
        </p:nvSpPr>
        <p:spPr>
          <a:xfrm>
            <a:off x="5005520" y="1876863"/>
            <a:ext cx="3719100" cy="859500"/>
          </a:xfrm>
          <a:prstGeom prst="rect">
            <a:avLst/>
          </a:prstGeom>
          <a:solidFill>
            <a:srgbClr val="D5E8F3"/>
          </a:solidFill>
          <a:ln w="12700" cap="flat" cmpd="sng">
            <a:solidFill>
              <a:srgbClr val="2E8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g3e6c10605ba_0_264"/>
          <p:cNvSpPr/>
          <p:nvPr/>
        </p:nvSpPr>
        <p:spPr>
          <a:xfrm>
            <a:off x="5094709" y="1931727"/>
            <a:ext cx="3585300" cy="749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D0: +4.34µs  → tx=0   D4: +39.06µs → tx=0</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D1: +13.02µs → tx=0   D5: +47.74µs → tx=0</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D2: +21.70µs → tx=0   D6: +56.42µs → tx=1</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D3: +30.38µs → tx=1   D7: +65.10µs → tx=0</a:t>
            </a:r>
            <a:endParaRPr sz="900" b="0" i="0" u="none" strike="noStrike" cap="none">
              <a:solidFill>
                <a:srgbClr val="000000"/>
              </a:solidFill>
              <a:latin typeface="Calibri"/>
              <a:ea typeface="Calibri"/>
              <a:cs typeface="Calibri"/>
              <a:sym typeface="Calibri"/>
            </a:endParaRPr>
          </a:p>
        </p:txBody>
      </p:sp>
      <p:sp>
        <p:nvSpPr>
          <p:cNvPr id="399" name="Google Shape;399;g3e6c10605ba_0_264"/>
          <p:cNvSpPr/>
          <p:nvPr/>
        </p:nvSpPr>
        <p:spPr>
          <a:xfrm>
            <a:off x="394425" y="2864419"/>
            <a:ext cx="4147200" cy="17190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g3e6c10605ba_0_264"/>
          <p:cNvSpPr/>
          <p:nvPr/>
        </p:nvSpPr>
        <p:spPr>
          <a:xfrm>
            <a:off x="394425" y="2864419"/>
            <a:ext cx="321000" cy="1719000"/>
          </a:xfrm>
          <a:prstGeom prst="rect">
            <a:avLst/>
          </a:prstGeom>
          <a:solidFill>
            <a:srgbClr val="6B3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g3e6c10605ba_0_264"/>
          <p:cNvSpPr/>
          <p:nvPr/>
        </p:nvSpPr>
        <p:spPr>
          <a:xfrm>
            <a:off x="394425" y="2864419"/>
            <a:ext cx="321000" cy="329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rgbClr val="000000"/>
              </a:solidFill>
              <a:latin typeface="Calibri"/>
              <a:ea typeface="Calibri"/>
              <a:cs typeface="Calibri"/>
              <a:sym typeface="Calibri"/>
            </a:endParaRPr>
          </a:p>
        </p:txBody>
      </p:sp>
      <p:sp>
        <p:nvSpPr>
          <p:cNvPr id="402" name="Google Shape;402;g3e6c10605ba_0_264"/>
          <p:cNvSpPr/>
          <p:nvPr/>
        </p:nvSpPr>
        <p:spPr>
          <a:xfrm>
            <a:off x="769021" y="2919283"/>
            <a:ext cx="37191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1100"/>
              <a:buFont typeface="Calibri"/>
              <a:buNone/>
            </a:pPr>
            <a:r>
              <a:rPr lang="en-US" sz="1100" b="1" i="0" u="none" strike="noStrike" cap="none">
                <a:solidFill>
                  <a:srgbClr val="1F618D"/>
                </a:solidFill>
                <a:latin typeface="Calibri"/>
                <a:ea typeface="Calibri"/>
                <a:cs typeface="Calibri"/>
                <a:sym typeface="Calibri"/>
              </a:rPr>
              <a:t>Build the Byte</a:t>
            </a:r>
            <a:endParaRPr sz="1100" b="0" i="0" u="none" strike="noStrike" cap="none">
              <a:solidFill>
                <a:srgbClr val="000000"/>
              </a:solidFill>
              <a:latin typeface="Calibri"/>
              <a:ea typeface="Calibri"/>
              <a:cs typeface="Calibri"/>
              <a:sym typeface="Calibri"/>
            </a:endParaRPr>
          </a:p>
        </p:txBody>
      </p:sp>
      <p:sp>
        <p:nvSpPr>
          <p:cNvPr id="403" name="Google Shape;403;g3e6c10605ba_0_264"/>
          <p:cNvSpPr/>
          <p:nvPr/>
        </p:nvSpPr>
        <p:spPr>
          <a:xfrm>
            <a:off x="769021" y="3193604"/>
            <a:ext cx="37191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Collect D7:D0 in order (LSB first, but displayed D7→D0):</a:t>
            </a:r>
            <a:endParaRPr sz="950" b="0" i="0" u="none" strike="noStrike" cap="none">
              <a:solidFill>
                <a:srgbClr val="000000"/>
              </a:solidFill>
              <a:latin typeface="Calibri"/>
              <a:ea typeface="Calibri"/>
              <a:cs typeface="Calibri"/>
              <a:sym typeface="Calibri"/>
            </a:endParaRPr>
          </a:p>
        </p:txBody>
      </p:sp>
      <p:sp>
        <p:nvSpPr>
          <p:cNvPr id="404" name="Google Shape;404;g3e6c10605ba_0_264"/>
          <p:cNvSpPr/>
          <p:nvPr/>
        </p:nvSpPr>
        <p:spPr>
          <a:xfrm>
            <a:off x="769021" y="3687382"/>
            <a:ext cx="3719100" cy="859500"/>
          </a:xfrm>
          <a:prstGeom prst="rect">
            <a:avLst/>
          </a:prstGeom>
          <a:solidFill>
            <a:srgbClr val="D5E8F3"/>
          </a:solidFill>
          <a:ln w="12700" cap="flat" cmpd="sng">
            <a:solidFill>
              <a:srgbClr val="2E8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g3e6c10605ba_0_264"/>
          <p:cNvSpPr/>
          <p:nvPr/>
        </p:nvSpPr>
        <p:spPr>
          <a:xfrm>
            <a:off x="858210" y="3742246"/>
            <a:ext cx="3585300" cy="749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D7 D6 D5 D4 D3 D2 D1 D0  →  0 1 0 0 1 0 0 0</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 0x48 = 72 decimal = 'H' ✓</a:t>
            </a:r>
            <a:endParaRPr sz="900" b="0" i="0" u="none" strike="noStrike" cap="none">
              <a:solidFill>
                <a:srgbClr val="000000"/>
              </a:solidFill>
              <a:latin typeface="Calibri"/>
              <a:ea typeface="Calibri"/>
              <a:cs typeface="Calibri"/>
              <a:sym typeface="Calibri"/>
            </a:endParaRPr>
          </a:p>
        </p:txBody>
      </p:sp>
      <p:sp>
        <p:nvSpPr>
          <p:cNvPr id="406" name="Google Shape;406;g3e6c10605ba_0_264"/>
          <p:cNvSpPr/>
          <p:nvPr/>
        </p:nvSpPr>
        <p:spPr>
          <a:xfrm>
            <a:off x="4630924" y="2864419"/>
            <a:ext cx="4147200" cy="17190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g3e6c10605ba_0_264"/>
          <p:cNvSpPr/>
          <p:nvPr/>
        </p:nvSpPr>
        <p:spPr>
          <a:xfrm>
            <a:off x="4630924" y="2864419"/>
            <a:ext cx="321000" cy="1719000"/>
          </a:xfrm>
          <a:prstGeom prst="rect">
            <a:avLst/>
          </a:prstGeom>
          <a:solidFill>
            <a:srgbClr val="1F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g3e6c10605ba_0_264"/>
          <p:cNvSpPr/>
          <p:nvPr/>
        </p:nvSpPr>
        <p:spPr>
          <a:xfrm>
            <a:off x="4630924" y="2864419"/>
            <a:ext cx="321000" cy="329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rgbClr val="000000"/>
              </a:solidFill>
              <a:latin typeface="Calibri"/>
              <a:ea typeface="Calibri"/>
              <a:cs typeface="Calibri"/>
              <a:sym typeface="Calibri"/>
            </a:endParaRPr>
          </a:p>
        </p:txBody>
      </p:sp>
      <p:sp>
        <p:nvSpPr>
          <p:cNvPr id="409" name="Google Shape;409;g3e6c10605ba_0_264"/>
          <p:cNvSpPr/>
          <p:nvPr/>
        </p:nvSpPr>
        <p:spPr>
          <a:xfrm>
            <a:off x="5005520" y="2919283"/>
            <a:ext cx="37191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1100"/>
              <a:buFont typeface="Calibri"/>
              <a:buNone/>
            </a:pPr>
            <a:r>
              <a:rPr lang="en-US" sz="1100" b="1" i="0" u="none" strike="noStrike" cap="none">
                <a:solidFill>
                  <a:srgbClr val="1F618D"/>
                </a:solidFill>
                <a:latin typeface="Calibri"/>
                <a:ea typeface="Calibri"/>
                <a:cs typeface="Calibri"/>
                <a:sym typeface="Calibri"/>
              </a:rPr>
              <a:t>Verify Stop Bit</a:t>
            </a:r>
            <a:endParaRPr sz="1100" b="0" i="0" u="none" strike="noStrike" cap="none">
              <a:solidFill>
                <a:srgbClr val="000000"/>
              </a:solidFill>
              <a:latin typeface="Calibri"/>
              <a:ea typeface="Calibri"/>
              <a:cs typeface="Calibri"/>
              <a:sym typeface="Calibri"/>
            </a:endParaRPr>
          </a:p>
        </p:txBody>
      </p:sp>
      <p:sp>
        <p:nvSpPr>
          <p:cNvPr id="410" name="Google Shape;410;g3e6c10605ba_0_264"/>
          <p:cNvSpPr/>
          <p:nvPr/>
        </p:nvSpPr>
        <p:spPr>
          <a:xfrm>
            <a:off x="5005520" y="3193604"/>
            <a:ext cx="3719100" cy="128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After D7, uart_tx_pin returns to 1 for exactly 8.68 µs (stop bit), then stays HIGH (idle line). If the line doesn't return high, a framing error has occurred.</a:t>
            </a:r>
            <a:endParaRPr sz="950" b="0" i="0" u="none" strike="noStrike" cap="none">
              <a:solidFill>
                <a:srgbClr val="000000"/>
              </a:solidFill>
              <a:latin typeface="Calibri"/>
              <a:ea typeface="Calibri"/>
              <a:cs typeface="Calibri"/>
              <a:sym typeface="Calibri"/>
            </a:endParaRPr>
          </a:p>
        </p:txBody>
      </p:sp>
      <p:sp>
        <p:nvSpPr>
          <p:cNvPr id="411" name="Google Shape;411;g3e6c10605ba_0_264"/>
          <p:cNvSpPr/>
          <p:nvPr/>
        </p:nvSpPr>
        <p:spPr>
          <a:xfrm>
            <a:off x="394425" y="4821225"/>
            <a:ext cx="8383800" cy="274200"/>
          </a:xfrm>
          <a:prstGeom prst="rect">
            <a:avLst/>
          </a:prstGeom>
          <a:solidFill>
            <a:srgbClr val="D5E8F3"/>
          </a:solidFill>
          <a:ln w="12700" cap="flat" cmpd="sng">
            <a:solidFill>
              <a:srgbClr val="2E8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g3e6c10605ba_0_264"/>
          <p:cNvSpPr/>
          <p:nvPr/>
        </p:nvSpPr>
        <p:spPr>
          <a:xfrm>
            <a:off x="481754" y="4830369"/>
            <a:ext cx="82089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950"/>
              <a:buFont typeface="Calibri"/>
              <a:buNone/>
            </a:pPr>
            <a:r>
              <a:rPr lang="en-US" sz="950" b="0" i="0" u="none" strike="noStrike" cap="none">
                <a:solidFill>
                  <a:srgbClr val="0D3349"/>
                </a:solidFill>
                <a:latin typeface="Calibri"/>
                <a:ea typeface="Calibri"/>
                <a:cs typeface="Calibri"/>
                <a:sym typeface="Calibri"/>
              </a:rPr>
              <a:t>💡  This is exactly what the UART monitor in tb_top.v does automatically — the uart_monitor initial block decodes each byte the same way!</a:t>
            </a:r>
            <a:endParaRPr sz="950" b="0" i="0" u="none" strike="noStrike" cap="non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g3e6c10605ba_0_268"/>
          <p:cNvSpPr/>
          <p:nvPr/>
        </p:nvSpPr>
        <p:spPr>
          <a:xfrm>
            <a:off x="407825" y="532175"/>
            <a:ext cx="8416200" cy="429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chemeClr val="dk1"/>
                </a:solidFill>
                <a:latin typeface="Calibri"/>
                <a:ea typeface="Calibri"/>
                <a:cs typeface="Calibri"/>
                <a:sym typeface="Calibri"/>
              </a:rPr>
              <a:t>Timing Reference Table</a:t>
            </a:r>
            <a:endParaRPr sz="2000" b="0" i="0" u="none" strike="noStrike" cap="none">
              <a:solidFill>
                <a:schemeClr val="dk1"/>
              </a:solidFill>
              <a:latin typeface="Calibri"/>
              <a:ea typeface="Calibri"/>
              <a:cs typeface="Calibri"/>
              <a:sym typeface="Calibri"/>
            </a:endParaRPr>
          </a:p>
        </p:txBody>
      </p:sp>
      <p:sp>
        <p:nvSpPr>
          <p:cNvPr id="419" name="Google Shape;419;g3e6c10605ba_0_268"/>
          <p:cNvSpPr/>
          <p:nvPr/>
        </p:nvSpPr>
        <p:spPr>
          <a:xfrm>
            <a:off x="537298" y="904200"/>
            <a:ext cx="8027100" cy="28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1100"/>
              <a:buFont typeface="Calibri"/>
              <a:buNone/>
            </a:pPr>
            <a:r>
              <a:rPr lang="en-US" sz="1100" b="0" i="1" u="none" strike="noStrike" cap="none">
                <a:solidFill>
                  <a:srgbClr val="2C5F7A"/>
                </a:solidFill>
                <a:latin typeface="Calibri"/>
                <a:ea typeface="Calibri"/>
                <a:cs typeface="Calibri"/>
                <a:sym typeface="Calibri"/>
              </a:rPr>
              <a:t>50 MHz clock (20 ns/cycle) · 115200 baud · 434 cycles/bit · 4340 cycles/frame</a:t>
            </a:r>
            <a:endParaRPr sz="1100" b="0" i="0" u="none" strike="noStrike" cap="none">
              <a:solidFill>
                <a:srgbClr val="000000"/>
              </a:solidFill>
              <a:latin typeface="Calibri"/>
              <a:ea typeface="Calibri"/>
              <a:cs typeface="Calibri"/>
              <a:sym typeface="Calibri"/>
            </a:endParaRPr>
          </a:p>
        </p:txBody>
      </p:sp>
      <p:sp>
        <p:nvSpPr>
          <p:cNvPr id="420" name="Google Shape;420;g3e6c10605ba_0_268"/>
          <p:cNvSpPr/>
          <p:nvPr/>
        </p:nvSpPr>
        <p:spPr>
          <a:xfrm>
            <a:off x="407825" y="986742"/>
            <a:ext cx="4401900" cy="260100"/>
          </a:xfrm>
          <a:prstGeom prst="rect">
            <a:avLst/>
          </a:prstGeom>
          <a:solidFill>
            <a:srgbClr val="1F618D"/>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g3e6c10605ba_0_268"/>
          <p:cNvSpPr/>
          <p:nvPr/>
        </p:nvSpPr>
        <p:spPr>
          <a:xfrm>
            <a:off x="459614" y="1011505"/>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Event</a:t>
            </a:r>
            <a:endParaRPr sz="1100" b="0" i="0" u="none" strike="noStrike" cap="none">
              <a:solidFill>
                <a:srgbClr val="000000"/>
              </a:solidFill>
              <a:latin typeface="Calibri"/>
              <a:ea typeface="Calibri"/>
              <a:cs typeface="Calibri"/>
              <a:sym typeface="Calibri"/>
            </a:endParaRPr>
          </a:p>
        </p:txBody>
      </p:sp>
      <p:sp>
        <p:nvSpPr>
          <p:cNvPr id="422" name="Google Shape;422;g3e6c10605ba_0_268"/>
          <p:cNvSpPr/>
          <p:nvPr/>
        </p:nvSpPr>
        <p:spPr>
          <a:xfrm>
            <a:off x="4809894" y="986742"/>
            <a:ext cx="1985400" cy="260100"/>
          </a:xfrm>
          <a:prstGeom prst="rect">
            <a:avLst/>
          </a:prstGeom>
          <a:solidFill>
            <a:srgbClr val="1F618D"/>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g3e6c10605ba_0_268"/>
          <p:cNvSpPr/>
          <p:nvPr/>
        </p:nvSpPr>
        <p:spPr>
          <a:xfrm>
            <a:off x="4861683" y="1011505"/>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Time</a:t>
            </a:r>
            <a:endParaRPr sz="1100" b="0" i="0" u="none" strike="noStrike" cap="none">
              <a:solidFill>
                <a:srgbClr val="000000"/>
              </a:solidFill>
              <a:latin typeface="Calibri"/>
              <a:ea typeface="Calibri"/>
              <a:cs typeface="Calibri"/>
              <a:sym typeface="Calibri"/>
            </a:endParaRPr>
          </a:p>
        </p:txBody>
      </p:sp>
      <p:sp>
        <p:nvSpPr>
          <p:cNvPr id="424" name="Google Shape;424;g3e6c10605ba_0_268"/>
          <p:cNvSpPr/>
          <p:nvPr/>
        </p:nvSpPr>
        <p:spPr>
          <a:xfrm>
            <a:off x="6795141" y="986742"/>
            <a:ext cx="1726200" cy="260100"/>
          </a:xfrm>
          <a:prstGeom prst="rect">
            <a:avLst/>
          </a:prstGeom>
          <a:solidFill>
            <a:srgbClr val="1F618D"/>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g3e6c10605ba_0_268"/>
          <p:cNvSpPr/>
          <p:nvPr/>
        </p:nvSpPr>
        <p:spPr>
          <a:xfrm>
            <a:off x="6846930" y="1011505"/>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Cycles</a:t>
            </a:r>
            <a:endParaRPr sz="1100" b="0" i="0" u="none" strike="noStrike" cap="none">
              <a:solidFill>
                <a:srgbClr val="000000"/>
              </a:solidFill>
              <a:latin typeface="Calibri"/>
              <a:ea typeface="Calibri"/>
              <a:cs typeface="Calibri"/>
              <a:sym typeface="Calibri"/>
            </a:endParaRPr>
          </a:p>
        </p:txBody>
      </p:sp>
      <p:sp>
        <p:nvSpPr>
          <p:cNvPr id="426" name="Google Shape;426;g3e6c10605ba_0_268"/>
          <p:cNvSpPr/>
          <p:nvPr/>
        </p:nvSpPr>
        <p:spPr>
          <a:xfrm>
            <a:off x="407825" y="1246750"/>
            <a:ext cx="44019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g3e6c10605ba_0_268"/>
          <p:cNvSpPr/>
          <p:nvPr/>
        </p:nvSpPr>
        <p:spPr>
          <a:xfrm>
            <a:off x="459614" y="1271513"/>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A2B3C"/>
              </a:buClr>
              <a:buSzPts val="980"/>
              <a:buFont typeface="Calibri"/>
              <a:buNone/>
            </a:pPr>
            <a:r>
              <a:rPr lang="en-US" sz="980" b="0" i="0" u="none" strike="noStrike" cap="none">
                <a:solidFill>
                  <a:srgbClr val="1A2B3C"/>
                </a:solidFill>
                <a:latin typeface="Calibri"/>
                <a:ea typeface="Calibri"/>
                <a:cs typeface="Calibri"/>
                <a:sym typeface="Calibri"/>
              </a:rPr>
              <a:t>Reset released</a:t>
            </a:r>
            <a:endParaRPr sz="980" b="0" i="0" u="none" strike="noStrike" cap="none">
              <a:solidFill>
                <a:srgbClr val="000000"/>
              </a:solidFill>
              <a:latin typeface="Calibri"/>
              <a:ea typeface="Calibri"/>
              <a:cs typeface="Calibri"/>
              <a:sym typeface="Calibri"/>
            </a:endParaRPr>
          </a:p>
        </p:txBody>
      </p:sp>
      <p:sp>
        <p:nvSpPr>
          <p:cNvPr id="428" name="Google Shape;428;g3e6c10605ba_0_268"/>
          <p:cNvSpPr/>
          <p:nvPr/>
        </p:nvSpPr>
        <p:spPr>
          <a:xfrm>
            <a:off x="4809894" y="1246750"/>
            <a:ext cx="19854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g3e6c10605ba_0_268"/>
          <p:cNvSpPr/>
          <p:nvPr/>
        </p:nvSpPr>
        <p:spPr>
          <a:xfrm>
            <a:off x="4861683" y="1271513"/>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~0 ns</a:t>
            </a:r>
            <a:endParaRPr sz="980" b="0" i="0" u="none" strike="noStrike" cap="none">
              <a:solidFill>
                <a:srgbClr val="000000"/>
              </a:solidFill>
              <a:latin typeface="Calibri"/>
              <a:ea typeface="Calibri"/>
              <a:cs typeface="Calibri"/>
              <a:sym typeface="Calibri"/>
            </a:endParaRPr>
          </a:p>
        </p:txBody>
      </p:sp>
      <p:sp>
        <p:nvSpPr>
          <p:cNvPr id="430" name="Google Shape;430;g3e6c10605ba_0_268"/>
          <p:cNvSpPr/>
          <p:nvPr/>
        </p:nvSpPr>
        <p:spPr>
          <a:xfrm>
            <a:off x="6795141" y="1246750"/>
            <a:ext cx="17262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g3e6c10605ba_0_268"/>
          <p:cNvSpPr/>
          <p:nvPr/>
        </p:nvSpPr>
        <p:spPr>
          <a:xfrm>
            <a:off x="6846930" y="1271513"/>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0</a:t>
            </a:r>
            <a:endParaRPr sz="980" b="0" i="0" u="none" strike="noStrike" cap="none">
              <a:solidFill>
                <a:srgbClr val="000000"/>
              </a:solidFill>
              <a:latin typeface="Calibri"/>
              <a:ea typeface="Calibri"/>
              <a:cs typeface="Calibri"/>
              <a:sym typeface="Calibri"/>
            </a:endParaRPr>
          </a:p>
        </p:txBody>
      </p:sp>
      <p:sp>
        <p:nvSpPr>
          <p:cNvPr id="432" name="Google Shape;432;g3e6c10605ba_0_268"/>
          <p:cNvSpPr/>
          <p:nvPr/>
        </p:nvSpPr>
        <p:spPr>
          <a:xfrm>
            <a:off x="407825" y="1506759"/>
            <a:ext cx="44019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g3e6c10605ba_0_268"/>
          <p:cNvSpPr/>
          <p:nvPr/>
        </p:nvSpPr>
        <p:spPr>
          <a:xfrm>
            <a:off x="459614" y="1531521"/>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A2B3C"/>
              </a:buClr>
              <a:buSzPts val="980"/>
              <a:buFont typeface="Calibri"/>
              <a:buNone/>
            </a:pPr>
            <a:r>
              <a:rPr lang="en-US" sz="980" b="0" i="0" u="none" strike="noStrike" cap="none">
                <a:solidFill>
                  <a:srgbClr val="1A2B3C"/>
                </a:solidFill>
                <a:latin typeface="Calibri"/>
                <a:ea typeface="Calibri"/>
                <a:cs typeface="Calibri"/>
                <a:sym typeface="Calibri"/>
              </a:rPr>
              <a:t>First instruction fetch</a:t>
            </a:r>
            <a:endParaRPr sz="980" b="0" i="0" u="none" strike="noStrike" cap="none">
              <a:solidFill>
                <a:srgbClr val="000000"/>
              </a:solidFill>
              <a:latin typeface="Calibri"/>
              <a:ea typeface="Calibri"/>
              <a:cs typeface="Calibri"/>
              <a:sym typeface="Calibri"/>
            </a:endParaRPr>
          </a:p>
        </p:txBody>
      </p:sp>
      <p:sp>
        <p:nvSpPr>
          <p:cNvPr id="434" name="Google Shape;434;g3e6c10605ba_0_268"/>
          <p:cNvSpPr/>
          <p:nvPr/>
        </p:nvSpPr>
        <p:spPr>
          <a:xfrm>
            <a:off x="4809894" y="1506759"/>
            <a:ext cx="19854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g3e6c10605ba_0_268"/>
          <p:cNvSpPr/>
          <p:nvPr/>
        </p:nvSpPr>
        <p:spPr>
          <a:xfrm>
            <a:off x="4861683" y="1531521"/>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~200 ns</a:t>
            </a:r>
            <a:endParaRPr sz="980" b="0" i="0" u="none" strike="noStrike" cap="none">
              <a:solidFill>
                <a:srgbClr val="000000"/>
              </a:solidFill>
              <a:latin typeface="Calibri"/>
              <a:ea typeface="Calibri"/>
              <a:cs typeface="Calibri"/>
              <a:sym typeface="Calibri"/>
            </a:endParaRPr>
          </a:p>
        </p:txBody>
      </p:sp>
      <p:sp>
        <p:nvSpPr>
          <p:cNvPr id="436" name="Google Shape;436;g3e6c10605ba_0_268"/>
          <p:cNvSpPr/>
          <p:nvPr/>
        </p:nvSpPr>
        <p:spPr>
          <a:xfrm>
            <a:off x="6795141" y="1506759"/>
            <a:ext cx="17262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g3e6c10605ba_0_268"/>
          <p:cNvSpPr/>
          <p:nvPr/>
        </p:nvSpPr>
        <p:spPr>
          <a:xfrm>
            <a:off x="6846930" y="1531521"/>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10</a:t>
            </a:r>
            <a:endParaRPr sz="980" b="0" i="0" u="none" strike="noStrike" cap="none">
              <a:solidFill>
                <a:srgbClr val="000000"/>
              </a:solidFill>
              <a:latin typeface="Calibri"/>
              <a:ea typeface="Calibri"/>
              <a:cs typeface="Calibri"/>
              <a:sym typeface="Calibri"/>
            </a:endParaRPr>
          </a:p>
        </p:txBody>
      </p:sp>
      <p:sp>
        <p:nvSpPr>
          <p:cNvPr id="438" name="Google Shape;438;g3e6c10605ba_0_268"/>
          <p:cNvSpPr/>
          <p:nvPr/>
        </p:nvSpPr>
        <p:spPr>
          <a:xfrm>
            <a:off x="407825" y="1766767"/>
            <a:ext cx="44019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g3e6c10605ba_0_268"/>
          <p:cNvSpPr/>
          <p:nvPr/>
        </p:nvSpPr>
        <p:spPr>
          <a:xfrm>
            <a:off x="459614" y="1791530"/>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A2B3C"/>
              </a:buClr>
              <a:buSzPts val="980"/>
              <a:buFont typeface="Calibri"/>
              <a:buNone/>
            </a:pPr>
            <a:r>
              <a:rPr lang="en-US" sz="980" b="0" i="0" u="none" strike="noStrike" cap="none">
                <a:solidFill>
                  <a:srgbClr val="1A2B3C"/>
                </a:solidFill>
                <a:latin typeface="Calibri"/>
                <a:ea typeface="Calibri"/>
                <a:cs typeface="Calibri"/>
                <a:sym typeface="Calibri"/>
              </a:rPr>
              <a:t>First UART TX 'H' starts</a:t>
            </a:r>
            <a:endParaRPr sz="980" b="0" i="0" u="none" strike="noStrike" cap="none">
              <a:solidFill>
                <a:srgbClr val="000000"/>
              </a:solidFill>
              <a:latin typeface="Calibri"/>
              <a:ea typeface="Calibri"/>
              <a:cs typeface="Calibri"/>
              <a:sym typeface="Calibri"/>
            </a:endParaRPr>
          </a:p>
        </p:txBody>
      </p:sp>
      <p:sp>
        <p:nvSpPr>
          <p:cNvPr id="440" name="Google Shape;440;g3e6c10605ba_0_268"/>
          <p:cNvSpPr/>
          <p:nvPr/>
        </p:nvSpPr>
        <p:spPr>
          <a:xfrm>
            <a:off x="4809894" y="1766767"/>
            <a:ext cx="19854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g3e6c10605ba_0_268"/>
          <p:cNvSpPr/>
          <p:nvPr/>
        </p:nvSpPr>
        <p:spPr>
          <a:xfrm>
            <a:off x="4861683" y="1791530"/>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~3–5 µs</a:t>
            </a:r>
            <a:endParaRPr sz="980" b="0" i="0" u="none" strike="noStrike" cap="none">
              <a:solidFill>
                <a:srgbClr val="000000"/>
              </a:solidFill>
              <a:latin typeface="Calibri"/>
              <a:ea typeface="Calibri"/>
              <a:cs typeface="Calibri"/>
              <a:sym typeface="Calibri"/>
            </a:endParaRPr>
          </a:p>
        </p:txBody>
      </p:sp>
      <p:sp>
        <p:nvSpPr>
          <p:cNvPr id="442" name="Google Shape;442;g3e6c10605ba_0_268"/>
          <p:cNvSpPr/>
          <p:nvPr/>
        </p:nvSpPr>
        <p:spPr>
          <a:xfrm>
            <a:off x="6795141" y="1766767"/>
            <a:ext cx="17262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g3e6c10605ba_0_268"/>
          <p:cNvSpPr/>
          <p:nvPr/>
        </p:nvSpPr>
        <p:spPr>
          <a:xfrm>
            <a:off x="6846930" y="1791530"/>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150–250</a:t>
            </a:r>
            <a:endParaRPr sz="980" b="0" i="0" u="none" strike="noStrike" cap="none">
              <a:solidFill>
                <a:srgbClr val="000000"/>
              </a:solidFill>
              <a:latin typeface="Calibri"/>
              <a:ea typeface="Calibri"/>
              <a:cs typeface="Calibri"/>
              <a:sym typeface="Calibri"/>
            </a:endParaRPr>
          </a:p>
        </p:txBody>
      </p:sp>
      <p:sp>
        <p:nvSpPr>
          <p:cNvPr id="444" name="Google Shape;444;g3e6c10605ba_0_268"/>
          <p:cNvSpPr/>
          <p:nvPr/>
        </p:nvSpPr>
        <p:spPr>
          <a:xfrm>
            <a:off x="407825" y="2026775"/>
            <a:ext cx="44019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g3e6c10605ba_0_268"/>
          <p:cNvSpPr/>
          <p:nvPr/>
        </p:nvSpPr>
        <p:spPr>
          <a:xfrm>
            <a:off x="459614" y="2051538"/>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A2B3C"/>
              </a:buClr>
              <a:buSzPts val="980"/>
              <a:buFont typeface="Calibri"/>
              <a:buNone/>
            </a:pPr>
            <a:r>
              <a:rPr lang="en-US" sz="980" b="0" i="0" u="none" strike="noStrike" cap="none">
                <a:solidFill>
                  <a:srgbClr val="1A2B3C"/>
                </a:solidFill>
                <a:latin typeface="Calibri"/>
                <a:ea typeface="Calibri"/>
                <a:cs typeface="Calibri"/>
                <a:sym typeface="Calibri"/>
              </a:rPr>
              <a:t>UART start bit duration</a:t>
            </a:r>
            <a:endParaRPr sz="980" b="0" i="0" u="none" strike="noStrike" cap="none">
              <a:solidFill>
                <a:srgbClr val="000000"/>
              </a:solidFill>
              <a:latin typeface="Calibri"/>
              <a:ea typeface="Calibri"/>
              <a:cs typeface="Calibri"/>
              <a:sym typeface="Calibri"/>
            </a:endParaRPr>
          </a:p>
        </p:txBody>
      </p:sp>
      <p:sp>
        <p:nvSpPr>
          <p:cNvPr id="446" name="Google Shape;446;g3e6c10605ba_0_268"/>
          <p:cNvSpPr/>
          <p:nvPr/>
        </p:nvSpPr>
        <p:spPr>
          <a:xfrm>
            <a:off x="4809894" y="2026775"/>
            <a:ext cx="19854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g3e6c10605ba_0_268"/>
          <p:cNvSpPr/>
          <p:nvPr/>
        </p:nvSpPr>
        <p:spPr>
          <a:xfrm>
            <a:off x="4861683" y="2051538"/>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8.68 µs</a:t>
            </a:r>
            <a:endParaRPr sz="980" b="0" i="0" u="none" strike="noStrike" cap="none">
              <a:solidFill>
                <a:srgbClr val="000000"/>
              </a:solidFill>
              <a:latin typeface="Calibri"/>
              <a:ea typeface="Calibri"/>
              <a:cs typeface="Calibri"/>
              <a:sym typeface="Calibri"/>
            </a:endParaRPr>
          </a:p>
        </p:txBody>
      </p:sp>
      <p:sp>
        <p:nvSpPr>
          <p:cNvPr id="448" name="Google Shape;448;g3e6c10605ba_0_268"/>
          <p:cNvSpPr/>
          <p:nvPr/>
        </p:nvSpPr>
        <p:spPr>
          <a:xfrm>
            <a:off x="6795141" y="2026775"/>
            <a:ext cx="17262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g3e6c10605ba_0_268"/>
          <p:cNvSpPr/>
          <p:nvPr/>
        </p:nvSpPr>
        <p:spPr>
          <a:xfrm>
            <a:off x="6846930" y="2051538"/>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434</a:t>
            </a:r>
            <a:endParaRPr sz="980" b="0" i="0" u="none" strike="noStrike" cap="none">
              <a:solidFill>
                <a:srgbClr val="000000"/>
              </a:solidFill>
              <a:latin typeface="Calibri"/>
              <a:ea typeface="Calibri"/>
              <a:cs typeface="Calibri"/>
              <a:sym typeface="Calibri"/>
            </a:endParaRPr>
          </a:p>
        </p:txBody>
      </p:sp>
      <p:sp>
        <p:nvSpPr>
          <p:cNvPr id="450" name="Google Shape;450;g3e6c10605ba_0_268"/>
          <p:cNvSpPr/>
          <p:nvPr/>
        </p:nvSpPr>
        <p:spPr>
          <a:xfrm>
            <a:off x="407825" y="2286783"/>
            <a:ext cx="44019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g3e6c10605ba_0_268"/>
          <p:cNvSpPr/>
          <p:nvPr/>
        </p:nvSpPr>
        <p:spPr>
          <a:xfrm>
            <a:off x="459614" y="2311546"/>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A2B3C"/>
              </a:buClr>
              <a:buSzPts val="980"/>
              <a:buFont typeface="Calibri"/>
              <a:buNone/>
            </a:pPr>
            <a:r>
              <a:rPr lang="en-US" sz="980" b="0" i="0" u="none" strike="noStrike" cap="none">
                <a:solidFill>
                  <a:srgbClr val="1A2B3C"/>
                </a:solidFill>
                <a:latin typeface="Calibri"/>
                <a:ea typeface="Calibri"/>
                <a:cs typeface="Calibri"/>
                <a:sym typeface="Calibri"/>
              </a:rPr>
              <a:t>UART full frame (8N1, 10 bits)</a:t>
            </a:r>
            <a:endParaRPr sz="980" b="0" i="0" u="none" strike="noStrike" cap="none">
              <a:solidFill>
                <a:srgbClr val="000000"/>
              </a:solidFill>
              <a:latin typeface="Calibri"/>
              <a:ea typeface="Calibri"/>
              <a:cs typeface="Calibri"/>
              <a:sym typeface="Calibri"/>
            </a:endParaRPr>
          </a:p>
        </p:txBody>
      </p:sp>
      <p:sp>
        <p:nvSpPr>
          <p:cNvPr id="452" name="Google Shape;452;g3e6c10605ba_0_268"/>
          <p:cNvSpPr/>
          <p:nvPr/>
        </p:nvSpPr>
        <p:spPr>
          <a:xfrm>
            <a:off x="4809894" y="2286783"/>
            <a:ext cx="19854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g3e6c10605ba_0_268"/>
          <p:cNvSpPr/>
          <p:nvPr/>
        </p:nvSpPr>
        <p:spPr>
          <a:xfrm>
            <a:off x="4861683" y="2311546"/>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86.8 µs</a:t>
            </a:r>
            <a:endParaRPr sz="980" b="0" i="0" u="none" strike="noStrike" cap="none">
              <a:solidFill>
                <a:srgbClr val="000000"/>
              </a:solidFill>
              <a:latin typeface="Calibri"/>
              <a:ea typeface="Calibri"/>
              <a:cs typeface="Calibri"/>
              <a:sym typeface="Calibri"/>
            </a:endParaRPr>
          </a:p>
        </p:txBody>
      </p:sp>
      <p:sp>
        <p:nvSpPr>
          <p:cNvPr id="454" name="Google Shape;454;g3e6c10605ba_0_268"/>
          <p:cNvSpPr/>
          <p:nvPr/>
        </p:nvSpPr>
        <p:spPr>
          <a:xfrm>
            <a:off x="6795141" y="2286783"/>
            <a:ext cx="17262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g3e6c10605ba_0_268"/>
          <p:cNvSpPr/>
          <p:nvPr/>
        </p:nvSpPr>
        <p:spPr>
          <a:xfrm>
            <a:off x="6846930" y="2311546"/>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4,340</a:t>
            </a:r>
            <a:endParaRPr sz="980" b="0" i="0" u="none" strike="noStrike" cap="none">
              <a:solidFill>
                <a:srgbClr val="000000"/>
              </a:solidFill>
              <a:latin typeface="Calibri"/>
              <a:ea typeface="Calibri"/>
              <a:cs typeface="Calibri"/>
              <a:sym typeface="Calibri"/>
            </a:endParaRPr>
          </a:p>
        </p:txBody>
      </p:sp>
      <p:sp>
        <p:nvSpPr>
          <p:cNvPr id="456" name="Google Shape;456;g3e6c10605ba_0_268"/>
          <p:cNvSpPr/>
          <p:nvPr/>
        </p:nvSpPr>
        <p:spPr>
          <a:xfrm>
            <a:off x="407825" y="2546791"/>
            <a:ext cx="44019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g3e6c10605ba_0_268"/>
          <p:cNvSpPr/>
          <p:nvPr/>
        </p:nvSpPr>
        <p:spPr>
          <a:xfrm>
            <a:off x="459614" y="2571554"/>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A2B3C"/>
              </a:buClr>
              <a:buSzPts val="980"/>
              <a:buFont typeface="Calibri"/>
              <a:buNone/>
            </a:pPr>
            <a:r>
              <a:rPr lang="en-US" sz="980" b="0" i="0" u="none" strike="noStrike" cap="none">
                <a:solidFill>
                  <a:srgbClr val="1A2B3C"/>
                </a:solidFill>
                <a:latin typeface="Calibri"/>
                <a:ea typeface="Calibri"/>
                <a:cs typeface="Calibri"/>
                <a:sym typeface="Calibri"/>
              </a:rPr>
              <a:t>UART byte with overhead</a:t>
            </a:r>
            <a:endParaRPr sz="980" b="0" i="0" u="none" strike="noStrike" cap="none">
              <a:solidFill>
                <a:srgbClr val="000000"/>
              </a:solidFill>
              <a:latin typeface="Calibri"/>
              <a:ea typeface="Calibri"/>
              <a:cs typeface="Calibri"/>
              <a:sym typeface="Calibri"/>
            </a:endParaRPr>
          </a:p>
        </p:txBody>
      </p:sp>
      <p:sp>
        <p:nvSpPr>
          <p:cNvPr id="458" name="Google Shape;458;g3e6c10605ba_0_268"/>
          <p:cNvSpPr/>
          <p:nvPr/>
        </p:nvSpPr>
        <p:spPr>
          <a:xfrm>
            <a:off x="4809894" y="2546791"/>
            <a:ext cx="19854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g3e6c10605ba_0_268"/>
          <p:cNvSpPr/>
          <p:nvPr/>
        </p:nvSpPr>
        <p:spPr>
          <a:xfrm>
            <a:off x="4861683" y="2571554"/>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~90 µs</a:t>
            </a:r>
            <a:endParaRPr sz="980" b="0" i="0" u="none" strike="noStrike" cap="none">
              <a:solidFill>
                <a:srgbClr val="000000"/>
              </a:solidFill>
              <a:latin typeface="Calibri"/>
              <a:ea typeface="Calibri"/>
              <a:cs typeface="Calibri"/>
              <a:sym typeface="Calibri"/>
            </a:endParaRPr>
          </a:p>
        </p:txBody>
      </p:sp>
      <p:sp>
        <p:nvSpPr>
          <p:cNvPr id="460" name="Google Shape;460;g3e6c10605ba_0_268"/>
          <p:cNvSpPr/>
          <p:nvPr/>
        </p:nvSpPr>
        <p:spPr>
          <a:xfrm>
            <a:off x="6795141" y="2546791"/>
            <a:ext cx="17262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g3e6c10605ba_0_268"/>
          <p:cNvSpPr/>
          <p:nvPr/>
        </p:nvSpPr>
        <p:spPr>
          <a:xfrm>
            <a:off x="6846930" y="2571554"/>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~4,500</a:t>
            </a:r>
            <a:endParaRPr sz="980" b="0" i="0" u="none" strike="noStrike" cap="none">
              <a:solidFill>
                <a:srgbClr val="000000"/>
              </a:solidFill>
              <a:latin typeface="Calibri"/>
              <a:ea typeface="Calibri"/>
              <a:cs typeface="Calibri"/>
              <a:sym typeface="Calibri"/>
            </a:endParaRPr>
          </a:p>
        </p:txBody>
      </p:sp>
      <p:sp>
        <p:nvSpPr>
          <p:cNvPr id="462" name="Google Shape;462;g3e6c10605ba_0_268"/>
          <p:cNvSpPr/>
          <p:nvPr/>
        </p:nvSpPr>
        <p:spPr>
          <a:xfrm>
            <a:off x="407825" y="2806800"/>
            <a:ext cx="44019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g3e6c10605ba_0_268"/>
          <p:cNvSpPr/>
          <p:nvPr/>
        </p:nvSpPr>
        <p:spPr>
          <a:xfrm>
            <a:off x="459614" y="2831562"/>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A2B3C"/>
              </a:buClr>
              <a:buSzPts val="980"/>
              <a:buFont typeface="Calibri"/>
              <a:buNone/>
            </a:pPr>
            <a:r>
              <a:rPr lang="en-US" sz="980" b="0" i="0" u="none" strike="noStrike" cap="none">
                <a:solidFill>
                  <a:srgbClr val="1A2B3C"/>
                </a:solidFill>
                <a:latin typeface="Calibri"/>
                <a:ea typeface="Calibri"/>
                <a:cs typeface="Calibri"/>
                <a:sym typeface="Calibri"/>
              </a:rPr>
              <a:t>"Hello Deepak from Nielit!" (26 chars)</a:t>
            </a:r>
            <a:endParaRPr sz="980" b="0" i="0" u="none" strike="noStrike" cap="none">
              <a:solidFill>
                <a:srgbClr val="000000"/>
              </a:solidFill>
              <a:latin typeface="Calibri"/>
              <a:ea typeface="Calibri"/>
              <a:cs typeface="Calibri"/>
              <a:sym typeface="Calibri"/>
            </a:endParaRPr>
          </a:p>
        </p:txBody>
      </p:sp>
      <p:sp>
        <p:nvSpPr>
          <p:cNvPr id="464" name="Google Shape;464;g3e6c10605ba_0_268"/>
          <p:cNvSpPr/>
          <p:nvPr/>
        </p:nvSpPr>
        <p:spPr>
          <a:xfrm>
            <a:off x="4809894" y="2806800"/>
            <a:ext cx="19854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g3e6c10605ba_0_268"/>
          <p:cNvSpPr/>
          <p:nvPr/>
        </p:nvSpPr>
        <p:spPr>
          <a:xfrm>
            <a:off x="4861683" y="2831562"/>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~2.3 ms</a:t>
            </a:r>
            <a:endParaRPr sz="980" b="0" i="0" u="none" strike="noStrike" cap="none">
              <a:solidFill>
                <a:srgbClr val="000000"/>
              </a:solidFill>
              <a:latin typeface="Calibri"/>
              <a:ea typeface="Calibri"/>
              <a:cs typeface="Calibri"/>
              <a:sym typeface="Calibri"/>
            </a:endParaRPr>
          </a:p>
        </p:txBody>
      </p:sp>
      <p:sp>
        <p:nvSpPr>
          <p:cNvPr id="466" name="Google Shape;466;g3e6c10605ba_0_268"/>
          <p:cNvSpPr/>
          <p:nvPr/>
        </p:nvSpPr>
        <p:spPr>
          <a:xfrm>
            <a:off x="6795141" y="2806800"/>
            <a:ext cx="17262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g3e6c10605ba_0_268"/>
          <p:cNvSpPr/>
          <p:nvPr/>
        </p:nvSpPr>
        <p:spPr>
          <a:xfrm>
            <a:off x="6846930" y="2831562"/>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~115,000</a:t>
            </a:r>
            <a:endParaRPr sz="980" b="0" i="0" u="none" strike="noStrike" cap="none">
              <a:solidFill>
                <a:srgbClr val="000000"/>
              </a:solidFill>
              <a:latin typeface="Calibri"/>
              <a:ea typeface="Calibri"/>
              <a:cs typeface="Calibri"/>
              <a:sym typeface="Calibri"/>
            </a:endParaRPr>
          </a:p>
        </p:txBody>
      </p:sp>
      <p:sp>
        <p:nvSpPr>
          <p:cNvPr id="468" name="Google Shape;468;g3e6c10605ba_0_268"/>
          <p:cNvSpPr/>
          <p:nvPr/>
        </p:nvSpPr>
        <p:spPr>
          <a:xfrm>
            <a:off x="407825" y="3066808"/>
            <a:ext cx="44019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g3e6c10605ba_0_268"/>
          <p:cNvSpPr/>
          <p:nvPr/>
        </p:nvSpPr>
        <p:spPr>
          <a:xfrm>
            <a:off x="459614" y="3091571"/>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A2B3C"/>
              </a:buClr>
              <a:buSzPts val="980"/>
              <a:buFont typeface="Calibri"/>
              <a:buNone/>
            </a:pPr>
            <a:r>
              <a:rPr lang="en-US" sz="980" b="0" i="0" u="none" strike="noStrike" cap="none">
                <a:solidFill>
                  <a:srgbClr val="1A2B3C"/>
                </a:solidFill>
                <a:latin typeface="Calibri"/>
                <a:ea typeface="Calibri"/>
                <a:cs typeface="Calibri"/>
                <a:sym typeface="Calibri"/>
              </a:rPr>
              <a:t>10 greeting messages</a:t>
            </a:r>
            <a:endParaRPr sz="980" b="0" i="0" u="none" strike="noStrike" cap="none">
              <a:solidFill>
                <a:srgbClr val="000000"/>
              </a:solidFill>
              <a:latin typeface="Calibri"/>
              <a:ea typeface="Calibri"/>
              <a:cs typeface="Calibri"/>
              <a:sym typeface="Calibri"/>
            </a:endParaRPr>
          </a:p>
        </p:txBody>
      </p:sp>
      <p:sp>
        <p:nvSpPr>
          <p:cNvPr id="470" name="Google Shape;470;g3e6c10605ba_0_268"/>
          <p:cNvSpPr/>
          <p:nvPr/>
        </p:nvSpPr>
        <p:spPr>
          <a:xfrm>
            <a:off x="4809894" y="3066808"/>
            <a:ext cx="19854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g3e6c10605ba_0_268"/>
          <p:cNvSpPr/>
          <p:nvPr/>
        </p:nvSpPr>
        <p:spPr>
          <a:xfrm>
            <a:off x="4861683" y="3091571"/>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~23 ms</a:t>
            </a:r>
            <a:endParaRPr sz="980" b="0" i="0" u="none" strike="noStrike" cap="none">
              <a:solidFill>
                <a:srgbClr val="000000"/>
              </a:solidFill>
              <a:latin typeface="Calibri"/>
              <a:ea typeface="Calibri"/>
              <a:cs typeface="Calibri"/>
              <a:sym typeface="Calibri"/>
            </a:endParaRPr>
          </a:p>
        </p:txBody>
      </p:sp>
      <p:sp>
        <p:nvSpPr>
          <p:cNvPr id="472" name="Google Shape;472;g3e6c10605ba_0_268"/>
          <p:cNvSpPr/>
          <p:nvPr/>
        </p:nvSpPr>
        <p:spPr>
          <a:xfrm>
            <a:off x="6795141" y="3066808"/>
            <a:ext cx="17262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g3e6c10605ba_0_268"/>
          <p:cNvSpPr/>
          <p:nvPr/>
        </p:nvSpPr>
        <p:spPr>
          <a:xfrm>
            <a:off x="6846930" y="3091571"/>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~1,150,000</a:t>
            </a:r>
            <a:endParaRPr sz="980" b="0" i="0" u="none" strike="noStrike" cap="none">
              <a:solidFill>
                <a:srgbClr val="000000"/>
              </a:solidFill>
              <a:latin typeface="Calibri"/>
              <a:ea typeface="Calibri"/>
              <a:cs typeface="Calibri"/>
              <a:sym typeface="Calibri"/>
            </a:endParaRPr>
          </a:p>
        </p:txBody>
      </p:sp>
      <p:sp>
        <p:nvSpPr>
          <p:cNvPr id="474" name="Google Shape;474;g3e6c10605ba_0_268"/>
          <p:cNvSpPr/>
          <p:nvPr/>
        </p:nvSpPr>
        <p:spPr>
          <a:xfrm>
            <a:off x="407825" y="3326816"/>
            <a:ext cx="44019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g3e6c10605ba_0_268"/>
          <p:cNvSpPr/>
          <p:nvPr/>
        </p:nvSpPr>
        <p:spPr>
          <a:xfrm>
            <a:off x="459614" y="3351579"/>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A2B3C"/>
              </a:buClr>
              <a:buSzPts val="980"/>
              <a:buFont typeface="Calibri"/>
              <a:buNone/>
            </a:pPr>
            <a:r>
              <a:rPr lang="en-US" sz="980" b="0" i="0" u="none" strike="noStrike" cap="none">
                <a:solidFill>
                  <a:srgbClr val="1A2B3C"/>
                </a:solidFill>
                <a:latin typeface="Calibri"/>
                <a:ea typeface="Calibri"/>
                <a:cs typeface="Calibri"/>
                <a:sym typeface="Calibri"/>
              </a:rPr>
              <a:t>PING phase start</a:t>
            </a:r>
            <a:endParaRPr sz="980" b="0" i="0" u="none" strike="noStrike" cap="none">
              <a:solidFill>
                <a:srgbClr val="000000"/>
              </a:solidFill>
              <a:latin typeface="Calibri"/>
              <a:ea typeface="Calibri"/>
              <a:cs typeface="Calibri"/>
              <a:sym typeface="Calibri"/>
            </a:endParaRPr>
          </a:p>
        </p:txBody>
      </p:sp>
      <p:sp>
        <p:nvSpPr>
          <p:cNvPr id="476" name="Google Shape;476;g3e6c10605ba_0_268"/>
          <p:cNvSpPr/>
          <p:nvPr/>
        </p:nvSpPr>
        <p:spPr>
          <a:xfrm>
            <a:off x="4809894" y="3326816"/>
            <a:ext cx="19854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g3e6c10605ba_0_268"/>
          <p:cNvSpPr/>
          <p:nvPr/>
        </p:nvSpPr>
        <p:spPr>
          <a:xfrm>
            <a:off x="4861683" y="3351579"/>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~23 ms</a:t>
            </a:r>
            <a:endParaRPr sz="980" b="0" i="0" u="none" strike="noStrike" cap="none">
              <a:solidFill>
                <a:srgbClr val="000000"/>
              </a:solidFill>
              <a:latin typeface="Calibri"/>
              <a:ea typeface="Calibri"/>
              <a:cs typeface="Calibri"/>
              <a:sym typeface="Calibri"/>
            </a:endParaRPr>
          </a:p>
        </p:txBody>
      </p:sp>
      <p:sp>
        <p:nvSpPr>
          <p:cNvPr id="478" name="Google Shape;478;g3e6c10605ba_0_268"/>
          <p:cNvSpPr/>
          <p:nvPr/>
        </p:nvSpPr>
        <p:spPr>
          <a:xfrm>
            <a:off x="6795141" y="3326816"/>
            <a:ext cx="17262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g3e6c10605ba_0_268"/>
          <p:cNvSpPr/>
          <p:nvPr/>
        </p:nvSpPr>
        <p:spPr>
          <a:xfrm>
            <a:off x="6846930" y="3351579"/>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~1,150,000</a:t>
            </a:r>
            <a:endParaRPr sz="980" b="0" i="0" u="none" strike="noStrike" cap="none">
              <a:solidFill>
                <a:srgbClr val="000000"/>
              </a:solidFill>
              <a:latin typeface="Calibri"/>
              <a:ea typeface="Calibri"/>
              <a:cs typeface="Calibri"/>
              <a:sym typeface="Calibri"/>
            </a:endParaRPr>
          </a:p>
        </p:txBody>
      </p:sp>
      <p:sp>
        <p:nvSpPr>
          <p:cNvPr id="480" name="Google Shape;480;g3e6c10605ba_0_268"/>
          <p:cNvSpPr/>
          <p:nvPr/>
        </p:nvSpPr>
        <p:spPr>
          <a:xfrm>
            <a:off x="407825" y="3586824"/>
            <a:ext cx="44019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g3e6c10605ba_0_268"/>
          <p:cNvSpPr/>
          <p:nvPr/>
        </p:nvSpPr>
        <p:spPr>
          <a:xfrm>
            <a:off x="459614" y="3611587"/>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A2B3C"/>
              </a:buClr>
              <a:buSzPts val="980"/>
              <a:buFont typeface="Calibri"/>
              <a:buNone/>
            </a:pPr>
            <a:r>
              <a:rPr lang="en-US" sz="980" b="0" i="0" u="none" strike="noStrike" cap="none">
                <a:solidFill>
                  <a:srgbClr val="1A2B3C"/>
                </a:solidFill>
                <a:latin typeface="Calibri"/>
                <a:ea typeface="Calibri"/>
                <a:cs typeface="Calibri"/>
                <a:sym typeface="Calibri"/>
              </a:rPr>
              <a:t>4 PING bytes (P,I,N,G)</a:t>
            </a:r>
            <a:endParaRPr sz="980" b="0" i="0" u="none" strike="noStrike" cap="none">
              <a:solidFill>
                <a:srgbClr val="000000"/>
              </a:solidFill>
              <a:latin typeface="Calibri"/>
              <a:ea typeface="Calibri"/>
              <a:cs typeface="Calibri"/>
              <a:sym typeface="Calibri"/>
            </a:endParaRPr>
          </a:p>
        </p:txBody>
      </p:sp>
      <p:sp>
        <p:nvSpPr>
          <p:cNvPr id="482" name="Google Shape;482;g3e6c10605ba_0_268"/>
          <p:cNvSpPr/>
          <p:nvPr/>
        </p:nvSpPr>
        <p:spPr>
          <a:xfrm>
            <a:off x="4809894" y="3586824"/>
            <a:ext cx="19854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g3e6c10605ba_0_268"/>
          <p:cNvSpPr/>
          <p:nvPr/>
        </p:nvSpPr>
        <p:spPr>
          <a:xfrm>
            <a:off x="4861683" y="3611587"/>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~0.4 ms</a:t>
            </a:r>
            <a:endParaRPr sz="980" b="0" i="0" u="none" strike="noStrike" cap="none">
              <a:solidFill>
                <a:srgbClr val="000000"/>
              </a:solidFill>
              <a:latin typeface="Calibri"/>
              <a:ea typeface="Calibri"/>
              <a:cs typeface="Calibri"/>
              <a:sym typeface="Calibri"/>
            </a:endParaRPr>
          </a:p>
        </p:txBody>
      </p:sp>
      <p:sp>
        <p:nvSpPr>
          <p:cNvPr id="484" name="Google Shape;484;g3e6c10605ba_0_268"/>
          <p:cNvSpPr/>
          <p:nvPr/>
        </p:nvSpPr>
        <p:spPr>
          <a:xfrm>
            <a:off x="6795141" y="3586824"/>
            <a:ext cx="17262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g3e6c10605ba_0_268"/>
          <p:cNvSpPr/>
          <p:nvPr/>
        </p:nvSpPr>
        <p:spPr>
          <a:xfrm>
            <a:off x="6846930" y="3611587"/>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~20,000</a:t>
            </a:r>
            <a:endParaRPr sz="980" b="0" i="0" u="none" strike="noStrike" cap="none">
              <a:solidFill>
                <a:srgbClr val="000000"/>
              </a:solidFill>
              <a:latin typeface="Calibri"/>
              <a:ea typeface="Calibri"/>
              <a:cs typeface="Calibri"/>
              <a:sym typeface="Calibri"/>
            </a:endParaRPr>
          </a:p>
        </p:txBody>
      </p:sp>
      <p:sp>
        <p:nvSpPr>
          <p:cNvPr id="486" name="Google Shape;486;g3e6c10605ba_0_268"/>
          <p:cNvSpPr/>
          <p:nvPr/>
        </p:nvSpPr>
        <p:spPr>
          <a:xfrm>
            <a:off x="407825" y="3846832"/>
            <a:ext cx="44019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g3e6c10605ba_0_268"/>
          <p:cNvSpPr/>
          <p:nvPr/>
        </p:nvSpPr>
        <p:spPr>
          <a:xfrm>
            <a:off x="459614" y="3871595"/>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A2B3C"/>
              </a:buClr>
              <a:buSzPts val="980"/>
              <a:buFont typeface="Calibri"/>
              <a:buNone/>
            </a:pPr>
            <a:r>
              <a:rPr lang="en-US" sz="980" b="0" i="0" u="none" strike="noStrike" cap="none">
                <a:solidFill>
                  <a:srgbClr val="1A2B3C"/>
                </a:solidFill>
                <a:latin typeface="Calibri"/>
                <a:ea typeface="Calibri"/>
                <a:cs typeface="Calibri"/>
                <a:sym typeface="Calibri"/>
              </a:rPr>
              <a:t>TEST PASSED logged</a:t>
            </a:r>
            <a:endParaRPr sz="980" b="0" i="0" u="none" strike="noStrike" cap="none">
              <a:solidFill>
                <a:srgbClr val="000000"/>
              </a:solidFill>
              <a:latin typeface="Calibri"/>
              <a:ea typeface="Calibri"/>
              <a:cs typeface="Calibri"/>
              <a:sym typeface="Calibri"/>
            </a:endParaRPr>
          </a:p>
        </p:txBody>
      </p:sp>
      <p:sp>
        <p:nvSpPr>
          <p:cNvPr id="488" name="Google Shape;488;g3e6c10605ba_0_268"/>
          <p:cNvSpPr/>
          <p:nvPr/>
        </p:nvSpPr>
        <p:spPr>
          <a:xfrm>
            <a:off x="4809894" y="3846832"/>
            <a:ext cx="19854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g3e6c10605ba_0_268"/>
          <p:cNvSpPr/>
          <p:nvPr/>
        </p:nvSpPr>
        <p:spPr>
          <a:xfrm>
            <a:off x="4861683" y="3871595"/>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~23.4 ms</a:t>
            </a:r>
            <a:endParaRPr sz="980" b="0" i="0" u="none" strike="noStrike" cap="none">
              <a:solidFill>
                <a:srgbClr val="000000"/>
              </a:solidFill>
              <a:latin typeface="Calibri"/>
              <a:ea typeface="Calibri"/>
              <a:cs typeface="Calibri"/>
              <a:sym typeface="Calibri"/>
            </a:endParaRPr>
          </a:p>
        </p:txBody>
      </p:sp>
      <p:sp>
        <p:nvSpPr>
          <p:cNvPr id="490" name="Google Shape;490;g3e6c10605ba_0_268"/>
          <p:cNvSpPr/>
          <p:nvPr/>
        </p:nvSpPr>
        <p:spPr>
          <a:xfrm>
            <a:off x="6795141" y="3846832"/>
            <a:ext cx="17262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g3e6c10605ba_0_268"/>
          <p:cNvSpPr/>
          <p:nvPr/>
        </p:nvSpPr>
        <p:spPr>
          <a:xfrm>
            <a:off x="6846930" y="3871595"/>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~1,170,000</a:t>
            </a:r>
            <a:endParaRPr sz="980" b="0" i="0" u="none" strike="noStrike" cap="none">
              <a:solidFill>
                <a:srgbClr val="000000"/>
              </a:solidFill>
              <a:latin typeface="Calibri"/>
              <a:ea typeface="Calibri"/>
              <a:cs typeface="Calibri"/>
              <a:sym typeface="Calibri"/>
            </a:endParaRPr>
          </a:p>
        </p:txBody>
      </p:sp>
      <p:sp>
        <p:nvSpPr>
          <p:cNvPr id="492" name="Google Shape;492;g3e6c10605ba_0_268"/>
          <p:cNvSpPr/>
          <p:nvPr/>
        </p:nvSpPr>
        <p:spPr>
          <a:xfrm>
            <a:off x="407825" y="4106841"/>
            <a:ext cx="44019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g3e6c10605ba_0_268"/>
          <p:cNvSpPr/>
          <p:nvPr/>
        </p:nvSpPr>
        <p:spPr>
          <a:xfrm>
            <a:off x="459614" y="4131603"/>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A2B3C"/>
              </a:buClr>
              <a:buSzPts val="980"/>
              <a:buFont typeface="Calibri"/>
              <a:buNone/>
            </a:pPr>
            <a:r>
              <a:rPr lang="en-US" sz="980" b="0" i="0" u="none" strike="noStrike" cap="none">
                <a:solidFill>
                  <a:srgbClr val="1A2B3C"/>
                </a:solidFill>
                <a:latin typeface="Calibri"/>
                <a:ea typeface="Calibri"/>
                <a:cs typeface="Calibri"/>
                <a:sym typeface="Calibri"/>
              </a:rPr>
              <a:t>$finish (Verilator)</a:t>
            </a:r>
            <a:endParaRPr sz="980" b="0" i="0" u="none" strike="noStrike" cap="none">
              <a:solidFill>
                <a:srgbClr val="000000"/>
              </a:solidFill>
              <a:latin typeface="Calibri"/>
              <a:ea typeface="Calibri"/>
              <a:cs typeface="Calibri"/>
              <a:sym typeface="Calibri"/>
            </a:endParaRPr>
          </a:p>
        </p:txBody>
      </p:sp>
      <p:sp>
        <p:nvSpPr>
          <p:cNvPr id="494" name="Google Shape;494;g3e6c10605ba_0_268"/>
          <p:cNvSpPr/>
          <p:nvPr/>
        </p:nvSpPr>
        <p:spPr>
          <a:xfrm>
            <a:off x="4809894" y="4106841"/>
            <a:ext cx="19854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g3e6c10605ba_0_268"/>
          <p:cNvSpPr/>
          <p:nvPr/>
        </p:nvSpPr>
        <p:spPr>
          <a:xfrm>
            <a:off x="4861683" y="4131603"/>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~23.4 ms</a:t>
            </a:r>
            <a:endParaRPr sz="980" b="0" i="0" u="none" strike="noStrike" cap="none">
              <a:solidFill>
                <a:srgbClr val="000000"/>
              </a:solidFill>
              <a:latin typeface="Calibri"/>
              <a:ea typeface="Calibri"/>
              <a:cs typeface="Calibri"/>
              <a:sym typeface="Calibri"/>
            </a:endParaRPr>
          </a:p>
        </p:txBody>
      </p:sp>
      <p:sp>
        <p:nvSpPr>
          <p:cNvPr id="496" name="Google Shape;496;g3e6c10605ba_0_268"/>
          <p:cNvSpPr/>
          <p:nvPr/>
        </p:nvSpPr>
        <p:spPr>
          <a:xfrm>
            <a:off x="6795141" y="4106841"/>
            <a:ext cx="1726200" cy="260100"/>
          </a:xfrm>
          <a:prstGeom prst="rect">
            <a:avLst/>
          </a:prstGeom>
          <a:solidFill>
            <a:srgbClr val="FFFFFF"/>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g3e6c10605ba_0_268"/>
          <p:cNvSpPr/>
          <p:nvPr/>
        </p:nvSpPr>
        <p:spPr>
          <a:xfrm>
            <a:off x="6846930" y="4131603"/>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a:t>
            </a:r>
            <a:endParaRPr sz="980" b="0" i="0" u="none" strike="noStrike" cap="none">
              <a:solidFill>
                <a:srgbClr val="000000"/>
              </a:solidFill>
              <a:latin typeface="Calibri"/>
              <a:ea typeface="Calibri"/>
              <a:cs typeface="Calibri"/>
              <a:sym typeface="Calibri"/>
            </a:endParaRPr>
          </a:p>
        </p:txBody>
      </p:sp>
      <p:sp>
        <p:nvSpPr>
          <p:cNvPr id="498" name="Google Shape;498;g3e6c10605ba_0_268"/>
          <p:cNvSpPr/>
          <p:nvPr/>
        </p:nvSpPr>
        <p:spPr>
          <a:xfrm>
            <a:off x="407825" y="4366849"/>
            <a:ext cx="44019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g3e6c10605ba_0_268"/>
          <p:cNvSpPr/>
          <p:nvPr/>
        </p:nvSpPr>
        <p:spPr>
          <a:xfrm>
            <a:off x="459614" y="4391611"/>
            <a:ext cx="4315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A2B3C"/>
              </a:buClr>
              <a:buSzPts val="980"/>
              <a:buFont typeface="Calibri"/>
              <a:buNone/>
            </a:pPr>
            <a:r>
              <a:rPr lang="en-US" sz="980" b="0" i="0" u="none" strike="noStrike" cap="none">
                <a:solidFill>
                  <a:srgbClr val="1A2B3C"/>
                </a:solidFill>
                <a:latin typeface="Calibri"/>
                <a:ea typeface="Calibri"/>
                <a:cs typeface="Calibri"/>
                <a:sym typeface="Calibri"/>
              </a:rPr>
              <a:t>Wall time (Verilator execution)</a:t>
            </a:r>
            <a:endParaRPr sz="980" b="0" i="0" u="none" strike="noStrike" cap="none">
              <a:solidFill>
                <a:srgbClr val="000000"/>
              </a:solidFill>
              <a:latin typeface="Calibri"/>
              <a:ea typeface="Calibri"/>
              <a:cs typeface="Calibri"/>
              <a:sym typeface="Calibri"/>
            </a:endParaRPr>
          </a:p>
        </p:txBody>
      </p:sp>
      <p:sp>
        <p:nvSpPr>
          <p:cNvPr id="500" name="Google Shape;500;g3e6c10605ba_0_268"/>
          <p:cNvSpPr/>
          <p:nvPr/>
        </p:nvSpPr>
        <p:spPr>
          <a:xfrm>
            <a:off x="4809894" y="4366849"/>
            <a:ext cx="19854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g3e6c10605ba_0_268"/>
          <p:cNvSpPr/>
          <p:nvPr/>
        </p:nvSpPr>
        <p:spPr>
          <a:xfrm>
            <a:off x="4861683" y="4391611"/>
            <a:ext cx="18990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~1.2 s</a:t>
            </a:r>
            <a:endParaRPr sz="980" b="0" i="0" u="none" strike="noStrike" cap="none">
              <a:solidFill>
                <a:srgbClr val="000000"/>
              </a:solidFill>
              <a:latin typeface="Calibri"/>
              <a:ea typeface="Calibri"/>
              <a:cs typeface="Calibri"/>
              <a:sym typeface="Calibri"/>
            </a:endParaRPr>
          </a:p>
        </p:txBody>
      </p:sp>
      <p:sp>
        <p:nvSpPr>
          <p:cNvPr id="502" name="Google Shape;502;g3e6c10605ba_0_268"/>
          <p:cNvSpPr/>
          <p:nvPr/>
        </p:nvSpPr>
        <p:spPr>
          <a:xfrm>
            <a:off x="6795141" y="4366849"/>
            <a:ext cx="1726200" cy="260100"/>
          </a:xfrm>
          <a:prstGeom prst="rect">
            <a:avLst/>
          </a:prstGeom>
          <a:solidFill>
            <a:srgbClr val="D6EAF8"/>
          </a:solidFill>
          <a:ln w="9525" cap="flat" cmpd="sng">
            <a:solidFill>
              <a:srgbClr val="AED6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g3e6c10605ba_0_268"/>
          <p:cNvSpPr/>
          <p:nvPr/>
        </p:nvSpPr>
        <p:spPr>
          <a:xfrm>
            <a:off x="6846930" y="4391611"/>
            <a:ext cx="1639800" cy="226800"/>
          </a:xfrm>
          <a:prstGeom prst="rect">
            <a:avLst/>
          </a:prstGeom>
          <a:noFill/>
          <a:ln>
            <a:noFill/>
          </a:ln>
        </p:spPr>
        <p:txBody>
          <a:bodyPr spcFirstLastPara="1" wrap="square" lIns="12700" tIns="12700" rIns="12700" bIns="12700" anchor="ctr" anchorCtr="0">
            <a:noAutofit/>
          </a:bodyPr>
          <a:lstStyle/>
          <a:p>
            <a:pPr marL="0" marR="0" lvl="0" indent="0" algn="l" rtl="0">
              <a:spcBef>
                <a:spcPts val="0"/>
              </a:spcBef>
              <a:spcAft>
                <a:spcPts val="0"/>
              </a:spcAft>
              <a:buClr>
                <a:srgbClr val="1F618D"/>
              </a:buClr>
              <a:buSzPts val="980"/>
              <a:buFont typeface="Consolas"/>
              <a:buNone/>
            </a:pPr>
            <a:r>
              <a:rPr lang="en-US" sz="980" b="0" i="0" u="none" strike="noStrike" cap="none">
                <a:solidFill>
                  <a:srgbClr val="1F618D"/>
                </a:solidFill>
                <a:latin typeface="Consolas"/>
                <a:ea typeface="Consolas"/>
                <a:cs typeface="Consolas"/>
                <a:sym typeface="Consolas"/>
              </a:rPr>
              <a:t>—</a:t>
            </a:r>
            <a:endParaRPr sz="980" b="0" i="0" u="none" strike="noStrike" cap="none">
              <a:solidFill>
                <a:srgbClr val="000000"/>
              </a:solidFill>
              <a:latin typeface="Calibri"/>
              <a:ea typeface="Calibri"/>
              <a:cs typeface="Calibri"/>
              <a:sym typeface="Calibri"/>
            </a:endParaRPr>
          </a:p>
        </p:txBody>
      </p:sp>
      <p:sp>
        <p:nvSpPr>
          <p:cNvPr id="504" name="Google Shape;504;g3e6c10605ba_0_268"/>
          <p:cNvSpPr/>
          <p:nvPr/>
        </p:nvSpPr>
        <p:spPr>
          <a:xfrm>
            <a:off x="407825" y="4663450"/>
            <a:ext cx="8156700" cy="402300"/>
          </a:xfrm>
          <a:prstGeom prst="rect">
            <a:avLst/>
          </a:prstGeom>
          <a:solidFill>
            <a:srgbClr val="D5E8F3"/>
          </a:solidFill>
          <a:ln w="12700" cap="flat" cmpd="sng">
            <a:solidFill>
              <a:srgbClr val="2E8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g3e6c10605ba_0_268"/>
          <p:cNvSpPr/>
          <p:nvPr/>
        </p:nvSpPr>
        <p:spPr>
          <a:xfrm>
            <a:off x="492789" y="4681738"/>
            <a:ext cx="79866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Formula:  cycles_per_bit = CLK_FREQ / BAUD_RATE = 50,000,000 / 115,200 = 434   |   frame_cycles = 434 × 10 bits = 4,340   |   frame_time = 4,340 × 20ns = 86.8 µs</a:t>
            </a:r>
            <a:endParaRPr sz="900" b="0" i="0" u="none" strike="noStrike" cap="non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g3e6c10605ba_0_272"/>
          <p:cNvSpPr/>
          <p:nvPr/>
        </p:nvSpPr>
        <p:spPr>
          <a:xfrm>
            <a:off x="320040" y="425626"/>
            <a:ext cx="8503800" cy="429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700" b="1" i="0" u="none" strike="noStrike" cap="none">
                <a:solidFill>
                  <a:schemeClr val="dk1"/>
                </a:solidFill>
                <a:latin typeface="Calibri"/>
                <a:ea typeface="Calibri"/>
                <a:cs typeface="Calibri"/>
                <a:sym typeface="Calibri"/>
              </a:rPr>
              <a:t>Reading AXI Waveforms</a:t>
            </a:r>
            <a:endParaRPr sz="2700" b="0" i="0" u="none" strike="noStrike" cap="none">
              <a:solidFill>
                <a:schemeClr val="dk1"/>
              </a:solidFill>
              <a:latin typeface="Calibri"/>
              <a:ea typeface="Calibri"/>
              <a:cs typeface="Calibri"/>
              <a:sym typeface="Calibri"/>
            </a:endParaRPr>
          </a:p>
        </p:txBody>
      </p:sp>
      <p:sp>
        <p:nvSpPr>
          <p:cNvPr id="512" name="Google Shape;512;g3e6c10605ba_0_272"/>
          <p:cNvSpPr/>
          <p:nvPr/>
        </p:nvSpPr>
        <p:spPr>
          <a:xfrm>
            <a:off x="365875" y="965125"/>
            <a:ext cx="8503800" cy="365700"/>
          </a:xfrm>
          <a:prstGeom prst="rect">
            <a:avLst/>
          </a:prstGeom>
          <a:solidFill>
            <a:srgbClr val="D6EAF8"/>
          </a:solidFill>
          <a:ln w="12700" cap="flat" cmpd="sng">
            <a:solidFill>
              <a:srgbClr val="2E8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g3e6c10605ba_0_272"/>
          <p:cNvSpPr/>
          <p:nvPr/>
        </p:nvSpPr>
        <p:spPr>
          <a:xfrm>
            <a:off x="365825" y="974275"/>
            <a:ext cx="85038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1050"/>
              <a:buFont typeface="Calibri"/>
              <a:buNone/>
            </a:pPr>
            <a:r>
              <a:rPr lang="en-US" sz="1050" b="1" i="0" u="none" strike="noStrike" cap="none">
                <a:solidFill>
                  <a:srgbClr val="1F618D"/>
                </a:solidFill>
                <a:latin typeface="Calibri"/>
                <a:ea typeface="Calibri"/>
                <a:cs typeface="Calibri"/>
                <a:sym typeface="Calibri"/>
              </a:rPr>
              <a:t>🏆  Golden Rule: A transfer occurs ONLY when both VALID=1 AND READY=1 on the same rising clock edge — neither alone is sufficient.</a:t>
            </a:r>
            <a:endParaRPr sz="1050" b="0" i="0" u="none" strike="noStrike" cap="none">
              <a:solidFill>
                <a:srgbClr val="000000"/>
              </a:solidFill>
              <a:latin typeface="Calibri"/>
              <a:ea typeface="Calibri"/>
              <a:cs typeface="Calibri"/>
              <a:sym typeface="Calibri"/>
            </a:endParaRPr>
          </a:p>
        </p:txBody>
      </p:sp>
      <p:sp>
        <p:nvSpPr>
          <p:cNvPr id="514" name="Google Shape;514;g3e6c10605ba_0_272"/>
          <p:cNvSpPr/>
          <p:nvPr/>
        </p:nvSpPr>
        <p:spPr>
          <a:xfrm>
            <a:off x="393375" y="1394900"/>
            <a:ext cx="1650900" cy="23316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g3e6c10605ba_0_272"/>
          <p:cNvSpPr/>
          <p:nvPr/>
        </p:nvSpPr>
        <p:spPr>
          <a:xfrm>
            <a:off x="393375" y="1394900"/>
            <a:ext cx="1650900" cy="457200"/>
          </a:xfrm>
          <a:prstGeom prst="rect">
            <a:avLst/>
          </a:prstGeom>
          <a:solidFill>
            <a:srgbClr val="1A5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g3e6c10605ba_0_272"/>
          <p:cNvSpPr/>
          <p:nvPr/>
        </p:nvSpPr>
        <p:spPr>
          <a:xfrm>
            <a:off x="393375" y="1394900"/>
            <a:ext cx="1650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AW</a:t>
            </a:r>
            <a:endParaRPr sz="1600" b="0" i="0" u="none" strike="noStrike" cap="none">
              <a:solidFill>
                <a:srgbClr val="000000"/>
              </a:solidFill>
              <a:latin typeface="Calibri"/>
              <a:ea typeface="Calibri"/>
              <a:cs typeface="Calibri"/>
              <a:sym typeface="Calibri"/>
            </a:endParaRPr>
          </a:p>
        </p:txBody>
      </p:sp>
      <p:sp>
        <p:nvSpPr>
          <p:cNvPr id="517" name="Google Shape;517;g3e6c10605ba_0_272"/>
          <p:cNvSpPr/>
          <p:nvPr/>
        </p:nvSpPr>
        <p:spPr>
          <a:xfrm>
            <a:off x="393375" y="1650932"/>
            <a:ext cx="16509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b="0" i="0" u="none" strike="noStrike" cap="none">
                <a:solidFill>
                  <a:srgbClr val="FFFFFF"/>
                </a:solidFill>
                <a:latin typeface="Calibri"/>
                <a:ea typeface="Calibri"/>
                <a:cs typeface="Calibri"/>
                <a:sym typeface="Calibri"/>
              </a:rPr>
              <a:t>Write Address</a:t>
            </a:r>
            <a:endParaRPr sz="850" b="0" i="0" u="none" strike="noStrike" cap="none">
              <a:solidFill>
                <a:srgbClr val="000000"/>
              </a:solidFill>
              <a:latin typeface="Calibri"/>
              <a:ea typeface="Calibri"/>
              <a:cs typeface="Calibri"/>
              <a:sym typeface="Calibri"/>
            </a:endParaRPr>
          </a:p>
        </p:txBody>
      </p:sp>
      <p:sp>
        <p:nvSpPr>
          <p:cNvPr id="518" name="Google Shape;518;g3e6c10605ba_0_272"/>
          <p:cNvSpPr/>
          <p:nvPr/>
        </p:nvSpPr>
        <p:spPr>
          <a:xfrm>
            <a:off x="446914" y="1897820"/>
            <a:ext cx="15795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800"/>
              <a:buFont typeface="Calibri"/>
              <a:buNone/>
            </a:pPr>
            <a:r>
              <a:rPr lang="en-US" sz="800" b="1" i="0" u="none" strike="noStrike" cap="none">
                <a:solidFill>
                  <a:srgbClr val="2C5F7A"/>
                </a:solidFill>
                <a:latin typeface="Calibri"/>
                <a:ea typeface="Calibri"/>
                <a:cs typeface="Calibri"/>
                <a:sym typeface="Calibri"/>
              </a:rPr>
              <a:t>Master:</a:t>
            </a:r>
            <a:endParaRPr sz="800" b="0" i="0" u="none" strike="noStrike" cap="none">
              <a:solidFill>
                <a:srgbClr val="000000"/>
              </a:solidFill>
              <a:latin typeface="Calibri"/>
              <a:ea typeface="Calibri"/>
              <a:cs typeface="Calibri"/>
              <a:sym typeface="Calibri"/>
            </a:endParaRPr>
          </a:p>
        </p:txBody>
      </p:sp>
      <p:sp>
        <p:nvSpPr>
          <p:cNvPr id="519" name="Google Shape;519;g3e6c10605ba_0_272"/>
          <p:cNvSpPr/>
          <p:nvPr/>
        </p:nvSpPr>
        <p:spPr>
          <a:xfrm>
            <a:off x="446914" y="2062412"/>
            <a:ext cx="15795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m_axi_awvalid / m_axi_awready</a:t>
            </a:r>
            <a:endParaRPr sz="780" b="0" i="0" u="none" strike="noStrike" cap="none">
              <a:solidFill>
                <a:srgbClr val="000000"/>
              </a:solidFill>
              <a:latin typeface="Calibri"/>
              <a:ea typeface="Calibri"/>
              <a:cs typeface="Calibri"/>
              <a:sym typeface="Calibri"/>
            </a:endParaRPr>
          </a:p>
        </p:txBody>
      </p:sp>
      <p:sp>
        <p:nvSpPr>
          <p:cNvPr id="520" name="Google Shape;520;g3e6c10605ba_0_272"/>
          <p:cNvSpPr/>
          <p:nvPr/>
        </p:nvSpPr>
        <p:spPr>
          <a:xfrm>
            <a:off x="446914" y="2446460"/>
            <a:ext cx="15795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800"/>
              <a:buFont typeface="Calibri"/>
              <a:buNone/>
            </a:pPr>
            <a:r>
              <a:rPr lang="en-US" sz="800" b="1" i="0" u="none" strike="noStrike" cap="none">
                <a:solidFill>
                  <a:srgbClr val="2C5F7A"/>
                </a:solidFill>
                <a:latin typeface="Calibri"/>
                <a:ea typeface="Calibri"/>
                <a:cs typeface="Calibri"/>
                <a:sym typeface="Calibri"/>
              </a:rPr>
              <a:t>Slave:</a:t>
            </a:r>
            <a:endParaRPr sz="800" b="0" i="0" u="none" strike="noStrike" cap="none">
              <a:solidFill>
                <a:srgbClr val="000000"/>
              </a:solidFill>
              <a:latin typeface="Calibri"/>
              <a:ea typeface="Calibri"/>
              <a:cs typeface="Calibri"/>
              <a:sym typeface="Calibri"/>
            </a:endParaRPr>
          </a:p>
        </p:txBody>
      </p:sp>
      <p:sp>
        <p:nvSpPr>
          <p:cNvPr id="521" name="Google Shape;521;g3e6c10605ba_0_272"/>
          <p:cNvSpPr/>
          <p:nvPr/>
        </p:nvSpPr>
        <p:spPr>
          <a:xfrm>
            <a:off x="446914" y="2611052"/>
            <a:ext cx="15795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s2_axi_awvalid / s2_axi_awready</a:t>
            </a:r>
            <a:endParaRPr sz="780" b="0" i="0" u="none" strike="noStrike" cap="none">
              <a:solidFill>
                <a:srgbClr val="000000"/>
              </a:solidFill>
              <a:latin typeface="Calibri"/>
              <a:ea typeface="Calibri"/>
              <a:cs typeface="Calibri"/>
              <a:sym typeface="Calibri"/>
            </a:endParaRPr>
          </a:p>
        </p:txBody>
      </p:sp>
      <p:sp>
        <p:nvSpPr>
          <p:cNvPr id="522" name="Google Shape;522;g3e6c10605ba_0_272"/>
          <p:cNvSpPr/>
          <p:nvPr/>
        </p:nvSpPr>
        <p:spPr>
          <a:xfrm>
            <a:off x="446914" y="2995100"/>
            <a:ext cx="15795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850"/>
              <a:buFont typeface="Calibri"/>
              <a:buNone/>
            </a:pPr>
            <a:r>
              <a:rPr lang="en-US" sz="850" b="0" i="0" u="none" strike="noStrike" cap="none">
                <a:solidFill>
                  <a:srgbClr val="1A2B3C"/>
                </a:solidFill>
                <a:latin typeface="Calibri"/>
                <a:ea typeface="Calibri"/>
                <a:cs typeface="Calibri"/>
                <a:sym typeface="Calibri"/>
              </a:rPr>
              <a:t>CPU → Interconnect → UART Slave</a:t>
            </a:r>
            <a:endParaRPr sz="85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850"/>
              <a:buFont typeface="Calibri"/>
              <a:buNone/>
            </a:pPr>
            <a:r>
              <a:rPr lang="en-US" sz="850" b="0" i="0" u="none" strike="noStrike" cap="none">
                <a:solidFill>
                  <a:srgbClr val="1A2B3C"/>
                </a:solidFill>
                <a:latin typeface="Calibri"/>
                <a:ea typeface="Calibri"/>
                <a:cs typeface="Calibri"/>
                <a:sym typeface="Calibri"/>
              </a:rPr>
              <a:t>Presents write address 0x10000000</a:t>
            </a:r>
            <a:endParaRPr sz="850" b="0" i="0" u="none" strike="noStrike" cap="none">
              <a:solidFill>
                <a:srgbClr val="000000"/>
              </a:solidFill>
              <a:latin typeface="Calibri"/>
              <a:ea typeface="Calibri"/>
              <a:cs typeface="Calibri"/>
              <a:sym typeface="Calibri"/>
            </a:endParaRPr>
          </a:p>
        </p:txBody>
      </p:sp>
      <p:sp>
        <p:nvSpPr>
          <p:cNvPr id="523" name="Google Shape;523;g3e6c10605ba_0_272"/>
          <p:cNvSpPr/>
          <p:nvPr/>
        </p:nvSpPr>
        <p:spPr>
          <a:xfrm>
            <a:off x="2106616" y="1394900"/>
            <a:ext cx="1650900" cy="23316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g3e6c10605ba_0_272"/>
          <p:cNvSpPr/>
          <p:nvPr/>
        </p:nvSpPr>
        <p:spPr>
          <a:xfrm>
            <a:off x="2106616" y="1394900"/>
            <a:ext cx="1650900" cy="457200"/>
          </a:xfrm>
          <a:prstGeom prst="rect">
            <a:avLst/>
          </a:prstGeom>
          <a:solidFill>
            <a:srgbClr val="1E6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g3e6c10605ba_0_272"/>
          <p:cNvSpPr/>
          <p:nvPr/>
        </p:nvSpPr>
        <p:spPr>
          <a:xfrm>
            <a:off x="2106616" y="1394900"/>
            <a:ext cx="1650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W</a:t>
            </a:r>
            <a:endParaRPr sz="1600" b="0" i="0" u="none" strike="noStrike" cap="none">
              <a:solidFill>
                <a:srgbClr val="000000"/>
              </a:solidFill>
              <a:latin typeface="Calibri"/>
              <a:ea typeface="Calibri"/>
              <a:cs typeface="Calibri"/>
              <a:sym typeface="Calibri"/>
            </a:endParaRPr>
          </a:p>
        </p:txBody>
      </p:sp>
      <p:sp>
        <p:nvSpPr>
          <p:cNvPr id="526" name="Google Shape;526;g3e6c10605ba_0_272"/>
          <p:cNvSpPr/>
          <p:nvPr/>
        </p:nvSpPr>
        <p:spPr>
          <a:xfrm>
            <a:off x="2106616" y="1650932"/>
            <a:ext cx="16509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b="0" i="0" u="none" strike="noStrike" cap="none">
                <a:solidFill>
                  <a:srgbClr val="FFFFFF"/>
                </a:solidFill>
                <a:latin typeface="Calibri"/>
                <a:ea typeface="Calibri"/>
                <a:cs typeface="Calibri"/>
                <a:sym typeface="Calibri"/>
              </a:rPr>
              <a:t>Write Data</a:t>
            </a:r>
            <a:endParaRPr sz="850" b="0" i="0" u="none" strike="noStrike" cap="none">
              <a:solidFill>
                <a:srgbClr val="000000"/>
              </a:solidFill>
              <a:latin typeface="Calibri"/>
              <a:ea typeface="Calibri"/>
              <a:cs typeface="Calibri"/>
              <a:sym typeface="Calibri"/>
            </a:endParaRPr>
          </a:p>
        </p:txBody>
      </p:sp>
      <p:sp>
        <p:nvSpPr>
          <p:cNvPr id="527" name="Google Shape;527;g3e6c10605ba_0_272"/>
          <p:cNvSpPr/>
          <p:nvPr/>
        </p:nvSpPr>
        <p:spPr>
          <a:xfrm>
            <a:off x="2160154" y="1897820"/>
            <a:ext cx="15795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800"/>
              <a:buFont typeface="Calibri"/>
              <a:buNone/>
            </a:pPr>
            <a:r>
              <a:rPr lang="en-US" sz="800" b="1" i="0" u="none" strike="noStrike" cap="none">
                <a:solidFill>
                  <a:srgbClr val="2C5F7A"/>
                </a:solidFill>
                <a:latin typeface="Calibri"/>
                <a:ea typeface="Calibri"/>
                <a:cs typeface="Calibri"/>
                <a:sym typeface="Calibri"/>
              </a:rPr>
              <a:t>Master:</a:t>
            </a:r>
            <a:endParaRPr sz="800" b="0" i="0" u="none" strike="noStrike" cap="none">
              <a:solidFill>
                <a:srgbClr val="000000"/>
              </a:solidFill>
              <a:latin typeface="Calibri"/>
              <a:ea typeface="Calibri"/>
              <a:cs typeface="Calibri"/>
              <a:sym typeface="Calibri"/>
            </a:endParaRPr>
          </a:p>
        </p:txBody>
      </p:sp>
      <p:sp>
        <p:nvSpPr>
          <p:cNvPr id="528" name="Google Shape;528;g3e6c10605ba_0_272"/>
          <p:cNvSpPr/>
          <p:nvPr/>
        </p:nvSpPr>
        <p:spPr>
          <a:xfrm>
            <a:off x="2160154" y="2062412"/>
            <a:ext cx="15795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m_axi_wvalid / m_axi_wready</a:t>
            </a:r>
            <a:endParaRPr sz="780" b="0" i="0" u="none" strike="noStrike" cap="none">
              <a:solidFill>
                <a:srgbClr val="000000"/>
              </a:solidFill>
              <a:latin typeface="Calibri"/>
              <a:ea typeface="Calibri"/>
              <a:cs typeface="Calibri"/>
              <a:sym typeface="Calibri"/>
            </a:endParaRPr>
          </a:p>
        </p:txBody>
      </p:sp>
      <p:sp>
        <p:nvSpPr>
          <p:cNvPr id="529" name="Google Shape;529;g3e6c10605ba_0_272"/>
          <p:cNvSpPr/>
          <p:nvPr/>
        </p:nvSpPr>
        <p:spPr>
          <a:xfrm>
            <a:off x="2160154" y="2446460"/>
            <a:ext cx="15795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800"/>
              <a:buFont typeface="Calibri"/>
              <a:buNone/>
            </a:pPr>
            <a:r>
              <a:rPr lang="en-US" sz="800" b="1" i="0" u="none" strike="noStrike" cap="none">
                <a:solidFill>
                  <a:srgbClr val="2C5F7A"/>
                </a:solidFill>
                <a:latin typeface="Calibri"/>
                <a:ea typeface="Calibri"/>
                <a:cs typeface="Calibri"/>
                <a:sym typeface="Calibri"/>
              </a:rPr>
              <a:t>Slave:</a:t>
            </a:r>
            <a:endParaRPr sz="800" b="0" i="0" u="none" strike="noStrike" cap="none">
              <a:solidFill>
                <a:srgbClr val="000000"/>
              </a:solidFill>
              <a:latin typeface="Calibri"/>
              <a:ea typeface="Calibri"/>
              <a:cs typeface="Calibri"/>
              <a:sym typeface="Calibri"/>
            </a:endParaRPr>
          </a:p>
        </p:txBody>
      </p:sp>
      <p:sp>
        <p:nvSpPr>
          <p:cNvPr id="530" name="Google Shape;530;g3e6c10605ba_0_272"/>
          <p:cNvSpPr/>
          <p:nvPr/>
        </p:nvSpPr>
        <p:spPr>
          <a:xfrm>
            <a:off x="2160154" y="2611052"/>
            <a:ext cx="15795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s2_axi_wvalid / s2_axi_wready</a:t>
            </a:r>
            <a:endParaRPr sz="780" b="0" i="0" u="none" strike="noStrike" cap="none">
              <a:solidFill>
                <a:srgbClr val="000000"/>
              </a:solidFill>
              <a:latin typeface="Calibri"/>
              <a:ea typeface="Calibri"/>
              <a:cs typeface="Calibri"/>
              <a:sym typeface="Calibri"/>
            </a:endParaRPr>
          </a:p>
        </p:txBody>
      </p:sp>
      <p:sp>
        <p:nvSpPr>
          <p:cNvPr id="531" name="Google Shape;531;g3e6c10605ba_0_272"/>
          <p:cNvSpPr/>
          <p:nvPr/>
        </p:nvSpPr>
        <p:spPr>
          <a:xfrm>
            <a:off x="2160154" y="2995100"/>
            <a:ext cx="15795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850"/>
              <a:buFont typeface="Calibri"/>
              <a:buNone/>
            </a:pPr>
            <a:r>
              <a:rPr lang="en-US" sz="850" b="0" i="0" u="none" strike="noStrike" cap="none">
                <a:solidFill>
                  <a:srgbClr val="1A2B3C"/>
                </a:solidFill>
                <a:latin typeface="Calibri"/>
                <a:ea typeface="Calibri"/>
                <a:cs typeface="Calibri"/>
                <a:sym typeface="Calibri"/>
              </a:rPr>
              <a:t>Carries actual byte value</a:t>
            </a:r>
            <a:endParaRPr sz="85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850"/>
              <a:buFont typeface="Calibri"/>
              <a:buNone/>
            </a:pPr>
            <a:r>
              <a:rPr lang="en-US" sz="850" b="0" i="0" u="none" strike="noStrike" cap="none">
                <a:solidFill>
                  <a:srgbClr val="1A2B3C"/>
                </a:solidFill>
                <a:latin typeface="Calibri"/>
                <a:ea typeface="Calibri"/>
                <a:cs typeface="Calibri"/>
                <a:sym typeface="Calibri"/>
              </a:rPr>
              <a:t>wstrb=4'h1 for byte lane 0</a:t>
            </a:r>
            <a:endParaRPr sz="850" b="0" i="0" u="none" strike="noStrike" cap="none">
              <a:solidFill>
                <a:srgbClr val="000000"/>
              </a:solidFill>
              <a:latin typeface="Calibri"/>
              <a:ea typeface="Calibri"/>
              <a:cs typeface="Calibri"/>
              <a:sym typeface="Calibri"/>
            </a:endParaRPr>
          </a:p>
        </p:txBody>
      </p:sp>
      <p:sp>
        <p:nvSpPr>
          <p:cNvPr id="532" name="Google Shape;532;g3e6c10605ba_0_272"/>
          <p:cNvSpPr/>
          <p:nvPr/>
        </p:nvSpPr>
        <p:spPr>
          <a:xfrm>
            <a:off x="3819856" y="1394900"/>
            <a:ext cx="1650900" cy="23316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g3e6c10605ba_0_272"/>
          <p:cNvSpPr/>
          <p:nvPr/>
        </p:nvSpPr>
        <p:spPr>
          <a:xfrm>
            <a:off x="3819856" y="1394900"/>
            <a:ext cx="1650900" cy="457200"/>
          </a:xfrm>
          <a:prstGeom prst="rect">
            <a:avLst/>
          </a:prstGeom>
          <a:solidFill>
            <a:srgbClr val="6B3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g3e6c10605ba_0_272"/>
          <p:cNvSpPr/>
          <p:nvPr/>
        </p:nvSpPr>
        <p:spPr>
          <a:xfrm>
            <a:off x="3819856" y="1394900"/>
            <a:ext cx="1650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B</a:t>
            </a:r>
            <a:endParaRPr sz="1600" b="0" i="0" u="none" strike="noStrike" cap="none">
              <a:solidFill>
                <a:srgbClr val="000000"/>
              </a:solidFill>
              <a:latin typeface="Calibri"/>
              <a:ea typeface="Calibri"/>
              <a:cs typeface="Calibri"/>
              <a:sym typeface="Calibri"/>
            </a:endParaRPr>
          </a:p>
        </p:txBody>
      </p:sp>
      <p:sp>
        <p:nvSpPr>
          <p:cNvPr id="535" name="Google Shape;535;g3e6c10605ba_0_272"/>
          <p:cNvSpPr/>
          <p:nvPr/>
        </p:nvSpPr>
        <p:spPr>
          <a:xfrm>
            <a:off x="3819856" y="1650932"/>
            <a:ext cx="16509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b="0" i="0" u="none" strike="noStrike" cap="none">
                <a:solidFill>
                  <a:srgbClr val="FFFFFF"/>
                </a:solidFill>
                <a:latin typeface="Calibri"/>
                <a:ea typeface="Calibri"/>
                <a:cs typeface="Calibri"/>
                <a:sym typeface="Calibri"/>
              </a:rPr>
              <a:t>Write Response</a:t>
            </a:r>
            <a:endParaRPr sz="850" b="0" i="0" u="none" strike="noStrike" cap="none">
              <a:solidFill>
                <a:srgbClr val="000000"/>
              </a:solidFill>
              <a:latin typeface="Calibri"/>
              <a:ea typeface="Calibri"/>
              <a:cs typeface="Calibri"/>
              <a:sym typeface="Calibri"/>
            </a:endParaRPr>
          </a:p>
        </p:txBody>
      </p:sp>
      <p:sp>
        <p:nvSpPr>
          <p:cNvPr id="536" name="Google Shape;536;g3e6c10605ba_0_272"/>
          <p:cNvSpPr/>
          <p:nvPr/>
        </p:nvSpPr>
        <p:spPr>
          <a:xfrm>
            <a:off x="3873395" y="1897820"/>
            <a:ext cx="15795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800"/>
              <a:buFont typeface="Calibri"/>
              <a:buNone/>
            </a:pPr>
            <a:r>
              <a:rPr lang="en-US" sz="800" b="1" i="0" u="none" strike="noStrike" cap="none">
                <a:solidFill>
                  <a:srgbClr val="2C5F7A"/>
                </a:solidFill>
                <a:latin typeface="Calibri"/>
                <a:ea typeface="Calibri"/>
                <a:cs typeface="Calibri"/>
                <a:sym typeface="Calibri"/>
              </a:rPr>
              <a:t>Master:</a:t>
            </a:r>
            <a:endParaRPr sz="800" b="0" i="0" u="none" strike="noStrike" cap="none">
              <a:solidFill>
                <a:srgbClr val="000000"/>
              </a:solidFill>
              <a:latin typeface="Calibri"/>
              <a:ea typeface="Calibri"/>
              <a:cs typeface="Calibri"/>
              <a:sym typeface="Calibri"/>
            </a:endParaRPr>
          </a:p>
        </p:txBody>
      </p:sp>
      <p:sp>
        <p:nvSpPr>
          <p:cNvPr id="537" name="Google Shape;537;g3e6c10605ba_0_272"/>
          <p:cNvSpPr/>
          <p:nvPr/>
        </p:nvSpPr>
        <p:spPr>
          <a:xfrm>
            <a:off x="3873395" y="2062412"/>
            <a:ext cx="15795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m_axi_bready</a:t>
            </a:r>
            <a:endParaRPr sz="780" b="0" i="0" u="none" strike="noStrike" cap="none">
              <a:solidFill>
                <a:srgbClr val="000000"/>
              </a:solidFill>
              <a:latin typeface="Calibri"/>
              <a:ea typeface="Calibri"/>
              <a:cs typeface="Calibri"/>
              <a:sym typeface="Calibri"/>
            </a:endParaRPr>
          </a:p>
        </p:txBody>
      </p:sp>
      <p:sp>
        <p:nvSpPr>
          <p:cNvPr id="538" name="Google Shape;538;g3e6c10605ba_0_272"/>
          <p:cNvSpPr/>
          <p:nvPr/>
        </p:nvSpPr>
        <p:spPr>
          <a:xfrm>
            <a:off x="3873395" y="2446460"/>
            <a:ext cx="15795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800"/>
              <a:buFont typeface="Calibri"/>
              <a:buNone/>
            </a:pPr>
            <a:r>
              <a:rPr lang="en-US" sz="800" b="1" i="0" u="none" strike="noStrike" cap="none">
                <a:solidFill>
                  <a:srgbClr val="2C5F7A"/>
                </a:solidFill>
                <a:latin typeface="Calibri"/>
                <a:ea typeface="Calibri"/>
                <a:cs typeface="Calibri"/>
                <a:sym typeface="Calibri"/>
              </a:rPr>
              <a:t>Slave:</a:t>
            </a:r>
            <a:endParaRPr sz="800" b="0" i="0" u="none" strike="noStrike" cap="none">
              <a:solidFill>
                <a:srgbClr val="000000"/>
              </a:solidFill>
              <a:latin typeface="Calibri"/>
              <a:ea typeface="Calibri"/>
              <a:cs typeface="Calibri"/>
              <a:sym typeface="Calibri"/>
            </a:endParaRPr>
          </a:p>
        </p:txBody>
      </p:sp>
      <p:sp>
        <p:nvSpPr>
          <p:cNvPr id="539" name="Google Shape;539;g3e6c10605ba_0_272"/>
          <p:cNvSpPr/>
          <p:nvPr/>
        </p:nvSpPr>
        <p:spPr>
          <a:xfrm>
            <a:off x="3873395" y="2611052"/>
            <a:ext cx="15795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s2_axi_bvalid</a:t>
            </a:r>
            <a:endParaRPr sz="780" b="0" i="0" u="none" strike="noStrike" cap="none">
              <a:solidFill>
                <a:srgbClr val="000000"/>
              </a:solidFill>
              <a:latin typeface="Calibri"/>
              <a:ea typeface="Calibri"/>
              <a:cs typeface="Calibri"/>
              <a:sym typeface="Calibri"/>
            </a:endParaRPr>
          </a:p>
        </p:txBody>
      </p:sp>
      <p:sp>
        <p:nvSpPr>
          <p:cNvPr id="540" name="Google Shape;540;g3e6c10605ba_0_272"/>
          <p:cNvSpPr/>
          <p:nvPr/>
        </p:nvSpPr>
        <p:spPr>
          <a:xfrm>
            <a:off x="3873395" y="2995100"/>
            <a:ext cx="15795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850"/>
              <a:buFont typeface="Calibri"/>
              <a:buNone/>
            </a:pPr>
            <a:r>
              <a:rPr lang="en-US" sz="850" b="0" i="0" u="none" strike="noStrike" cap="none">
                <a:solidFill>
                  <a:srgbClr val="1A2B3C"/>
                </a:solidFill>
                <a:latin typeface="Calibri"/>
                <a:ea typeface="Calibri"/>
                <a:cs typeface="Calibri"/>
                <a:sym typeface="Calibri"/>
              </a:rPr>
              <a:t>Slave acknowledges write done</a:t>
            </a:r>
            <a:endParaRPr sz="85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850"/>
              <a:buFont typeface="Calibri"/>
              <a:buNone/>
            </a:pPr>
            <a:r>
              <a:rPr lang="en-US" sz="850" b="0" i="0" u="none" strike="noStrike" cap="none">
                <a:solidFill>
                  <a:srgbClr val="1A2B3C"/>
                </a:solidFill>
                <a:latin typeface="Calibri"/>
                <a:ea typeface="Calibri"/>
                <a:cs typeface="Calibri"/>
                <a:sym typeface="Calibri"/>
              </a:rPr>
              <a:t>b_state returns to IDLE</a:t>
            </a:r>
            <a:endParaRPr sz="850" b="0" i="0" u="none" strike="noStrike" cap="none">
              <a:solidFill>
                <a:srgbClr val="000000"/>
              </a:solidFill>
              <a:latin typeface="Calibri"/>
              <a:ea typeface="Calibri"/>
              <a:cs typeface="Calibri"/>
              <a:sym typeface="Calibri"/>
            </a:endParaRPr>
          </a:p>
        </p:txBody>
      </p:sp>
      <p:sp>
        <p:nvSpPr>
          <p:cNvPr id="541" name="Google Shape;541;g3e6c10605ba_0_272"/>
          <p:cNvSpPr/>
          <p:nvPr/>
        </p:nvSpPr>
        <p:spPr>
          <a:xfrm>
            <a:off x="5533097" y="1394900"/>
            <a:ext cx="1650900" cy="23316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g3e6c10605ba_0_272"/>
          <p:cNvSpPr/>
          <p:nvPr/>
        </p:nvSpPr>
        <p:spPr>
          <a:xfrm>
            <a:off x="5533097" y="1394900"/>
            <a:ext cx="1650900" cy="457200"/>
          </a:xfrm>
          <a:prstGeom prst="rect">
            <a:avLst/>
          </a:prstGeom>
          <a:solidFill>
            <a:srgbClr val="1F61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g3e6c10605ba_0_272"/>
          <p:cNvSpPr/>
          <p:nvPr/>
        </p:nvSpPr>
        <p:spPr>
          <a:xfrm>
            <a:off x="5533097" y="1394900"/>
            <a:ext cx="1650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AR</a:t>
            </a:r>
            <a:endParaRPr sz="1600" b="0" i="0" u="none" strike="noStrike" cap="none">
              <a:solidFill>
                <a:srgbClr val="000000"/>
              </a:solidFill>
              <a:latin typeface="Calibri"/>
              <a:ea typeface="Calibri"/>
              <a:cs typeface="Calibri"/>
              <a:sym typeface="Calibri"/>
            </a:endParaRPr>
          </a:p>
        </p:txBody>
      </p:sp>
      <p:sp>
        <p:nvSpPr>
          <p:cNvPr id="544" name="Google Shape;544;g3e6c10605ba_0_272"/>
          <p:cNvSpPr/>
          <p:nvPr/>
        </p:nvSpPr>
        <p:spPr>
          <a:xfrm>
            <a:off x="5533097" y="1650932"/>
            <a:ext cx="16509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b="0" i="0" u="none" strike="noStrike" cap="none">
                <a:solidFill>
                  <a:srgbClr val="FFFFFF"/>
                </a:solidFill>
                <a:latin typeface="Calibri"/>
                <a:ea typeface="Calibri"/>
                <a:cs typeface="Calibri"/>
                <a:sym typeface="Calibri"/>
              </a:rPr>
              <a:t>Read Address</a:t>
            </a:r>
            <a:endParaRPr sz="850" b="0" i="0" u="none" strike="noStrike" cap="none">
              <a:solidFill>
                <a:srgbClr val="000000"/>
              </a:solidFill>
              <a:latin typeface="Calibri"/>
              <a:ea typeface="Calibri"/>
              <a:cs typeface="Calibri"/>
              <a:sym typeface="Calibri"/>
            </a:endParaRPr>
          </a:p>
        </p:txBody>
      </p:sp>
      <p:sp>
        <p:nvSpPr>
          <p:cNvPr id="545" name="Google Shape;545;g3e6c10605ba_0_272"/>
          <p:cNvSpPr/>
          <p:nvPr/>
        </p:nvSpPr>
        <p:spPr>
          <a:xfrm>
            <a:off x="5586636" y="1897820"/>
            <a:ext cx="15795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800"/>
              <a:buFont typeface="Calibri"/>
              <a:buNone/>
            </a:pPr>
            <a:r>
              <a:rPr lang="en-US" sz="800" b="1" i="0" u="none" strike="noStrike" cap="none">
                <a:solidFill>
                  <a:srgbClr val="2C5F7A"/>
                </a:solidFill>
                <a:latin typeface="Calibri"/>
                <a:ea typeface="Calibri"/>
                <a:cs typeface="Calibri"/>
                <a:sym typeface="Calibri"/>
              </a:rPr>
              <a:t>Master:</a:t>
            </a:r>
            <a:endParaRPr sz="800" b="0" i="0" u="none" strike="noStrike" cap="none">
              <a:solidFill>
                <a:srgbClr val="000000"/>
              </a:solidFill>
              <a:latin typeface="Calibri"/>
              <a:ea typeface="Calibri"/>
              <a:cs typeface="Calibri"/>
              <a:sym typeface="Calibri"/>
            </a:endParaRPr>
          </a:p>
        </p:txBody>
      </p:sp>
      <p:sp>
        <p:nvSpPr>
          <p:cNvPr id="546" name="Google Shape;546;g3e6c10605ba_0_272"/>
          <p:cNvSpPr/>
          <p:nvPr/>
        </p:nvSpPr>
        <p:spPr>
          <a:xfrm>
            <a:off x="5586636" y="2062412"/>
            <a:ext cx="15795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m_axi_arvalid / m_axi_arready</a:t>
            </a:r>
            <a:endParaRPr sz="780" b="0" i="0" u="none" strike="noStrike" cap="none">
              <a:solidFill>
                <a:srgbClr val="000000"/>
              </a:solidFill>
              <a:latin typeface="Calibri"/>
              <a:ea typeface="Calibri"/>
              <a:cs typeface="Calibri"/>
              <a:sym typeface="Calibri"/>
            </a:endParaRPr>
          </a:p>
        </p:txBody>
      </p:sp>
      <p:sp>
        <p:nvSpPr>
          <p:cNvPr id="547" name="Google Shape;547;g3e6c10605ba_0_272"/>
          <p:cNvSpPr/>
          <p:nvPr/>
        </p:nvSpPr>
        <p:spPr>
          <a:xfrm>
            <a:off x="5586636" y="2446460"/>
            <a:ext cx="15795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800"/>
              <a:buFont typeface="Calibri"/>
              <a:buNone/>
            </a:pPr>
            <a:r>
              <a:rPr lang="en-US" sz="800" b="1" i="0" u="none" strike="noStrike" cap="none">
                <a:solidFill>
                  <a:srgbClr val="2C5F7A"/>
                </a:solidFill>
                <a:latin typeface="Calibri"/>
                <a:ea typeface="Calibri"/>
                <a:cs typeface="Calibri"/>
                <a:sym typeface="Calibri"/>
              </a:rPr>
              <a:t>Slave:</a:t>
            </a:r>
            <a:endParaRPr sz="800" b="0" i="0" u="none" strike="noStrike" cap="none">
              <a:solidFill>
                <a:srgbClr val="000000"/>
              </a:solidFill>
              <a:latin typeface="Calibri"/>
              <a:ea typeface="Calibri"/>
              <a:cs typeface="Calibri"/>
              <a:sym typeface="Calibri"/>
            </a:endParaRPr>
          </a:p>
        </p:txBody>
      </p:sp>
      <p:sp>
        <p:nvSpPr>
          <p:cNvPr id="548" name="Google Shape;548;g3e6c10605ba_0_272"/>
          <p:cNvSpPr/>
          <p:nvPr/>
        </p:nvSpPr>
        <p:spPr>
          <a:xfrm>
            <a:off x="5586636" y="2611052"/>
            <a:ext cx="15795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s2_axi_arvalid / s2_axi_arready</a:t>
            </a:r>
            <a:endParaRPr sz="780" b="0" i="0" u="none" strike="noStrike" cap="none">
              <a:solidFill>
                <a:srgbClr val="000000"/>
              </a:solidFill>
              <a:latin typeface="Calibri"/>
              <a:ea typeface="Calibri"/>
              <a:cs typeface="Calibri"/>
              <a:sym typeface="Calibri"/>
            </a:endParaRPr>
          </a:p>
        </p:txBody>
      </p:sp>
      <p:sp>
        <p:nvSpPr>
          <p:cNvPr id="549" name="Google Shape;549;g3e6c10605ba_0_272"/>
          <p:cNvSpPr/>
          <p:nvPr/>
        </p:nvSpPr>
        <p:spPr>
          <a:xfrm>
            <a:off x="5586636" y="2995100"/>
            <a:ext cx="15795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850"/>
              <a:buFont typeface="Calibri"/>
              <a:buNone/>
            </a:pPr>
            <a:r>
              <a:rPr lang="en-US" sz="850" b="0" i="0" u="none" strike="noStrike" cap="none">
                <a:solidFill>
                  <a:srgbClr val="1A2B3C"/>
                </a:solidFill>
                <a:latin typeface="Calibri"/>
                <a:ea typeface="Calibri"/>
                <a:cs typeface="Calibri"/>
                <a:sym typeface="Calibri"/>
              </a:rPr>
              <a:t>Read from STATUS: 0x10000008</a:t>
            </a:r>
            <a:endParaRPr sz="85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850"/>
              <a:buFont typeface="Calibri"/>
              <a:buNone/>
            </a:pPr>
            <a:r>
              <a:rPr lang="en-US" sz="850" b="0" i="0" u="none" strike="noStrike" cap="none">
                <a:solidFill>
                  <a:srgbClr val="1A2B3C"/>
                </a:solidFill>
                <a:latin typeface="Calibri"/>
                <a:ea typeface="Calibri"/>
                <a:cs typeface="Calibri"/>
                <a:sym typeface="Calibri"/>
              </a:rPr>
              <a:t>Read from RX data: 0x10000004</a:t>
            </a:r>
            <a:endParaRPr sz="850" b="0" i="0" u="none" strike="noStrike" cap="none">
              <a:solidFill>
                <a:srgbClr val="000000"/>
              </a:solidFill>
              <a:latin typeface="Calibri"/>
              <a:ea typeface="Calibri"/>
              <a:cs typeface="Calibri"/>
              <a:sym typeface="Calibri"/>
            </a:endParaRPr>
          </a:p>
        </p:txBody>
      </p:sp>
      <p:sp>
        <p:nvSpPr>
          <p:cNvPr id="550" name="Google Shape;550;g3e6c10605ba_0_272"/>
          <p:cNvSpPr/>
          <p:nvPr/>
        </p:nvSpPr>
        <p:spPr>
          <a:xfrm>
            <a:off x="7246338" y="1394900"/>
            <a:ext cx="1650900" cy="23316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g3e6c10605ba_0_272"/>
          <p:cNvSpPr/>
          <p:nvPr/>
        </p:nvSpPr>
        <p:spPr>
          <a:xfrm>
            <a:off x="7246338" y="1394900"/>
            <a:ext cx="1650900" cy="457200"/>
          </a:xfrm>
          <a:prstGeom prst="rect">
            <a:avLst/>
          </a:prstGeom>
          <a:solidFill>
            <a:srgbClr val="5B2C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g3e6c10605ba_0_272"/>
          <p:cNvSpPr/>
          <p:nvPr/>
        </p:nvSpPr>
        <p:spPr>
          <a:xfrm>
            <a:off x="7246338" y="1394900"/>
            <a:ext cx="16509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R</a:t>
            </a:r>
            <a:endParaRPr sz="1600" b="0" i="0" u="none" strike="noStrike" cap="none">
              <a:solidFill>
                <a:srgbClr val="000000"/>
              </a:solidFill>
              <a:latin typeface="Calibri"/>
              <a:ea typeface="Calibri"/>
              <a:cs typeface="Calibri"/>
              <a:sym typeface="Calibri"/>
            </a:endParaRPr>
          </a:p>
        </p:txBody>
      </p:sp>
      <p:sp>
        <p:nvSpPr>
          <p:cNvPr id="553" name="Google Shape;553;g3e6c10605ba_0_272"/>
          <p:cNvSpPr/>
          <p:nvPr/>
        </p:nvSpPr>
        <p:spPr>
          <a:xfrm>
            <a:off x="7246338" y="1650932"/>
            <a:ext cx="16509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b="0" i="0" u="none" strike="noStrike" cap="none">
                <a:solidFill>
                  <a:srgbClr val="FFFFFF"/>
                </a:solidFill>
                <a:latin typeface="Calibri"/>
                <a:ea typeface="Calibri"/>
                <a:cs typeface="Calibri"/>
                <a:sym typeface="Calibri"/>
              </a:rPr>
              <a:t>Read Data</a:t>
            </a:r>
            <a:endParaRPr sz="850" b="0" i="0" u="none" strike="noStrike" cap="none">
              <a:solidFill>
                <a:srgbClr val="000000"/>
              </a:solidFill>
              <a:latin typeface="Calibri"/>
              <a:ea typeface="Calibri"/>
              <a:cs typeface="Calibri"/>
              <a:sym typeface="Calibri"/>
            </a:endParaRPr>
          </a:p>
        </p:txBody>
      </p:sp>
      <p:sp>
        <p:nvSpPr>
          <p:cNvPr id="554" name="Google Shape;554;g3e6c10605ba_0_272"/>
          <p:cNvSpPr/>
          <p:nvPr/>
        </p:nvSpPr>
        <p:spPr>
          <a:xfrm>
            <a:off x="7299876" y="1897820"/>
            <a:ext cx="15795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800"/>
              <a:buFont typeface="Calibri"/>
              <a:buNone/>
            </a:pPr>
            <a:r>
              <a:rPr lang="en-US" sz="800" b="1" i="0" u="none" strike="noStrike" cap="none">
                <a:solidFill>
                  <a:srgbClr val="2C5F7A"/>
                </a:solidFill>
                <a:latin typeface="Calibri"/>
                <a:ea typeface="Calibri"/>
                <a:cs typeface="Calibri"/>
                <a:sym typeface="Calibri"/>
              </a:rPr>
              <a:t>Master:</a:t>
            </a:r>
            <a:endParaRPr sz="800" b="0" i="0" u="none" strike="noStrike" cap="none">
              <a:solidFill>
                <a:srgbClr val="000000"/>
              </a:solidFill>
              <a:latin typeface="Calibri"/>
              <a:ea typeface="Calibri"/>
              <a:cs typeface="Calibri"/>
              <a:sym typeface="Calibri"/>
            </a:endParaRPr>
          </a:p>
        </p:txBody>
      </p:sp>
      <p:sp>
        <p:nvSpPr>
          <p:cNvPr id="555" name="Google Shape;555;g3e6c10605ba_0_272"/>
          <p:cNvSpPr/>
          <p:nvPr/>
        </p:nvSpPr>
        <p:spPr>
          <a:xfrm>
            <a:off x="7299876" y="2062412"/>
            <a:ext cx="15795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m_axi_rvalid / m_axi_rready</a:t>
            </a:r>
            <a:endParaRPr sz="780" b="0" i="0" u="none" strike="noStrike" cap="none">
              <a:solidFill>
                <a:srgbClr val="000000"/>
              </a:solidFill>
              <a:latin typeface="Calibri"/>
              <a:ea typeface="Calibri"/>
              <a:cs typeface="Calibri"/>
              <a:sym typeface="Calibri"/>
            </a:endParaRPr>
          </a:p>
        </p:txBody>
      </p:sp>
      <p:sp>
        <p:nvSpPr>
          <p:cNvPr id="556" name="Google Shape;556;g3e6c10605ba_0_272"/>
          <p:cNvSpPr/>
          <p:nvPr/>
        </p:nvSpPr>
        <p:spPr>
          <a:xfrm>
            <a:off x="7299876" y="2446460"/>
            <a:ext cx="15795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800"/>
              <a:buFont typeface="Calibri"/>
              <a:buNone/>
            </a:pPr>
            <a:r>
              <a:rPr lang="en-US" sz="800" b="1" i="0" u="none" strike="noStrike" cap="none">
                <a:solidFill>
                  <a:srgbClr val="2C5F7A"/>
                </a:solidFill>
                <a:latin typeface="Calibri"/>
                <a:ea typeface="Calibri"/>
                <a:cs typeface="Calibri"/>
                <a:sym typeface="Calibri"/>
              </a:rPr>
              <a:t>Slave:</a:t>
            </a:r>
            <a:endParaRPr sz="800" b="0" i="0" u="none" strike="noStrike" cap="none">
              <a:solidFill>
                <a:srgbClr val="000000"/>
              </a:solidFill>
              <a:latin typeface="Calibri"/>
              <a:ea typeface="Calibri"/>
              <a:cs typeface="Calibri"/>
              <a:sym typeface="Calibri"/>
            </a:endParaRPr>
          </a:p>
        </p:txBody>
      </p:sp>
      <p:sp>
        <p:nvSpPr>
          <p:cNvPr id="557" name="Google Shape;557;g3e6c10605ba_0_272"/>
          <p:cNvSpPr/>
          <p:nvPr/>
        </p:nvSpPr>
        <p:spPr>
          <a:xfrm>
            <a:off x="7299876" y="2611052"/>
            <a:ext cx="15795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780"/>
              <a:buFont typeface="Consolas"/>
              <a:buNone/>
            </a:pPr>
            <a:r>
              <a:rPr lang="en-US" sz="780" b="0" i="0" u="none" strike="noStrike" cap="none">
                <a:solidFill>
                  <a:srgbClr val="0D3349"/>
                </a:solidFill>
                <a:latin typeface="Consolas"/>
                <a:ea typeface="Consolas"/>
                <a:cs typeface="Consolas"/>
                <a:sym typeface="Consolas"/>
              </a:rPr>
              <a:t>s2_axi_rvalid / s2_axi_rready</a:t>
            </a:r>
            <a:endParaRPr sz="780" b="0" i="0" u="none" strike="noStrike" cap="none">
              <a:solidFill>
                <a:srgbClr val="000000"/>
              </a:solidFill>
              <a:latin typeface="Calibri"/>
              <a:ea typeface="Calibri"/>
              <a:cs typeface="Calibri"/>
              <a:sym typeface="Calibri"/>
            </a:endParaRPr>
          </a:p>
        </p:txBody>
      </p:sp>
      <p:sp>
        <p:nvSpPr>
          <p:cNvPr id="558" name="Google Shape;558;g3e6c10605ba_0_272"/>
          <p:cNvSpPr/>
          <p:nvPr/>
        </p:nvSpPr>
        <p:spPr>
          <a:xfrm>
            <a:off x="7299876" y="2995100"/>
            <a:ext cx="1579500" cy="65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850"/>
              <a:buFont typeface="Calibri"/>
              <a:buNone/>
            </a:pPr>
            <a:r>
              <a:rPr lang="en-US" sz="850" b="0" i="0" u="none" strike="noStrike" cap="none">
                <a:solidFill>
                  <a:srgbClr val="1A2B3C"/>
                </a:solidFill>
                <a:latin typeface="Calibri"/>
                <a:ea typeface="Calibri"/>
                <a:cs typeface="Calibri"/>
                <a:sym typeface="Calibri"/>
              </a:rPr>
              <a:t>Returns register value to CPU</a:t>
            </a:r>
            <a:endParaRPr sz="85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850"/>
              <a:buFont typeface="Calibri"/>
              <a:buNone/>
            </a:pPr>
            <a:r>
              <a:rPr lang="en-US" sz="850" b="0" i="0" u="none" strike="noStrike" cap="none">
                <a:solidFill>
                  <a:srgbClr val="1A2B3C"/>
                </a:solidFill>
                <a:latin typeface="Calibri"/>
                <a:ea typeface="Calibri"/>
                <a:cs typeface="Calibri"/>
                <a:sym typeface="Calibri"/>
              </a:rPr>
              <a:t>b_state → RD_R → IDLE</a:t>
            </a:r>
            <a:endParaRPr sz="850" b="0" i="0" u="none" strike="noStrike" cap="none">
              <a:solidFill>
                <a:srgbClr val="000000"/>
              </a:solidFill>
              <a:latin typeface="Calibri"/>
              <a:ea typeface="Calibri"/>
              <a:cs typeface="Calibri"/>
              <a:sym typeface="Calibri"/>
            </a:endParaRPr>
          </a:p>
        </p:txBody>
      </p:sp>
      <p:sp>
        <p:nvSpPr>
          <p:cNvPr id="559" name="Google Shape;559;g3e6c10605ba_0_272"/>
          <p:cNvSpPr/>
          <p:nvPr/>
        </p:nvSpPr>
        <p:spPr>
          <a:xfrm>
            <a:off x="393375" y="3790575"/>
            <a:ext cx="8503800" cy="1302600"/>
          </a:xfrm>
          <a:prstGeom prst="rect">
            <a:avLst/>
          </a:prstGeom>
          <a:solidFill>
            <a:srgbClr val="FFFFFF"/>
          </a:solidFill>
          <a:ln w="11800" cap="flat" cmpd="sng">
            <a:solidFill>
              <a:srgbClr val="AED6F1"/>
            </a:solidFill>
            <a:prstDash val="solid"/>
            <a:round/>
            <a:headEnd type="none" w="sm" len="sm"/>
            <a:tailEnd type="none" w="sm" len="sm"/>
          </a:ln>
          <a:effectLst>
            <a:outerShdw blurRad="59069" dist="23628" dir="8100000" algn="bl" rotWithShape="0">
              <a:srgbClr val="000000">
                <a:alpha val="10200"/>
              </a:srgbClr>
            </a:outerShdw>
          </a:effectLst>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60" name="Google Shape;560;g3e6c10605ba_0_272"/>
          <p:cNvSpPr/>
          <p:nvPr/>
        </p:nvSpPr>
        <p:spPr>
          <a:xfrm>
            <a:off x="393375" y="3790575"/>
            <a:ext cx="8352600" cy="187500"/>
          </a:xfrm>
          <a:prstGeom prst="rect">
            <a:avLst/>
          </a:prstGeom>
          <a:solidFill>
            <a:srgbClr val="1F618D"/>
          </a:solidFill>
          <a:ln>
            <a:noFill/>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61" name="Google Shape;561;g3e6c10605ba_0_272"/>
          <p:cNvSpPr/>
          <p:nvPr/>
        </p:nvSpPr>
        <p:spPr>
          <a:xfrm>
            <a:off x="480381" y="3790575"/>
            <a:ext cx="8178600" cy="187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23"/>
              <a:buFont typeface="Calibri"/>
              <a:buNone/>
            </a:pPr>
            <a:r>
              <a:rPr lang="en-US" sz="1023" b="1" i="0" u="none" strike="noStrike" cap="none">
                <a:solidFill>
                  <a:srgbClr val="FFFFFF"/>
                </a:solidFill>
                <a:latin typeface="Calibri"/>
                <a:ea typeface="Calibri"/>
                <a:cs typeface="Calibri"/>
                <a:sym typeface="Calibri"/>
              </a:rPr>
              <a:t>Routing Signals &amp; Address Map</a:t>
            </a:r>
            <a:endParaRPr sz="1023" b="0" i="0" u="none" strike="noStrike" cap="none">
              <a:solidFill>
                <a:srgbClr val="000000"/>
              </a:solidFill>
              <a:latin typeface="Calibri"/>
              <a:ea typeface="Calibri"/>
              <a:cs typeface="Calibri"/>
              <a:sym typeface="Calibri"/>
            </a:endParaRPr>
          </a:p>
        </p:txBody>
      </p:sp>
      <p:sp>
        <p:nvSpPr>
          <p:cNvPr id="562" name="Google Shape;562;g3e6c10605ba_0_272"/>
          <p:cNvSpPr/>
          <p:nvPr/>
        </p:nvSpPr>
        <p:spPr>
          <a:xfrm>
            <a:off x="393375" y="3991470"/>
            <a:ext cx="2088300" cy="157500"/>
          </a:xfrm>
          <a:prstGeom prst="rect">
            <a:avLst/>
          </a:prstGeom>
          <a:solidFill>
            <a:srgbClr val="D6EAF8"/>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63" name="Google Shape;563;g3e6c10605ba_0_272"/>
          <p:cNvSpPr/>
          <p:nvPr/>
        </p:nvSpPr>
        <p:spPr>
          <a:xfrm>
            <a:off x="436878" y="3998166"/>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1F618D"/>
              </a:buClr>
              <a:buSzPts val="884"/>
              <a:buFont typeface="Calibri"/>
              <a:buNone/>
            </a:pPr>
            <a:r>
              <a:rPr lang="en-US" sz="884" b="1" i="0" u="none" strike="noStrike" cap="none">
                <a:solidFill>
                  <a:srgbClr val="1F618D"/>
                </a:solidFill>
                <a:latin typeface="Calibri"/>
                <a:ea typeface="Calibri"/>
                <a:cs typeface="Calibri"/>
                <a:sym typeface="Calibri"/>
              </a:rPr>
              <a:t>Signal</a:t>
            </a:r>
            <a:endParaRPr sz="884" b="0" i="0" u="none" strike="noStrike" cap="none">
              <a:solidFill>
                <a:srgbClr val="000000"/>
              </a:solidFill>
              <a:latin typeface="Calibri"/>
              <a:ea typeface="Calibri"/>
              <a:cs typeface="Calibri"/>
              <a:sym typeface="Calibri"/>
            </a:endParaRPr>
          </a:p>
        </p:txBody>
      </p:sp>
      <p:sp>
        <p:nvSpPr>
          <p:cNvPr id="564" name="Google Shape;564;g3e6c10605ba_0_272"/>
          <p:cNvSpPr/>
          <p:nvPr/>
        </p:nvSpPr>
        <p:spPr>
          <a:xfrm>
            <a:off x="2481526" y="3991470"/>
            <a:ext cx="2088300" cy="157500"/>
          </a:xfrm>
          <a:prstGeom prst="rect">
            <a:avLst/>
          </a:prstGeom>
          <a:solidFill>
            <a:srgbClr val="D6EAF8"/>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65" name="Google Shape;565;g3e6c10605ba_0_272"/>
          <p:cNvSpPr/>
          <p:nvPr/>
        </p:nvSpPr>
        <p:spPr>
          <a:xfrm>
            <a:off x="2525030" y="3998166"/>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1F618D"/>
              </a:buClr>
              <a:buSzPts val="884"/>
              <a:buFont typeface="Calibri"/>
              <a:buNone/>
            </a:pPr>
            <a:r>
              <a:rPr lang="en-US" sz="884" b="1" i="0" u="none" strike="noStrike" cap="none">
                <a:solidFill>
                  <a:srgbClr val="1F618D"/>
                </a:solidFill>
                <a:latin typeface="Calibri"/>
                <a:ea typeface="Calibri"/>
                <a:cs typeface="Calibri"/>
                <a:sym typeface="Calibri"/>
              </a:rPr>
              <a:t>Value</a:t>
            </a:r>
            <a:endParaRPr sz="884" b="0" i="0" u="none" strike="noStrike" cap="none">
              <a:solidFill>
                <a:srgbClr val="000000"/>
              </a:solidFill>
              <a:latin typeface="Calibri"/>
              <a:ea typeface="Calibri"/>
              <a:cs typeface="Calibri"/>
              <a:sym typeface="Calibri"/>
            </a:endParaRPr>
          </a:p>
        </p:txBody>
      </p:sp>
      <p:sp>
        <p:nvSpPr>
          <p:cNvPr id="566" name="Google Shape;566;g3e6c10605ba_0_272"/>
          <p:cNvSpPr/>
          <p:nvPr/>
        </p:nvSpPr>
        <p:spPr>
          <a:xfrm>
            <a:off x="4569678" y="3991470"/>
            <a:ext cx="4002600" cy="157500"/>
          </a:xfrm>
          <a:prstGeom prst="rect">
            <a:avLst/>
          </a:prstGeom>
          <a:solidFill>
            <a:srgbClr val="D6EAF8"/>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67" name="Google Shape;567;g3e6c10605ba_0_272"/>
          <p:cNvSpPr/>
          <p:nvPr/>
        </p:nvSpPr>
        <p:spPr>
          <a:xfrm>
            <a:off x="4613181" y="3998166"/>
            <a:ext cx="3932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1F618D"/>
              </a:buClr>
              <a:buSzPts val="884"/>
              <a:buFont typeface="Calibri"/>
              <a:buNone/>
            </a:pPr>
            <a:r>
              <a:rPr lang="en-US" sz="884" b="1" i="0" u="none" strike="noStrike" cap="none">
                <a:solidFill>
                  <a:srgbClr val="1F618D"/>
                </a:solidFill>
                <a:latin typeface="Calibri"/>
                <a:ea typeface="Calibri"/>
                <a:cs typeface="Calibri"/>
                <a:sym typeface="Calibri"/>
              </a:rPr>
              <a:t>Meaning</a:t>
            </a:r>
            <a:endParaRPr sz="884" b="0" i="0" u="none" strike="noStrike" cap="none">
              <a:solidFill>
                <a:srgbClr val="000000"/>
              </a:solidFill>
              <a:latin typeface="Calibri"/>
              <a:ea typeface="Calibri"/>
              <a:cs typeface="Calibri"/>
              <a:sym typeface="Calibri"/>
            </a:endParaRPr>
          </a:p>
        </p:txBody>
      </p:sp>
      <p:sp>
        <p:nvSpPr>
          <p:cNvPr id="568" name="Google Shape;568;g3e6c10605ba_0_272"/>
          <p:cNvSpPr/>
          <p:nvPr/>
        </p:nvSpPr>
        <p:spPr>
          <a:xfrm>
            <a:off x="393375" y="4148837"/>
            <a:ext cx="2088300" cy="157500"/>
          </a:xfrm>
          <a:prstGeom prst="rect">
            <a:avLst/>
          </a:prstGeom>
          <a:solidFill>
            <a:srgbClr val="F0F7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69" name="Google Shape;569;g3e6c10605ba_0_272"/>
          <p:cNvSpPr/>
          <p:nvPr/>
        </p:nvSpPr>
        <p:spPr>
          <a:xfrm>
            <a:off x="436878" y="4155534"/>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0D3349"/>
              </a:buClr>
              <a:buSzPts val="837"/>
              <a:buFont typeface="Consolas"/>
              <a:buNone/>
            </a:pPr>
            <a:r>
              <a:rPr lang="en-US" sz="837" b="0" i="0" u="none" strike="noStrike" cap="none">
                <a:solidFill>
                  <a:srgbClr val="0D3349"/>
                </a:solidFill>
                <a:latin typeface="Consolas"/>
                <a:ea typeface="Consolas"/>
                <a:cs typeface="Consolas"/>
                <a:sym typeface="Consolas"/>
              </a:rPr>
              <a:t>wr_sel[2:0]</a:t>
            </a:r>
            <a:endParaRPr sz="837" b="0" i="0" u="none" strike="noStrike" cap="none">
              <a:solidFill>
                <a:srgbClr val="000000"/>
              </a:solidFill>
              <a:latin typeface="Calibri"/>
              <a:ea typeface="Calibri"/>
              <a:cs typeface="Calibri"/>
              <a:sym typeface="Calibri"/>
            </a:endParaRPr>
          </a:p>
        </p:txBody>
      </p:sp>
      <p:sp>
        <p:nvSpPr>
          <p:cNvPr id="570" name="Google Shape;570;g3e6c10605ba_0_272"/>
          <p:cNvSpPr/>
          <p:nvPr/>
        </p:nvSpPr>
        <p:spPr>
          <a:xfrm>
            <a:off x="2481526" y="4148837"/>
            <a:ext cx="2088300" cy="157500"/>
          </a:xfrm>
          <a:prstGeom prst="rect">
            <a:avLst/>
          </a:prstGeom>
          <a:solidFill>
            <a:srgbClr val="F0F7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71" name="Google Shape;571;g3e6c10605ba_0_272"/>
          <p:cNvSpPr/>
          <p:nvPr/>
        </p:nvSpPr>
        <p:spPr>
          <a:xfrm>
            <a:off x="2525030" y="4155534"/>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0D3349"/>
              </a:buClr>
              <a:buSzPts val="837"/>
              <a:buFont typeface="Consolas"/>
              <a:buNone/>
            </a:pPr>
            <a:r>
              <a:rPr lang="en-US" sz="837" b="0" i="0" u="none" strike="noStrike" cap="none">
                <a:solidFill>
                  <a:srgbClr val="0D3349"/>
                </a:solidFill>
                <a:latin typeface="Consolas"/>
                <a:ea typeface="Consolas"/>
                <a:cs typeface="Consolas"/>
                <a:sym typeface="Consolas"/>
              </a:rPr>
              <a:t>3'b001</a:t>
            </a:r>
            <a:endParaRPr sz="837" b="0" i="0" u="none" strike="noStrike" cap="none">
              <a:solidFill>
                <a:srgbClr val="000000"/>
              </a:solidFill>
              <a:latin typeface="Calibri"/>
              <a:ea typeface="Calibri"/>
              <a:cs typeface="Calibri"/>
              <a:sym typeface="Calibri"/>
            </a:endParaRPr>
          </a:p>
        </p:txBody>
      </p:sp>
      <p:sp>
        <p:nvSpPr>
          <p:cNvPr id="572" name="Google Shape;572;g3e6c10605ba_0_272"/>
          <p:cNvSpPr/>
          <p:nvPr/>
        </p:nvSpPr>
        <p:spPr>
          <a:xfrm>
            <a:off x="4569678" y="4148837"/>
            <a:ext cx="4002600" cy="157500"/>
          </a:xfrm>
          <a:prstGeom prst="rect">
            <a:avLst/>
          </a:prstGeom>
          <a:solidFill>
            <a:srgbClr val="F0F7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73" name="Google Shape;573;g3e6c10605ba_0_272"/>
          <p:cNvSpPr/>
          <p:nvPr/>
        </p:nvSpPr>
        <p:spPr>
          <a:xfrm>
            <a:off x="4613181" y="4155534"/>
            <a:ext cx="3932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1A2B3C"/>
              </a:buClr>
              <a:buSzPts val="837"/>
              <a:buFont typeface="Calibri"/>
              <a:buNone/>
            </a:pPr>
            <a:r>
              <a:rPr lang="en-US" sz="837" b="0" i="0" u="none" strike="noStrike" cap="none">
                <a:solidFill>
                  <a:srgbClr val="1A2B3C"/>
                </a:solidFill>
                <a:latin typeface="Calibri"/>
                <a:ea typeface="Calibri"/>
                <a:cs typeface="Calibri"/>
                <a:sym typeface="Calibri"/>
              </a:rPr>
              <a:t>ROM selected for write</a:t>
            </a:r>
            <a:endParaRPr sz="837" b="0" i="0" u="none" strike="noStrike" cap="none">
              <a:solidFill>
                <a:srgbClr val="000000"/>
              </a:solidFill>
              <a:latin typeface="Calibri"/>
              <a:ea typeface="Calibri"/>
              <a:cs typeface="Calibri"/>
              <a:sym typeface="Calibri"/>
            </a:endParaRPr>
          </a:p>
        </p:txBody>
      </p:sp>
      <p:sp>
        <p:nvSpPr>
          <p:cNvPr id="574" name="Google Shape;574;g3e6c10605ba_0_272"/>
          <p:cNvSpPr/>
          <p:nvPr/>
        </p:nvSpPr>
        <p:spPr>
          <a:xfrm>
            <a:off x="393375" y="4306205"/>
            <a:ext cx="2088300" cy="157500"/>
          </a:xfrm>
          <a:prstGeom prst="rect">
            <a:avLst/>
          </a:prstGeom>
          <a:solidFill>
            <a:srgbClr val="FFFF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75" name="Google Shape;575;g3e6c10605ba_0_272"/>
          <p:cNvSpPr/>
          <p:nvPr/>
        </p:nvSpPr>
        <p:spPr>
          <a:xfrm>
            <a:off x="436878" y="4312901"/>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0D3349"/>
              </a:buClr>
              <a:buSzPts val="837"/>
              <a:buFont typeface="Consolas"/>
              <a:buNone/>
            </a:pPr>
            <a:r>
              <a:rPr lang="en-US" sz="837" b="0" i="0" u="none" strike="noStrike" cap="none">
                <a:solidFill>
                  <a:srgbClr val="0D3349"/>
                </a:solidFill>
                <a:latin typeface="Consolas"/>
                <a:ea typeface="Consolas"/>
                <a:cs typeface="Consolas"/>
                <a:sym typeface="Consolas"/>
              </a:rPr>
              <a:t>wr_sel[2:0]</a:t>
            </a:r>
            <a:endParaRPr sz="837" b="0" i="0" u="none" strike="noStrike" cap="none">
              <a:solidFill>
                <a:srgbClr val="000000"/>
              </a:solidFill>
              <a:latin typeface="Calibri"/>
              <a:ea typeface="Calibri"/>
              <a:cs typeface="Calibri"/>
              <a:sym typeface="Calibri"/>
            </a:endParaRPr>
          </a:p>
        </p:txBody>
      </p:sp>
      <p:sp>
        <p:nvSpPr>
          <p:cNvPr id="576" name="Google Shape;576;g3e6c10605ba_0_272"/>
          <p:cNvSpPr/>
          <p:nvPr/>
        </p:nvSpPr>
        <p:spPr>
          <a:xfrm>
            <a:off x="2481526" y="4306205"/>
            <a:ext cx="2088300" cy="157500"/>
          </a:xfrm>
          <a:prstGeom prst="rect">
            <a:avLst/>
          </a:prstGeom>
          <a:solidFill>
            <a:srgbClr val="FFFF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77" name="Google Shape;577;g3e6c10605ba_0_272"/>
          <p:cNvSpPr/>
          <p:nvPr/>
        </p:nvSpPr>
        <p:spPr>
          <a:xfrm>
            <a:off x="2525030" y="4312901"/>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0D3349"/>
              </a:buClr>
              <a:buSzPts val="837"/>
              <a:buFont typeface="Consolas"/>
              <a:buNone/>
            </a:pPr>
            <a:r>
              <a:rPr lang="en-US" sz="837" b="0" i="0" u="none" strike="noStrike" cap="none">
                <a:solidFill>
                  <a:srgbClr val="0D3349"/>
                </a:solidFill>
                <a:latin typeface="Consolas"/>
                <a:ea typeface="Consolas"/>
                <a:cs typeface="Consolas"/>
                <a:sym typeface="Consolas"/>
              </a:rPr>
              <a:t>3'b010</a:t>
            </a:r>
            <a:endParaRPr sz="837" b="0" i="0" u="none" strike="noStrike" cap="none">
              <a:solidFill>
                <a:srgbClr val="000000"/>
              </a:solidFill>
              <a:latin typeface="Calibri"/>
              <a:ea typeface="Calibri"/>
              <a:cs typeface="Calibri"/>
              <a:sym typeface="Calibri"/>
            </a:endParaRPr>
          </a:p>
        </p:txBody>
      </p:sp>
      <p:sp>
        <p:nvSpPr>
          <p:cNvPr id="578" name="Google Shape;578;g3e6c10605ba_0_272"/>
          <p:cNvSpPr/>
          <p:nvPr/>
        </p:nvSpPr>
        <p:spPr>
          <a:xfrm>
            <a:off x="4569678" y="4306205"/>
            <a:ext cx="4002600" cy="157500"/>
          </a:xfrm>
          <a:prstGeom prst="rect">
            <a:avLst/>
          </a:prstGeom>
          <a:solidFill>
            <a:srgbClr val="FFFF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79" name="Google Shape;579;g3e6c10605ba_0_272"/>
          <p:cNvSpPr/>
          <p:nvPr/>
        </p:nvSpPr>
        <p:spPr>
          <a:xfrm>
            <a:off x="4613181" y="4312901"/>
            <a:ext cx="3932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1A2B3C"/>
              </a:buClr>
              <a:buSzPts val="837"/>
              <a:buFont typeface="Calibri"/>
              <a:buNone/>
            </a:pPr>
            <a:r>
              <a:rPr lang="en-US" sz="837" b="0" i="0" u="none" strike="noStrike" cap="none">
                <a:solidFill>
                  <a:srgbClr val="1A2B3C"/>
                </a:solidFill>
                <a:latin typeface="Calibri"/>
                <a:ea typeface="Calibri"/>
                <a:cs typeface="Calibri"/>
                <a:sym typeface="Calibri"/>
              </a:rPr>
              <a:t>SRAM selected for write</a:t>
            </a:r>
            <a:endParaRPr sz="837" b="0" i="0" u="none" strike="noStrike" cap="none">
              <a:solidFill>
                <a:srgbClr val="000000"/>
              </a:solidFill>
              <a:latin typeface="Calibri"/>
              <a:ea typeface="Calibri"/>
              <a:cs typeface="Calibri"/>
              <a:sym typeface="Calibri"/>
            </a:endParaRPr>
          </a:p>
        </p:txBody>
      </p:sp>
      <p:sp>
        <p:nvSpPr>
          <p:cNvPr id="580" name="Google Shape;580;g3e6c10605ba_0_272"/>
          <p:cNvSpPr/>
          <p:nvPr/>
        </p:nvSpPr>
        <p:spPr>
          <a:xfrm>
            <a:off x="393375" y="4463572"/>
            <a:ext cx="2088300" cy="157500"/>
          </a:xfrm>
          <a:prstGeom prst="rect">
            <a:avLst/>
          </a:prstGeom>
          <a:solidFill>
            <a:srgbClr val="F0F7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81" name="Google Shape;581;g3e6c10605ba_0_272"/>
          <p:cNvSpPr/>
          <p:nvPr/>
        </p:nvSpPr>
        <p:spPr>
          <a:xfrm>
            <a:off x="436878" y="4470269"/>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0D3349"/>
              </a:buClr>
              <a:buSzPts val="837"/>
              <a:buFont typeface="Consolas"/>
              <a:buNone/>
            </a:pPr>
            <a:r>
              <a:rPr lang="en-US" sz="837" b="0" i="0" u="none" strike="noStrike" cap="none">
                <a:solidFill>
                  <a:srgbClr val="0D3349"/>
                </a:solidFill>
                <a:latin typeface="Consolas"/>
                <a:ea typeface="Consolas"/>
                <a:cs typeface="Consolas"/>
                <a:sym typeface="Consolas"/>
              </a:rPr>
              <a:t>wr_sel[2:0]</a:t>
            </a:r>
            <a:endParaRPr sz="837" b="0" i="0" u="none" strike="noStrike" cap="none">
              <a:solidFill>
                <a:srgbClr val="000000"/>
              </a:solidFill>
              <a:latin typeface="Calibri"/>
              <a:ea typeface="Calibri"/>
              <a:cs typeface="Calibri"/>
              <a:sym typeface="Calibri"/>
            </a:endParaRPr>
          </a:p>
        </p:txBody>
      </p:sp>
      <p:sp>
        <p:nvSpPr>
          <p:cNvPr id="582" name="Google Shape;582;g3e6c10605ba_0_272"/>
          <p:cNvSpPr/>
          <p:nvPr/>
        </p:nvSpPr>
        <p:spPr>
          <a:xfrm>
            <a:off x="2481526" y="4463572"/>
            <a:ext cx="2088300" cy="157500"/>
          </a:xfrm>
          <a:prstGeom prst="rect">
            <a:avLst/>
          </a:prstGeom>
          <a:solidFill>
            <a:srgbClr val="F0F7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83" name="Google Shape;583;g3e6c10605ba_0_272"/>
          <p:cNvSpPr/>
          <p:nvPr/>
        </p:nvSpPr>
        <p:spPr>
          <a:xfrm>
            <a:off x="2525030" y="4470269"/>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0D3349"/>
              </a:buClr>
              <a:buSzPts val="837"/>
              <a:buFont typeface="Consolas"/>
              <a:buNone/>
            </a:pPr>
            <a:r>
              <a:rPr lang="en-US" sz="837" b="0" i="0" u="none" strike="noStrike" cap="none">
                <a:solidFill>
                  <a:srgbClr val="0D3349"/>
                </a:solidFill>
                <a:latin typeface="Consolas"/>
                <a:ea typeface="Consolas"/>
                <a:cs typeface="Consolas"/>
                <a:sym typeface="Consolas"/>
              </a:rPr>
              <a:t>3'b100</a:t>
            </a:r>
            <a:endParaRPr sz="837" b="0" i="0" u="none" strike="noStrike" cap="none">
              <a:solidFill>
                <a:srgbClr val="000000"/>
              </a:solidFill>
              <a:latin typeface="Calibri"/>
              <a:ea typeface="Calibri"/>
              <a:cs typeface="Calibri"/>
              <a:sym typeface="Calibri"/>
            </a:endParaRPr>
          </a:p>
        </p:txBody>
      </p:sp>
      <p:sp>
        <p:nvSpPr>
          <p:cNvPr id="584" name="Google Shape;584;g3e6c10605ba_0_272"/>
          <p:cNvSpPr/>
          <p:nvPr/>
        </p:nvSpPr>
        <p:spPr>
          <a:xfrm>
            <a:off x="4569678" y="4463572"/>
            <a:ext cx="4002600" cy="157500"/>
          </a:xfrm>
          <a:prstGeom prst="rect">
            <a:avLst/>
          </a:prstGeom>
          <a:solidFill>
            <a:srgbClr val="F0F7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85" name="Google Shape;585;g3e6c10605ba_0_272"/>
          <p:cNvSpPr/>
          <p:nvPr/>
        </p:nvSpPr>
        <p:spPr>
          <a:xfrm>
            <a:off x="4613181" y="4470269"/>
            <a:ext cx="3932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1A2B3C"/>
              </a:buClr>
              <a:buSzPts val="837"/>
              <a:buFont typeface="Calibri"/>
              <a:buNone/>
            </a:pPr>
            <a:r>
              <a:rPr lang="en-US" sz="837" b="0" i="0" u="none" strike="noStrike" cap="none">
                <a:solidFill>
                  <a:srgbClr val="1A2B3C"/>
                </a:solidFill>
                <a:latin typeface="Calibri"/>
                <a:ea typeface="Calibri"/>
                <a:cs typeface="Calibri"/>
                <a:sym typeface="Calibri"/>
              </a:rPr>
              <a:t>UART selected for write</a:t>
            </a:r>
            <a:endParaRPr sz="837" b="0" i="0" u="none" strike="noStrike" cap="none">
              <a:solidFill>
                <a:srgbClr val="000000"/>
              </a:solidFill>
              <a:latin typeface="Calibri"/>
              <a:ea typeface="Calibri"/>
              <a:cs typeface="Calibri"/>
              <a:sym typeface="Calibri"/>
            </a:endParaRPr>
          </a:p>
        </p:txBody>
      </p:sp>
      <p:sp>
        <p:nvSpPr>
          <p:cNvPr id="586" name="Google Shape;586;g3e6c10605ba_0_272"/>
          <p:cNvSpPr/>
          <p:nvPr/>
        </p:nvSpPr>
        <p:spPr>
          <a:xfrm>
            <a:off x="393375" y="4620940"/>
            <a:ext cx="2088300" cy="157500"/>
          </a:xfrm>
          <a:prstGeom prst="rect">
            <a:avLst/>
          </a:prstGeom>
          <a:solidFill>
            <a:srgbClr val="FFFF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87" name="Google Shape;587;g3e6c10605ba_0_272"/>
          <p:cNvSpPr/>
          <p:nvPr/>
        </p:nvSpPr>
        <p:spPr>
          <a:xfrm>
            <a:off x="436878" y="4627636"/>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0D3349"/>
              </a:buClr>
              <a:buSzPts val="837"/>
              <a:buFont typeface="Consolas"/>
              <a:buNone/>
            </a:pPr>
            <a:r>
              <a:rPr lang="en-US" sz="837" b="0" i="0" u="none" strike="noStrike" cap="none">
                <a:solidFill>
                  <a:srgbClr val="0D3349"/>
                </a:solidFill>
                <a:latin typeface="Consolas"/>
                <a:ea typeface="Consolas"/>
                <a:cs typeface="Consolas"/>
                <a:sym typeface="Consolas"/>
              </a:rPr>
              <a:t>m_axi_awaddr</a:t>
            </a:r>
            <a:endParaRPr sz="837" b="0" i="0" u="none" strike="noStrike" cap="none">
              <a:solidFill>
                <a:srgbClr val="000000"/>
              </a:solidFill>
              <a:latin typeface="Calibri"/>
              <a:ea typeface="Calibri"/>
              <a:cs typeface="Calibri"/>
              <a:sym typeface="Calibri"/>
            </a:endParaRPr>
          </a:p>
        </p:txBody>
      </p:sp>
      <p:sp>
        <p:nvSpPr>
          <p:cNvPr id="588" name="Google Shape;588;g3e6c10605ba_0_272"/>
          <p:cNvSpPr/>
          <p:nvPr/>
        </p:nvSpPr>
        <p:spPr>
          <a:xfrm>
            <a:off x="2481526" y="4620940"/>
            <a:ext cx="2088300" cy="157500"/>
          </a:xfrm>
          <a:prstGeom prst="rect">
            <a:avLst/>
          </a:prstGeom>
          <a:solidFill>
            <a:srgbClr val="FFFF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89" name="Google Shape;589;g3e6c10605ba_0_272"/>
          <p:cNvSpPr/>
          <p:nvPr/>
        </p:nvSpPr>
        <p:spPr>
          <a:xfrm>
            <a:off x="2525030" y="4627636"/>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0D3349"/>
              </a:buClr>
              <a:buSzPts val="837"/>
              <a:buFont typeface="Consolas"/>
              <a:buNone/>
            </a:pPr>
            <a:r>
              <a:rPr lang="en-US" sz="837" b="0" i="0" u="none" strike="noStrike" cap="none">
                <a:solidFill>
                  <a:srgbClr val="0D3349"/>
                </a:solidFill>
                <a:latin typeface="Consolas"/>
                <a:ea typeface="Consolas"/>
                <a:cs typeface="Consolas"/>
                <a:sym typeface="Consolas"/>
              </a:rPr>
              <a:t>0x10000000</a:t>
            </a:r>
            <a:endParaRPr sz="837" b="0" i="0" u="none" strike="noStrike" cap="none">
              <a:solidFill>
                <a:srgbClr val="000000"/>
              </a:solidFill>
              <a:latin typeface="Calibri"/>
              <a:ea typeface="Calibri"/>
              <a:cs typeface="Calibri"/>
              <a:sym typeface="Calibri"/>
            </a:endParaRPr>
          </a:p>
        </p:txBody>
      </p:sp>
      <p:sp>
        <p:nvSpPr>
          <p:cNvPr id="590" name="Google Shape;590;g3e6c10605ba_0_272"/>
          <p:cNvSpPr/>
          <p:nvPr/>
        </p:nvSpPr>
        <p:spPr>
          <a:xfrm>
            <a:off x="4569678" y="4620940"/>
            <a:ext cx="4002600" cy="157500"/>
          </a:xfrm>
          <a:prstGeom prst="rect">
            <a:avLst/>
          </a:prstGeom>
          <a:solidFill>
            <a:srgbClr val="FFFF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91" name="Google Shape;591;g3e6c10605ba_0_272"/>
          <p:cNvSpPr/>
          <p:nvPr/>
        </p:nvSpPr>
        <p:spPr>
          <a:xfrm>
            <a:off x="4613181" y="4627636"/>
            <a:ext cx="3932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1A2B3C"/>
              </a:buClr>
              <a:buSzPts val="837"/>
              <a:buFont typeface="Calibri"/>
              <a:buNone/>
            </a:pPr>
            <a:r>
              <a:rPr lang="en-US" sz="837" b="0" i="0" u="none" strike="noStrike" cap="none">
                <a:solidFill>
                  <a:srgbClr val="1A2B3C"/>
                </a:solidFill>
                <a:latin typeface="Calibri"/>
                <a:ea typeface="Calibri"/>
                <a:cs typeface="Calibri"/>
                <a:sym typeface="Calibri"/>
              </a:rPr>
              <a:t>UART TX register (write target)</a:t>
            </a:r>
            <a:endParaRPr sz="837" b="0" i="0" u="none" strike="noStrike" cap="none">
              <a:solidFill>
                <a:srgbClr val="000000"/>
              </a:solidFill>
              <a:latin typeface="Calibri"/>
              <a:ea typeface="Calibri"/>
              <a:cs typeface="Calibri"/>
              <a:sym typeface="Calibri"/>
            </a:endParaRPr>
          </a:p>
        </p:txBody>
      </p:sp>
      <p:sp>
        <p:nvSpPr>
          <p:cNvPr id="592" name="Google Shape;592;g3e6c10605ba_0_272"/>
          <p:cNvSpPr/>
          <p:nvPr/>
        </p:nvSpPr>
        <p:spPr>
          <a:xfrm>
            <a:off x="393375" y="4778307"/>
            <a:ext cx="2088300" cy="157500"/>
          </a:xfrm>
          <a:prstGeom prst="rect">
            <a:avLst/>
          </a:prstGeom>
          <a:solidFill>
            <a:srgbClr val="F0F7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93" name="Google Shape;593;g3e6c10605ba_0_272"/>
          <p:cNvSpPr/>
          <p:nvPr/>
        </p:nvSpPr>
        <p:spPr>
          <a:xfrm>
            <a:off x="436878" y="4785004"/>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0D3349"/>
              </a:buClr>
              <a:buSzPts val="837"/>
              <a:buFont typeface="Consolas"/>
              <a:buNone/>
            </a:pPr>
            <a:r>
              <a:rPr lang="en-US" sz="837" b="0" i="0" u="none" strike="noStrike" cap="none">
                <a:solidFill>
                  <a:srgbClr val="0D3349"/>
                </a:solidFill>
                <a:latin typeface="Consolas"/>
                <a:ea typeface="Consolas"/>
                <a:cs typeface="Consolas"/>
                <a:sym typeface="Consolas"/>
              </a:rPr>
              <a:t>m_axi_araddr</a:t>
            </a:r>
            <a:endParaRPr sz="837" b="0" i="0" u="none" strike="noStrike" cap="none">
              <a:solidFill>
                <a:srgbClr val="000000"/>
              </a:solidFill>
              <a:latin typeface="Calibri"/>
              <a:ea typeface="Calibri"/>
              <a:cs typeface="Calibri"/>
              <a:sym typeface="Calibri"/>
            </a:endParaRPr>
          </a:p>
        </p:txBody>
      </p:sp>
      <p:sp>
        <p:nvSpPr>
          <p:cNvPr id="594" name="Google Shape;594;g3e6c10605ba_0_272"/>
          <p:cNvSpPr/>
          <p:nvPr/>
        </p:nvSpPr>
        <p:spPr>
          <a:xfrm>
            <a:off x="2481526" y="4778307"/>
            <a:ext cx="2088300" cy="157500"/>
          </a:xfrm>
          <a:prstGeom prst="rect">
            <a:avLst/>
          </a:prstGeom>
          <a:solidFill>
            <a:srgbClr val="F0F7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95" name="Google Shape;595;g3e6c10605ba_0_272"/>
          <p:cNvSpPr/>
          <p:nvPr/>
        </p:nvSpPr>
        <p:spPr>
          <a:xfrm>
            <a:off x="2525030" y="4785004"/>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0D3349"/>
              </a:buClr>
              <a:buSzPts val="837"/>
              <a:buFont typeface="Consolas"/>
              <a:buNone/>
            </a:pPr>
            <a:r>
              <a:rPr lang="en-US" sz="837" b="0" i="0" u="none" strike="noStrike" cap="none">
                <a:solidFill>
                  <a:srgbClr val="0D3349"/>
                </a:solidFill>
                <a:latin typeface="Consolas"/>
                <a:ea typeface="Consolas"/>
                <a:cs typeface="Consolas"/>
                <a:sym typeface="Consolas"/>
              </a:rPr>
              <a:t>0x10000008</a:t>
            </a:r>
            <a:endParaRPr sz="837" b="0" i="0" u="none" strike="noStrike" cap="none">
              <a:solidFill>
                <a:srgbClr val="000000"/>
              </a:solidFill>
              <a:latin typeface="Calibri"/>
              <a:ea typeface="Calibri"/>
              <a:cs typeface="Calibri"/>
              <a:sym typeface="Calibri"/>
            </a:endParaRPr>
          </a:p>
        </p:txBody>
      </p:sp>
      <p:sp>
        <p:nvSpPr>
          <p:cNvPr id="596" name="Google Shape;596;g3e6c10605ba_0_272"/>
          <p:cNvSpPr/>
          <p:nvPr/>
        </p:nvSpPr>
        <p:spPr>
          <a:xfrm>
            <a:off x="4569678" y="4778307"/>
            <a:ext cx="4002600" cy="157500"/>
          </a:xfrm>
          <a:prstGeom prst="rect">
            <a:avLst/>
          </a:prstGeom>
          <a:solidFill>
            <a:srgbClr val="F0F7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97" name="Google Shape;597;g3e6c10605ba_0_272"/>
          <p:cNvSpPr/>
          <p:nvPr/>
        </p:nvSpPr>
        <p:spPr>
          <a:xfrm>
            <a:off x="4613181" y="4785004"/>
            <a:ext cx="3932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1A2B3C"/>
              </a:buClr>
              <a:buSzPts val="837"/>
              <a:buFont typeface="Calibri"/>
              <a:buNone/>
            </a:pPr>
            <a:r>
              <a:rPr lang="en-US" sz="837" b="0" i="0" u="none" strike="noStrike" cap="none">
                <a:solidFill>
                  <a:srgbClr val="1A2B3C"/>
                </a:solidFill>
                <a:latin typeface="Calibri"/>
                <a:ea typeface="Calibri"/>
                <a:cs typeface="Calibri"/>
                <a:sym typeface="Calibri"/>
              </a:rPr>
              <a:t>UART STATUS register (poll RX ready)</a:t>
            </a:r>
            <a:endParaRPr sz="837" b="0" i="0" u="none" strike="noStrike" cap="none">
              <a:solidFill>
                <a:srgbClr val="000000"/>
              </a:solidFill>
              <a:latin typeface="Calibri"/>
              <a:ea typeface="Calibri"/>
              <a:cs typeface="Calibri"/>
              <a:sym typeface="Calibri"/>
            </a:endParaRPr>
          </a:p>
        </p:txBody>
      </p:sp>
      <p:sp>
        <p:nvSpPr>
          <p:cNvPr id="598" name="Google Shape;598;g3e6c10605ba_0_272"/>
          <p:cNvSpPr/>
          <p:nvPr/>
        </p:nvSpPr>
        <p:spPr>
          <a:xfrm>
            <a:off x="393375" y="4935675"/>
            <a:ext cx="2088300" cy="157500"/>
          </a:xfrm>
          <a:prstGeom prst="rect">
            <a:avLst/>
          </a:prstGeom>
          <a:solidFill>
            <a:srgbClr val="FFFF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599" name="Google Shape;599;g3e6c10605ba_0_272"/>
          <p:cNvSpPr/>
          <p:nvPr/>
        </p:nvSpPr>
        <p:spPr>
          <a:xfrm>
            <a:off x="436878" y="4942371"/>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0D3349"/>
              </a:buClr>
              <a:buSzPts val="837"/>
              <a:buFont typeface="Consolas"/>
              <a:buNone/>
            </a:pPr>
            <a:r>
              <a:rPr lang="en-US" sz="837" b="0" i="0" u="none" strike="noStrike" cap="none">
                <a:solidFill>
                  <a:srgbClr val="0D3349"/>
                </a:solidFill>
                <a:latin typeface="Consolas"/>
                <a:ea typeface="Consolas"/>
                <a:cs typeface="Consolas"/>
                <a:sym typeface="Consolas"/>
              </a:rPr>
              <a:t>m_axi_araddr</a:t>
            </a:r>
            <a:endParaRPr sz="837" b="0" i="0" u="none" strike="noStrike" cap="none">
              <a:solidFill>
                <a:srgbClr val="000000"/>
              </a:solidFill>
              <a:latin typeface="Calibri"/>
              <a:ea typeface="Calibri"/>
              <a:cs typeface="Calibri"/>
              <a:sym typeface="Calibri"/>
            </a:endParaRPr>
          </a:p>
        </p:txBody>
      </p:sp>
      <p:sp>
        <p:nvSpPr>
          <p:cNvPr id="600" name="Google Shape;600;g3e6c10605ba_0_272"/>
          <p:cNvSpPr/>
          <p:nvPr/>
        </p:nvSpPr>
        <p:spPr>
          <a:xfrm>
            <a:off x="2481526" y="4935675"/>
            <a:ext cx="2088300" cy="157500"/>
          </a:xfrm>
          <a:prstGeom prst="rect">
            <a:avLst/>
          </a:prstGeom>
          <a:solidFill>
            <a:srgbClr val="FFFF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601" name="Google Shape;601;g3e6c10605ba_0_272"/>
          <p:cNvSpPr/>
          <p:nvPr/>
        </p:nvSpPr>
        <p:spPr>
          <a:xfrm>
            <a:off x="2525030" y="4942371"/>
            <a:ext cx="2018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0D3349"/>
              </a:buClr>
              <a:buSzPts val="837"/>
              <a:buFont typeface="Consolas"/>
              <a:buNone/>
            </a:pPr>
            <a:r>
              <a:rPr lang="en-US" sz="837" b="0" i="0" u="none" strike="noStrike" cap="none">
                <a:solidFill>
                  <a:srgbClr val="0D3349"/>
                </a:solidFill>
                <a:latin typeface="Consolas"/>
                <a:ea typeface="Consolas"/>
                <a:cs typeface="Consolas"/>
                <a:sym typeface="Consolas"/>
              </a:rPr>
              <a:t>0x10000004</a:t>
            </a:r>
            <a:endParaRPr sz="837" b="0" i="0" u="none" strike="noStrike" cap="none">
              <a:solidFill>
                <a:srgbClr val="000000"/>
              </a:solidFill>
              <a:latin typeface="Calibri"/>
              <a:ea typeface="Calibri"/>
              <a:cs typeface="Calibri"/>
              <a:sym typeface="Calibri"/>
            </a:endParaRPr>
          </a:p>
        </p:txBody>
      </p:sp>
      <p:sp>
        <p:nvSpPr>
          <p:cNvPr id="602" name="Google Shape;602;g3e6c10605ba_0_272"/>
          <p:cNvSpPr/>
          <p:nvPr/>
        </p:nvSpPr>
        <p:spPr>
          <a:xfrm>
            <a:off x="4569678" y="4935675"/>
            <a:ext cx="4002600" cy="157500"/>
          </a:xfrm>
          <a:prstGeom prst="rect">
            <a:avLst/>
          </a:prstGeom>
          <a:solidFill>
            <a:srgbClr val="FFFFFF"/>
          </a:solidFill>
          <a:ln w="8850" cap="flat" cmpd="sng">
            <a:solidFill>
              <a:srgbClr val="AED6F1"/>
            </a:solidFill>
            <a:prstDash val="solid"/>
            <a:round/>
            <a:headEnd type="none" w="sm" len="sm"/>
            <a:tailEnd type="none" w="sm" len="sm"/>
          </a:ln>
        </p:spPr>
        <p:txBody>
          <a:bodyPr spcFirstLastPara="1" wrap="square" lIns="85050" tIns="85050" rIns="85050" bIns="85050" anchor="ctr" anchorCtr="0">
            <a:noAutofit/>
          </a:bodyPr>
          <a:lstStyle/>
          <a:p>
            <a:pPr marL="0" lvl="0" indent="0" algn="l" rtl="0">
              <a:spcBef>
                <a:spcPts val="0"/>
              </a:spcBef>
              <a:spcAft>
                <a:spcPts val="0"/>
              </a:spcAft>
              <a:buNone/>
            </a:pPr>
            <a:endParaRPr/>
          </a:p>
        </p:txBody>
      </p:sp>
      <p:sp>
        <p:nvSpPr>
          <p:cNvPr id="603" name="Google Shape;603;g3e6c10605ba_0_272"/>
          <p:cNvSpPr/>
          <p:nvPr/>
        </p:nvSpPr>
        <p:spPr>
          <a:xfrm>
            <a:off x="4613181" y="4942371"/>
            <a:ext cx="3932400" cy="147300"/>
          </a:xfrm>
          <a:prstGeom prst="rect">
            <a:avLst/>
          </a:prstGeom>
          <a:noFill/>
          <a:ln>
            <a:noFill/>
          </a:ln>
        </p:spPr>
        <p:txBody>
          <a:bodyPr spcFirstLastPara="1" wrap="square" lIns="11800" tIns="11800" rIns="11800" bIns="11800" anchor="ctr" anchorCtr="0">
            <a:noAutofit/>
          </a:bodyPr>
          <a:lstStyle/>
          <a:p>
            <a:pPr marL="0" marR="0" lvl="0" indent="0" algn="l" rtl="0">
              <a:spcBef>
                <a:spcPts val="0"/>
              </a:spcBef>
              <a:spcAft>
                <a:spcPts val="0"/>
              </a:spcAft>
              <a:buClr>
                <a:srgbClr val="1A2B3C"/>
              </a:buClr>
              <a:buSzPts val="837"/>
              <a:buFont typeface="Calibri"/>
              <a:buNone/>
            </a:pPr>
            <a:r>
              <a:rPr lang="en-US" sz="837" b="0" i="0" u="none" strike="noStrike" cap="none">
                <a:solidFill>
                  <a:srgbClr val="1A2B3C"/>
                </a:solidFill>
                <a:latin typeface="Calibri"/>
                <a:ea typeface="Calibri"/>
                <a:cs typeface="Calibri"/>
                <a:sym typeface="Calibri"/>
              </a:rPr>
              <a:t>UART RX data register</a:t>
            </a:r>
            <a:endParaRPr sz="837" b="0" i="0" u="none" strike="noStrike" cap="non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7"/>
          <p:cNvSpPr/>
          <p:nvPr/>
        </p:nvSpPr>
        <p:spPr>
          <a:xfrm>
            <a:off x="246850" y="497950"/>
            <a:ext cx="84399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F3864"/>
              </a:buClr>
              <a:buSzPts val="2600"/>
              <a:buFont typeface="Calibri"/>
              <a:buNone/>
            </a:pPr>
            <a:r>
              <a:rPr lang="en-US" sz="2600" b="1" i="0" u="none" strike="noStrike" cap="none">
                <a:solidFill>
                  <a:schemeClr val="dk1"/>
                </a:solidFill>
                <a:latin typeface="Calibri"/>
                <a:ea typeface="Calibri"/>
                <a:cs typeface="Calibri"/>
                <a:sym typeface="Calibri"/>
              </a:rPr>
              <a:t>CPU Fetch vs. UART Transmission</a:t>
            </a:r>
            <a:endParaRPr sz="2600" b="0" i="0" u="none" strike="noStrike" cap="none">
              <a:solidFill>
                <a:schemeClr val="dk1"/>
              </a:solidFill>
              <a:latin typeface="Calibri"/>
              <a:ea typeface="Calibri"/>
              <a:cs typeface="Calibri"/>
              <a:sym typeface="Calibri"/>
            </a:endParaRPr>
          </a:p>
        </p:txBody>
      </p:sp>
      <p:sp>
        <p:nvSpPr>
          <p:cNvPr id="610" name="Google Shape;610;p7"/>
          <p:cNvSpPr/>
          <p:nvPr/>
        </p:nvSpPr>
        <p:spPr>
          <a:xfrm>
            <a:off x="481207" y="1051775"/>
            <a:ext cx="8291400" cy="28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1100"/>
              <a:buFont typeface="Calibri"/>
              <a:buNone/>
            </a:pPr>
            <a:r>
              <a:rPr lang="en-US" sz="1100" b="0" i="1" u="none" strike="noStrike" cap="none">
                <a:solidFill>
                  <a:srgbClr val="2C5F7A"/>
                </a:solidFill>
                <a:latin typeface="Calibri"/>
                <a:ea typeface="Calibri"/>
                <a:cs typeface="Calibri"/>
                <a:sym typeface="Calibri"/>
              </a:rPr>
              <a:t>Project Signal Names + Timing Reference</a:t>
            </a:r>
            <a:endParaRPr sz="1100" b="0" i="0" u="none" strike="noStrike" cap="none">
              <a:solidFill>
                <a:srgbClr val="000000"/>
              </a:solidFill>
              <a:latin typeface="Calibri"/>
              <a:ea typeface="Calibri"/>
              <a:cs typeface="Calibri"/>
              <a:sym typeface="Calibri"/>
            </a:endParaRPr>
          </a:p>
        </p:txBody>
      </p:sp>
      <p:sp>
        <p:nvSpPr>
          <p:cNvPr id="611" name="Google Shape;611;p7"/>
          <p:cNvSpPr/>
          <p:nvPr/>
        </p:nvSpPr>
        <p:spPr>
          <a:xfrm>
            <a:off x="347475" y="1132818"/>
            <a:ext cx="4145700" cy="38499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7"/>
          <p:cNvSpPr/>
          <p:nvPr/>
        </p:nvSpPr>
        <p:spPr>
          <a:xfrm>
            <a:off x="347475" y="1132818"/>
            <a:ext cx="4145700" cy="243000"/>
          </a:xfrm>
          <a:prstGeom prst="rect">
            <a:avLst/>
          </a:prstGeom>
          <a:solidFill>
            <a:srgbClr val="1A52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7"/>
          <p:cNvSpPr/>
          <p:nvPr/>
        </p:nvSpPr>
        <p:spPr>
          <a:xfrm>
            <a:off x="418799" y="1132818"/>
            <a:ext cx="4056300" cy="24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CPU Instruction Fetch</a:t>
            </a:r>
            <a:endParaRPr sz="1100" b="0" i="0" u="none" strike="noStrike" cap="none">
              <a:solidFill>
                <a:srgbClr val="000000"/>
              </a:solidFill>
              <a:latin typeface="Calibri"/>
              <a:ea typeface="Calibri"/>
              <a:cs typeface="Calibri"/>
              <a:sym typeface="Calibri"/>
            </a:endParaRPr>
          </a:p>
        </p:txBody>
      </p:sp>
      <p:sp>
        <p:nvSpPr>
          <p:cNvPr id="614" name="Google Shape;614;p7"/>
          <p:cNvSpPr/>
          <p:nvPr/>
        </p:nvSpPr>
        <p:spPr>
          <a:xfrm>
            <a:off x="418800" y="1408380"/>
            <a:ext cx="3994200" cy="1762800"/>
          </a:xfrm>
          <a:prstGeom prst="rect">
            <a:avLst/>
          </a:prstGeom>
          <a:solidFill>
            <a:srgbClr val="D5E8F3"/>
          </a:solidFill>
          <a:ln w="12700" cap="flat" cmpd="sng">
            <a:solidFill>
              <a:srgbClr val="2E8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7"/>
          <p:cNvSpPr/>
          <p:nvPr/>
        </p:nvSpPr>
        <p:spPr>
          <a:xfrm>
            <a:off x="507950" y="1456999"/>
            <a:ext cx="3860400" cy="1649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cpu_mem_valid = 1</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cpu_mem_instr = 1       // fetch active</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cpu_mem_addr[31:0]     // incrementing by 4</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  e.g. 0x0 → 0x4 → 0x8 → 0xC ...</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00000"/>
              </a:buClr>
              <a:buSzPts val="900"/>
              <a:buFont typeface="Calibri"/>
              <a:buNone/>
            </a:pP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b_state[2:0]: 0 → 3 → 4 → 0</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  IDLE → RD_AR → RD_R → IDLE</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00000"/>
              </a:buClr>
              <a:buSzPts val="900"/>
              <a:buFont typeface="Calibri"/>
              <a:buNone/>
            </a:pP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rd_sel[2:0] = 3'b001   // ROM selected</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cpu_mem_rdata: RISC-V opcode</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  e.g. 0x00020137 = LUI x2, 0x20</a:t>
            </a:r>
            <a:endParaRPr sz="900" b="0" i="0" u="none" strike="noStrike" cap="none">
              <a:solidFill>
                <a:srgbClr val="000000"/>
              </a:solidFill>
              <a:latin typeface="Calibri"/>
              <a:ea typeface="Calibri"/>
              <a:cs typeface="Calibri"/>
              <a:sym typeface="Calibri"/>
            </a:endParaRPr>
          </a:p>
        </p:txBody>
      </p:sp>
      <p:sp>
        <p:nvSpPr>
          <p:cNvPr id="616" name="Google Shape;616;p7"/>
          <p:cNvSpPr/>
          <p:nvPr/>
        </p:nvSpPr>
        <p:spPr>
          <a:xfrm>
            <a:off x="418797" y="3268580"/>
            <a:ext cx="3994200" cy="802500"/>
          </a:xfrm>
          <a:prstGeom prst="rect">
            <a:avLst/>
          </a:prstGeom>
          <a:noFill/>
          <a:ln>
            <a:noFill/>
          </a:ln>
        </p:spPr>
        <p:txBody>
          <a:bodyPr spcFirstLastPara="1" wrap="square" lIns="50800" tIns="50800" rIns="50800" bIns="50800" anchor="t" anchorCtr="0">
            <a:noAutofit/>
          </a:bodyPr>
          <a:lstStyle/>
          <a:p>
            <a:pPr marL="0" marR="0" lvl="0" indent="0" algn="l" rtl="0">
              <a:spcBef>
                <a:spcPts val="0"/>
              </a:spcBef>
              <a:spcAft>
                <a:spcPts val="0"/>
              </a:spcAft>
              <a:buClr>
                <a:srgbClr val="1F618D"/>
              </a:buClr>
              <a:buSzPts val="1050"/>
              <a:buFont typeface="Calibri"/>
              <a:buNone/>
            </a:pPr>
            <a:r>
              <a:rPr lang="en-US" sz="1050" b="1" i="0" u="none" strike="noStrike" cap="none">
                <a:solidFill>
                  <a:srgbClr val="1F618D"/>
                </a:solidFill>
                <a:latin typeface="Calibri"/>
                <a:ea typeface="Calibri"/>
                <a:cs typeface="Calibri"/>
                <a:sym typeface="Calibri"/>
              </a:rPr>
              <a:t>Key Pattern:</a:t>
            </a:r>
            <a:endParaRPr sz="105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Every ROM read: b_state cycles 0→3→4→0 in 2 clock cycles. rd_sel = 3'b001 confirms ROM is the target. Watch cpu_mem_addr increment by 4 (word-aligned RISC-V instructions).</a:t>
            </a:r>
            <a:endParaRPr sz="1050" b="0" i="0" u="none" strike="noStrike" cap="none">
              <a:solidFill>
                <a:srgbClr val="000000"/>
              </a:solidFill>
              <a:latin typeface="Calibri"/>
              <a:ea typeface="Calibri"/>
              <a:cs typeface="Calibri"/>
              <a:sym typeface="Calibri"/>
            </a:endParaRPr>
          </a:p>
        </p:txBody>
      </p:sp>
      <p:sp>
        <p:nvSpPr>
          <p:cNvPr id="617" name="Google Shape;617;p7"/>
          <p:cNvSpPr/>
          <p:nvPr/>
        </p:nvSpPr>
        <p:spPr>
          <a:xfrm>
            <a:off x="418799" y="4139529"/>
            <a:ext cx="3994200" cy="770100"/>
          </a:xfrm>
          <a:prstGeom prst="rect">
            <a:avLst/>
          </a:prstGeom>
          <a:solidFill>
            <a:srgbClr val="D5E8F3"/>
          </a:solidFill>
          <a:ln w="12700" cap="flat" cmpd="sng">
            <a:solidFill>
              <a:srgbClr val="2E8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7"/>
          <p:cNvSpPr/>
          <p:nvPr/>
        </p:nvSpPr>
        <p:spPr>
          <a:xfrm>
            <a:off x="490122" y="4171946"/>
            <a:ext cx="3887100" cy="713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3349"/>
              </a:buClr>
              <a:buSzPts val="950"/>
              <a:buFont typeface="Consolas"/>
              <a:buNone/>
            </a:pPr>
            <a:r>
              <a:rPr lang="en-US" sz="950" b="0" i="0" u="none" strike="noStrike" cap="none">
                <a:solidFill>
                  <a:srgbClr val="0D3349"/>
                </a:solidFill>
                <a:latin typeface="Consolas"/>
                <a:ea typeface="Consolas"/>
                <a:cs typeface="Consolas"/>
                <a:sym typeface="Consolas"/>
              </a:rPr>
              <a:t>Reset → First fetch:  ~200 ns (10 cycles)</a:t>
            </a:r>
            <a:endParaRPr sz="95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50"/>
              <a:buFont typeface="Consolas"/>
              <a:buNone/>
            </a:pPr>
            <a:r>
              <a:rPr lang="en-US" sz="950" b="0" i="0" u="none" strike="noStrike" cap="none">
                <a:solidFill>
                  <a:srgbClr val="0D3349"/>
                </a:solidFill>
                <a:latin typeface="Consolas"/>
                <a:ea typeface="Consolas"/>
                <a:cs typeface="Consolas"/>
                <a:sym typeface="Consolas"/>
              </a:rPr>
              <a:t>Boot complete:       ~3–5 µs (150–250 cycles)</a:t>
            </a:r>
            <a:endParaRPr sz="950" b="0" i="0" u="none" strike="noStrike" cap="none">
              <a:solidFill>
                <a:srgbClr val="000000"/>
              </a:solidFill>
              <a:latin typeface="Calibri"/>
              <a:ea typeface="Calibri"/>
              <a:cs typeface="Calibri"/>
              <a:sym typeface="Calibri"/>
            </a:endParaRPr>
          </a:p>
        </p:txBody>
      </p:sp>
      <p:sp>
        <p:nvSpPr>
          <p:cNvPr id="619" name="Google Shape;619;p7"/>
          <p:cNvSpPr/>
          <p:nvPr/>
        </p:nvSpPr>
        <p:spPr>
          <a:xfrm>
            <a:off x="4760630" y="1132818"/>
            <a:ext cx="4145700" cy="3849900"/>
          </a:xfrm>
          <a:prstGeom prst="rect">
            <a:avLst/>
          </a:prstGeom>
          <a:solidFill>
            <a:srgbClr val="FFFFFF"/>
          </a:solidFill>
          <a:ln w="12700" cap="flat" cmpd="sng">
            <a:solidFill>
              <a:srgbClr val="AED6F1"/>
            </a:solidFill>
            <a:prstDash val="solid"/>
            <a:round/>
            <a:headEnd type="none" w="sm" len="sm"/>
            <a:tailEnd type="none" w="sm" len="sm"/>
          </a:ln>
          <a:effectLst>
            <a:outerShdw blurRad="635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7"/>
          <p:cNvSpPr/>
          <p:nvPr/>
        </p:nvSpPr>
        <p:spPr>
          <a:xfrm>
            <a:off x="4760630" y="1132818"/>
            <a:ext cx="4145700" cy="243000"/>
          </a:xfrm>
          <a:prstGeom prst="rect">
            <a:avLst/>
          </a:prstGeom>
          <a:solidFill>
            <a:srgbClr val="5B2C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7"/>
          <p:cNvSpPr/>
          <p:nvPr/>
        </p:nvSpPr>
        <p:spPr>
          <a:xfrm>
            <a:off x="4831953" y="1132818"/>
            <a:ext cx="4056300" cy="24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UART Byte Transmission</a:t>
            </a:r>
            <a:endParaRPr sz="1100" b="0" i="0" u="none" strike="noStrike" cap="none">
              <a:solidFill>
                <a:srgbClr val="000000"/>
              </a:solidFill>
              <a:latin typeface="Calibri"/>
              <a:ea typeface="Calibri"/>
              <a:cs typeface="Calibri"/>
              <a:sym typeface="Calibri"/>
            </a:endParaRPr>
          </a:p>
        </p:txBody>
      </p:sp>
      <p:sp>
        <p:nvSpPr>
          <p:cNvPr id="622" name="Google Shape;622;p7"/>
          <p:cNvSpPr/>
          <p:nvPr/>
        </p:nvSpPr>
        <p:spPr>
          <a:xfrm>
            <a:off x="4831945" y="1408378"/>
            <a:ext cx="3994200" cy="1762800"/>
          </a:xfrm>
          <a:prstGeom prst="rect">
            <a:avLst/>
          </a:prstGeom>
          <a:solidFill>
            <a:srgbClr val="D5E8F3"/>
          </a:solidFill>
          <a:ln w="12700" cap="flat" cmpd="sng">
            <a:solidFill>
              <a:srgbClr val="2E8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7"/>
          <p:cNvSpPr/>
          <p:nvPr/>
        </p:nvSpPr>
        <p:spPr>
          <a:xfrm>
            <a:off x="4921120" y="1456998"/>
            <a:ext cx="3860400" cy="1649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cpu_mem_addr = 0x10000000</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wstrb = 4'h1             // byte lane 0</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00000"/>
              </a:buClr>
              <a:buSzPts val="900"/>
              <a:buFont typeface="Calibri"/>
              <a:buNone/>
            </a:pP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b_state: 0 → 1 → 0      // IDLE→WR_AW→IDLE</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wr_sel = 3'b100          // UART selected</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00000"/>
              </a:buClr>
              <a:buSzPts val="900"/>
              <a:buFont typeface="Calibri"/>
              <a:buNone/>
            </a:pP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uart_axi.buf_valid = 1   // TX buffer loaded</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uart_axi.u_tx.state:</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  0→1→2→3→0 (IDLE→START→DATA→STOP→IDLE)</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00000"/>
              </a:buClr>
              <a:buSzPts val="900"/>
              <a:buFont typeface="Calibri"/>
              <a:buNone/>
            </a:pP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uart_tx_pin:</a:t>
            </a:r>
            <a:endParaRPr sz="90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00"/>
              <a:buFont typeface="Consolas"/>
              <a:buNone/>
            </a:pPr>
            <a:r>
              <a:rPr lang="en-US" sz="900" b="0" i="0" u="none" strike="noStrike" cap="none">
                <a:solidFill>
                  <a:srgbClr val="0D3349"/>
                </a:solidFill>
                <a:latin typeface="Consolas"/>
                <a:ea typeface="Consolas"/>
                <a:cs typeface="Consolas"/>
                <a:sym typeface="Consolas"/>
              </a:rPr>
              <a:t>  falling edge (start) → 8 bits → high (stop)</a:t>
            </a:r>
            <a:endParaRPr sz="900" b="0" i="0" u="none" strike="noStrike" cap="none">
              <a:solidFill>
                <a:srgbClr val="000000"/>
              </a:solidFill>
              <a:latin typeface="Calibri"/>
              <a:ea typeface="Calibri"/>
              <a:cs typeface="Calibri"/>
              <a:sym typeface="Calibri"/>
            </a:endParaRPr>
          </a:p>
        </p:txBody>
      </p:sp>
      <p:sp>
        <p:nvSpPr>
          <p:cNvPr id="624" name="Google Shape;624;p7"/>
          <p:cNvSpPr/>
          <p:nvPr/>
        </p:nvSpPr>
        <p:spPr>
          <a:xfrm>
            <a:off x="4849743" y="3313240"/>
            <a:ext cx="3994200" cy="713400"/>
          </a:xfrm>
          <a:prstGeom prst="rect">
            <a:avLst/>
          </a:prstGeom>
          <a:noFill/>
          <a:ln>
            <a:noFill/>
          </a:ln>
        </p:spPr>
        <p:txBody>
          <a:bodyPr spcFirstLastPara="1" wrap="square" lIns="50800" tIns="50800" rIns="50800" bIns="50800" anchor="t" anchorCtr="0">
            <a:noAutofit/>
          </a:bodyPr>
          <a:lstStyle/>
          <a:p>
            <a:pPr marL="0" marR="0" lvl="0" indent="0" algn="l" rtl="0">
              <a:spcBef>
                <a:spcPts val="0"/>
              </a:spcBef>
              <a:spcAft>
                <a:spcPts val="0"/>
              </a:spcAft>
              <a:buClr>
                <a:srgbClr val="1F618D"/>
              </a:buClr>
              <a:buSzPts val="1050"/>
              <a:buFont typeface="Calibri"/>
              <a:buNone/>
            </a:pPr>
            <a:r>
              <a:rPr lang="en-US" sz="1050" b="1" i="0" u="none" strike="noStrike" cap="none">
                <a:solidFill>
                  <a:srgbClr val="1F618D"/>
                </a:solidFill>
                <a:latin typeface="Calibri"/>
                <a:ea typeface="Calibri"/>
                <a:cs typeface="Calibri"/>
                <a:sym typeface="Calibri"/>
              </a:rPr>
              <a:t>Key Pattern:</a:t>
            </a:r>
            <a:endParaRPr sz="105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1A2B3C"/>
              </a:buClr>
              <a:buSzPts val="950"/>
              <a:buFont typeface="Calibri"/>
              <a:buNone/>
            </a:pPr>
            <a:r>
              <a:rPr lang="en-US" sz="950" b="0" i="0" u="none" strike="noStrike" cap="none">
                <a:solidFill>
                  <a:srgbClr val="1A2B3C"/>
                </a:solidFill>
                <a:latin typeface="Calibri"/>
                <a:ea typeface="Calibri"/>
                <a:cs typeface="Calibri"/>
                <a:sym typeface="Calibri"/>
              </a:rPr>
              <a:t>UART TX write: b_state cycles 0→1→0 (simpler than read — no read-data phase). wr_sel = 3'b100 confirms UART. buf_valid pulses high when TX byte is latched.</a:t>
            </a:r>
            <a:endParaRPr sz="1050" b="0" i="0" u="none" strike="noStrike" cap="none">
              <a:solidFill>
                <a:srgbClr val="000000"/>
              </a:solidFill>
              <a:latin typeface="Calibri"/>
              <a:ea typeface="Calibri"/>
              <a:cs typeface="Calibri"/>
              <a:sym typeface="Calibri"/>
            </a:endParaRPr>
          </a:p>
        </p:txBody>
      </p:sp>
      <p:sp>
        <p:nvSpPr>
          <p:cNvPr id="625" name="Google Shape;625;p7"/>
          <p:cNvSpPr/>
          <p:nvPr/>
        </p:nvSpPr>
        <p:spPr>
          <a:xfrm>
            <a:off x="4831953" y="4107112"/>
            <a:ext cx="3994200" cy="802500"/>
          </a:xfrm>
          <a:prstGeom prst="rect">
            <a:avLst/>
          </a:prstGeom>
          <a:solidFill>
            <a:srgbClr val="D5E8F3"/>
          </a:solidFill>
          <a:ln w="12700" cap="flat" cmpd="sng">
            <a:solidFill>
              <a:srgbClr val="2E8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7"/>
          <p:cNvSpPr/>
          <p:nvPr/>
        </p:nvSpPr>
        <p:spPr>
          <a:xfrm>
            <a:off x="4903277" y="4139529"/>
            <a:ext cx="3887100" cy="745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3349"/>
              </a:buClr>
              <a:buSzPts val="950"/>
              <a:buFont typeface="Consolas"/>
              <a:buNone/>
            </a:pPr>
            <a:r>
              <a:rPr lang="en-US" sz="950" b="0" i="0" u="none" strike="noStrike" cap="none">
                <a:solidFill>
                  <a:srgbClr val="0D3349"/>
                </a:solidFill>
                <a:latin typeface="Consolas"/>
                <a:ea typeface="Consolas"/>
                <a:cs typeface="Consolas"/>
                <a:sym typeface="Consolas"/>
              </a:rPr>
              <a:t>1 bit   = 434 cycles = 8.68 µs</a:t>
            </a:r>
            <a:endParaRPr sz="95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50"/>
              <a:buFont typeface="Consolas"/>
              <a:buNone/>
            </a:pPr>
            <a:r>
              <a:rPr lang="en-US" sz="950" b="0" i="0" u="none" strike="noStrike" cap="none">
                <a:solidFill>
                  <a:srgbClr val="0D3349"/>
                </a:solidFill>
                <a:latin typeface="Consolas"/>
                <a:ea typeface="Consolas"/>
                <a:cs typeface="Consolas"/>
                <a:sym typeface="Consolas"/>
              </a:rPr>
              <a:t>1 frame = 4340 cycles = 86.8 µs (8N1)</a:t>
            </a:r>
            <a:endParaRPr sz="950"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950"/>
              <a:buFont typeface="Consolas"/>
              <a:buNone/>
            </a:pPr>
            <a:r>
              <a:rPr lang="en-US" sz="950" b="0" i="0" u="none" strike="noStrike" cap="none">
                <a:solidFill>
                  <a:srgbClr val="0D3349"/>
                </a:solidFill>
                <a:latin typeface="Consolas"/>
                <a:ea typeface="Consolas"/>
                <a:cs typeface="Consolas"/>
                <a:sym typeface="Consolas"/>
              </a:rPr>
              <a:t>10 msgs = ~23 ms = ~1,150,000 cycles</a:t>
            </a:r>
            <a:endParaRPr sz="950" b="0" i="0" u="none" strike="noStrike" cap="non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8"/>
          <p:cNvSpPr/>
          <p:nvPr/>
        </p:nvSpPr>
        <p:spPr>
          <a:xfrm>
            <a:off x="354175" y="504575"/>
            <a:ext cx="8332500" cy="432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F3864"/>
              </a:buClr>
              <a:buSzPts val="2600"/>
              <a:buFont typeface="Calibri"/>
              <a:buNone/>
            </a:pPr>
            <a:r>
              <a:rPr lang="en-US" sz="2600" b="1" i="0" u="none" strike="noStrike" cap="none">
                <a:solidFill>
                  <a:schemeClr val="dk1"/>
                </a:solidFill>
                <a:latin typeface="Calibri"/>
                <a:ea typeface="Calibri"/>
                <a:cs typeface="Calibri"/>
                <a:sym typeface="Calibri"/>
              </a:rPr>
              <a:t>Interactive Debugging</a:t>
            </a:r>
            <a:endParaRPr sz="2600" b="1" i="0" u="none" strike="noStrike" cap="none">
              <a:solidFill>
                <a:schemeClr val="dk1"/>
              </a:solidFill>
              <a:latin typeface="Calibri"/>
              <a:ea typeface="Calibri"/>
              <a:cs typeface="Calibri"/>
              <a:sym typeface="Calibri"/>
            </a:endParaRPr>
          </a:p>
        </p:txBody>
      </p:sp>
      <p:sp>
        <p:nvSpPr>
          <p:cNvPr id="633" name="Google Shape;633;p8"/>
          <p:cNvSpPr/>
          <p:nvPr/>
        </p:nvSpPr>
        <p:spPr>
          <a:xfrm>
            <a:off x="582880" y="937176"/>
            <a:ext cx="7791900" cy="293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1008"/>
              <a:buFont typeface="Calibri"/>
              <a:buNone/>
            </a:pPr>
            <a:r>
              <a:rPr lang="en-US" sz="1008" b="0" i="1" u="none" strike="noStrike" cap="none">
                <a:solidFill>
                  <a:srgbClr val="2C5F7A"/>
                </a:solidFill>
                <a:latin typeface="Calibri"/>
                <a:ea typeface="Calibri"/>
                <a:cs typeface="Calibri"/>
                <a:sym typeface="Calibri"/>
              </a:rPr>
              <a:t>Three Real Bugs from THIS Project — Find &amp; Fix</a:t>
            </a:r>
            <a:endParaRPr sz="1008" b="0" i="0" u="none" strike="noStrike" cap="none">
              <a:solidFill>
                <a:srgbClr val="000000"/>
              </a:solidFill>
              <a:latin typeface="Calibri"/>
              <a:ea typeface="Calibri"/>
              <a:cs typeface="Calibri"/>
              <a:sym typeface="Calibri"/>
            </a:endParaRPr>
          </a:p>
        </p:txBody>
      </p:sp>
      <p:sp>
        <p:nvSpPr>
          <p:cNvPr id="634" name="Google Shape;634;p8"/>
          <p:cNvSpPr/>
          <p:nvPr/>
        </p:nvSpPr>
        <p:spPr>
          <a:xfrm>
            <a:off x="457200" y="1020962"/>
            <a:ext cx="2530500" cy="3183900"/>
          </a:xfrm>
          <a:prstGeom prst="rect">
            <a:avLst/>
          </a:prstGeom>
          <a:solidFill>
            <a:srgbClr val="FFFFFF"/>
          </a:solidFill>
          <a:ln w="11625" cap="flat" cmpd="sng">
            <a:solidFill>
              <a:srgbClr val="AED6F1"/>
            </a:solidFill>
            <a:prstDash val="solid"/>
            <a:round/>
            <a:headEnd type="none" w="sm" len="sm"/>
            <a:tailEnd type="none" w="sm" len="sm"/>
          </a:ln>
          <a:effectLst>
            <a:outerShdw blurRad="58185" dist="23274" dir="8100000" algn="bl" rotWithShape="0">
              <a:srgbClr val="000000">
                <a:alpha val="10200"/>
              </a:srgbClr>
            </a:outerShdw>
          </a:effectLst>
        </p:spPr>
        <p:txBody>
          <a:bodyPr spcFirstLastPara="1" wrap="square" lIns="83775" tIns="83775" rIns="83775" bIns="83775" anchor="ctr" anchorCtr="0">
            <a:noAutofit/>
          </a:bodyPr>
          <a:lstStyle/>
          <a:p>
            <a:pPr marL="0" lvl="0" indent="0" algn="l" rtl="0">
              <a:spcBef>
                <a:spcPts val="0"/>
              </a:spcBef>
              <a:spcAft>
                <a:spcPts val="0"/>
              </a:spcAft>
              <a:buNone/>
            </a:pPr>
            <a:endParaRPr/>
          </a:p>
        </p:txBody>
      </p:sp>
      <p:sp>
        <p:nvSpPr>
          <p:cNvPr id="635" name="Google Shape;635;p8"/>
          <p:cNvSpPr/>
          <p:nvPr/>
        </p:nvSpPr>
        <p:spPr>
          <a:xfrm>
            <a:off x="457200" y="1020962"/>
            <a:ext cx="2530500" cy="502800"/>
          </a:xfrm>
          <a:prstGeom prst="rect">
            <a:avLst/>
          </a:prstGeom>
          <a:solidFill>
            <a:srgbClr val="1A5276"/>
          </a:solidFill>
          <a:ln>
            <a:noFill/>
          </a:ln>
        </p:spPr>
        <p:txBody>
          <a:bodyPr spcFirstLastPara="1" wrap="square" lIns="83775" tIns="83775" rIns="83775" bIns="83775" anchor="ctr" anchorCtr="0">
            <a:noAutofit/>
          </a:bodyPr>
          <a:lstStyle/>
          <a:p>
            <a:pPr marL="0" lvl="0" indent="0" algn="l" rtl="0">
              <a:spcBef>
                <a:spcPts val="0"/>
              </a:spcBef>
              <a:spcAft>
                <a:spcPts val="0"/>
              </a:spcAft>
              <a:buNone/>
            </a:pPr>
            <a:endParaRPr/>
          </a:p>
        </p:txBody>
      </p:sp>
      <p:sp>
        <p:nvSpPr>
          <p:cNvPr id="636" name="Google Shape;636;p8"/>
          <p:cNvSpPr/>
          <p:nvPr/>
        </p:nvSpPr>
        <p:spPr>
          <a:xfrm>
            <a:off x="457200" y="1020962"/>
            <a:ext cx="2530500" cy="234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BUG 1</a:t>
            </a:r>
            <a:endParaRPr sz="1100" b="0" i="0" u="none" strike="noStrike" cap="none">
              <a:solidFill>
                <a:srgbClr val="000000"/>
              </a:solidFill>
              <a:latin typeface="Calibri"/>
              <a:ea typeface="Calibri"/>
              <a:cs typeface="Calibri"/>
              <a:sym typeface="Calibri"/>
            </a:endParaRPr>
          </a:p>
        </p:txBody>
      </p:sp>
      <p:sp>
        <p:nvSpPr>
          <p:cNvPr id="637" name="Google Shape;637;p8"/>
          <p:cNvSpPr/>
          <p:nvPr/>
        </p:nvSpPr>
        <p:spPr>
          <a:xfrm>
            <a:off x="507472" y="1255564"/>
            <a:ext cx="2446500" cy="267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79"/>
              <a:buFont typeface="Calibri"/>
              <a:buNone/>
            </a:pPr>
            <a:r>
              <a:rPr lang="en-US" sz="779" b="0" i="0" u="none" strike="noStrike" cap="none">
                <a:solidFill>
                  <a:srgbClr val="FFFFFF"/>
                </a:solidFill>
                <a:latin typeface="Calibri"/>
                <a:ea typeface="Calibri"/>
                <a:cs typeface="Calibri"/>
                <a:sym typeface="Calibri"/>
              </a:rPr>
              <a:t>Simulation passes but no '[TB] RX byte:' output</a:t>
            </a:r>
            <a:endParaRPr sz="779" b="0" i="0" u="none" strike="noStrike" cap="none">
              <a:solidFill>
                <a:srgbClr val="000000"/>
              </a:solidFill>
              <a:latin typeface="Calibri"/>
              <a:ea typeface="Calibri"/>
              <a:cs typeface="Calibri"/>
              <a:sym typeface="Calibri"/>
            </a:endParaRPr>
          </a:p>
        </p:txBody>
      </p:sp>
      <p:sp>
        <p:nvSpPr>
          <p:cNvPr id="638" name="Google Shape;638;p8"/>
          <p:cNvSpPr/>
          <p:nvPr/>
        </p:nvSpPr>
        <p:spPr>
          <a:xfrm>
            <a:off x="524230" y="1557196"/>
            <a:ext cx="2429700" cy="18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779"/>
              <a:buFont typeface="Calibri"/>
              <a:buNone/>
            </a:pPr>
            <a:r>
              <a:rPr lang="en-US" sz="779" b="1" i="0" u="none" strike="noStrike" cap="none">
                <a:solidFill>
                  <a:srgbClr val="1F618D"/>
                </a:solidFill>
                <a:latin typeface="Calibri"/>
                <a:ea typeface="Calibri"/>
                <a:cs typeface="Calibri"/>
                <a:sym typeface="Calibri"/>
              </a:rPr>
              <a:t>ROOT CAUSE</a:t>
            </a:r>
            <a:endParaRPr sz="779" b="0" i="0" u="none" strike="noStrike" cap="none">
              <a:solidFill>
                <a:srgbClr val="000000"/>
              </a:solidFill>
              <a:latin typeface="Calibri"/>
              <a:ea typeface="Calibri"/>
              <a:cs typeface="Calibri"/>
              <a:sym typeface="Calibri"/>
            </a:endParaRPr>
          </a:p>
        </p:txBody>
      </p:sp>
      <p:sp>
        <p:nvSpPr>
          <p:cNvPr id="639" name="Google Shape;639;p8"/>
          <p:cNvSpPr/>
          <p:nvPr/>
        </p:nvSpPr>
        <p:spPr>
          <a:xfrm>
            <a:off x="524230" y="1724769"/>
            <a:ext cx="2429700" cy="335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806"/>
              <a:buFont typeface="Calibri"/>
              <a:buNone/>
            </a:pPr>
            <a:r>
              <a:rPr lang="en-US" sz="806" b="0" i="0" u="none" strike="noStrike" cap="none">
                <a:solidFill>
                  <a:srgbClr val="1A2B3C"/>
                </a:solidFill>
                <a:latin typeface="Calibri"/>
                <a:ea typeface="Calibri"/>
                <a:cs typeface="Calibri"/>
                <a:sym typeface="Calibri"/>
              </a:rPr>
              <a:t>byte_logger block not synced — delta-cycle race on rx_fifo</a:t>
            </a:r>
            <a:endParaRPr sz="806" b="0" i="0" u="none" strike="noStrike" cap="none">
              <a:solidFill>
                <a:srgbClr val="000000"/>
              </a:solidFill>
              <a:latin typeface="Calibri"/>
              <a:ea typeface="Calibri"/>
              <a:cs typeface="Calibri"/>
              <a:sym typeface="Calibri"/>
            </a:endParaRPr>
          </a:p>
        </p:txBody>
      </p:sp>
      <p:sp>
        <p:nvSpPr>
          <p:cNvPr id="640" name="Google Shape;640;p8"/>
          <p:cNvSpPr/>
          <p:nvPr/>
        </p:nvSpPr>
        <p:spPr>
          <a:xfrm>
            <a:off x="524230" y="2093429"/>
            <a:ext cx="2429700" cy="18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6B4A"/>
              </a:buClr>
              <a:buSzPts val="779"/>
              <a:buFont typeface="Calibri"/>
              <a:buNone/>
            </a:pPr>
            <a:r>
              <a:rPr lang="en-US" sz="779" b="1" i="0" u="none" strike="noStrike" cap="none">
                <a:solidFill>
                  <a:srgbClr val="1E6B4A"/>
                </a:solidFill>
                <a:latin typeface="Calibri"/>
                <a:ea typeface="Calibri"/>
                <a:cs typeface="Calibri"/>
                <a:sym typeface="Calibri"/>
              </a:rPr>
              <a:t>FIX / DEBUG STEPS</a:t>
            </a:r>
            <a:endParaRPr sz="779" b="0" i="0" u="none" strike="noStrike" cap="none">
              <a:solidFill>
                <a:srgbClr val="000000"/>
              </a:solidFill>
              <a:latin typeface="Calibri"/>
              <a:ea typeface="Calibri"/>
              <a:cs typeface="Calibri"/>
              <a:sym typeface="Calibri"/>
            </a:endParaRPr>
          </a:p>
        </p:txBody>
      </p:sp>
      <p:sp>
        <p:nvSpPr>
          <p:cNvPr id="641" name="Google Shape;641;p8"/>
          <p:cNvSpPr/>
          <p:nvPr/>
        </p:nvSpPr>
        <p:spPr>
          <a:xfrm>
            <a:off x="524230" y="2294517"/>
            <a:ext cx="2421600" cy="854700"/>
          </a:xfrm>
          <a:prstGeom prst="rect">
            <a:avLst/>
          </a:prstGeom>
          <a:solidFill>
            <a:srgbClr val="D5E8F3"/>
          </a:solidFill>
          <a:ln w="11625" cap="flat" cmpd="sng">
            <a:solidFill>
              <a:srgbClr val="2E86C1"/>
            </a:solidFill>
            <a:prstDash val="solid"/>
            <a:round/>
            <a:headEnd type="none" w="sm" len="sm"/>
            <a:tailEnd type="none" w="sm" len="sm"/>
          </a:ln>
        </p:spPr>
        <p:txBody>
          <a:bodyPr spcFirstLastPara="1" wrap="square" lIns="83775" tIns="83775" rIns="83775" bIns="83775" anchor="ctr" anchorCtr="0">
            <a:noAutofit/>
          </a:bodyPr>
          <a:lstStyle/>
          <a:p>
            <a:pPr marL="0" lvl="0" indent="0" algn="l" rtl="0">
              <a:spcBef>
                <a:spcPts val="0"/>
              </a:spcBef>
              <a:spcAft>
                <a:spcPts val="0"/>
              </a:spcAft>
              <a:buNone/>
            </a:pPr>
            <a:endParaRPr/>
          </a:p>
        </p:txBody>
      </p:sp>
      <p:sp>
        <p:nvSpPr>
          <p:cNvPr id="642" name="Google Shape;642;p8"/>
          <p:cNvSpPr/>
          <p:nvPr/>
        </p:nvSpPr>
        <p:spPr>
          <a:xfrm>
            <a:off x="608016" y="2344789"/>
            <a:ext cx="2295900" cy="753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3349"/>
              </a:buClr>
              <a:buSzPts val="825"/>
              <a:buFont typeface="Consolas"/>
              <a:buNone/>
            </a:pPr>
            <a:r>
              <a:rPr lang="en-US" sz="825" b="0" i="0" u="none" strike="noStrike" cap="none">
                <a:solidFill>
                  <a:srgbClr val="0D3349"/>
                </a:solidFill>
                <a:latin typeface="Consolas"/>
                <a:ea typeface="Consolas"/>
                <a:cs typeface="Consolas"/>
                <a:sym typeface="Consolas"/>
              </a:rPr>
              <a:t>independent byte_logger initial block in tb_top.v</a:t>
            </a:r>
            <a:endParaRPr sz="825"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825"/>
              <a:buFont typeface="Consolas"/>
              <a:buNone/>
            </a:pPr>
            <a:r>
              <a:rPr lang="en-US" sz="825" b="0" i="0" u="none" strike="noStrike" cap="none">
                <a:solidFill>
                  <a:srgbClr val="0D3349"/>
                </a:solidFill>
                <a:latin typeface="Consolas"/>
                <a:ea typeface="Consolas"/>
                <a:cs typeface="Consolas"/>
                <a:sym typeface="Consolas"/>
              </a:rPr>
              <a:t>while (log_ptr == rx_wr_ptr) #10;  // wait for new fifo</a:t>
            </a:r>
            <a:endParaRPr sz="825"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825"/>
              <a:buFont typeface="Consolas"/>
              <a:buNone/>
            </a:pPr>
            <a:r>
              <a:rPr lang="en-US" sz="825" b="0" i="0" u="none" strike="noStrike" cap="none">
                <a:solidFill>
                  <a:srgbClr val="0D3349"/>
                </a:solidFill>
                <a:latin typeface="Consolas"/>
                <a:ea typeface="Consolas"/>
                <a:cs typeface="Consolas"/>
                <a:sym typeface="Consolas"/>
              </a:rPr>
              <a:t>$display("[TB] RX byte: %c", rx_fifo[log_ptr &amp; 63]);</a:t>
            </a:r>
            <a:endParaRPr sz="825" b="0" i="0" u="none" strike="noStrike" cap="none">
              <a:solidFill>
                <a:srgbClr val="000000"/>
              </a:solidFill>
              <a:latin typeface="Calibri"/>
              <a:ea typeface="Calibri"/>
              <a:cs typeface="Calibri"/>
              <a:sym typeface="Calibri"/>
            </a:endParaRPr>
          </a:p>
        </p:txBody>
      </p:sp>
      <p:sp>
        <p:nvSpPr>
          <p:cNvPr id="643" name="Google Shape;643;p8"/>
          <p:cNvSpPr/>
          <p:nvPr/>
        </p:nvSpPr>
        <p:spPr>
          <a:xfrm>
            <a:off x="524230" y="3199411"/>
            <a:ext cx="2421600" cy="938400"/>
          </a:xfrm>
          <a:prstGeom prst="rect">
            <a:avLst/>
          </a:prstGeom>
          <a:solidFill>
            <a:srgbClr val="D6EAF8"/>
          </a:solidFill>
          <a:ln w="11625" cap="flat" cmpd="sng">
            <a:solidFill>
              <a:srgbClr val="AED6F1"/>
            </a:solidFill>
            <a:prstDash val="solid"/>
            <a:round/>
            <a:headEnd type="none" w="sm" len="sm"/>
            <a:tailEnd type="none" w="sm" len="sm"/>
          </a:ln>
        </p:spPr>
        <p:txBody>
          <a:bodyPr spcFirstLastPara="1" wrap="square" lIns="83775" tIns="83775" rIns="83775" bIns="83775" anchor="ctr" anchorCtr="0">
            <a:noAutofit/>
          </a:bodyPr>
          <a:lstStyle/>
          <a:p>
            <a:pPr marL="0" lvl="0" indent="0" algn="l" rtl="0">
              <a:spcBef>
                <a:spcPts val="0"/>
              </a:spcBef>
              <a:spcAft>
                <a:spcPts val="0"/>
              </a:spcAft>
              <a:buNone/>
            </a:pPr>
            <a:endParaRPr/>
          </a:p>
        </p:txBody>
      </p:sp>
      <p:sp>
        <p:nvSpPr>
          <p:cNvPr id="644" name="Google Shape;644;p8"/>
          <p:cNvSpPr/>
          <p:nvPr/>
        </p:nvSpPr>
        <p:spPr>
          <a:xfrm>
            <a:off x="566123" y="3224547"/>
            <a:ext cx="2346000" cy="18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779"/>
              <a:buFont typeface="Calibri"/>
              <a:buNone/>
            </a:pPr>
            <a:r>
              <a:rPr lang="en-US" sz="779" b="1" i="0" u="none" strike="noStrike" cap="none">
                <a:solidFill>
                  <a:srgbClr val="1F618D"/>
                </a:solidFill>
                <a:latin typeface="Calibri"/>
                <a:ea typeface="Calibri"/>
                <a:cs typeface="Calibri"/>
                <a:sym typeface="Calibri"/>
              </a:rPr>
              <a:t>LESSON LEARNED</a:t>
            </a:r>
            <a:endParaRPr sz="779" b="0" i="0" u="none" strike="noStrike" cap="none">
              <a:solidFill>
                <a:srgbClr val="000000"/>
              </a:solidFill>
              <a:latin typeface="Calibri"/>
              <a:ea typeface="Calibri"/>
              <a:cs typeface="Calibri"/>
              <a:sym typeface="Calibri"/>
            </a:endParaRPr>
          </a:p>
        </p:txBody>
      </p:sp>
      <p:sp>
        <p:nvSpPr>
          <p:cNvPr id="645" name="Google Shape;645;p8"/>
          <p:cNvSpPr/>
          <p:nvPr/>
        </p:nvSpPr>
        <p:spPr>
          <a:xfrm>
            <a:off x="566123" y="3408878"/>
            <a:ext cx="2346000" cy="703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825"/>
              <a:buFont typeface="Calibri"/>
              <a:buNone/>
            </a:pPr>
            <a:r>
              <a:rPr lang="en-US" sz="825" b="0" i="1" u="none" strike="noStrike" cap="none">
                <a:solidFill>
                  <a:srgbClr val="1A2B3C"/>
                </a:solidFill>
                <a:latin typeface="Calibri"/>
                <a:ea typeface="Calibri"/>
                <a:cs typeface="Calibri"/>
                <a:sym typeface="Calibri"/>
              </a:rPr>
              <a:t>Concurrent Verilog blocks can have delta-cycle races; #10 delay separates logger from monitor safely.</a:t>
            </a:r>
            <a:endParaRPr sz="825" b="0" i="0" u="none" strike="noStrike" cap="none">
              <a:solidFill>
                <a:srgbClr val="000000"/>
              </a:solidFill>
              <a:latin typeface="Calibri"/>
              <a:ea typeface="Calibri"/>
              <a:cs typeface="Calibri"/>
              <a:sym typeface="Calibri"/>
            </a:endParaRPr>
          </a:p>
        </p:txBody>
      </p:sp>
      <p:sp>
        <p:nvSpPr>
          <p:cNvPr id="646" name="Google Shape;646;p8"/>
          <p:cNvSpPr/>
          <p:nvPr/>
        </p:nvSpPr>
        <p:spPr>
          <a:xfrm>
            <a:off x="3054579" y="1020962"/>
            <a:ext cx="2530500" cy="3183900"/>
          </a:xfrm>
          <a:prstGeom prst="rect">
            <a:avLst/>
          </a:prstGeom>
          <a:solidFill>
            <a:srgbClr val="FFFFFF"/>
          </a:solidFill>
          <a:ln w="11625" cap="flat" cmpd="sng">
            <a:solidFill>
              <a:srgbClr val="AED6F1"/>
            </a:solidFill>
            <a:prstDash val="solid"/>
            <a:round/>
            <a:headEnd type="none" w="sm" len="sm"/>
            <a:tailEnd type="none" w="sm" len="sm"/>
          </a:ln>
          <a:effectLst>
            <a:outerShdw blurRad="58185" dist="23274" dir="8100000" algn="bl" rotWithShape="0">
              <a:srgbClr val="000000">
                <a:alpha val="10200"/>
              </a:srgbClr>
            </a:outerShdw>
          </a:effectLst>
        </p:spPr>
        <p:txBody>
          <a:bodyPr spcFirstLastPara="1" wrap="square" lIns="83775" tIns="83775" rIns="83775" bIns="83775" anchor="ctr" anchorCtr="0">
            <a:noAutofit/>
          </a:bodyPr>
          <a:lstStyle/>
          <a:p>
            <a:pPr marL="0" lvl="0" indent="0" algn="l" rtl="0">
              <a:spcBef>
                <a:spcPts val="0"/>
              </a:spcBef>
              <a:spcAft>
                <a:spcPts val="0"/>
              </a:spcAft>
              <a:buNone/>
            </a:pPr>
            <a:endParaRPr/>
          </a:p>
        </p:txBody>
      </p:sp>
      <p:sp>
        <p:nvSpPr>
          <p:cNvPr id="647" name="Google Shape;647;p8"/>
          <p:cNvSpPr/>
          <p:nvPr/>
        </p:nvSpPr>
        <p:spPr>
          <a:xfrm>
            <a:off x="3054579" y="1020962"/>
            <a:ext cx="2530500" cy="502800"/>
          </a:xfrm>
          <a:prstGeom prst="rect">
            <a:avLst/>
          </a:prstGeom>
          <a:solidFill>
            <a:srgbClr val="1E6B4A"/>
          </a:solidFill>
          <a:ln>
            <a:noFill/>
          </a:ln>
        </p:spPr>
        <p:txBody>
          <a:bodyPr spcFirstLastPara="1" wrap="square" lIns="83775" tIns="83775" rIns="83775" bIns="83775" anchor="ctr" anchorCtr="0">
            <a:noAutofit/>
          </a:bodyPr>
          <a:lstStyle/>
          <a:p>
            <a:pPr marL="0" lvl="0" indent="0" algn="l" rtl="0">
              <a:spcBef>
                <a:spcPts val="0"/>
              </a:spcBef>
              <a:spcAft>
                <a:spcPts val="0"/>
              </a:spcAft>
              <a:buNone/>
            </a:pPr>
            <a:endParaRPr/>
          </a:p>
        </p:txBody>
      </p:sp>
      <p:sp>
        <p:nvSpPr>
          <p:cNvPr id="648" name="Google Shape;648;p8"/>
          <p:cNvSpPr/>
          <p:nvPr/>
        </p:nvSpPr>
        <p:spPr>
          <a:xfrm>
            <a:off x="3054579" y="1020962"/>
            <a:ext cx="2530500" cy="234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BUG 2</a:t>
            </a:r>
            <a:endParaRPr sz="1100" b="0" i="0" u="none" strike="noStrike" cap="none">
              <a:solidFill>
                <a:srgbClr val="000000"/>
              </a:solidFill>
              <a:latin typeface="Calibri"/>
              <a:ea typeface="Calibri"/>
              <a:cs typeface="Calibri"/>
              <a:sym typeface="Calibri"/>
            </a:endParaRPr>
          </a:p>
        </p:txBody>
      </p:sp>
      <p:sp>
        <p:nvSpPr>
          <p:cNvPr id="649" name="Google Shape;649;p8"/>
          <p:cNvSpPr/>
          <p:nvPr/>
        </p:nvSpPr>
        <p:spPr>
          <a:xfrm>
            <a:off x="3104851" y="1255564"/>
            <a:ext cx="2446500" cy="267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79"/>
              <a:buFont typeface="Calibri"/>
              <a:buNone/>
            </a:pPr>
            <a:r>
              <a:rPr lang="en-US" sz="779" b="0" i="0" u="none" strike="noStrike" cap="none">
                <a:solidFill>
                  <a:srgbClr val="FFFFFF"/>
                </a:solidFill>
                <a:latin typeface="Calibri"/>
                <a:ea typeface="Calibri"/>
                <a:cs typeface="Calibri"/>
                <a:sym typeface="Calibri"/>
              </a:rPr>
              <a:t>Bridge stuck in state ST_WR_AW (b_state = 1 forever)</a:t>
            </a:r>
            <a:endParaRPr sz="779" b="0" i="0" u="none" strike="noStrike" cap="none">
              <a:solidFill>
                <a:srgbClr val="000000"/>
              </a:solidFill>
              <a:latin typeface="Calibri"/>
              <a:ea typeface="Calibri"/>
              <a:cs typeface="Calibri"/>
              <a:sym typeface="Calibri"/>
            </a:endParaRPr>
          </a:p>
        </p:txBody>
      </p:sp>
      <p:sp>
        <p:nvSpPr>
          <p:cNvPr id="650" name="Google Shape;650;p8"/>
          <p:cNvSpPr/>
          <p:nvPr/>
        </p:nvSpPr>
        <p:spPr>
          <a:xfrm>
            <a:off x="3121608" y="1557196"/>
            <a:ext cx="2429700" cy="18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779"/>
              <a:buFont typeface="Calibri"/>
              <a:buNone/>
            </a:pPr>
            <a:r>
              <a:rPr lang="en-US" sz="779" b="1" i="0" u="none" strike="noStrike" cap="none">
                <a:solidFill>
                  <a:srgbClr val="1F618D"/>
                </a:solidFill>
                <a:latin typeface="Calibri"/>
                <a:ea typeface="Calibri"/>
                <a:cs typeface="Calibri"/>
                <a:sym typeface="Calibri"/>
              </a:rPr>
              <a:t>ROOT CAUSE</a:t>
            </a:r>
            <a:endParaRPr sz="779" b="0" i="0" u="none" strike="noStrike" cap="none">
              <a:solidFill>
                <a:srgbClr val="000000"/>
              </a:solidFill>
              <a:latin typeface="Calibri"/>
              <a:ea typeface="Calibri"/>
              <a:cs typeface="Calibri"/>
              <a:sym typeface="Calibri"/>
            </a:endParaRPr>
          </a:p>
        </p:txBody>
      </p:sp>
      <p:sp>
        <p:nvSpPr>
          <p:cNvPr id="651" name="Google Shape;651;p8"/>
          <p:cNvSpPr/>
          <p:nvPr/>
        </p:nvSpPr>
        <p:spPr>
          <a:xfrm>
            <a:off x="3121608" y="1724769"/>
            <a:ext cx="2429700" cy="335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806"/>
              <a:buFont typeface="Calibri"/>
              <a:buNone/>
            </a:pPr>
            <a:r>
              <a:rPr lang="en-US" sz="806" b="0" i="0" u="none" strike="noStrike" cap="none">
                <a:solidFill>
                  <a:srgbClr val="1A2B3C"/>
                </a:solidFill>
                <a:latin typeface="Calibri"/>
                <a:ea typeface="Calibri"/>
                <a:cs typeface="Calibri"/>
                <a:sym typeface="Calibri"/>
              </a:rPr>
              <a:t>Interconnect wr_sel = 3'b000 — address not decoded</a:t>
            </a:r>
            <a:endParaRPr sz="806" b="0" i="0" u="none" strike="noStrike" cap="none">
              <a:solidFill>
                <a:srgbClr val="000000"/>
              </a:solidFill>
              <a:latin typeface="Calibri"/>
              <a:ea typeface="Calibri"/>
              <a:cs typeface="Calibri"/>
              <a:sym typeface="Calibri"/>
            </a:endParaRPr>
          </a:p>
        </p:txBody>
      </p:sp>
      <p:sp>
        <p:nvSpPr>
          <p:cNvPr id="652" name="Google Shape;652;p8"/>
          <p:cNvSpPr/>
          <p:nvPr/>
        </p:nvSpPr>
        <p:spPr>
          <a:xfrm>
            <a:off x="3121608" y="2093429"/>
            <a:ext cx="2429700" cy="18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6B4A"/>
              </a:buClr>
              <a:buSzPts val="779"/>
              <a:buFont typeface="Calibri"/>
              <a:buNone/>
            </a:pPr>
            <a:r>
              <a:rPr lang="en-US" sz="779" b="1" i="0" u="none" strike="noStrike" cap="none">
                <a:solidFill>
                  <a:srgbClr val="1E6B4A"/>
                </a:solidFill>
                <a:latin typeface="Calibri"/>
                <a:ea typeface="Calibri"/>
                <a:cs typeface="Calibri"/>
                <a:sym typeface="Calibri"/>
              </a:rPr>
              <a:t>FIX / DEBUG STEPS</a:t>
            </a:r>
            <a:endParaRPr sz="779" b="0" i="0" u="none" strike="noStrike" cap="none">
              <a:solidFill>
                <a:srgbClr val="000000"/>
              </a:solidFill>
              <a:latin typeface="Calibri"/>
              <a:ea typeface="Calibri"/>
              <a:cs typeface="Calibri"/>
              <a:sym typeface="Calibri"/>
            </a:endParaRPr>
          </a:p>
        </p:txBody>
      </p:sp>
      <p:sp>
        <p:nvSpPr>
          <p:cNvPr id="653" name="Google Shape;653;p8"/>
          <p:cNvSpPr/>
          <p:nvPr/>
        </p:nvSpPr>
        <p:spPr>
          <a:xfrm>
            <a:off x="3121608" y="2294517"/>
            <a:ext cx="2421600" cy="854700"/>
          </a:xfrm>
          <a:prstGeom prst="rect">
            <a:avLst/>
          </a:prstGeom>
          <a:solidFill>
            <a:srgbClr val="D5E8F3"/>
          </a:solidFill>
          <a:ln w="11625" cap="flat" cmpd="sng">
            <a:solidFill>
              <a:srgbClr val="2E86C1"/>
            </a:solidFill>
            <a:prstDash val="solid"/>
            <a:round/>
            <a:headEnd type="none" w="sm" len="sm"/>
            <a:tailEnd type="none" w="sm" len="sm"/>
          </a:ln>
        </p:spPr>
        <p:txBody>
          <a:bodyPr spcFirstLastPara="1" wrap="square" lIns="83775" tIns="83775" rIns="83775" bIns="83775" anchor="ctr" anchorCtr="0">
            <a:noAutofit/>
          </a:bodyPr>
          <a:lstStyle/>
          <a:p>
            <a:pPr marL="0" lvl="0" indent="0" algn="l" rtl="0">
              <a:spcBef>
                <a:spcPts val="0"/>
              </a:spcBef>
              <a:spcAft>
                <a:spcPts val="0"/>
              </a:spcAft>
              <a:buNone/>
            </a:pPr>
            <a:endParaRPr/>
          </a:p>
        </p:txBody>
      </p:sp>
      <p:sp>
        <p:nvSpPr>
          <p:cNvPr id="654" name="Google Shape;654;p8"/>
          <p:cNvSpPr/>
          <p:nvPr/>
        </p:nvSpPr>
        <p:spPr>
          <a:xfrm>
            <a:off x="3205395" y="2344789"/>
            <a:ext cx="2295900" cy="753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3349"/>
              </a:buClr>
              <a:buSzPts val="825"/>
              <a:buFont typeface="Consolas"/>
              <a:buNone/>
            </a:pPr>
            <a:r>
              <a:rPr lang="en-US" sz="825" b="0" i="0" u="none" strike="noStrike" cap="none">
                <a:solidFill>
                  <a:srgbClr val="0D3349"/>
                </a:solidFill>
                <a:latin typeface="Consolas"/>
                <a:ea typeface="Consolas"/>
                <a:cs typeface="Consolas"/>
                <a:sym typeface="Consolas"/>
              </a:rPr>
              <a:t>In GTKWave: check wr_sel[2:0] when awaddr is presented</a:t>
            </a:r>
            <a:endParaRPr sz="825"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825"/>
              <a:buFont typeface="Consolas"/>
              <a:buNone/>
            </a:pPr>
            <a:r>
              <a:rPr lang="en-US" sz="825" b="0" i="0" u="none" strike="noStrike" cap="none">
                <a:solidFill>
                  <a:srgbClr val="0D3349"/>
                </a:solidFill>
                <a:latin typeface="Consolas"/>
                <a:ea typeface="Consolas"/>
                <a:cs typeface="Consolas"/>
                <a:sym typeface="Consolas"/>
              </a:rPr>
              <a:t>Verify axi_decoder.v casez pattern matches the address</a:t>
            </a:r>
            <a:endParaRPr sz="825"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825"/>
              <a:buFont typeface="Consolas"/>
              <a:buNone/>
            </a:pPr>
            <a:r>
              <a:rPr lang="en-US" sz="825" b="0" i="0" u="none" strike="noStrike" cap="none">
                <a:solidFill>
                  <a:srgbClr val="0D3349"/>
                </a:solidFill>
                <a:latin typeface="Consolas"/>
                <a:ea typeface="Consolas"/>
                <a:cs typeface="Consolas"/>
                <a:sym typeface="Consolas"/>
              </a:rPr>
              <a:t>Expected: wr_sel = 3'b100 for addr 0x10000000</a:t>
            </a:r>
            <a:endParaRPr sz="825" b="0" i="0" u="none" strike="noStrike" cap="none">
              <a:solidFill>
                <a:srgbClr val="000000"/>
              </a:solidFill>
              <a:latin typeface="Calibri"/>
              <a:ea typeface="Calibri"/>
              <a:cs typeface="Calibri"/>
              <a:sym typeface="Calibri"/>
            </a:endParaRPr>
          </a:p>
        </p:txBody>
      </p:sp>
      <p:sp>
        <p:nvSpPr>
          <p:cNvPr id="655" name="Google Shape;655;p8"/>
          <p:cNvSpPr/>
          <p:nvPr/>
        </p:nvSpPr>
        <p:spPr>
          <a:xfrm>
            <a:off x="3121608" y="3199411"/>
            <a:ext cx="2421600" cy="938400"/>
          </a:xfrm>
          <a:prstGeom prst="rect">
            <a:avLst/>
          </a:prstGeom>
          <a:solidFill>
            <a:srgbClr val="D6EAF8"/>
          </a:solidFill>
          <a:ln w="11625" cap="flat" cmpd="sng">
            <a:solidFill>
              <a:srgbClr val="AED6F1"/>
            </a:solidFill>
            <a:prstDash val="solid"/>
            <a:round/>
            <a:headEnd type="none" w="sm" len="sm"/>
            <a:tailEnd type="none" w="sm" len="sm"/>
          </a:ln>
        </p:spPr>
        <p:txBody>
          <a:bodyPr spcFirstLastPara="1" wrap="square" lIns="83775" tIns="83775" rIns="83775" bIns="83775" anchor="ctr" anchorCtr="0">
            <a:noAutofit/>
          </a:bodyPr>
          <a:lstStyle/>
          <a:p>
            <a:pPr marL="0" lvl="0" indent="0" algn="l" rtl="0">
              <a:spcBef>
                <a:spcPts val="0"/>
              </a:spcBef>
              <a:spcAft>
                <a:spcPts val="0"/>
              </a:spcAft>
              <a:buNone/>
            </a:pPr>
            <a:endParaRPr/>
          </a:p>
        </p:txBody>
      </p:sp>
      <p:sp>
        <p:nvSpPr>
          <p:cNvPr id="656" name="Google Shape;656;p8"/>
          <p:cNvSpPr/>
          <p:nvPr/>
        </p:nvSpPr>
        <p:spPr>
          <a:xfrm>
            <a:off x="3163501" y="3224547"/>
            <a:ext cx="2346000" cy="18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779"/>
              <a:buFont typeface="Calibri"/>
              <a:buNone/>
            </a:pPr>
            <a:r>
              <a:rPr lang="en-US" sz="779" b="1" i="0" u="none" strike="noStrike" cap="none">
                <a:solidFill>
                  <a:srgbClr val="1F618D"/>
                </a:solidFill>
                <a:latin typeface="Calibri"/>
                <a:ea typeface="Calibri"/>
                <a:cs typeface="Calibri"/>
                <a:sym typeface="Calibri"/>
              </a:rPr>
              <a:t>LESSON LEARNED</a:t>
            </a:r>
            <a:endParaRPr sz="779" b="0" i="0" u="none" strike="noStrike" cap="none">
              <a:solidFill>
                <a:srgbClr val="000000"/>
              </a:solidFill>
              <a:latin typeface="Calibri"/>
              <a:ea typeface="Calibri"/>
              <a:cs typeface="Calibri"/>
              <a:sym typeface="Calibri"/>
            </a:endParaRPr>
          </a:p>
        </p:txBody>
      </p:sp>
      <p:sp>
        <p:nvSpPr>
          <p:cNvPr id="657" name="Google Shape;657;p8"/>
          <p:cNvSpPr/>
          <p:nvPr/>
        </p:nvSpPr>
        <p:spPr>
          <a:xfrm>
            <a:off x="3163501" y="3408878"/>
            <a:ext cx="2346000" cy="703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825"/>
              <a:buFont typeface="Calibri"/>
              <a:buNone/>
            </a:pPr>
            <a:r>
              <a:rPr lang="en-US" sz="825" b="0" i="1" u="none" strike="noStrike" cap="none">
                <a:solidFill>
                  <a:srgbClr val="1A2B3C"/>
                </a:solidFill>
                <a:latin typeface="Calibri"/>
                <a:ea typeface="Calibri"/>
                <a:cs typeface="Calibri"/>
                <a:sym typeface="Calibri"/>
              </a:rPr>
              <a:t>A hung b_state means the slave's awready never arrived — always check wr_sel routing first.</a:t>
            </a:r>
            <a:endParaRPr sz="825" b="0" i="0" u="none" strike="noStrike" cap="none">
              <a:solidFill>
                <a:srgbClr val="000000"/>
              </a:solidFill>
              <a:latin typeface="Calibri"/>
              <a:ea typeface="Calibri"/>
              <a:cs typeface="Calibri"/>
              <a:sym typeface="Calibri"/>
            </a:endParaRPr>
          </a:p>
        </p:txBody>
      </p:sp>
      <p:sp>
        <p:nvSpPr>
          <p:cNvPr id="658" name="Google Shape;658;p8"/>
          <p:cNvSpPr/>
          <p:nvPr/>
        </p:nvSpPr>
        <p:spPr>
          <a:xfrm>
            <a:off x="5651958" y="1020962"/>
            <a:ext cx="2530500" cy="3183900"/>
          </a:xfrm>
          <a:prstGeom prst="rect">
            <a:avLst/>
          </a:prstGeom>
          <a:solidFill>
            <a:srgbClr val="FFFFFF"/>
          </a:solidFill>
          <a:ln w="11625" cap="flat" cmpd="sng">
            <a:solidFill>
              <a:srgbClr val="AED6F1"/>
            </a:solidFill>
            <a:prstDash val="solid"/>
            <a:round/>
            <a:headEnd type="none" w="sm" len="sm"/>
            <a:tailEnd type="none" w="sm" len="sm"/>
          </a:ln>
          <a:effectLst>
            <a:outerShdw blurRad="58185" dist="23274" dir="8100000" algn="bl" rotWithShape="0">
              <a:srgbClr val="000000">
                <a:alpha val="10200"/>
              </a:srgbClr>
            </a:outerShdw>
          </a:effectLst>
        </p:spPr>
        <p:txBody>
          <a:bodyPr spcFirstLastPara="1" wrap="square" lIns="83775" tIns="83775" rIns="83775" bIns="83775" anchor="ctr" anchorCtr="0">
            <a:noAutofit/>
          </a:bodyPr>
          <a:lstStyle/>
          <a:p>
            <a:pPr marL="0" lvl="0" indent="0" algn="l" rtl="0">
              <a:spcBef>
                <a:spcPts val="0"/>
              </a:spcBef>
              <a:spcAft>
                <a:spcPts val="0"/>
              </a:spcAft>
              <a:buNone/>
            </a:pPr>
            <a:endParaRPr/>
          </a:p>
        </p:txBody>
      </p:sp>
      <p:sp>
        <p:nvSpPr>
          <p:cNvPr id="659" name="Google Shape;659;p8"/>
          <p:cNvSpPr/>
          <p:nvPr/>
        </p:nvSpPr>
        <p:spPr>
          <a:xfrm>
            <a:off x="5651958" y="1020962"/>
            <a:ext cx="2530500" cy="502800"/>
          </a:xfrm>
          <a:prstGeom prst="rect">
            <a:avLst/>
          </a:prstGeom>
          <a:solidFill>
            <a:srgbClr val="6B3A1E"/>
          </a:solidFill>
          <a:ln>
            <a:noFill/>
          </a:ln>
        </p:spPr>
        <p:txBody>
          <a:bodyPr spcFirstLastPara="1" wrap="square" lIns="83775" tIns="83775" rIns="83775" bIns="83775" anchor="ctr" anchorCtr="0">
            <a:noAutofit/>
          </a:bodyPr>
          <a:lstStyle/>
          <a:p>
            <a:pPr marL="0" lvl="0" indent="0" algn="l" rtl="0">
              <a:spcBef>
                <a:spcPts val="0"/>
              </a:spcBef>
              <a:spcAft>
                <a:spcPts val="0"/>
              </a:spcAft>
              <a:buNone/>
            </a:pPr>
            <a:endParaRPr/>
          </a:p>
        </p:txBody>
      </p:sp>
      <p:sp>
        <p:nvSpPr>
          <p:cNvPr id="660" name="Google Shape;660;p8"/>
          <p:cNvSpPr/>
          <p:nvPr/>
        </p:nvSpPr>
        <p:spPr>
          <a:xfrm>
            <a:off x="5651958" y="1020962"/>
            <a:ext cx="2530500" cy="234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BUG 3</a:t>
            </a:r>
            <a:endParaRPr sz="1100" b="0" i="0" u="none" strike="noStrike" cap="none">
              <a:solidFill>
                <a:srgbClr val="000000"/>
              </a:solidFill>
              <a:latin typeface="Calibri"/>
              <a:ea typeface="Calibri"/>
              <a:cs typeface="Calibri"/>
              <a:sym typeface="Calibri"/>
            </a:endParaRPr>
          </a:p>
        </p:txBody>
      </p:sp>
      <p:sp>
        <p:nvSpPr>
          <p:cNvPr id="661" name="Google Shape;661;p8"/>
          <p:cNvSpPr/>
          <p:nvPr/>
        </p:nvSpPr>
        <p:spPr>
          <a:xfrm>
            <a:off x="5702229" y="1255564"/>
            <a:ext cx="2446500" cy="267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79"/>
              <a:buFont typeface="Calibri"/>
              <a:buNone/>
            </a:pPr>
            <a:r>
              <a:rPr lang="en-US" sz="779" b="0" i="0" u="none" strike="noStrike" cap="none">
                <a:solidFill>
                  <a:srgbClr val="FFFFFF"/>
                </a:solidFill>
                <a:latin typeface="Calibri"/>
                <a:ea typeface="Calibri"/>
                <a:cs typeface="Calibri"/>
                <a:sym typeface="Calibri"/>
              </a:rPr>
              <a:t>TEST FAILED — echo byte wrong or zero</a:t>
            </a:r>
            <a:endParaRPr sz="779" b="0" i="0" u="none" strike="noStrike" cap="none">
              <a:solidFill>
                <a:srgbClr val="000000"/>
              </a:solidFill>
              <a:latin typeface="Calibri"/>
              <a:ea typeface="Calibri"/>
              <a:cs typeface="Calibri"/>
              <a:sym typeface="Calibri"/>
            </a:endParaRPr>
          </a:p>
        </p:txBody>
      </p:sp>
      <p:sp>
        <p:nvSpPr>
          <p:cNvPr id="662" name="Google Shape;662;p8"/>
          <p:cNvSpPr/>
          <p:nvPr/>
        </p:nvSpPr>
        <p:spPr>
          <a:xfrm>
            <a:off x="5718987" y="1557196"/>
            <a:ext cx="2429700" cy="18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779"/>
              <a:buFont typeface="Calibri"/>
              <a:buNone/>
            </a:pPr>
            <a:r>
              <a:rPr lang="en-US" sz="779" b="1" i="0" u="none" strike="noStrike" cap="none">
                <a:solidFill>
                  <a:srgbClr val="1F618D"/>
                </a:solidFill>
                <a:latin typeface="Calibri"/>
                <a:ea typeface="Calibri"/>
                <a:cs typeface="Calibri"/>
                <a:sym typeface="Calibri"/>
              </a:rPr>
              <a:t>ROOT CAUSE</a:t>
            </a:r>
            <a:endParaRPr sz="779" b="0" i="0" u="none" strike="noStrike" cap="none">
              <a:solidFill>
                <a:srgbClr val="000000"/>
              </a:solidFill>
              <a:latin typeface="Calibri"/>
              <a:ea typeface="Calibri"/>
              <a:cs typeface="Calibri"/>
              <a:sym typeface="Calibri"/>
            </a:endParaRPr>
          </a:p>
        </p:txBody>
      </p:sp>
      <p:sp>
        <p:nvSpPr>
          <p:cNvPr id="663" name="Google Shape;663;p8"/>
          <p:cNvSpPr/>
          <p:nvPr/>
        </p:nvSpPr>
        <p:spPr>
          <a:xfrm>
            <a:off x="5718987" y="1724769"/>
            <a:ext cx="2429700" cy="335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806"/>
              <a:buFont typeface="Calibri"/>
              <a:buNone/>
            </a:pPr>
            <a:r>
              <a:rPr lang="en-US" sz="806" b="0" i="0" u="none" strike="noStrike" cap="none">
                <a:solidFill>
                  <a:srgbClr val="1A2B3C"/>
                </a:solidFill>
                <a:latin typeface="Calibri"/>
                <a:ea typeface="Calibri"/>
                <a:cs typeface="Calibri"/>
                <a:sym typeface="Calibri"/>
              </a:rPr>
              <a:t>uart_rx_pin driven wrong — testbench timing off</a:t>
            </a:r>
            <a:endParaRPr sz="806" b="0" i="0" u="none" strike="noStrike" cap="none">
              <a:solidFill>
                <a:srgbClr val="000000"/>
              </a:solidFill>
              <a:latin typeface="Calibri"/>
              <a:ea typeface="Calibri"/>
              <a:cs typeface="Calibri"/>
              <a:sym typeface="Calibri"/>
            </a:endParaRPr>
          </a:p>
        </p:txBody>
      </p:sp>
      <p:sp>
        <p:nvSpPr>
          <p:cNvPr id="664" name="Google Shape;664;p8"/>
          <p:cNvSpPr/>
          <p:nvPr/>
        </p:nvSpPr>
        <p:spPr>
          <a:xfrm>
            <a:off x="5718987" y="2093429"/>
            <a:ext cx="2429700" cy="18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6B4A"/>
              </a:buClr>
              <a:buSzPts val="779"/>
              <a:buFont typeface="Calibri"/>
              <a:buNone/>
            </a:pPr>
            <a:r>
              <a:rPr lang="en-US" sz="779" b="1" i="0" u="none" strike="noStrike" cap="none">
                <a:solidFill>
                  <a:srgbClr val="1E6B4A"/>
                </a:solidFill>
                <a:latin typeface="Calibri"/>
                <a:ea typeface="Calibri"/>
                <a:cs typeface="Calibri"/>
                <a:sym typeface="Calibri"/>
              </a:rPr>
              <a:t>FIX / DEBUG STEPS</a:t>
            </a:r>
            <a:endParaRPr sz="779" b="0" i="0" u="none" strike="noStrike" cap="none">
              <a:solidFill>
                <a:srgbClr val="000000"/>
              </a:solidFill>
              <a:latin typeface="Calibri"/>
              <a:ea typeface="Calibri"/>
              <a:cs typeface="Calibri"/>
              <a:sym typeface="Calibri"/>
            </a:endParaRPr>
          </a:p>
        </p:txBody>
      </p:sp>
      <p:sp>
        <p:nvSpPr>
          <p:cNvPr id="665" name="Google Shape;665;p8"/>
          <p:cNvSpPr/>
          <p:nvPr/>
        </p:nvSpPr>
        <p:spPr>
          <a:xfrm>
            <a:off x="5718987" y="2294517"/>
            <a:ext cx="2421600" cy="854700"/>
          </a:xfrm>
          <a:prstGeom prst="rect">
            <a:avLst/>
          </a:prstGeom>
          <a:solidFill>
            <a:srgbClr val="D5E8F3"/>
          </a:solidFill>
          <a:ln w="11625" cap="flat" cmpd="sng">
            <a:solidFill>
              <a:srgbClr val="2E86C1"/>
            </a:solidFill>
            <a:prstDash val="solid"/>
            <a:round/>
            <a:headEnd type="none" w="sm" len="sm"/>
            <a:tailEnd type="none" w="sm" len="sm"/>
          </a:ln>
        </p:spPr>
        <p:txBody>
          <a:bodyPr spcFirstLastPara="1" wrap="square" lIns="83775" tIns="83775" rIns="83775" bIns="83775" anchor="ctr" anchorCtr="0">
            <a:noAutofit/>
          </a:bodyPr>
          <a:lstStyle/>
          <a:p>
            <a:pPr marL="0" lvl="0" indent="0" algn="l" rtl="0">
              <a:spcBef>
                <a:spcPts val="0"/>
              </a:spcBef>
              <a:spcAft>
                <a:spcPts val="0"/>
              </a:spcAft>
              <a:buNone/>
            </a:pPr>
            <a:endParaRPr/>
          </a:p>
        </p:txBody>
      </p:sp>
      <p:sp>
        <p:nvSpPr>
          <p:cNvPr id="666" name="Google Shape;666;p8"/>
          <p:cNvSpPr/>
          <p:nvPr/>
        </p:nvSpPr>
        <p:spPr>
          <a:xfrm>
            <a:off x="5802773" y="2344789"/>
            <a:ext cx="2295900" cy="753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3349"/>
              </a:buClr>
              <a:buSzPts val="825"/>
              <a:buFont typeface="Consolas"/>
              <a:buNone/>
            </a:pPr>
            <a:r>
              <a:rPr lang="en-US" sz="825" b="0" i="0" u="none" strike="noStrike" cap="none">
                <a:solidFill>
                  <a:srgbClr val="0D3349"/>
                </a:solidFill>
                <a:latin typeface="Consolas"/>
                <a:ea typeface="Consolas"/>
                <a:cs typeface="Consolas"/>
                <a:sym typeface="Consolas"/>
              </a:rPr>
              <a:t>Check uart_axi.u_rx.data_valid pulse width in waveform</a:t>
            </a:r>
            <a:endParaRPr sz="825"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825"/>
              <a:buFont typeface="Consolas"/>
              <a:buNone/>
            </a:pPr>
            <a:r>
              <a:rPr lang="en-US" sz="825" b="0" i="0" u="none" strike="noStrike" cap="none">
                <a:solidFill>
                  <a:srgbClr val="0D3349"/>
                </a:solidFill>
                <a:latin typeface="Consolas"/>
                <a:ea typeface="Consolas"/>
                <a:cs typeface="Consolas"/>
                <a:sym typeface="Consolas"/>
              </a:rPr>
              <a:t>Check uart_axi.rx_buf_data value at data_valid=1</a:t>
            </a:r>
            <a:endParaRPr sz="825" b="0" i="0" u="none" strike="noStrike" cap="none">
              <a:solidFill>
                <a:srgbClr val="000000"/>
              </a:solidFill>
              <a:latin typeface="Calibri"/>
              <a:ea typeface="Calibri"/>
              <a:cs typeface="Calibri"/>
              <a:sym typeface="Calibri"/>
            </a:endParaRPr>
          </a:p>
          <a:p>
            <a:pPr marL="0" marR="0" lvl="0" indent="0" algn="l" rtl="0">
              <a:spcBef>
                <a:spcPts val="0"/>
              </a:spcBef>
              <a:spcAft>
                <a:spcPts val="0"/>
              </a:spcAft>
              <a:buClr>
                <a:srgbClr val="0D3349"/>
              </a:buClr>
              <a:buSzPts val="825"/>
              <a:buFont typeface="Consolas"/>
              <a:buNone/>
            </a:pPr>
            <a:r>
              <a:rPr lang="en-US" sz="825" b="0" i="0" u="none" strike="noStrike" cap="none">
                <a:solidFill>
                  <a:srgbClr val="0D3349"/>
                </a:solidFill>
                <a:latin typeface="Consolas"/>
                <a:ea typeface="Consolas"/>
                <a:cs typeface="Consolas"/>
                <a:sym typeface="Consolas"/>
              </a:rPr>
              <a:t>Verify TB sends PING with correct BAUD_FULL interval</a:t>
            </a:r>
            <a:endParaRPr sz="825" b="0" i="0" u="none" strike="noStrike" cap="none">
              <a:solidFill>
                <a:srgbClr val="000000"/>
              </a:solidFill>
              <a:latin typeface="Calibri"/>
              <a:ea typeface="Calibri"/>
              <a:cs typeface="Calibri"/>
              <a:sym typeface="Calibri"/>
            </a:endParaRPr>
          </a:p>
        </p:txBody>
      </p:sp>
      <p:sp>
        <p:nvSpPr>
          <p:cNvPr id="667" name="Google Shape;667;p8"/>
          <p:cNvSpPr/>
          <p:nvPr/>
        </p:nvSpPr>
        <p:spPr>
          <a:xfrm>
            <a:off x="5718987" y="3199411"/>
            <a:ext cx="2421600" cy="938400"/>
          </a:xfrm>
          <a:prstGeom prst="rect">
            <a:avLst/>
          </a:prstGeom>
          <a:solidFill>
            <a:srgbClr val="D6EAF8"/>
          </a:solidFill>
          <a:ln w="11625" cap="flat" cmpd="sng">
            <a:solidFill>
              <a:srgbClr val="AED6F1"/>
            </a:solidFill>
            <a:prstDash val="solid"/>
            <a:round/>
            <a:headEnd type="none" w="sm" len="sm"/>
            <a:tailEnd type="none" w="sm" len="sm"/>
          </a:ln>
        </p:spPr>
        <p:txBody>
          <a:bodyPr spcFirstLastPara="1" wrap="square" lIns="83775" tIns="83775" rIns="83775" bIns="83775" anchor="ctr" anchorCtr="0">
            <a:noAutofit/>
          </a:bodyPr>
          <a:lstStyle/>
          <a:p>
            <a:pPr marL="0" lvl="0" indent="0" algn="l" rtl="0">
              <a:spcBef>
                <a:spcPts val="0"/>
              </a:spcBef>
              <a:spcAft>
                <a:spcPts val="0"/>
              </a:spcAft>
              <a:buNone/>
            </a:pPr>
            <a:endParaRPr/>
          </a:p>
        </p:txBody>
      </p:sp>
      <p:sp>
        <p:nvSpPr>
          <p:cNvPr id="668" name="Google Shape;668;p8"/>
          <p:cNvSpPr/>
          <p:nvPr/>
        </p:nvSpPr>
        <p:spPr>
          <a:xfrm>
            <a:off x="5760880" y="3224547"/>
            <a:ext cx="2346000" cy="184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18D"/>
              </a:buClr>
              <a:buSzPts val="779"/>
              <a:buFont typeface="Calibri"/>
              <a:buNone/>
            </a:pPr>
            <a:r>
              <a:rPr lang="en-US" sz="779" b="1" i="0" u="none" strike="noStrike" cap="none">
                <a:solidFill>
                  <a:srgbClr val="1F618D"/>
                </a:solidFill>
                <a:latin typeface="Calibri"/>
                <a:ea typeface="Calibri"/>
                <a:cs typeface="Calibri"/>
                <a:sym typeface="Calibri"/>
              </a:rPr>
              <a:t>LESSON LEARNED</a:t>
            </a:r>
            <a:endParaRPr sz="779" b="0" i="0" u="none" strike="noStrike" cap="none">
              <a:solidFill>
                <a:srgbClr val="000000"/>
              </a:solidFill>
              <a:latin typeface="Calibri"/>
              <a:ea typeface="Calibri"/>
              <a:cs typeface="Calibri"/>
              <a:sym typeface="Calibri"/>
            </a:endParaRPr>
          </a:p>
        </p:txBody>
      </p:sp>
      <p:sp>
        <p:nvSpPr>
          <p:cNvPr id="669" name="Google Shape;669;p8"/>
          <p:cNvSpPr/>
          <p:nvPr/>
        </p:nvSpPr>
        <p:spPr>
          <a:xfrm>
            <a:off x="5760880" y="3408878"/>
            <a:ext cx="2346000" cy="703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B3C"/>
              </a:buClr>
              <a:buSzPts val="825"/>
              <a:buFont typeface="Calibri"/>
              <a:buNone/>
            </a:pPr>
            <a:r>
              <a:rPr lang="en-US" sz="825" b="0" i="1" u="none" strike="noStrike" cap="none">
                <a:solidFill>
                  <a:srgbClr val="1A2B3C"/>
                </a:solidFill>
                <a:latin typeface="Calibri"/>
                <a:ea typeface="Calibri"/>
                <a:cs typeface="Calibri"/>
                <a:sym typeface="Calibri"/>
              </a:rPr>
              <a:t>TX→RX loopback timing must account for uart_rx latency (4340 cycles = 86.8 µs per byte).</a:t>
            </a:r>
            <a:endParaRPr sz="825" b="0" i="0" u="none" strike="noStrike" cap="none">
              <a:solidFill>
                <a:srgbClr val="000000"/>
              </a:solidFill>
              <a:latin typeface="Calibri"/>
              <a:ea typeface="Calibri"/>
              <a:cs typeface="Calibri"/>
              <a:sym typeface="Calibri"/>
            </a:endParaRPr>
          </a:p>
        </p:txBody>
      </p:sp>
      <p:sp>
        <p:nvSpPr>
          <p:cNvPr id="670" name="Google Shape;670;p8"/>
          <p:cNvSpPr/>
          <p:nvPr/>
        </p:nvSpPr>
        <p:spPr>
          <a:xfrm>
            <a:off x="457200" y="4271879"/>
            <a:ext cx="8043600" cy="821100"/>
          </a:xfrm>
          <a:prstGeom prst="rect">
            <a:avLst/>
          </a:prstGeom>
          <a:solidFill>
            <a:srgbClr val="D5E8F3"/>
          </a:solidFill>
          <a:ln w="11625" cap="flat" cmpd="sng">
            <a:solidFill>
              <a:srgbClr val="2E86C1"/>
            </a:solidFill>
            <a:prstDash val="solid"/>
            <a:round/>
            <a:headEnd type="none" w="sm" len="sm"/>
            <a:tailEnd type="none" w="sm" len="sm"/>
          </a:ln>
        </p:spPr>
        <p:txBody>
          <a:bodyPr spcFirstLastPara="1" wrap="square" lIns="83775" tIns="83775" rIns="83775" bIns="83775" anchor="ctr" anchorCtr="0">
            <a:noAutofit/>
          </a:bodyPr>
          <a:lstStyle/>
          <a:p>
            <a:pPr marL="0" lvl="0" indent="0" algn="l" rtl="0">
              <a:spcBef>
                <a:spcPts val="0"/>
              </a:spcBef>
              <a:spcAft>
                <a:spcPts val="0"/>
              </a:spcAft>
              <a:buNone/>
            </a:pPr>
            <a:endParaRPr/>
          </a:p>
        </p:txBody>
      </p:sp>
      <p:sp>
        <p:nvSpPr>
          <p:cNvPr id="671" name="Google Shape;671;p8"/>
          <p:cNvSpPr/>
          <p:nvPr/>
        </p:nvSpPr>
        <p:spPr>
          <a:xfrm>
            <a:off x="540987" y="4288636"/>
            <a:ext cx="7875900" cy="368700"/>
          </a:xfrm>
          <a:prstGeom prst="rect">
            <a:avLst/>
          </a:prstGeom>
          <a:noFill/>
          <a:ln>
            <a:noFill/>
          </a:ln>
        </p:spPr>
        <p:txBody>
          <a:bodyPr spcFirstLastPara="1" wrap="square" lIns="23275" tIns="23275" rIns="23275" bIns="23275" anchor="ctr" anchorCtr="0">
            <a:noAutofit/>
          </a:bodyPr>
          <a:lstStyle/>
          <a:p>
            <a:pPr marL="0" marR="0" lvl="0" indent="0" algn="l" rtl="0">
              <a:spcBef>
                <a:spcPts val="0"/>
              </a:spcBef>
              <a:spcAft>
                <a:spcPts val="0"/>
              </a:spcAft>
              <a:buClr>
                <a:srgbClr val="1F618D"/>
              </a:buClr>
              <a:buSzPts val="916"/>
              <a:buFont typeface="Calibri"/>
              <a:buNone/>
            </a:pPr>
            <a:r>
              <a:rPr lang="en-US" sz="916" b="1" i="0" u="none" strike="noStrike" cap="none">
                <a:solidFill>
                  <a:srgbClr val="1F618D"/>
                </a:solidFill>
                <a:latin typeface="Calibri"/>
                <a:ea typeface="Calibri"/>
                <a:cs typeface="Calibri"/>
                <a:sym typeface="Calibri"/>
              </a:rPr>
              <a:t>Interview Q: </a:t>
            </a:r>
            <a:r>
              <a:rPr lang="en-US" sz="916" b="0" i="0" u="none" strike="noStrike" cap="none">
                <a:solidFill>
                  <a:srgbClr val="1A2B3C"/>
                </a:solidFill>
                <a:latin typeface="Calibri"/>
                <a:ea typeface="Calibri"/>
                <a:cs typeface="Calibri"/>
                <a:sym typeface="Calibri"/>
              </a:rPr>
              <a:t>"You see b_state stuck at 1 — what do you check?"    </a:t>
            </a:r>
            <a:r>
              <a:rPr lang="en-US" sz="916" b="1" i="0" u="none" strike="noStrike" cap="none">
                <a:solidFill>
                  <a:srgbClr val="1F618D"/>
                </a:solidFill>
                <a:latin typeface="Calibri"/>
                <a:ea typeface="Calibri"/>
                <a:cs typeface="Calibri"/>
                <a:sym typeface="Calibri"/>
              </a:rPr>
              <a:t>→ Answer: </a:t>
            </a:r>
            <a:r>
              <a:rPr lang="en-US" sz="916" b="0" i="0" u="none" strike="noStrike" cap="none">
                <a:solidFill>
                  <a:srgbClr val="0D3349"/>
                </a:solidFill>
                <a:latin typeface="Calibri"/>
                <a:ea typeface="Calibri"/>
                <a:cs typeface="Calibri"/>
                <a:sym typeface="Calibri"/>
              </a:rPr>
              <a:t>Check wr_sel routing → slave awready response → slave FSM → backpressure condition</a:t>
            </a:r>
            <a:endParaRPr sz="916" b="0" i="0" u="none" strike="noStrike" cap="none">
              <a:solidFill>
                <a:srgbClr val="000000"/>
              </a:solidFill>
              <a:latin typeface="Calibri"/>
              <a:ea typeface="Calibri"/>
              <a:cs typeface="Calibri"/>
              <a:sym typeface="Calibri"/>
            </a:endParaRPr>
          </a:p>
        </p:txBody>
      </p:sp>
      <p:sp>
        <p:nvSpPr>
          <p:cNvPr id="672" name="Google Shape;672;p8"/>
          <p:cNvSpPr/>
          <p:nvPr/>
        </p:nvSpPr>
        <p:spPr>
          <a:xfrm>
            <a:off x="540987" y="4657297"/>
            <a:ext cx="7875900" cy="368700"/>
          </a:xfrm>
          <a:prstGeom prst="rect">
            <a:avLst/>
          </a:prstGeom>
          <a:noFill/>
          <a:ln>
            <a:noFill/>
          </a:ln>
        </p:spPr>
        <p:txBody>
          <a:bodyPr spcFirstLastPara="1" wrap="square" lIns="23275" tIns="23275" rIns="23275" bIns="23275" anchor="ctr" anchorCtr="0">
            <a:noAutofit/>
          </a:bodyPr>
          <a:lstStyle/>
          <a:p>
            <a:pPr marL="0" marR="0" lvl="0" indent="0" algn="l" rtl="0">
              <a:spcBef>
                <a:spcPts val="0"/>
              </a:spcBef>
              <a:spcAft>
                <a:spcPts val="0"/>
              </a:spcAft>
              <a:buClr>
                <a:srgbClr val="1F618D"/>
              </a:buClr>
              <a:buSzPts val="916"/>
              <a:buFont typeface="Calibri"/>
              <a:buNone/>
            </a:pPr>
            <a:r>
              <a:rPr lang="en-US" sz="916" b="1" i="0" u="none" strike="noStrike" cap="none">
                <a:solidFill>
                  <a:srgbClr val="1F618D"/>
                </a:solidFill>
                <a:latin typeface="Calibri"/>
                <a:ea typeface="Calibri"/>
                <a:cs typeface="Calibri"/>
                <a:sym typeface="Calibri"/>
              </a:rPr>
              <a:t>Interview Q: </a:t>
            </a:r>
            <a:r>
              <a:rPr lang="en-US" sz="916" b="0" i="0" u="none" strike="noStrike" cap="none">
                <a:solidFill>
                  <a:srgbClr val="1A2B3C"/>
                </a:solidFill>
                <a:latin typeface="Calibri"/>
                <a:ea typeface="Calibri"/>
                <a:cs typeface="Calibri"/>
                <a:sym typeface="Calibri"/>
              </a:rPr>
              <a:t>"How do you verify an AXI write completed?"    </a:t>
            </a:r>
            <a:r>
              <a:rPr lang="en-US" sz="916" b="1" i="0" u="none" strike="noStrike" cap="none">
                <a:solidFill>
                  <a:srgbClr val="1F618D"/>
                </a:solidFill>
                <a:latin typeface="Calibri"/>
                <a:ea typeface="Calibri"/>
                <a:cs typeface="Calibri"/>
                <a:sym typeface="Calibri"/>
              </a:rPr>
              <a:t>→ Answer: </a:t>
            </a:r>
            <a:r>
              <a:rPr lang="en-US" sz="916" b="0" i="0" u="none" strike="noStrike" cap="none">
                <a:solidFill>
                  <a:srgbClr val="0D3349"/>
                </a:solidFill>
                <a:latin typeface="Calibri"/>
                <a:ea typeface="Calibri"/>
                <a:cs typeface="Calibri"/>
                <a:sym typeface="Calibri"/>
              </a:rPr>
              <a:t>AWVALID+AWREADY=1 (AW done), WVALID+WREADY=1 (W done), BVALID+BREADY=1 (B done)</a:t>
            </a:r>
            <a:endParaRPr sz="916" b="0" i="0" u="none" strike="noStrike" cap="non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9"/>
          <p:cNvSpPr/>
          <p:nvPr/>
        </p:nvSpPr>
        <p:spPr>
          <a:xfrm>
            <a:off x="385900" y="452475"/>
            <a:ext cx="7925100" cy="398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52"/>
              <a:buFont typeface="Calibri"/>
              <a:buNone/>
            </a:pPr>
            <a:r>
              <a:rPr lang="en-US" sz="1852" b="1" i="0" u="none" strike="noStrike" cap="none" dirty="0">
                <a:solidFill>
                  <a:schemeClr val="dk1"/>
                </a:solidFill>
                <a:latin typeface="Calibri"/>
                <a:ea typeface="Calibri"/>
                <a:cs typeface="Calibri"/>
                <a:sym typeface="Calibri"/>
              </a:rPr>
              <a:t>Sub-module 9 — Complete Lab Reference</a:t>
            </a:r>
            <a:endParaRPr sz="1852" b="0" i="0" u="none" strike="noStrike" cap="none" dirty="0">
              <a:solidFill>
                <a:schemeClr val="dk1"/>
              </a:solidFill>
              <a:latin typeface="Calibri"/>
              <a:ea typeface="Calibri"/>
              <a:cs typeface="Calibri"/>
              <a:sym typeface="Calibri"/>
            </a:endParaRPr>
          </a:p>
        </p:txBody>
      </p:sp>
      <p:sp>
        <p:nvSpPr>
          <p:cNvPr id="679" name="Google Shape;679;p9"/>
          <p:cNvSpPr/>
          <p:nvPr/>
        </p:nvSpPr>
        <p:spPr>
          <a:xfrm>
            <a:off x="512925" y="850575"/>
            <a:ext cx="7534500" cy="296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1019"/>
              <a:buFont typeface="Calibri"/>
              <a:buNone/>
            </a:pPr>
            <a:r>
              <a:rPr lang="en-US" sz="1019" b="0" i="1" u="none" strike="noStrike" cap="none" dirty="0">
                <a:solidFill>
                  <a:srgbClr val="2C5F7A"/>
                </a:solidFill>
                <a:latin typeface="Calibri"/>
                <a:ea typeface="Calibri"/>
                <a:cs typeface="Calibri"/>
                <a:sym typeface="Calibri"/>
              </a:rPr>
              <a:t>All waveform files from all modules + Interview Q&amp;A</a:t>
            </a:r>
            <a:endParaRPr sz="1019" b="0" i="0" u="none" strike="noStrike" cap="none" dirty="0">
              <a:solidFill>
                <a:srgbClr val="000000"/>
              </a:solidFill>
              <a:latin typeface="Calibri"/>
              <a:ea typeface="Calibri"/>
              <a:cs typeface="Calibri"/>
              <a:sym typeface="Calibri"/>
            </a:endParaRPr>
          </a:p>
        </p:txBody>
      </p:sp>
      <p:sp>
        <p:nvSpPr>
          <p:cNvPr id="680" name="Google Shape;680;p9"/>
          <p:cNvSpPr/>
          <p:nvPr/>
        </p:nvSpPr>
        <p:spPr>
          <a:xfrm>
            <a:off x="385907" y="935261"/>
            <a:ext cx="550500" cy="253800"/>
          </a:xfrm>
          <a:prstGeom prst="rect">
            <a:avLst/>
          </a:prstGeom>
          <a:solidFill>
            <a:srgbClr val="1F618D"/>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681" name="Google Shape;681;p9"/>
          <p:cNvSpPr/>
          <p:nvPr/>
        </p:nvSpPr>
        <p:spPr>
          <a:xfrm>
            <a:off x="428246" y="960665"/>
            <a:ext cx="482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FFFFFF"/>
              </a:buClr>
              <a:buSzPts val="926"/>
              <a:buFont typeface="Calibri"/>
              <a:buNone/>
            </a:pPr>
            <a:r>
              <a:rPr lang="en-US" sz="926" b="1" i="0" u="none" strike="noStrike" cap="none" dirty="0">
                <a:solidFill>
                  <a:srgbClr val="FFFFFF"/>
                </a:solidFill>
                <a:latin typeface="Calibri"/>
                <a:ea typeface="Calibri"/>
                <a:cs typeface="Calibri"/>
                <a:sym typeface="Calibri"/>
              </a:rPr>
              <a:t>Sub-module</a:t>
            </a:r>
            <a:endParaRPr sz="926" b="0" i="0" u="none" strike="noStrike" cap="none" dirty="0">
              <a:solidFill>
                <a:srgbClr val="000000"/>
              </a:solidFill>
              <a:latin typeface="Calibri"/>
              <a:ea typeface="Calibri"/>
              <a:cs typeface="Calibri"/>
              <a:sym typeface="Calibri"/>
            </a:endParaRPr>
          </a:p>
        </p:txBody>
      </p:sp>
      <p:sp>
        <p:nvSpPr>
          <p:cNvPr id="682" name="Google Shape;682;p9"/>
          <p:cNvSpPr/>
          <p:nvPr/>
        </p:nvSpPr>
        <p:spPr>
          <a:xfrm>
            <a:off x="936317" y="935261"/>
            <a:ext cx="1778400" cy="253800"/>
          </a:xfrm>
          <a:prstGeom prst="rect">
            <a:avLst/>
          </a:prstGeom>
          <a:solidFill>
            <a:srgbClr val="1F618D"/>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683" name="Google Shape;683;p9"/>
          <p:cNvSpPr/>
          <p:nvPr/>
        </p:nvSpPr>
        <p:spPr>
          <a:xfrm>
            <a:off x="978657" y="960665"/>
            <a:ext cx="17106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FFFFFF"/>
              </a:buClr>
              <a:buSzPts val="926"/>
              <a:buFont typeface="Calibri"/>
              <a:buNone/>
            </a:pPr>
            <a:r>
              <a:rPr lang="en-US" sz="926" b="1" i="0" u="none" strike="noStrike" cap="none" dirty="0">
                <a:solidFill>
                  <a:srgbClr val="FFFFFF"/>
                </a:solidFill>
                <a:latin typeface="Calibri"/>
                <a:ea typeface="Calibri"/>
                <a:cs typeface="Calibri"/>
                <a:sym typeface="Calibri"/>
              </a:rPr>
              <a:t>Command</a:t>
            </a:r>
            <a:endParaRPr sz="926" b="0" i="0" u="none" strike="noStrike" cap="none" dirty="0">
              <a:solidFill>
                <a:srgbClr val="000000"/>
              </a:solidFill>
              <a:latin typeface="Calibri"/>
              <a:ea typeface="Calibri"/>
              <a:cs typeface="Calibri"/>
              <a:sym typeface="Calibri"/>
            </a:endParaRPr>
          </a:p>
        </p:txBody>
      </p:sp>
      <p:sp>
        <p:nvSpPr>
          <p:cNvPr id="684" name="Google Shape;684;p9"/>
          <p:cNvSpPr/>
          <p:nvPr/>
        </p:nvSpPr>
        <p:spPr>
          <a:xfrm>
            <a:off x="2714566" y="935261"/>
            <a:ext cx="2794200" cy="253800"/>
          </a:xfrm>
          <a:prstGeom prst="rect">
            <a:avLst/>
          </a:prstGeom>
          <a:solidFill>
            <a:srgbClr val="1F618D"/>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685" name="Google Shape;685;p9"/>
          <p:cNvSpPr/>
          <p:nvPr/>
        </p:nvSpPr>
        <p:spPr>
          <a:xfrm>
            <a:off x="2756905" y="960665"/>
            <a:ext cx="2726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FFFFFF"/>
              </a:buClr>
              <a:buSzPts val="926"/>
              <a:buFont typeface="Calibri"/>
              <a:buNone/>
            </a:pPr>
            <a:r>
              <a:rPr lang="en-US" sz="926" b="1" i="0" u="none" strike="noStrike" cap="none">
                <a:solidFill>
                  <a:srgbClr val="FFFFFF"/>
                </a:solidFill>
                <a:latin typeface="Calibri"/>
                <a:ea typeface="Calibri"/>
                <a:cs typeface="Calibri"/>
                <a:sym typeface="Calibri"/>
              </a:rPr>
              <a:t>VCD / FST File</a:t>
            </a:r>
            <a:endParaRPr sz="926" b="0" i="0" u="none" strike="noStrike" cap="none">
              <a:solidFill>
                <a:srgbClr val="000000"/>
              </a:solidFill>
              <a:latin typeface="Calibri"/>
              <a:ea typeface="Calibri"/>
              <a:cs typeface="Calibri"/>
              <a:sym typeface="Calibri"/>
            </a:endParaRPr>
          </a:p>
        </p:txBody>
      </p:sp>
      <p:sp>
        <p:nvSpPr>
          <p:cNvPr id="686" name="Google Shape;686;p9"/>
          <p:cNvSpPr/>
          <p:nvPr/>
        </p:nvSpPr>
        <p:spPr>
          <a:xfrm>
            <a:off x="5292911" y="935243"/>
            <a:ext cx="2876100" cy="253800"/>
          </a:xfrm>
          <a:prstGeom prst="rect">
            <a:avLst/>
          </a:prstGeom>
          <a:solidFill>
            <a:srgbClr val="1F618D"/>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687" name="Google Shape;687;p9"/>
          <p:cNvSpPr/>
          <p:nvPr/>
        </p:nvSpPr>
        <p:spPr>
          <a:xfrm>
            <a:off x="5331260" y="960646"/>
            <a:ext cx="28149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FFFFFF"/>
              </a:buClr>
              <a:buSzPts val="926"/>
              <a:buFont typeface="Calibri"/>
              <a:buNone/>
            </a:pPr>
            <a:r>
              <a:rPr lang="en-US" sz="926" b="1" i="0" u="none" strike="noStrike" cap="none">
                <a:solidFill>
                  <a:srgbClr val="FFFFFF"/>
                </a:solidFill>
                <a:latin typeface="Calibri"/>
                <a:ea typeface="Calibri"/>
                <a:cs typeface="Calibri"/>
                <a:sym typeface="Calibri"/>
              </a:rPr>
              <a:t>Key Signals</a:t>
            </a:r>
            <a:endParaRPr sz="926" b="0" i="0" u="none" strike="noStrike" cap="none">
              <a:solidFill>
                <a:srgbClr val="000000"/>
              </a:solidFill>
              <a:latin typeface="Calibri"/>
              <a:ea typeface="Calibri"/>
              <a:cs typeface="Calibri"/>
              <a:sym typeface="Calibri"/>
            </a:endParaRPr>
          </a:p>
        </p:txBody>
      </p:sp>
      <p:sp>
        <p:nvSpPr>
          <p:cNvPr id="688" name="Google Shape;688;p9"/>
          <p:cNvSpPr/>
          <p:nvPr/>
        </p:nvSpPr>
        <p:spPr>
          <a:xfrm>
            <a:off x="385907" y="1189297"/>
            <a:ext cx="5505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689" name="Google Shape;689;p9"/>
          <p:cNvSpPr/>
          <p:nvPr/>
        </p:nvSpPr>
        <p:spPr>
          <a:xfrm>
            <a:off x="428246" y="1214701"/>
            <a:ext cx="482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880"/>
              <a:buFont typeface="Consolas"/>
              <a:buNone/>
            </a:pPr>
            <a:r>
              <a:rPr lang="en-US" sz="880" b="0" i="0" u="none" strike="noStrike" cap="none">
                <a:solidFill>
                  <a:srgbClr val="1A2B3C"/>
                </a:solidFill>
                <a:latin typeface="Consolas"/>
                <a:ea typeface="Consolas"/>
                <a:cs typeface="Consolas"/>
                <a:sym typeface="Consolas"/>
              </a:rPr>
              <a:t>M1</a:t>
            </a:r>
            <a:endParaRPr sz="880" b="0" i="0" u="none" strike="noStrike" cap="none">
              <a:solidFill>
                <a:srgbClr val="000000"/>
              </a:solidFill>
              <a:latin typeface="Calibri"/>
              <a:ea typeface="Calibri"/>
              <a:cs typeface="Calibri"/>
              <a:sym typeface="Calibri"/>
            </a:endParaRPr>
          </a:p>
        </p:txBody>
      </p:sp>
      <p:sp>
        <p:nvSpPr>
          <p:cNvPr id="690" name="Google Shape;690;p9"/>
          <p:cNvSpPr/>
          <p:nvPr/>
        </p:nvSpPr>
        <p:spPr>
          <a:xfrm>
            <a:off x="936317" y="1189297"/>
            <a:ext cx="17784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691" name="Google Shape;691;p9"/>
          <p:cNvSpPr/>
          <p:nvPr/>
        </p:nvSpPr>
        <p:spPr>
          <a:xfrm>
            <a:off x="978657" y="1214701"/>
            <a:ext cx="17106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make pico</a:t>
            </a:r>
            <a:endParaRPr sz="880" b="0" i="0" u="none" strike="noStrike" cap="none">
              <a:solidFill>
                <a:srgbClr val="000000"/>
              </a:solidFill>
              <a:latin typeface="Calibri"/>
              <a:ea typeface="Calibri"/>
              <a:cs typeface="Calibri"/>
              <a:sym typeface="Calibri"/>
            </a:endParaRPr>
          </a:p>
        </p:txBody>
      </p:sp>
      <p:sp>
        <p:nvSpPr>
          <p:cNvPr id="692" name="Google Shape;692;p9"/>
          <p:cNvSpPr/>
          <p:nvPr/>
        </p:nvSpPr>
        <p:spPr>
          <a:xfrm>
            <a:off x="2714566" y="1189297"/>
            <a:ext cx="27942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693" name="Google Shape;693;p9"/>
          <p:cNvSpPr/>
          <p:nvPr/>
        </p:nvSpPr>
        <p:spPr>
          <a:xfrm>
            <a:off x="2756905" y="1214701"/>
            <a:ext cx="2726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tb_picorv32.vcd  (36 KB)</a:t>
            </a:r>
            <a:endParaRPr sz="787" b="0" i="0" u="none" strike="noStrike" cap="none">
              <a:solidFill>
                <a:srgbClr val="000000"/>
              </a:solidFill>
              <a:latin typeface="Calibri"/>
              <a:ea typeface="Calibri"/>
              <a:cs typeface="Calibri"/>
              <a:sym typeface="Calibri"/>
            </a:endParaRPr>
          </a:p>
        </p:txBody>
      </p:sp>
      <p:sp>
        <p:nvSpPr>
          <p:cNvPr id="694" name="Google Shape;694;p9"/>
          <p:cNvSpPr/>
          <p:nvPr/>
        </p:nvSpPr>
        <p:spPr>
          <a:xfrm>
            <a:off x="5292911" y="1189279"/>
            <a:ext cx="28761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695" name="Google Shape;695;p9"/>
          <p:cNvSpPr/>
          <p:nvPr/>
        </p:nvSpPr>
        <p:spPr>
          <a:xfrm>
            <a:off x="5331260" y="1214683"/>
            <a:ext cx="28149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mem_valid, mem_instr, mem_addr</a:t>
            </a:r>
            <a:endParaRPr sz="787" b="0" i="0" u="none" strike="noStrike" cap="none">
              <a:solidFill>
                <a:srgbClr val="000000"/>
              </a:solidFill>
              <a:latin typeface="Calibri"/>
              <a:ea typeface="Calibri"/>
              <a:cs typeface="Calibri"/>
              <a:sym typeface="Calibri"/>
            </a:endParaRPr>
          </a:p>
        </p:txBody>
      </p:sp>
      <p:sp>
        <p:nvSpPr>
          <p:cNvPr id="696" name="Google Shape;696;p9"/>
          <p:cNvSpPr/>
          <p:nvPr/>
        </p:nvSpPr>
        <p:spPr>
          <a:xfrm>
            <a:off x="385907" y="1443333"/>
            <a:ext cx="5505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697" name="Google Shape;697;p9"/>
          <p:cNvSpPr/>
          <p:nvPr/>
        </p:nvSpPr>
        <p:spPr>
          <a:xfrm>
            <a:off x="428246" y="1468737"/>
            <a:ext cx="482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880"/>
              <a:buFont typeface="Consolas"/>
              <a:buNone/>
            </a:pPr>
            <a:r>
              <a:rPr lang="en-US" sz="880" b="0" i="0" u="none" strike="noStrike" cap="none">
                <a:solidFill>
                  <a:srgbClr val="1A2B3C"/>
                </a:solidFill>
                <a:latin typeface="Consolas"/>
                <a:ea typeface="Consolas"/>
                <a:cs typeface="Consolas"/>
                <a:sym typeface="Consolas"/>
              </a:rPr>
              <a:t>M2</a:t>
            </a:r>
            <a:endParaRPr sz="880" b="0" i="0" u="none" strike="noStrike" cap="none">
              <a:solidFill>
                <a:srgbClr val="000000"/>
              </a:solidFill>
              <a:latin typeface="Calibri"/>
              <a:ea typeface="Calibri"/>
              <a:cs typeface="Calibri"/>
              <a:sym typeface="Calibri"/>
            </a:endParaRPr>
          </a:p>
        </p:txBody>
      </p:sp>
      <p:sp>
        <p:nvSpPr>
          <p:cNvPr id="698" name="Google Shape;698;p9"/>
          <p:cNvSpPr/>
          <p:nvPr/>
        </p:nvSpPr>
        <p:spPr>
          <a:xfrm>
            <a:off x="936317" y="1443333"/>
            <a:ext cx="17784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699" name="Google Shape;699;p9"/>
          <p:cNvSpPr/>
          <p:nvPr/>
        </p:nvSpPr>
        <p:spPr>
          <a:xfrm>
            <a:off x="978657" y="1468737"/>
            <a:ext cx="17106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make axi_sa</a:t>
            </a:r>
            <a:endParaRPr sz="880" b="0" i="0" u="none" strike="noStrike" cap="none">
              <a:solidFill>
                <a:srgbClr val="000000"/>
              </a:solidFill>
              <a:latin typeface="Calibri"/>
              <a:ea typeface="Calibri"/>
              <a:cs typeface="Calibri"/>
              <a:sym typeface="Calibri"/>
            </a:endParaRPr>
          </a:p>
        </p:txBody>
      </p:sp>
      <p:sp>
        <p:nvSpPr>
          <p:cNvPr id="700" name="Google Shape;700;p9"/>
          <p:cNvSpPr/>
          <p:nvPr/>
        </p:nvSpPr>
        <p:spPr>
          <a:xfrm>
            <a:off x="2714566" y="1443333"/>
            <a:ext cx="27942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01" name="Google Shape;701;p9"/>
          <p:cNvSpPr/>
          <p:nvPr/>
        </p:nvSpPr>
        <p:spPr>
          <a:xfrm>
            <a:off x="2756905" y="1468737"/>
            <a:ext cx="2726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tb_axi_lite_standalone.vcd  (3.8 KB)</a:t>
            </a:r>
            <a:endParaRPr sz="787" b="0" i="0" u="none" strike="noStrike" cap="none">
              <a:solidFill>
                <a:srgbClr val="000000"/>
              </a:solidFill>
              <a:latin typeface="Calibri"/>
              <a:ea typeface="Calibri"/>
              <a:cs typeface="Calibri"/>
              <a:sym typeface="Calibri"/>
            </a:endParaRPr>
          </a:p>
        </p:txBody>
      </p:sp>
      <p:sp>
        <p:nvSpPr>
          <p:cNvPr id="702" name="Google Shape;702;p9"/>
          <p:cNvSpPr/>
          <p:nvPr/>
        </p:nvSpPr>
        <p:spPr>
          <a:xfrm>
            <a:off x="5292911" y="1443316"/>
            <a:ext cx="28761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03" name="Google Shape;703;p9"/>
          <p:cNvSpPr/>
          <p:nvPr/>
        </p:nvSpPr>
        <p:spPr>
          <a:xfrm>
            <a:off x="5331260" y="1468720"/>
            <a:ext cx="28149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awvalid, awready, rdata</a:t>
            </a:r>
            <a:endParaRPr sz="787" b="0" i="0" u="none" strike="noStrike" cap="none">
              <a:solidFill>
                <a:srgbClr val="000000"/>
              </a:solidFill>
              <a:latin typeface="Calibri"/>
              <a:ea typeface="Calibri"/>
              <a:cs typeface="Calibri"/>
              <a:sym typeface="Calibri"/>
            </a:endParaRPr>
          </a:p>
        </p:txBody>
      </p:sp>
      <p:sp>
        <p:nvSpPr>
          <p:cNvPr id="704" name="Google Shape;704;p9"/>
          <p:cNvSpPr/>
          <p:nvPr/>
        </p:nvSpPr>
        <p:spPr>
          <a:xfrm>
            <a:off x="385907" y="1697369"/>
            <a:ext cx="5505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05" name="Google Shape;705;p9"/>
          <p:cNvSpPr/>
          <p:nvPr/>
        </p:nvSpPr>
        <p:spPr>
          <a:xfrm>
            <a:off x="428246" y="1722772"/>
            <a:ext cx="482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880"/>
              <a:buFont typeface="Consolas"/>
              <a:buNone/>
            </a:pPr>
            <a:r>
              <a:rPr lang="en-US" sz="880" b="0" i="0" u="none" strike="noStrike" cap="none">
                <a:solidFill>
                  <a:srgbClr val="1A2B3C"/>
                </a:solidFill>
                <a:latin typeface="Consolas"/>
                <a:ea typeface="Consolas"/>
                <a:cs typeface="Consolas"/>
                <a:sym typeface="Consolas"/>
              </a:rPr>
              <a:t>M3</a:t>
            </a:r>
            <a:endParaRPr sz="880" b="0" i="0" u="none" strike="noStrike" cap="none">
              <a:solidFill>
                <a:srgbClr val="000000"/>
              </a:solidFill>
              <a:latin typeface="Calibri"/>
              <a:ea typeface="Calibri"/>
              <a:cs typeface="Calibri"/>
              <a:sym typeface="Calibri"/>
            </a:endParaRPr>
          </a:p>
        </p:txBody>
      </p:sp>
      <p:sp>
        <p:nvSpPr>
          <p:cNvPr id="706" name="Google Shape;706;p9"/>
          <p:cNvSpPr/>
          <p:nvPr/>
        </p:nvSpPr>
        <p:spPr>
          <a:xfrm>
            <a:off x="936317" y="1697369"/>
            <a:ext cx="17784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07" name="Google Shape;707;p9"/>
          <p:cNvSpPr/>
          <p:nvPr/>
        </p:nvSpPr>
        <p:spPr>
          <a:xfrm>
            <a:off x="978657" y="1722772"/>
            <a:ext cx="17106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make uart</a:t>
            </a:r>
            <a:endParaRPr sz="880" b="0" i="0" u="none" strike="noStrike" cap="none">
              <a:solidFill>
                <a:srgbClr val="000000"/>
              </a:solidFill>
              <a:latin typeface="Calibri"/>
              <a:ea typeface="Calibri"/>
              <a:cs typeface="Calibri"/>
              <a:sym typeface="Calibri"/>
            </a:endParaRPr>
          </a:p>
        </p:txBody>
      </p:sp>
      <p:sp>
        <p:nvSpPr>
          <p:cNvPr id="708" name="Google Shape;708;p9"/>
          <p:cNvSpPr/>
          <p:nvPr/>
        </p:nvSpPr>
        <p:spPr>
          <a:xfrm>
            <a:off x="2714566" y="1697369"/>
            <a:ext cx="27942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09" name="Google Shape;709;p9"/>
          <p:cNvSpPr/>
          <p:nvPr/>
        </p:nvSpPr>
        <p:spPr>
          <a:xfrm>
            <a:off x="2756905" y="1722772"/>
            <a:ext cx="2726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tb_uart.vcd  (2.9 MB)</a:t>
            </a:r>
            <a:endParaRPr sz="787" b="0" i="0" u="none" strike="noStrike" cap="none">
              <a:solidFill>
                <a:srgbClr val="000000"/>
              </a:solidFill>
              <a:latin typeface="Calibri"/>
              <a:ea typeface="Calibri"/>
              <a:cs typeface="Calibri"/>
              <a:sym typeface="Calibri"/>
            </a:endParaRPr>
          </a:p>
        </p:txBody>
      </p:sp>
      <p:sp>
        <p:nvSpPr>
          <p:cNvPr id="710" name="Google Shape;710;p9"/>
          <p:cNvSpPr/>
          <p:nvPr/>
        </p:nvSpPr>
        <p:spPr>
          <a:xfrm>
            <a:off x="5292911" y="1697353"/>
            <a:ext cx="28761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11" name="Google Shape;711;p9"/>
          <p:cNvSpPr/>
          <p:nvPr/>
        </p:nvSpPr>
        <p:spPr>
          <a:xfrm>
            <a:off x="5331260" y="1722757"/>
            <a:ext cx="28149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tx, rx, state, clk_cnt</a:t>
            </a:r>
            <a:endParaRPr sz="787" b="0" i="0" u="none" strike="noStrike" cap="none">
              <a:solidFill>
                <a:srgbClr val="000000"/>
              </a:solidFill>
              <a:latin typeface="Calibri"/>
              <a:ea typeface="Calibri"/>
              <a:cs typeface="Calibri"/>
              <a:sym typeface="Calibri"/>
            </a:endParaRPr>
          </a:p>
        </p:txBody>
      </p:sp>
      <p:sp>
        <p:nvSpPr>
          <p:cNvPr id="712" name="Google Shape;712;p9"/>
          <p:cNvSpPr/>
          <p:nvPr/>
        </p:nvSpPr>
        <p:spPr>
          <a:xfrm>
            <a:off x="385907" y="1951405"/>
            <a:ext cx="5505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13" name="Google Shape;713;p9"/>
          <p:cNvSpPr/>
          <p:nvPr/>
        </p:nvSpPr>
        <p:spPr>
          <a:xfrm>
            <a:off x="428246" y="1976808"/>
            <a:ext cx="482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880"/>
              <a:buFont typeface="Consolas"/>
              <a:buNone/>
            </a:pPr>
            <a:r>
              <a:rPr lang="en-US" sz="880" b="0" i="0" u="none" strike="noStrike" cap="none">
                <a:solidFill>
                  <a:srgbClr val="1A2B3C"/>
                </a:solidFill>
                <a:latin typeface="Consolas"/>
                <a:ea typeface="Consolas"/>
                <a:cs typeface="Consolas"/>
                <a:sym typeface="Consolas"/>
              </a:rPr>
              <a:t>M4</a:t>
            </a:r>
            <a:endParaRPr sz="880" b="0" i="0" u="none" strike="noStrike" cap="none">
              <a:solidFill>
                <a:srgbClr val="000000"/>
              </a:solidFill>
              <a:latin typeface="Calibri"/>
              <a:ea typeface="Calibri"/>
              <a:cs typeface="Calibri"/>
              <a:sym typeface="Calibri"/>
            </a:endParaRPr>
          </a:p>
        </p:txBody>
      </p:sp>
      <p:sp>
        <p:nvSpPr>
          <p:cNvPr id="714" name="Google Shape;714;p9"/>
          <p:cNvSpPr/>
          <p:nvPr/>
        </p:nvSpPr>
        <p:spPr>
          <a:xfrm>
            <a:off x="936317" y="1951405"/>
            <a:ext cx="17784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15" name="Google Shape;715;p9"/>
          <p:cNvSpPr/>
          <p:nvPr/>
        </p:nvSpPr>
        <p:spPr>
          <a:xfrm>
            <a:off x="978657" y="1976808"/>
            <a:ext cx="17106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make soc_pico_uart_mem</a:t>
            </a:r>
            <a:endParaRPr sz="880" b="0" i="0" u="none" strike="noStrike" cap="none">
              <a:solidFill>
                <a:srgbClr val="000000"/>
              </a:solidFill>
              <a:latin typeface="Calibri"/>
              <a:ea typeface="Calibri"/>
              <a:cs typeface="Calibri"/>
              <a:sym typeface="Calibri"/>
            </a:endParaRPr>
          </a:p>
        </p:txBody>
      </p:sp>
      <p:sp>
        <p:nvSpPr>
          <p:cNvPr id="716" name="Google Shape;716;p9"/>
          <p:cNvSpPr/>
          <p:nvPr/>
        </p:nvSpPr>
        <p:spPr>
          <a:xfrm>
            <a:off x="2714566" y="1951405"/>
            <a:ext cx="27942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17" name="Google Shape;717;p9"/>
          <p:cNvSpPr/>
          <p:nvPr/>
        </p:nvSpPr>
        <p:spPr>
          <a:xfrm>
            <a:off x="2756905" y="1976808"/>
            <a:ext cx="2726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tb_mem_soc.fst  (142 MB raw)</a:t>
            </a:r>
            <a:endParaRPr sz="787" b="0" i="0" u="none" strike="noStrike" cap="none">
              <a:solidFill>
                <a:srgbClr val="000000"/>
              </a:solidFill>
              <a:latin typeface="Calibri"/>
              <a:ea typeface="Calibri"/>
              <a:cs typeface="Calibri"/>
              <a:sym typeface="Calibri"/>
            </a:endParaRPr>
          </a:p>
        </p:txBody>
      </p:sp>
      <p:sp>
        <p:nvSpPr>
          <p:cNvPr id="718" name="Google Shape;718;p9"/>
          <p:cNvSpPr/>
          <p:nvPr/>
        </p:nvSpPr>
        <p:spPr>
          <a:xfrm>
            <a:off x="5292911" y="1951390"/>
            <a:ext cx="28761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19" name="Google Shape;719;p9"/>
          <p:cNvSpPr/>
          <p:nvPr/>
        </p:nvSpPr>
        <p:spPr>
          <a:xfrm>
            <a:off x="5331260" y="1976794"/>
            <a:ext cx="28149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cpu_mem_addr, mem_wstrb</a:t>
            </a:r>
            <a:endParaRPr sz="787" b="0" i="0" u="none" strike="noStrike" cap="none">
              <a:solidFill>
                <a:srgbClr val="000000"/>
              </a:solidFill>
              <a:latin typeface="Calibri"/>
              <a:ea typeface="Calibri"/>
              <a:cs typeface="Calibri"/>
              <a:sym typeface="Calibri"/>
            </a:endParaRPr>
          </a:p>
        </p:txBody>
      </p:sp>
      <p:sp>
        <p:nvSpPr>
          <p:cNvPr id="720" name="Google Shape;720;p9"/>
          <p:cNvSpPr/>
          <p:nvPr/>
        </p:nvSpPr>
        <p:spPr>
          <a:xfrm>
            <a:off x="385907" y="2205441"/>
            <a:ext cx="5505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21" name="Google Shape;721;p9"/>
          <p:cNvSpPr/>
          <p:nvPr/>
        </p:nvSpPr>
        <p:spPr>
          <a:xfrm>
            <a:off x="428246" y="2230844"/>
            <a:ext cx="482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880"/>
              <a:buFont typeface="Consolas"/>
              <a:buNone/>
            </a:pPr>
            <a:r>
              <a:rPr lang="en-US" sz="880" b="0" i="0" u="none" strike="noStrike" cap="none">
                <a:solidFill>
                  <a:srgbClr val="1A2B3C"/>
                </a:solidFill>
                <a:latin typeface="Consolas"/>
                <a:ea typeface="Consolas"/>
                <a:cs typeface="Consolas"/>
                <a:sym typeface="Consolas"/>
              </a:rPr>
              <a:t>M5</a:t>
            </a:r>
            <a:endParaRPr sz="880" b="0" i="0" u="none" strike="noStrike" cap="none">
              <a:solidFill>
                <a:srgbClr val="000000"/>
              </a:solidFill>
              <a:latin typeface="Calibri"/>
              <a:ea typeface="Calibri"/>
              <a:cs typeface="Calibri"/>
              <a:sym typeface="Calibri"/>
            </a:endParaRPr>
          </a:p>
        </p:txBody>
      </p:sp>
      <p:sp>
        <p:nvSpPr>
          <p:cNvPr id="722" name="Google Shape;722;p9"/>
          <p:cNvSpPr/>
          <p:nvPr/>
        </p:nvSpPr>
        <p:spPr>
          <a:xfrm>
            <a:off x="936317" y="2205441"/>
            <a:ext cx="17784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23" name="Google Shape;723;p9"/>
          <p:cNvSpPr/>
          <p:nvPr/>
        </p:nvSpPr>
        <p:spPr>
          <a:xfrm>
            <a:off x="978657" y="2230844"/>
            <a:ext cx="17106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make riscv_axi</a:t>
            </a:r>
            <a:endParaRPr sz="880" b="0" i="0" u="none" strike="noStrike" cap="none">
              <a:solidFill>
                <a:srgbClr val="000000"/>
              </a:solidFill>
              <a:latin typeface="Calibri"/>
              <a:ea typeface="Calibri"/>
              <a:cs typeface="Calibri"/>
              <a:sym typeface="Calibri"/>
            </a:endParaRPr>
          </a:p>
        </p:txBody>
      </p:sp>
      <p:sp>
        <p:nvSpPr>
          <p:cNvPr id="724" name="Google Shape;724;p9"/>
          <p:cNvSpPr/>
          <p:nvPr/>
        </p:nvSpPr>
        <p:spPr>
          <a:xfrm>
            <a:off x="2714566" y="2205441"/>
            <a:ext cx="27942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25" name="Google Shape;725;p9"/>
          <p:cNvSpPr/>
          <p:nvPr/>
        </p:nvSpPr>
        <p:spPr>
          <a:xfrm>
            <a:off x="2756905" y="2230844"/>
            <a:ext cx="2726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tb_riscv_axi_lite.vcd  (3.3 KB)</a:t>
            </a:r>
            <a:endParaRPr sz="787" b="0" i="0" u="none" strike="noStrike" cap="none">
              <a:solidFill>
                <a:srgbClr val="000000"/>
              </a:solidFill>
              <a:latin typeface="Calibri"/>
              <a:ea typeface="Calibri"/>
              <a:cs typeface="Calibri"/>
              <a:sym typeface="Calibri"/>
            </a:endParaRPr>
          </a:p>
        </p:txBody>
      </p:sp>
      <p:sp>
        <p:nvSpPr>
          <p:cNvPr id="726" name="Google Shape;726;p9"/>
          <p:cNvSpPr/>
          <p:nvPr/>
        </p:nvSpPr>
        <p:spPr>
          <a:xfrm>
            <a:off x="5292911" y="2205427"/>
            <a:ext cx="28761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27" name="Google Shape;727;p9"/>
          <p:cNvSpPr/>
          <p:nvPr/>
        </p:nvSpPr>
        <p:spPr>
          <a:xfrm>
            <a:off x="5331260" y="2230830"/>
            <a:ext cx="28149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b_state, m_awvalid, s_rdata</a:t>
            </a:r>
            <a:endParaRPr sz="787" b="0" i="0" u="none" strike="noStrike" cap="none">
              <a:solidFill>
                <a:srgbClr val="000000"/>
              </a:solidFill>
              <a:latin typeface="Calibri"/>
              <a:ea typeface="Calibri"/>
              <a:cs typeface="Calibri"/>
              <a:sym typeface="Calibri"/>
            </a:endParaRPr>
          </a:p>
        </p:txBody>
      </p:sp>
      <p:sp>
        <p:nvSpPr>
          <p:cNvPr id="728" name="Google Shape;728;p9"/>
          <p:cNvSpPr/>
          <p:nvPr/>
        </p:nvSpPr>
        <p:spPr>
          <a:xfrm>
            <a:off x="385907" y="2459476"/>
            <a:ext cx="5505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29" name="Google Shape;729;p9"/>
          <p:cNvSpPr/>
          <p:nvPr/>
        </p:nvSpPr>
        <p:spPr>
          <a:xfrm>
            <a:off x="428246" y="2484880"/>
            <a:ext cx="482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880"/>
              <a:buFont typeface="Consolas"/>
              <a:buNone/>
            </a:pPr>
            <a:r>
              <a:rPr lang="en-US" sz="880" b="0" i="0" u="none" strike="noStrike" cap="none">
                <a:solidFill>
                  <a:srgbClr val="1A2B3C"/>
                </a:solidFill>
                <a:latin typeface="Consolas"/>
                <a:ea typeface="Consolas"/>
                <a:cs typeface="Consolas"/>
                <a:sym typeface="Consolas"/>
              </a:rPr>
              <a:t>M6</a:t>
            </a:r>
            <a:endParaRPr sz="880" b="0" i="0" u="none" strike="noStrike" cap="none">
              <a:solidFill>
                <a:srgbClr val="000000"/>
              </a:solidFill>
              <a:latin typeface="Calibri"/>
              <a:ea typeface="Calibri"/>
              <a:cs typeface="Calibri"/>
              <a:sym typeface="Calibri"/>
            </a:endParaRPr>
          </a:p>
        </p:txBody>
      </p:sp>
      <p:sp>
        <p:nvSpPr>
          <p:cNvPr id="730" name="Google Shape;730;p9"/>
          <p:cNvSpPr/>
          <p:nvPr/>
        </p:nvSpPr>
        <p:spPr>
          <a:xfrm>
            <a:off x="936317" y="2459476"/>
            <a:ext cx="17784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31" name="Google Shape;731;p9"/>
          <p:cNvSpPr/>
          <p:nvPr/>
        </p:nvSpPr>
        <p:spPr>
          <a:xfrm>
            <a:off x="978657" y="2484880"/>
            <a:ext cx="17106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make axi_uart</a:t>
            </a:r>
            <a:endParaRPr sz="880" b="0" i="0" u="none" strike="noStrike" cap="none">
              <a:solidFill>
                <a:srgbClr val="000000"/>
              </a:solidFill>
              <a:latin typeface="Calibri"/>
              <a:ea typeface="Calibri"/>
              <a:cs typeface="Calibri"/>
              <a:sym typeface="Calibri"/>
            </a:endParaRPr>
          </a:p>
        </p:txBody>
      </p:sp>
      <p:sp>
        <p:nvSpPr>
          <p:cNvPr id="732" name="Google Shape;732;p9"/>
          <p:cNvSpPr/>
          <p:nvPr/>
        </p:nvSpPr>
        <p:spPr>
          <a:xfrm>
            <a:off x="2714566" y="2459476"/>
            <a:ext cx="27942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33" name="Google Shape;733;p9"/>
          <p:cNvSpPr/>
          <p:nvPr/>
        </p:nvSpPr>
        <p:spPr>
          <a:xfrm>
            <a:off x="2756905" y="2484880"/>
            <a:ext cx="2726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tb_axi_lite.vcd  (1.9 MB)</a:t>
            </a:r>
            <a:endParaRPr sz="787" b="0" i="0" u="none" strike="noStrike" cap="none">
              <a:solidFill>
                <a:srgbClr val="000000"/>
              </a:solidFill>
              <a:latin typeface="Calibri"/>
              <a:ea typeface="Calibri"/>
              <a:cs typeface="Calibri"/>
              <a:sym typeface="Calibri"/>
            </a:endParaRPr>
          </a:p>
        </p:txBody>
      </p:sp>
      <p:sp>
        <p:nvSpPr>
          <p:cNvPr id="734" name="Google Shape;734;p9"/>
          <p:cNvSpPr/>
          <p:nvPr/>
        </p:nvSpPr>
        <p:spPr>
          <a:xfrm>
            <a:off x="5292911" y="2459464"/>
            <a:ext cx="28761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35" name="Google Shape;735;p9"/>
          <p:cNvSpPr/>
          <p:nvPr/>
        </p:nvSpPr>
        <p:spPr>
          <a:xfrm>
            <a:off x="5331260" y="2484867"/>
            <a:ext cx="28149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buf_valid, aw_got, u_tx.state</a:t>
            </a:r>
            <a:endParaRPr sz="787" b="0" i="0" u="none" strike="noStrike" cap="none">
              <a:solidFill>
                <a:srgbClr val="000000"/>
              </a:solidFill>
              <a:latin typeface="Calibri"/>
              <a:ea typeface="Calibri"/>
              <a:cs typeface="Calibri"/>
              <a:sym typeface="Calibri"/>
            </a:endParaRPr>
          </a:p>
        </p:txBody>
      </p:sp>
      <p:sp>
        <p:nvSpPr>
          <p:cNvPr id="736" name="Google Shape;736;p9"/>
          <p:cNvSpPr/>
          <p:nvPr/>
        </p:nvSpPr>
        <p:spPr>
          <a:xfrm>
            <a:off x="385907" y="2713512"/>
            <a:ext cx="5505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37" name="Google Shape;737;p9"/>
          <p:cNvSpPr/>
          <p:nvPr/>
        </p:nvSpPr>
        <p:spPr>
          <a:xfrm>
            <a:off x="428246" y="2738916"/>
            <a:ext cx="482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880"/>
              <a:buFont typeface="Consolas"/>
              <a:buNone/>
            </a:pPr>
            <a:r>
              <a:rPr lang="en-US" sz="880" b="0" i="0" u="none" strike="noStrike" cap="none">
                <a:solidFill>
                  <a:srgbClr val="1A2B3C"/>
                </a:solidFill>
                <a:latin typeface="Consolas"/>
                <a:ea typeface="Consolas"/>
                <a:cs typeface="Consolas"/>
                <a:sym typeface="Consolas"/>
              </a:rPr>
              <a:t>M7</a:t>
            </a:r>
            <a:endParaRPr sz="880" b="0" i="0" u="none" strike="noStrike" cap="none">
              <a:solidFill>
                <a:srgbClr val="000000"/>
              </a:solidFill>
              <a:latin typeface="Calibri"/>
              <a:ea typeface="Calibri"/>
              <a:cs typeface="Calibri"/>
              <a:sym typeface="Calibri"/>
            </a:endParaRPr>
          </a:p>
        </p:txBody>
      </p:sp>
      <p:sp>
        <p:nvSpPr>
          <p:cNvPr id="738" name="Google Shape;738;p9"/>
          <p:cNvSpPr/>
          <p:nvPr/>
        </p:nvSpPr>
        <p:spPr>
          <a:xfrm>
            <a:off x="936317" y="2713512"/>
            <a:ext cx="17784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39" name="Google Shape;739;p9"/>
          <p:cNvSpPr/>
          <p:nvPr/>
        </p:nvSpPr>
        <p:spPr>
          <a:xfrm>
            <a:off x="978657" y="2738916"/>
            <a:ext cx="17106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make fw + wave</a:t>
            </a:r>
            <a:endParaRPr sz="880" b="0" i="0" u="none" strike="noStrike" cap="none">
              <a:solidFill>
                <a:srgbClr val="000000"/>
              </a:solidFill>
              <a:latin typeface="Calibri"/>
              <a:ea typeface="Calibri"/>
              <a:cs typeface="Calibri"/>
              <a:sym typeface="Calibri"/>
            </a:endParaRPr>
          </a:p>
        </p:txBody>
      </p:sp>
      <p:sp>
        <p:nvSpPr>
          <p:cNvPr id="740" name="Google Shape;740;p9"/>
          <p:cNvSpPr/>
          <p:nvPr/>
        </p:nvSpPr>
        <p:spPr>
          <a:xfrm>
            <a:off x="2714566" y="2713512"/>
            <a:ext cx="27942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41" name="Google Shape;741;p9"/>
          <p:cNvSpPr/>
          <p:nvPr/>
        </p:nvSpPr>
        <p:spPr>
          <a:xfrm>
            <a:off x="2756905" y="2738916"/>
            <a:ext cx="2726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tb_top.fst</a:t>
            </a:r>
            <a:endParaRPr sz="787" b="0" i="0" u="none" strike="noStrike" cap="none">
              <a:solidFill>
                <a:srgbClr val="000000"/>
              </a:solidFill>
              <a:latin typeface="Calibri"/>
              <a:ea typeface="Calibri"/>
              <a:cs typeface="Calibri"/>
              <a:sym typeface="Calibri"/>
            </a:endParaRPr>
          </a:p>
        </p:txBody>
      </p:sp>
      <p:sp>
        <p:nvSpPr>
          <p:cNvPr id="742" name="Google Shape;742;p9"/>
          <p:cNvSpPr/>
          <p:nvPr/>
        </p:nvSpPr>
        <p:spPr>
          <a:xfrm>
            <a:off x="5292911" y="2713501"/>
            <a:ext cx="2876100" cy="253800"/>
          </a:xfrm>
          <a:prstGeom prst="rect">
            <a:avLst/>
          </a:prstGeom>
          <a:solidFill>
            <a:srgbClr val="F0F7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43" name="Google Shape;743;p9"/>
          <p:cNvSpPr/>
          <p:nvPr/>
        </p:nvSpPr>
        <p:spPr>
          <a:xfrm>
            <a:off x="5331260" y="2738904"/>
            <a:ext cx="28149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rom fetch trace in waveform</a:t>
            </a:r>
            <a:endParaRPr sz="787" b="0" i="0" u="none" strike="noStrike" cap="none">
              <a:solidFill>
                <a:srgbClr val="000000"/>
              </a:solidFill>
              <a:latin typeface="Calibri"/>
              <a:ea typeface="Calibri"/>
              <a:cs typeface="Calibri"/>
              <a:sym typeface="Calibri"/>
            </a:endParaRPr>
          </a:p>
        </p:txBody>
      </p:sp>
      <p:sp>
        <p:nvSpPr>
          <p:cNvPr id="744" name="Google Shape;744;p9"/>
          <p:cNvSpPr/>
          <p:nvPr/>
        </p:nvSpPr>
        <p:spPr>
          <a:xfrm>
            <a:off x="385907" y="2967548"/>
            <a:ext cx="5505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45" name="Google Shape;745;p9"/>
          <p:cNvSpPr/>
          <p:nvPr/>
        </p:nvSpPr>
        <p:spPr>
          <a:xfrm>
            <a:off x="428246" y="2992952"/>
            <a:ext cx="482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880"/>
              <a:buFont typeface="Consolas"/>
              <a:buNone/>
            </a:pPr>
            <a:r>
              <a:rPr lang="en-US" sz="880" b="0" i="0" u="none" strike="noStrike" cap="none">
                <a:solidFill>
                  <a:srgbClr val="1A2B3C"/>
                </a:solidFill>
                <a:latin typeface="Consolas"/>
                <a:ea typeface="Consolas"/>
                <a:cs typeface="Consolas"/>
                <a:sym typeface="Consolas"/>
              </a:rPr>
              <a:t>M8</a:t>
            </a:r>
            <a:endParaRPr sz="880" b="0" i="0" u="none" strike="noStrike" cap="none">
              <a:solidFill>
                <a:srgbClr val="000000"/>
              </a:solidFill>
              <a:latin typeface="Calibri"/>
              <a:ea typeface="Calibri"/>
              <a:cs typeface="Calibri"/>
              <a:sym typeface="Calibri"/>
            </a:endParaRPr>
          </a:p>
        </p:txBody>
      </p:sp>
      <p:sp>
        <p:nvSpPr>
          <p:cNvPr id="746" name="Google Shape;746;p9"/>
          <p:cNvSpPr/>
          <p:nvPr/>
        </p:nvSpPr>
        <p:spPr>
          <a:xfrm>
            <a:off x="936317" y="2967548"/>
            <a:ext cx="17784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47" name="Google Shape;747;p9"/>
          <p:cNvSpPr/>
          <p:nvPr/>
        </p:nvSpPr>
        <p:spPr>
          <a:xfrm>
            <a:off x="978657" y="2992952"/>
            <a:ext cx="17106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0D3349"/>
              </a:buClr>
              <a:buSzPts val="880"/>
              <a:buFont typeface="Consolas"/>
              <a:buNone/>
            </a:pPr>
            <a:r>
              <a:rPr lang="en-US" sz="880" b="0" i="0" u="none" strike="noStrike" cap="none">
                <a:solidFill>
                  <a:srgbClr val="0D3349"/>
                </a:solidFill>
                <a:latin typeface="Consolas"/>
                <a:ea typeface="Consolas"/>
                <a:cs typeface="Consolas"/>
                <a:sym typeface="Consolas"/>
              </a:rPr>
              <a:t>make soc</a:t>
            </a:r>
            <a:endParaRPr sz="880" b="0" i="0" u="none" strike="noStrike" cap="none">
              <a:solidFill>
                <a:srgbClr val="000000"/>
              </a:solidFill>
              <a:latin typeface="Calibri"/>
              <a:ea typeface="Calibri"/>
              <a:cs typeface="Calibri"/>
              <a:sym typeface="Calibri"/>
            </a:endParaRPr>
          </a:p>
        </p:txBody>
      </p:sp>
      <p:sp>
        <p:nvSpPr>
          <p:cNvPr id="748" name="Google Shape;748;p9"/>
          <p:cNvSpPr/>
          <p:nvPr/>
        </p:nvSpPr>
        <p:spPr>
          <a:xfrm>
            <a:off x="2714566" y="2967548"/>
            <a:ext cx="27942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49" name="Google Shape;749;p9"/>
          <p:cNvSpPr/>
          <p:nvPr/>
        </p:nvSpPr>
        <p:spPr>
          <a:xfrm>
            <a:off x="2756905" y="2992952"/>
            <a:ext cx="2726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tb_top.fst  (~5 MB)</a:t>
            </a:r>
            <a:endParaRPr sz="787" b="0" i="0" u="none" strike="noStrike" cap="none">
              <a:solidFill>
                <a:srgbClr val="000000"/>
              </a:solidFill>
              <a:latin typeface="Calibri"/>
              <a:ea typeface="Calibri"/>
              <a:cs typeface="Calibri"/>
              <a:sym typeface="Calibri"/>
            </a:endParaRPr>
          </a:p>
        </p:txBody>
      </p:sp>
      <p:sp>
        <p:nvSpPr>
          <p:cNvPr id="750" name="Google Shape;750;p9"/>
          <p:cNvSpPr/>
          <p:nvPr/>
        </p:nvSpPr>
        <p:spPr>
          <a:xfrm>
            <a:off x="5292911" y="2967537"/>
            <a:ext cx="2876100" cy="253800"/>
          </a:xfrm>
          <a:prstGeom prst="rect">
            <a:avLst/>
          </a:prstGeom>
          <a:solidFill>
            <a:srgbClr val="FFFFFF"/>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51" name="Google Shape;751;p9"/>
          <p:cNvSpPr/>
          <p:nvPr/>
        </p:nvSpPr>
        <p:spPr>
          <a:xfrm>
            <a:off x="5331260" y="2992941"/>
            <a:ext cx="28149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0" i="0" u="none" strike="noStrike" cap="none">
                <a:solidFill>
                  <a:srgbClr val="1A2B3C"/>
                </a:solidFill>
                <a:latin typeface="Calibri"/>
                <a:ea typeface="Calibri"/>
                <a:cs typeface="Calibri"/>
                <a:sym typeface="Calibri"/>
              </a:rPr>
              <a:t>full 5-layer analysis</a:t>
            </a:r>
            <a:endParaRPr sz="787" b="0" i="0" u="none" strike="noStrike" cap="none">
              <a:solidFill>
                <a:srgbClr val="000000"/>
              </a:solidFill>
              <a:latin typeface="Calibri"/>
              <a:ea typeface="Calibri"/>
              <a:cs typeface="Calibri"/>
              <a:sym typeface="Calibri"/>
            </a:endParaRPr>
          </a:p>
        </p:txBody>
      </p:sp>
      <p:sp>
        <p:nvSpPr>
          <p:cNvPr id="752" name="Google Shape;752;p9"/>
          <p:cNvSpPr/>
          <p:nvPr/>
        </p:nvSpPr>
        <p:spPr>
          <a:xfrm>
            <a:off x="385907" y="3221584"/>
            <a:ext cx="550500" cy="253800"/>
          </a:xfrm>
          <a:prstGeom prst="rect">
            <a:avLst/>
          </a:prstGeom>
          <a:solidFill>
            <a:srgbClr val="D6EAF8"/>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53" name="Google Shape;753;p9"/>
          <p:cNvSpPr/>
          <p:nvPr/>
        </p:nvSpPr>
        <p:spPr>
          <a:xfrm>
            <a:off x="428246" y="3246988"/>
            <a:ext cx="482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2E86C1"/>
              </a:buClr>
              <a:buSzPts val="880"/>
              <a:buFont typeface="Consolas"/>
              <a:buNone/>
            </a:pPr>
            <a:r>
              <a:rPr lang="en-US" sz="880" b="1" i="0" u="none" strike="noStrike" cap="none">
                <a:solidFill>
                  <a:srgbClr val="2E86C1"/>
                </a:solidFill>
                <a:latin typeface="Consolas"/>
                <a:ea typeface="Consolas"/>
                <a:cs typeface="Consolas"/>
                <a:sym typeface="Consolas"/>
              </a:rPr>
              <a:t>M9 ★</a:t>
            </a:r>
            <a:endParaRPr sz="880" b="0" i="0" u="none" strike="noStrike" cap="none">
              <a:solidFill>
                <a:srgbClr val="000000"/>
              </a:solidFill>
              <a:latin typeface="Calibri"/>
              <a:ea typeface="Calibri"/>
              <a:cs typeface="Calibri"/>
              <a:sym typeface="Calibri"/>
            </a:endParaRPr>
          </a:p>
        </p:txBody>
      </p:sp>
      <p:sp>
        <p:nvSpPr>
          <p:cNvPr id="754" name="Google Shape;754;p9"/>
          <p:cNvSpPr/>
          <p:nvPr/>
        </p:nvSpPr>
        <p:spPr>
          <a:xfrm>
            <a:off x="936317" y="3221584"/>
            <a:ext cx="1778400" cy="253800"/>
          </a:xfrm>
          <a:prstGeom prst="rect">
            <a:avLst/>
          </a:prstGeom>
          <a:solidFill>
            <a:srgbClr val="D6EAF8"/>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55" name="Google Shape;755;p9"/>
          <p:cNvSpPr/>
          <p:nvPr/>
        </p:nvSpPr>
        <p:spPr>
          <a:xfrm>
            <a:off x="978657" y="3246988"/>
            <a:ext cx="17106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0D3349"/>
              </a:buClr>
              <a:buSzPts val="880"/>
              <a:buFont typeface="Consolas"/>
              <a:buNone/>
            </a:pPr>
            <a:r>
              <a:rPr lang="en-US" sz="880" b="1" i="0" u="none" strike="noStrike" cap="none">
                <a:solidFill>
                  <a:srgbClr val="0D3349"/>
                </a:solidFill>
                <a:latin typeface="Consolas"/>
                <a:ea typeface="Consolas"/>
                <a:cs typeface="Consolas"/>
                <a:sym typeface="Consolas"/>
              </a:rPr>
              <a:t>make wave</a:t>
            </a:r>
            <a:endParaRPr sz="880" b="0" i="0" u="none" strike="noStrike" cap="none">
              <a:solidFill>
                <a:srgbClr val="000000"/>
              </a:solidFill>
              <a:latin typeface="Calibri"/>
              <a:ea typeface="Calibri"/>
              <a:cs typeface="Calibri"/>
              <a:sym typeface="Calibri"/>
            </a:endParaRPr>
          </a:p>
        </p:txBody>
      </p:sp>
      <p:sp>
        <p:nvSpPr>
          <p:cNvPr id="756" name="Google Shape;756;p9"/>
          <p:cNvSpPr/>
          <p:nvPr/>
        </p:nvSpPr>
        <p:spPr>
          <a:xfrm>
            <a:off x="2714566" y="3221584"/>
            <a:ext cx="2794200" cy="253800"/>
          </a:xfrm>
          <a:prstGeom prst="rect">
            <a:avLst/>
          </a:prstGeom>
          <a:solidFill>
            <a:srgbClr val="D6EAF8"/>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57" name="Google Shape;757;p9"/>
          <p:cNvSpPr/>
          <p:nvPr/>
        </p:nvSpPr>
        <p:spPr>
          <a:xfrm>
            <a:off x="2756905" y="3246988"/>
            <a:ext cx="27267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1" i="0" u="none" strike="noStrike" cap="none">
                <a:solidFill>
                  <a:srgbClr val="1A2B3C"/>
                </a:solidFill>
                <a:latin typeface="Calibri"/>
                <a:ea typeface="Calibri"/>
                <a:cs typeface="Calibri"/>
                <a:sym typeface="Calibri"/>
              </a:rPr>
              <a:t>tb_top.fst  (~5 MB)</a:t>
            </a:r>
            <a:endParaRPr sz="787" b="0" i="0" u="none" strike="noStrike" cap="none">
              <a:solidFill>
                <a:srgbClr val="000000"/>
              </a:solidFill>
              <a:latin typeface="Calibri"/>
              <a:ea typeface="Calibri"/>
              <a:cs typeface="Calibri"/>
              <a:sym typeface="Calibri"/>
            </a:endParaRPr>
          </a:p>
        </p:txBody>
      </p:sp>
      <p:sp>
        <p:nvSpPr>
          <p:cNvPr id="758" name="Google Shape;758;p9"/>
          <p:cNvSpPr/>
          <p:nvPr/>
        </p:nvSpPr>
        <p:spPr>
          <a:xfrm>
            <a:off x="5292911" y="3221574"/>
            <a:ext cx="2876100" cy="253800"/>
          </a:xfrm>
          <a:prstGeom prst="rect">
            <a:avLst/>
          </a:prstGeom>
          <a:solidFill>
            <a:srgbClr val="D6EAF8"/>
          </a:solidFill>
          <a:ln w="8825" cap="flat" cmpd="sng">
            <a:solidFill>
              <a:srgbClr val="AED6F1"/>
            </a:solidFill>
            <a:prstDash val="solid"/>
            <a:round/>
            <a:headEnd type="none" w="sm" len="sm"/>
            <a:tailEnd type="none" w="sm" len="sm"/>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59" name="Google Shape;759;p9"/>
          <p:cNvSpPr/>
          <p:nvPr/>
        </p:nvSpPr>
        <p:spPr>
          <a:xfrm>
            <a:off x="5331260" y="3246978"/>
            <a:ext cx="2814900" cy="219900"/>
          </a:xfrm>
          <a:prstGeom prst="rect">
            <a:avLst/>
          </a:prstGeom>
          <a:noFill/>
          <a:ln>
            <a:noFill/>
          </a:ln>
        </p:spPr>
        <p:txBody>
          <a:bodyPr spcFirstLastPara="1" wrap="square" lIns="23525" tIns="23525" rIns="23525" bIns="23525" anchor="ctr" anchorCtr="0">
            <a:noAutofit/>
          </a:bodyPr>
          <a:lstStyle/>
          <a:p>
            <a:pPr marL="0" marR="0" lvl="0" indent="0" algn="l" rtl="0">
              <a:spcBef>
                <a:spcPts val="0"/>
              </a:spcBef>
              <a:spcAft>
                <a:spcPts val="0"/>
              </a:spcAft>
              <a:buClr>
                <a:srgbClr val="1A2B3C"/>
              </a:buClr>
              <a:buSzPts val="787"/>
              <a:buFont typeface="Calibri"/>
              <a:buNone/>
            </a:pPr>
            <a:r>
              <a:rPr lang="en-US" sz="787" b="1" i="0" u="none" strike="noStrike" cap="none">
                <a:solidFill>
                  <a:srgbClr val="1A2B3C"/>
                </a:solidFill>
                <a:latin typeface="Calibri"/>
                <a:ea typeface="Calibri"/>
                <a:cs typeface="Calibri"/>
                <a:sym typeface="Calibri"/>
              </a:rPr>
              <a:t>all layers + UART decode exercise</a:t>
            </a:r>
            <a:endParaRPr sz="787" b="0" i="0" u="none" strike="noStrike" cap="none">
              <a:solidFill>
                <a:srgbClr val="000000"/>
              </a:solidFill>
              <a:latin typeface="Calibri"/>
              <a:ea typeface="Calibri"/>
              <a:cs typeface="Calibri"/>
              <a:sym typeface="Calibri"/>
            </a:endParaRPr>
          </a:p>
        </p:txBody>
      </p:sp>
      <p:sp>
        <p:nvSpPr>
          <p:cNvPr id="760" name="Google Shape;760;p9"/>
          <p:cNvSpPr/>
          <p:nvPr/>
        </p:nvSpPr>
        <p:spPr>
          <a:xfrm>
            <a:off x="385900" y="3517950"/>
            <a:ext cx="7785900" cy="1591800"/>
          </a:xfrm>
          <a:prstGeom prst="rect">
            <a:avLst/>
          </a:prstGeom>
          <a:solidFill>
            <a:srgbClr val="FFFFFF"/>
          </a:solidFill>
          <a:ln w="11750" cap="flat" cmpd="sng">
            <a:solidFill>
              <a:srgbClr val="AED6F1"/>
            </a:solidFill>
            <a:prstDash val="solid"/>
            <a:round/>
            <a:headEnd type="none" w="sm" len="sm"/>
            <a:tailEnd type="none" w="sm" len="sm"/>
          </a:ln>
          <a:effectLst>
            <a:outerShdw blurRad="58805" dist="23522" dir="8100000" algn="bl" rotWithShape="0">
              <a:srgbClr val="000000">
                <a:alpha val="10200"/>
              </a:srgbClr>
            </a:outerShdw>
          </a:effectLst>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61" name="Google Shape;761;p9"/>
          <p:cNvSpPr/>
          <p:nvPr/>
        </p:nvSpPr>
        <p:spPr>
          <a:xfrm>
            <a:off x="385900" y="3517950"/>
            <a:ext cx="7785900" cy="237000"/>
          </a:xfrm>
          <a:prstGeom prst="rect">
            <a:avLst/>
          </a:prstGeom>
          <a:solidFill>
            <a:srgbClr val="1F618D"/>
          </a:solidFill>
          <a:ln>
            <a:noFill/>
          </a:ln>
        </p:spPr>
        <p:txBody>
          <a:bodyPr spcFirstLastPara="1" wrap="square" lIns="84675" tIns="84675" rIns="84675" bIns="84675" anchor="ctr" anchorCtr="0">
            <a:noAutofit/>
          </a:bodyPr>
          <a:lstStyle/>
          <a:p>
            <a:pPr marL="0" lvl="0" indent="0" algn="l" rtl="0">
              <a:spcBef>
                <a:spcPts val="0"/>
              </a:spcBef>
              <a:spcAft>
                <a:spcPts val="0"/>
              </a:spcAft>
              <a:buNone/>
            </a:pPr>
            <a:endParaRPr/>
          </a:p>
        </p:txBody>
      </p:sp>
      <p:sp>
        <p:nvSpPr>
          <p:cNvPr id="762" name="Google Shape;762;p9"/>
          <p:cNvSpPr/>
          <p:nvPr/>
        </p:nvSpPr>
        <p:spPr>
          <a:xfrm>
            <a:off x="467005" y="3517950"/>
            <a:ext cx="7623600" cy="237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19"/>
              <a:buFont typeface="Calibri"/>
              <a:buNone/>
            </a:pPr>
            <a:r>
              <a:rPr lang="en-US" sz="1019" b="1" i="0" u="none" strike="noStrike" cap="none">
                <a:solidFill>
                  <a:srgbClr val="FFFFFF"/>
                </a:solidFill>
                <a:latin typeface="Calibri"/>
                <a:ea typeface="Calibri"/>
                <a:cs typeface="Calibri"/>
                <a:sym typeface="Calibri"/>
              </a:rPr>
              <a:t>Interview Questions — Waveform Analysis</a:t>
            </a:r>
            <a:endParaRPr sz="1019" b="0" i="0" u="none" strike="noStrike" cap="none">
              <a:solidFill>
                <a:srgbClr val="000000"/>
              </a:solidFill>
              <a:latin typeface="Calibri"/>
              <a:ea typeface="Calibri"/>
              <a:cs typeface="Calibri"/>
              <a:sym typeface="Calibri"/>
            </a:endParaRPr>
          </a:p>
        </p:txBody>
      </p:sp>
      <p:sp>
        <p:nvSpPr>
          <p:cNvPr id="763" name="Google Shape;763;p9"/>
          <p:cNvSpPr/>
          <p:nvPr/>
        </p:nvSpPr>
        <p:spPr>
          <a:xfrm>
            <a:off x="450784" y="3788922"/>
            <a:ext cx="7656000" cy="18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880"/>
              <a:buFont typeface="Calibri"/>
              <a:buNone/>
            </a:pPr>
            <a:r>
              <a:rPr lang="en-US" sz="880" b="1" i="0" u="none" strike="noStrike" cap="none">
                <a:solidFill>
                  <a:srgbClr val="2C5F7A"/>
                </a:solidFill>
                <a:latin typeface="Calibri"/>
                <a:ea typeface="Calibri"/>
                <a:cs typeface="Calibri"/>
                <a:sym typeface="Calibri"/>
              </a:rPr>
              <a:t>Q1: How do you verify an AXI write completed?</a:t>
            </a:r>
            <a:endParaRPr sz="880" b="0" i="0" u="none" strike="noStrike" cap="none">
              <a:solidFill>
                <a:srgbClr val="000000"/>
              </a:solidFill>
              <a:latin typeface="Calibri"/>
              <a:ea typeface="Calibri"/>
              <a:cs typeface="Calibri"/>
              <a:sym typeface="Calibri"/>
            </a:endParaRPr>
          </a:p>
        </p:txBody>
      </p:sp>
      <p:sp>
        <p:nvSpPr>
          <p:cNvPr id="764" name="Google Shape;764;p9"/>
          <p:cNvSpPr/>
          <p:nvPr/>
        </p:nvSpPr>
        <p:spPr>
          <a:xfrm>
            <a:off x="450784" y="3975215"/>
            <a:ext cx="7656000" cy="169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833"/>
              <a:buFont typeface="Consolas"/>
              <a:buNone/>
            </a:pPr>
            <a:r>
              <a:rPr lang="en-US" sz="833" b="0" i="0" u="none" strike="noStrike" cap="none">
                <a:solidFill>
                  <a:srgbClr val="0D3349"/>
                </a:solidFill>
                <a:latin typeface="Consolas"/>
                <a:ea typeface="Consolas"/>
                <a:cs typeface="Consolas"/>
                <a:sym typeface="Consolas"/>
              </a:rPr>
              <a:t>A: AWVALID+AWREADY=1 → WVALID+WREADY=1 → BVALID+BREADY=1</a:t>
            </a:r>
            <a:endParaRPr sz="833" b="0" i="0" u="none" strike="noStrike" cap="none">
              <a:solidFill>
                <a:srgbClr val="000000"/>
              </a:solidFill>
              <a:latin typeface="Calibri"/>
              <a:ea typeface="Calibri"/>
              <a:cs typeface="Calibri"/>
              <a:sym typeface="Calibri"/>
            </a:endParaRPr>
          </a:p>
        </p:txBody>
      </p:sp>
      <p:sp>
        <p:nvSpPr>
          <p:cNvPr id="765" name="Google Shape;765;p9"/>
          <p:cNvSpPr/>
          <p:nvPr/>
        </p:nvSpPr>
        <p:spPr>
          <a:xfrm>
            <a:off x="450784" y="4212315"/>
            <a:ext cx="7656000" cy="18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880"/>
              <a:buFont typeface="Calibri"/>
              <a:buNone/>
            </a:pPr>
            <a:r>
              <a:rPr lang="en-US" sz="880" b="1" i="0" u="none" strike="noStrike" cap="none">
                <a:solidFill>
                  <a:srgbClr val="2C5F7A"/>
                </a:solidFill>
                <a:latin typeface="Calibri"/>
                <a:ea typeface="Calibri"/>
                <a:cs typeface="Calibri"/>
                <a:sym typeface="Calibri"/>
              </a:rPr>
              <a:t>Q2: How do you confirm a UART byte was transmitted correctly?</a:t>
            </a:r>
            <a:endParaRPr sz="880" b="0" i="0" u="none" strike="noStrike" cap="none">
              <a:solidFill>
                <a:srgbClr val="000000"/>
              </a:solidFill>
              <a:latin typeface="Calibri"/>
              <a:ea typeface="Calibri"/>
              <a:cs typeface="Calibri"/>
              <a:sym typeface="Calibri"/>
            </a:endParaRPr>
          </a:p>
        </p:txBody>
      </p:sp>
      <p:sp>
        <p:nvSpPr>
          <p:cNvPr id="766" name="Google Shape;766;p9"/>
          <p:cNvSpPr/>
          <p:nvPr/>
        </p:nvSpPr>
        <p:spPr>
          <a:xfrm>
            <a:off x="450784" y="4398608"/>
            <a:ext cx="7656000" cy="169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833"/>
              <a:buFont typeface="Consolas"/>
              <a:buNone/>
            </a:pPr>
            <a:r>
              <a:rPr lang="en-US" sz="833" b="0" i="0" u="none" strike="noStrike" cap="none">
                <a:solidFill>
                  <a:srgbClr val="0D3349"/>
                </a:solidFill>
                <a:latin typeface="Consolas"/>
                <a:ea typeface="Consolas"/>
                <a:cs typeface="Consolas"/>
                <a:sym typeface="Consolas"/>
              </a:rPr>
              <a:t>A: Count falling edge, sample 8 bits at CLKS_HALF + n×CLKS_PER_BIT, compare to expected value</a:t>
            </a:r>
            <a:endParaRPr sz="833" b="0" i="0" u="none" strike="noStrike" cap="none">
              <a:solidFill>
                <a:srgbClr val="000000"/>
              </a:solidFill>
              <a:latin typeface="Calibri"/>
              <a:ea typeface="Calibri"/>
              <a:cs typeface="Calibri"/>
              <a:sym typeface="Calibri"/>
            </a:endParaRPr>
          </a:p>
        </p:txBody>
      </p:sp>
      <p:sp>
        <p:nvSpPr>
          <p:cNvPr id="767" name="Google Shape;767;p9"/>
          <p:cNvSpPr/>
          <p:nvPr/>
        </p:nvSpPr>
        <p:spPr>
          <a:xfrm>
            <a:off x="450784" y="4635708"/>
            <a:ext cx="7656000" cy="18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7A"/>
              </a:buClr>
              <a:buSzPts val="880"/>
              <a:buFont typeface="Calibri"/>
              <a:buNone/>
            </a:pPr>
            <a:r>
              <a:rPr lang="en-US" sz="880" b="1" i="0" u="none" strike="noStrike" cap="none">
                <a:solidFill>
                  <a:srgbClr val="2C5F7A"/>
                </a:solidFill>
                <a:latin typeface="Calibri"/>
                <a:ea typeface="Calibri"/>
                <a:cs typeface="Calibri"/>
                <a:sym typeface="Calibri"/>
              </a:rPr>
              <a:t>Q3: You see b_state stuck at 1 — what do you check?</a:t>
            </a:r>
            <a:endParaRPr sz="880" b="0" i="0" u="none" strike="noStrike" cap="none">
              <a:solidFill>
                <a:srgbClr val="000000"/>
              </a:solidFill>
              <a:latin typeface="Calibri"/>
              <a:ea typeface="Calibri"/>
              <a:cs typeface="Calibri"/>
              <a:sym typeface="Calibri"/>
            </a:endParaRPr>
          </a:p>
        </p:txBody>
      </p:sp>
      <p:sp>
        <p:nvSpPr>
          <p:cNvPr id="768" name="Google Shape;768;p9"/>
          <p:cNvSpPr/>
          <p:nvPr/>
        </p:nvSpPr>
        <p:spPr>
          <a:xfrm>
            <a:off x="450784" y="4822001"/>
            <a:ext cx="7656000" cy="169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3349"/>
              </a:buClr>
              <a:buSzPts val="833"/>
              <a:buFont typeface="Consolas"/>
              <a:buNone/>
            </a:pPr>
            <a:r>
              <a:rPr lang="en-US" sz="833" b="0" i="0" u="none" strike="noStrike" cap="none">
                <a:solidFill>
                  <a:srgbClr val="0D3349"/>
                </a:solidFill>
                <a:latin typeface="Consolas"/>
                <a:ea typeface="Consolas"/>
                <a:cs typeface="Consolas"/>
                <a:sym typeface="Consolas"/>
              </a:rPr>
              <a:t>A: wr_sel routing → slave awready → slave FSM state → backpressure condition</a:t>
            </a:r>
            <a:endParaRPr sz="833" b="0" i="0" u="none" strike="noStrike" cap="non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3202</Words>
  <Application>Microsoft Office PowerPoint</Application>
  <PresentationFormat>On-screen Show (16:9)</PresentationFormat>
  <Paragraphs>455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Arial</vt:lpstr>
      <vt:lpstr>Consolas</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acer</cp:lastModifiedBy>
  <cp:revision>1</cp:revision>
  <dcterms:created xsi:type="dcterms:W3CDTF">2026-04-26T09:09:48Z</dcterms:created>
  <dcterms:modified xsi:type="dcterms:W3CDTF">2026-05-09T13:18:51Z</dcterms:modified>
</cp:coreProperties>
</file>