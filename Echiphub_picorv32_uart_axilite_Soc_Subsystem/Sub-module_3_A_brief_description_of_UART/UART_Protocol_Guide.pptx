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lkze0C0V8HXngxeZzFM/cCCfF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523aa13488e8b8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6523aa13488e8b86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6523aa13488e8b86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6523aa13488e8b86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6523aa13488e8b86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6523aa13488e8b86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6523aa13488e8b86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6523aa13488e8b86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6523aa13488e8b86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6523aa13488e8b86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6523aa13488e8b86_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6523aa13488e8b86_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8" name="Google Shape;47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11506" y="707581"/>
            <a:ext cx="73287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Sub-module 3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39" y="980303"/>
            <a:ext cx="82287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lang="en-US"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UART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39" y="2071189"/>
            <a:ext cx="82287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Serial Protocol</a:t>
            </a:r>
            <a:endParaRPr sz="5600" b="0" i="0" u="none" strike="noStrike" cap="none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45" y="3263358"/>
            <a:ext cx="77787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FCF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Brief Description of UART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10" y="4414287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start bits to baud rate — everything you need to know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365770" y="544075"/>
            <a:ext cx="82296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65768" y="1290120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2"/>
          <p:cNvGrpSpPr/>
          <p:nvPr/>
        </p:nvGrpSpPr>
        <p:grpSpPr>
          <a:xfrm>
            <a:off x="464796" y="1373031"/>
            <a:ext cx="346589" cy="412190"/>
            <a:chOff x="0" y="-47625"/>
            <a:chExt cx="1024200" cy="1218057"/>
          </a:xfrm>
        </p:grpSpPr>
        <p:sp>
          <p:nvSpPr>
            <p:cNvPr id="29" name="Google Shape;2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838671" y="1366913"/>
            <a:ext cx="27935" cy="440512"/>
            <a:chOff x="0" y="0"/>
            <a:chExt cx="82550" cy="1301750"/>
          </a:xfrm>
        </p:grpSpPr>
        <p:sp>
          <p:nvSpPr>
            <p:cNvPr id="32" name="Google Shape;3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34;p2"/>
          <p:cNvSpPr/>
          <p:nvPr/>
        </p:nvSpPr>
        <p:spPr>
          <a:xfrm>
            <a:off x="365768" y="1991566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5;p2"/>
          <p:cNvGrpSpPr/>
          <p:nvPr/>
        </p:nvGrpSpPr>
        <p:grpSpPr>
          <a:xfrm>
            <a:off x="464796" y="2074477"/>
            <a:ext cx="346589" cy="412190"/>
            <a:chOff x="0" y="-47625"/>
            <a:chExt cx="1024200" cy="1218057"/>
          </a:xfrm>
        </p:grpSpPr>
        <p:sp>
          <p:nvSpPr>
            <p:cNvPr id="36" name="Google Shape;36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" name="Google Shape;38;p2"/>
          <p:cNvGrpSpPr/>
          <p:nvPr/>
        </p:nvGrpSpPr>
        <p:grpSpPr>
          <a:xfrm>
            <a:off x="959934" y="1366904"/>
            <a:ext cx="2970577" cy="440530"/>
            <a:chOff x="0" y="-38100"/>
            <a:chExt cx="8778300" cy="769620"/>
          </a:xfrm>
        </p:grpSpPr>
        <p:sp>
          <p:nvSpPr>
            <p:cNvPr id="39" name="Google Shape;39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83"/>
                <a:buFont typeface="Arial"/>
                <a:buNone/>
              </a:pPr>
              <a:r>
                <a:rPr lang="en-US" sz="1083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What is UART?</a:t>
              </a:r>
              <a:endParaRPr sz="632">
                <a:solidFill>
                  <a:schemeClr val="dk1"/>
                </a:solidFill>
              </a:endParaRPr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838671" y="2068359"/>
            <a:ext cx="27935" cy="440512"/>
            <a:chOff x="0" y="0"/>
            <a:chExt cx="82550" cy="1301750"/>
          </a:xfrm>
        </p:grpSpPr>
        <p:sp>
          <p:nvSpPr>
            <p:cNvPr id="42" name="Google Shape;4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959934" y="2068359"/>
            <a:ext cx="2970577" cy="440530"/>
            <a:chOff x="0" y="-38100"/>
            <a:chExt cx="8778300" cy="769620"/>
          </a:xfrm>
        </p:grpSpPr>
        <p:sp>
          <p:nvSpPr>
            <p:cNvPr id="45" name="Google Shape;4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83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How UART Works?</a:t>
              </a:r>
              <a:endParaRPr sz="632"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65768" y="2693012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" name="Google Shape;48;p2"/>
          <p:cNvGrpSpPr/>
          <p:nvPr/>
        </p:nvGrpSpPr>
        <p:grpSpPr>
          <a:xfrm>
            <a:off x="464796" y="2775923"/>
            <a:ext cx="346589" cy="412190"/>
            <a:chOff x="0" y="-47625"/>
            <a:chExt cx="1024200" cy="1218057"/>
          </a:xfrm>
        </p:grpSpPr>
        <p:sp>
          <p:nvSpPr>
            <p:cNvPr id="49" name="Google Shape;4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51;p2"/>
          <p:cNvGrpSpPr/>
          <p:nvPr/>
        </p:nvGrpSpPr>
        <p:grpSpPr>
          <a:xfrm>
            <a:off x="838671" y="2769805"/>
            <a:ext cx="27935" cy="440512"/>
            <a:chOff x="0" y="0"/>
            <a:chExt cx="82550" cy="1301750"/>
          </a:xfrm>
        </p:grpSpPr>
        <p:sp>
          <p:nvSpPr>
            <p:cNvPr id="52" name="Google Shape;5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2"/>
          <p:cNvGrpSpPr/>
          <p:nvPr/>
        </p:nvGrpSpPr>
        <p:grpSpPr>
          <a:xfrm>
            <a:off x="959934" y="2775917"/>
            <a:ext cx="2970577" cy="412208"/>
            <a:chOff x="0" y="-38100"/>
            <a:chExt cx="8778300" cy="769620"/>
          </a:xfrm>
        </p:grpSpPr>
        <p:sp>
          <p:nvSpPr>
            <p:cNvPr id="55" name="Google Shape;5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83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UART Frame Structure</a:t>
              </a:r>
              <a:endParaRPr sz="1083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2"/>
          <p:cNvSpPr/>
          <p:nvPr/>
        </p:nvSpPr>
        <p:spPr>
          <a:xfrm>
            <a:off x="365768" y="3394457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Google Shape;58;p2"/>
          <p:cNvGrpSpPr/>
          <p:nvPr/>
        </p:nvGrpSpPr>
        <p:grpSpPr>
          <a:xfrm>
            <a:off x="464796" y="3477369"/>
            <a:ext cx="346589" cy="412190"/>
            <a:chOff x="0" y="-47625"/>
            <a:chExt cx="1024200" cy="1218057"/>
          </a:xfrm>
        </p:grpSpPr>
        <p:sp>
          <p:nvSpPr>
            <p:cNvPr id="59" name="Google Shape;5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838671" y="3471251"/>
            <a:ext cx="27935" cy="440512"/>
            <a:chOff x="0" y="0"/>
            <a:chExt cx="82550" cy="1301750"/>
          </a:xfrm>
        </p:grpSpPr>
        <p:sp>
          <p:nvSpPr>
            <p:cNvPr id="62" name="Google Shape;6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2"/>
          <p:cNvGrpSpPr/>
          <p:nvPr/>
        </p:nvGrpSpPr>
        <p:grpSpPr>
          <a:xfrm>
            <a:off x="959934" y="3477370"/>
            <a:ext cx="2970577" cy="412208"/>
            <a:chOff x="0" y="-38100"/>
            <a:chExt cx="8778300" cy="769620"/>
          </a:xfrm>
        </p:grpSpPr>
        <p:sp>
          <p:nvSpPr>
            <p:cNvPr id="65" name="Google Shape;6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05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UART TX FSM  (rtl/uart_tx.v)</a:t>
              </a:r>
              <a:endParaRPr sz="1083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365768" y="4095903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2"/>
          <p:cNvGrpSpPr/>
          <p:nvPr/>
        </p:nvGrpSpPr>
        <p:grpSpPr>
          <a:xfrm>
            <a:off x="464796" y="4178815"/>
            <a:ext cx="346589" cy="412190"/>
            <a:chOff x="0" y="-47625"/>
            <a:chExt cx="1024200" cy="1218057"/>
          </a:xfrm>
        </p:grpSpPr>
        <p:sp>
          <p:nvSpPr>
            <p:cNvPr id="69" name="Google Shape;6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2"/>
          <p:cNvGrpSpPr/>
          <p:nvPr/>
        </p:nvGrpSpPr>
        <p:grpSpPr>
          <a:xfrm>
            <a:off x="838671" y="4172697"/>
            <a:ext cx="27935" cy="440512"/>
            <a:chOff x="0" y="0"/>
            <a:chExt cx="82550" cy="1301750"/>
          </a:xfrm>
        </p:grpSpPr>
        <p:sp>
          <p:nvSpPr>
            <p:cNvPr id="72" name="Google Shape;7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959934" y="4178818"/>
            <a:ext cx="2970577" cy="412208"/>
            <a:chOff x="0" y="-38100"/>
            <a:chExt cx="8778300" cy="769620"/>
          </a:xfrm>
        </p:grpSpPr>
        <p:sp>
          <p:nvSpPr>
            <p:cNvPr id="75" name="Google Shape;7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05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UART RX FSM  (rtl/uart_rx.v)</a:t>
              </a:r>
              <a:endParaRPr sz="1300" b="1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2"/>
          <p:cNvSpPr/>
          <p:nvPr/>
        </p:nvSpPr>
        <p:spPr>
          <a:xfrm>
            <a:off x="4326866" y="1290120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4425893" y="1373031"/>
            <a:ext cx="346589" cy="412190"/>
            <a:chOff x="0" y="-47625"/>
            <a:chExt cx="1024200" cy="1218057"/>
          </a:xfrm>
        </p:grpSpPr>
        <p:sp>
          <p:nvSpPr>
            <p:cNvPr id="79" name="Google Shape;7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4799769" y="1366913"/>
            <a:ext cx="27935" cy="440512"/>
            <a:chOff x="0" y="0"/>
            <a:chExt cx="82550" cy="1301750"/>
          </a:xfrm>
        </p:grpSpPr>
        <p:sp>
          <p:nvSpPr>
            <p:cNvPr id="82" name="Google Shape;8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4921036" y="1366904"/>
            <a:ext cx="2970577" cy="412208"/>
            <a:chOff x="0" y="-38100"/>
            <a:chExt cx="8778300" cy="769620"/>
          </a:xfrm>
        </p:grpSpPr>
        <p:sp>
          <p:nvSpPr>
            <p:cNvPr id="85" name="Google Shape;8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050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Baud Rate &amp; Project Configuration</a:t>
              </a:r>
              <a:endParaRPr sz="1083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2"/>
          <p:cNvSpPr/>
          <p:nvPr/>
        </p:nvSpPr>
        <p:spPr>
          <a:xfrm>
            <a:off x="4326866" y="1991566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2"/>
          <p:cNvGrpSpPr/>
          <p:nvPr/>
        </p:nvGrpSpPr>
        <p:grpSpPr>
          <a:xfrm>
            <a:off x="4425893" y="2074477"/>
            <a:ext cx="346589" cy="412190"/>
            <a:chOff x="0" y="-47625"/>
            <a:chExt cx="1024200" cy="1218057"/>
          </a:xfrm>
        </p:grpSpPr>
        <p:sp>
          <p:nvSpPr>
            <p:cNvPr id="89" name="Google Shape;8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2"/>
          <p:cNvGrpSpPr/>
          <p:nvPr/>
        </p:nvGrpSpPr>
        <p:grpSpPr>
          <a:xfrm>
            <a:off x="4799769" y="2068359"/>
            <a:ext cx="27935" cy="440512"/>
            <a:chOff x="0" y="0"/>
            <a:chExt cx="82550" cy="1301750"/>
          </a:xfrm>
        </p:grpSpPr>
        <p:sp>
          <p:nvSpPr>
            <p:cNvPr id="92" name="Google Shape;9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2"/>
          <p:cNvGrpSpPr/>
          <p:nvPr/>
        </p:nvGrpSpPr>
        <p:grpSpPr>
          <a:xfrm>
            <a:off x="4921036" y="2074474"/>
            <a:ext cx="2970577" cy="412208"/>
            <a:chOff x="0" y="-38100"/>
            <a:chExt cx="8778300" cy="76962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083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Lab Command</a:t>
              </a:r>
              <a:endParaRPr sz="1083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4326866" y="2693012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4425893" y="2775923"/>
            <a:ext cx="346589" cy="412190"/>
            <a:chOff x="0" y="-47625"/>
            <a:chExt cx="1024200" cy="1218057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4799769" y="2769805"/>
            <a:ext cx="27935" cy="440512"/>
            <a:chOff x="0" y="0"/>
            <a:chExt cx="82550" cy="1301750"/>
          </a:xfrm>
        </p:grpSpPr>
        <p:sp>
          <p:nvSpPr>
            <p:cNvPr id="102" name="Google Shape;10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21036" y="2775917"/>
            <a:ext cx="2970577" cy="412208"/>
            <a:chOff x="0" y="-38100"/>
            <a:chExt cx="8778300" cy="76962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083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Waveform Debug</a:t>
              </a:r>
              <a:endParaRPr sz="1083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4326866" y="3394457"/>
            <a:ext cx="3785616" cy="592531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1250" tIns="20625" rIns="41250" bIns="20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endParaRPr sz="81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4425893" y="3477369"/>
            <a:ext cx="346589" cy="412190"/>
            <a:chOff x="0" y="-47625"/>
            <a:chExt cx="1024200" cy="1218057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3"/>
                <a:buFont typeface="Arial"/>
                <a:buNone/>
              </a:pPr>
              <a:r>
                <a:rPr lang="en-US" sz="126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09</a:t>
              </a:r>
              <a:endParaRPr sz="6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4799769" y="3471251"/>
            <a:ext cx="27935" cy="440512"/>
            <a:chOff x="0" y="0"/>
            <a:chExt cx="82550" cy="1301750"/>
          </a:xfrm>
        </p:grpSpPr>
        <p:sp>
          <p:nvSpPr>
            <p:cNvPr id="112" name="Google Shape;112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4921036" y="3477359"/>
            <a:ext cx="2970577" cy="412224"/>
            <a:chOff x="0" y="0"/>
            <a:chExt cx="8778300" cy="1341001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1250" tIns="20625" rIns="41250" bIns="20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2"/>
                <a:buFont typeface="Arial"/>
                <a:buNone/>
              </a:pPr>
              <a:endParaRPr sz="81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1"/>
              <a:ext cx="8778300" cy="134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083" b="0" i="0" u="none" strike="noStrike" cap="none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Real-World Applications</a:t>
              </a:r>
              <a:endParaRPr sz="1083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65770" y="645925"/>
            <a:ext cx="82296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 is UART?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65770" y="1208460"/>
            <a:ext cx="8412600" cy="809100"/>
          </a:xfrm>
          <a:prstGeom prst="rect">
            <a:avLst/>
          </a:prstGeom>
          <a:solidFill>
            <a:srgbClr val="D6E4F0"/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48650" y="1239284"/>
            <a:ext cx="81381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UART (Universal Asynchronous Receiver-Transmitter) is one of the oldest and most widely used serial communication protocols. It transmits data bit-by-bit over a single wire per direction, without a shared clock signal — making it simple, low-cost, and universally supported.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50" y="2156293"/>
            <a:ext cx="2030100" cy="323700"/>
          </a:xfrm>
          <a:prstGeom prst="rect">
            <a:avLst/>
          </a:prstGeom>
          <a:solidFill>
            <a:srgbClr val="1A5276"/>
          </a:solidFill>
          <a:ln w="1270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0050" y="2156293"/>
            <a:ext cx="2030100" cy="323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Developed By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20050" y="2479944"/>
            <a:ext cx="2030100" cy="20808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93202" y="2541591"/>
            <a:ext cx="1883700" cy="19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Originally from the 1960s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Popularised with RS-232 standard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Standardised across all MCUs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496317" y="2156293"/>
            <a:ext cx="2030100" cy="323700"/>
          </a:xfrm>
          <a:prstGeom prst="rect">
            <a:avLst/>
          </a:prstGeom>
          <a:solidFill>
            <a:srgbClr val="D4580A"/>
          </a:solidFill>
          <a:ln w="12700" cap="flat" cmpd="sng">
            <a:solidFill>
              <a:srgbClr val="D458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496317" y="2156293"/>
            <a:ext cx="2030100" cy="323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Signal Type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496317" y="2479944"/>
            <a:ext cx="2030100" cy="20808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569469" y="2541591"/>
            <a:ext cx="1883700" cy="19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Asynchronous — no clock 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TX &amp; RX lines only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Full-duplex capable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672585" y="2156293"/>
            <a:ext cx="2030100" cy="323700"/>
          </a:xfrm>
          <a:prstGeom prst="rect">
            <a:avLst/>
          </a:prstGeom>
          <a:solidFill>
            <a:srgbClr val="4A7A2A"/>
          </a:solidFill>
          <a:ln w="12700" cap="flat" cmpd="sng">
            <a:solidFill>
              <a:srgbClr val="4A7A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72585" y="2156293"/>
            <a:ext cx="2030100" cy="323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Format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72585" y="2479944"/>
            <a:ext cx="2030100" cy="20808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45737" y="2541591"/>
            <a:ext cx="1883700" cy="19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Start bit + 5-9 data bits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Optional parity bit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1 or 2 stop bits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848852" y="2156293"/>
            <a:ext cx="2030100" cy="323700"/>
          </a:xfrm>
          <a:prstGeom prst="rect">
            <a:avLst/>
          </a:prstGeom>
          <a:solidFill>
            <a:srgbClr val="0E7C7B"/>
          </a:solidFill>
          <a:ln w="12700" cap="flat" cmpd="sng">
            <a:solidFill>
              <a:srgbClr val="0E7C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848852" y="2156293"/>
            <a:ext cx="2030100" cy="323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848852" y="2479944"/>
            <a:ext cx="2030100" cy="20808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922004" y="2541591"/>
            <a:ext cx="1883700" cy="19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Debug consoles &amp; logging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GPS, GSM, BT modules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MCU-to-MCU links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365770" y="656800"/>
            <a:ext cx="8229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How UART Works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65770" y="1194395"/>
            <a:ext cx="8412600" cy="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UART uses two wires — TX (transmit) and RX (receive). Each side sends and receives independently, with no shared clock. Both devices must agree on the same baud rate.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50" y="1731990"/>
            <a:ext cx="63900" cy="537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93202" y="1699408"/>
            <a:ext cx="8385000" cy="602700"/>
          </a:xfrm>
          <a:prstGeom prst="rect">
            <a:avLst/>
          </a:prstGeom>
          <a:solidFill>
            <a:srgbClr val="E7E6E6">
              <a:alpha val="65098"/>
            </a:srgbClr>
          </a:solidFill>
          <a:ln w="12700" cap="flat" cmpd="sng">
            <a:solidFill>
              <a:srgbClr val="EDEF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02930" y="1731990"/>
            <a:ext cx="21030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1  Idle State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651771" y="1731990"/>
            <a:ext cx="6035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The TX line sits HIGH (logic 1) when no data is being sent. Both devices wait at idle — this is the resting voltage.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20050" y="2383620"/>
            <a:ext cx="63900" cy="537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93202" y="2351039"/>
            <a:ext cx="8385000" cy="602700"/>
          </a:xfrm>
          <a:prstGeom prst="rect">
            <a:avLst/>
          </a:prstGeom>
          <a:solidFill>
            <a:srgbClr val="E7E6E6">
              <a:alpha val="65098"/>
            </a:srgbClr>
          </a:solidFill>
          <a:ln w="12700" cap="flat" cmpd="sng">
            <a:solidFill>
              <a:srgbClr val="EDEF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02930" y="2383620"/>
            <a:ext cx="21030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2  Start Bit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651771" y="2383620"/>
            <a:ext cx="6035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Sender pulls TX LOW (logic 0) for exactly one bit period. This signals the receiver: 'data is coming — start your clock!'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0050" y="3035250"/>
            <a:ext cx="63900" cy="537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93202" y="3002669"/>
            <a:ext cx="8385000" cy="602700"/>
          </a:xfrm>
          <a:prstGeom prst="rect">
            <a:avLst/>
          </a:prstGeom>
          <a:solidFill>
            <a:srgbClr val="E7E6E6">
              <a:alpha val="65098"/>
            </a:srgbClr>
          </a:solidFill>
          <a:ln w="12700" cap="flat" cmpd="sng">
            <a:solidFill>
              <a:srgbClr val="EDEF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02930" y="3035250"/>
            <a:ext cx="21030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3  Data Bits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651771" y="3035250"/>
            <a:ext cx="6035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5–9 data bits are sent LSB-first. Each bit lasts exactly 1/baud-rate seconds. Receiver samples mid-bit for accuracy.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0050" y="3686880"/>
            <a:ext cx="63900" cy="537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93202" y="3654299"/>
            <a:ext cx="8385000" cy="602700"/>
          </a:xfrm>
          <a:prstGeom prst="rect">
            <a:avLst/>
          </a:prstGeom>
          <a:solidFill>
            <a:srgbClr val="E7E6E6">
              <a:alpha val="65098"/>
            </a:srgbClr>
          </a:solidFill>
          <a:ln w="12700" cap="flat" cmpd="sng">
            <a:solidFill>
              <a:srgbClr val="EDEF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2930" y="3686880"/>
            <a:ext cx="21030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4  Parity Bit (optional)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651771" y="3686880"/>
            <a:ext cx="6035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An optional error-detection bit. Even parity: total 1s are even. Odd parity: total 1s are odd. Can be omitted (None).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20050" y="4338511"/>
            <a:ext cx="63900" cy="537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93202" y="4305929"/>
            <a:ext cx="8385000" cy="602700"/>
          </a:xfrm>
          <a:prstGeom prst="rect">
            <a:avLst/>
          </a:prstGeom>
          <a:solidFill>
            <a:srgbClr val="E7E6E6">
              <a:alpha val="65098"/>
            </a:srgbClr>
          </a:solidFill>
          <a:ln w="12700" cap="flat" cmpd="sng">
            <a:solidFill>
              <a:srgbClr val="EDEF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02930" y="4338511"/>
            <a:ext cx="21030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5  Stop Bit(s)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651771" y="4338511"/>
            <a:ext cx="6035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TX returns HIGH for 1 or 2 bit periods. Signals end of frame and gives receiver time to prepare for the next byte.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365765" y="635050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UART Frame Structure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65765" y="1181623"/>
            <a:ext cx="84126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 single UART frame (byte transmission) consists of: Start → Data → Parity → Stop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47475" y="1537725"/>
            <a:ext cx="810900" cy="745200"/>
          </a:xfrm>
          <a:prstGeom prst="rect">
            <a:avLst/>
          </a:prstGeom>
          <a:solidFill>
            <a:srgbClr val="A4C2F4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7475" y="1554288"/>
            <a:ext cx="810900" cy="4305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47475" y="1984921"/>
            <a:ext cx="810900" cy="2817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167350" y="1537725"/>
            <a:ext cx="900900" cy="745200"/>
          </a:xfrm>
          <a:prstGeom prst="rect">
            <a:avLst/>
          </a:prstGeom>
          <a:solidFill>
            <a:srgbClr val="1C4587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167350" y="1554288"/>
            <a:ext cx="900900" cy="4305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167350" y="1984921"/>
            <a:ext cx="900900" cy="2817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LOW (0)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077320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077320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077320" y="1984921"/>
            <a:ext cx="648900" cy="281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LSB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735021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735021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392723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392723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050424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050424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708126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708126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365827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365827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023529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023529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681231" y="1537725"/>
            <a:ext cx="648900" cy="745200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681231" y="1554288"/>
            <a:ext cx="648900" cy="43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681231" y="1984921"/>
            <a:ext cx="648900" cy="2817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338932" y="1537725"/>
            <a:ext cx="675600" cy="745200"/>
          </a:xfrm>
          <a:prstGeom prst="rect">
            <a:avLst/>
          </a:prstGeom>
          <a:solidFill>
            <a:srgbClr val="0E7C7B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338932" y="1554288"/>
            <a:ext cx="6756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338932" y="1984921"/>
            <a:ext cx="6756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OPT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023662" y="1537725"/>
            <a:ext cx="900900" cy="745200"/>
          </a:xfrm>
          <a:prstGeom prst="rect">
            <a:avLst/>
          </a:prstGeom>
          <a:solidFill>
            <a:srgbClr val="4A7A2A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023662" y="1554288"/>
            <a:ext cx="9009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023662" y="1984921"/>
            <a:ext cx="9009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HIGH (1)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74325" y="2647433"/>
            <a:ext cx="2057400" cy="331200"/>
          </a:xfrm>
          <a:prstGeom prst="rect">
            <a:avLst/>
          </a:prstGeom>
          <a:solidFill>
            <a:srgbClr val="1C4587"/>
          </a:solidFill>
          <a:ln w="12700" cap="flat" cmpd="sng">
            <a:solidFill>
              <a:srgbClr val="D458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74325" y="2647433"/>
            <a:ext cx="2057400" cy="3312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Bit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274325" y="2978700"/>
            <a:ext cx="2057400" cy="11433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7477" y="3004684"/>
            <a:ext cx="1920300" cy="10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Always logic LOW. Triggers receiver to begin sampling. Duration = 1 / baud rate.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450594" y="2647433"/>
            <a:ext cx="2057400" cy="331200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450594" y="2647433"/>
            <a:ext cx="2057400" cy="331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Bits (5–9)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450592" y="2978700"/>
            <a:ext cx="2057400" cy="11433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523744" y="3004684"/>
            <a:ext cx="1920300" cy="10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Payload bits sent LSB first. Standard UART uses 8 bits (one full byte). Receiver samples mid-bit.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626863" y="2647433"/>
            <a:ext cx="2057400" cy="331200"/>
          </a:xfrm>
          <a:prstGeom prst="rect">
            <a:avLst/>
          </a:prstGeom>
          <a:solidFill>
            <a:srgbClr val="0E7C7B"/>
          </a:solidFill>
          <a:ln w="12700" cap="flat" cmpd="sng">
            <a:solidFill>
              <a:srgbClr val="0E7C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626863" y="2647433"/>
            <a:ext cx="20574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Parity Bit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626859" y="2978700"/>
            <a:ext cx="2057400" cy="11433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700010" y="3004684"/>
            <a:ext cx="1920300" cy="10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Optional single-bit error check. Even, Odd, or None (most common). Cannot correct errors, only detect.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803131" y="2647433"/>
            <a:ext cx="2057400" cy="331200"/>
          </a:xfrm>
          <a:prstGeom prst="rect">
            <a:avLst/>
          </a:prstGeom>
          <a:solidFill>
            <a:srgbClr val="4A7A2A"/>
          </a:solidFill>
          <a:ln w="12700" cap="flat" cmpd="sng">
            <a:solidFill>
              <a:srgbClr val="4A7A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803131" y="2647433"/>
            <a:ext cx="20574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 Bit(s)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803125" y="2978700"/>
            <a:ext cx="2057400" cy="1143300"/>
          </a:xfrm>
          <a:prstGeom prst="rect">
            <a:avLst/>
          </a:prstGeom>
          <a:solidFill>
            <a:srgbClr val="D6E4F0">
              <a:alpha val="70196"/>
            </a:srgbClr>
          </a:solidFill>
          <a:ln w="12700" cap="flat" cmpd="sng">
            <a:solidFill>
              <a:srgbClr val="D6E4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876277" y="3004684"/>
            <a:ext cx="1920300" cy="10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1 or 2 bits at logic HIGH. Marks end of frame. Gives receiver time to reset before next start bit.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99700" y="4514175"/>
            <a:ext cx="8660700" cy="430500"/>
          </a:xfrm>
          <a:prstGeom prst="rect">
            <a:avLst/>
          </a:prstGeom>
          <a:solidFill>
            <a:srgbClr val="ECF3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199692" y="4568004"/>
            <a:ext cx="8744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Example:  'H' = 0x48 = 0100_1000  →  TX: 0  0 0 0 1 0 0 1 0  1   (Start | D0→D7 LSB-first | Stop)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523aa13488e8b86_4"/>
          <p:cNvSpPr txBox="1"/>
          <p:nvPr/>
        </p:nvSpPr>
        <p:spPr>
          <a:xfrm>
            <a:off x="274375" y="570500"/>
            <a:ext cx="750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UART TX FSM — rtl/uart_tx.v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229" name="Google Shape;229;g6523aa13488e8b86_4"/>
          <p:cNvSpPr/>
          <p:nvPr/>
        </p:nvSpPr>
        <p:spPr>
          <a:xfrm>
            <a:off x="360425" y="1378250"/>
            <a:ext cx="1915800" cy="4692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6523aa13488e8b86_4"/>
          <p:cNvSpPr txBox="1"/>
          <p:nvPr/>
        </p:nvSpPr>
        <p:spPr>
          <a:xfrm>
            <a:off x="427640" y="1428309"/>
            <a:ext cx="17811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b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2'b00</a:t>
            </a:r>
            <a:endParaRPr sz="1050"/>
          </a:p>
        </p:txBody>
      </p:sp>
      <p:sp>
        <p:nvSpPr>
          <p:cNvPr id="231" name="Google Shape;231;g6523aa13488e8b86_4"/>
          <p:cNvSpPr/>
          <p:nvPr/>
        </p:nvSpPr>
        <p:spPr>
          <a:xfrm>
            <a:off x="360425" y="1847554"/>
            <a:ext cx="1915800" cy="7512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6523aa13488e8b86_4"/>
          <p:cNvSpPr txBox="1"/>
          <p:nvPr/>
        </p:nvSpPr>
        <p:spPr>
          <a:xfrm>
            <a:off x="441084" y="1891356"/>
            <a:ext cx="1781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tx = 1 (HIGH)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 for valid=1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Load shift_reg</a:t>
            </a:r>
            <a:endParaRPr sz="1000"/>
          </a:p>
        </p:txBody>
      </p:sp>
      <p:sp>
        <p:nvSpPr>
          <p:cNvPr id="233" name="Google Shape;233;g6523aa13488e8b86_4"/>
          <p:cNvSpPr/>
          <p:nvPr/>
        </p:nvSpPr>
        <p:spPr>
          <a:xfrm>
            <a:off x="2511327" y="1378250"/>
            <a:ext cx="1915800" cy="4692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6523aa13488e8b86_4"/>
          <p:cNvSpPr txBox="1"/>
          <p:nvPr/>
        </p:nvSpPr>
        <p:spPr>
          <a:xfrm>
            <a:off x="2578543" y="1428309"/>
            <a:ext cx="17811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b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2'b01</a:t>
            </a:r>
            <a:endParaRPr sz="1050"/>
          </a:p>
        </p:txBody>
      </p:sp>
      <p:sp>
        <p:nvSpPr>
          <p:cNvPr id="235" name="Google Shape;235;g6523aa13488e8b86_4"/>
          <p:cNvSpPr/>
          <p:nvPr/>
        </p:nvSpPr>
        <p:spPr>
          <a:xfrm>
            <a:off x="2511327" y="1847554"/>
            <a:ext cx="1915800" cy="7512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6523aa13488e8b86_4"/>
          <p:cNvSpPr txBox="1"/>
          <p:nvPr/>
        </p:nvSpPr>
        <p:spPr>
          <a:xfrm>
            <a:off x="2591986" y="1891356"/>
            <a:ext cx="1781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tx = 0 (start bit)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Count 434 cycles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then → DATA</a:t>
            </a:r>
            <a:endParaRPr sz="1000"/>
          </a:p>
        </p:txBody>
      </p:sp>
      <p:sp>
        <p:nvSpPr>
          <p:cNvPr id="237" name="Google Shape;237;g6523aa13488e8b86_4"/>
          <p:cNvSpPr/>
          <p:nvPr/>
        </p:nvSpPr>
        <p:spPr>
          <a:xfrm>
            <a:off x="4662230" y="1378250"/>
            <a:ext cx="1915800" cy="4692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6523aa13488e8b86_4"/>
          <p:cNvSpPr txBox="1"/>
          <p:nvPr/>
        </p:nvSpPr>
        <p:spPr>
          <a:xfrm>
            <a:off x="4729445" y="1428309"/>
            <a:ext cx="17811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b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2'b10</a:t>
            </a:r>
            <a:endParaRPr sz="1050"/>
          </a:p>
        </p:txBody>
      </p:sp>
      <p:sp>
        <p:nvSpPr>
          <p:cNvPr id="239" name="Google Shape;239;g6523aa13488e8b86_4"/>
          <p:cNvSpPr/>
          <p:nvPr/>
        </p:nvSpPr>
        <p:spPr>
          <a:xfrm>
            <a:off x="4662230" y="1847554"/>
            <a:ext cx="1915800" cy="7512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6523aa13488e8b86_4"/>
          <p:cNvSpPr txBox="1"/>
          <p:nvPr/>
        </p:nvSpPr>
        <p:spPr>
          <a:xfrm>
            <a:off x="4742888" y="1891356"/>
            <a:ext cx="1781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tx = shift_reg[0]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Shift right each bit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bit_cnt 0→7 (×8)</a:t>
            </a:r>
            <a:endParaRPr sz="1000"/>
          </a:p>
        </p:txBody>
      </p:sp>
      <p:sp>
        <p:nvSpPr>
          <p:cNvPr id="241" name="Google Shape;241;g6523aa13488e8b86_4"/>
          <p:cNvSpPr/>
          <p:nvPr/>
        </p:nvSpPr>
        <p:spPr>
          <a:xfrm>
            <a:off x="6813132" y="1378250"/>
            <a:ext cx="1915800" cy="4692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6523aa13488e8b86_4"/>
          <p:cNvSpPr txBox="1"/>
          <p:nvPr/>
        </p:nvSpPr>
        <p:spPr>
          <a:xfrm>
            <a:off x="6880347" y="1428309"/>
            <a:ext cx="17811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b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2'b11</a:t>
            </a:r>
            <a:endParaRPr sz="1050"/>
          </a:p>
        </p:txBody>
      </p:sp>
      <p:sp>
        <p:nvSpPr>
          <p:cNvPr id="243" name="Google Shape;243;g6523aa13488e8b86_4"/>
          <p:cNvSpPr/>
          <p:nvPr/>
        </p:nvSpPr>
        <p:spPr>
          <a:xfrm>
            <a:off x="6813132" y="1847554"/>
            <a:ext cx="1915800" cy="7512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6523aa13488e8b86_4"/>
          <p:cNvSpPr txBox="1"/>
          <p:nvPr/>
        </p:nvSpPr>
        <p:spPr>
          <a:xfrm>
            <a:off x="6893790" y="1891356"/>
            <a:ext cx="1781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tx = 1 (stop bit)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Count 434 cycles</a:t>
            </a:r>
            <a:b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then → IDLE</a:t>
            </a:r>
            <a:endParaRPr sz="1000"/>
          </a:p>
        </p:txBody>
      </p:sp>
      <p:sp>
        <p:nvSpPr>
          <p:cNvPr id="245" name="Google Shape;245;g6523aa13488e8b86_4"/>
          <p:cNvSpPr/>
          <p:nvPr/>
        </p:nvSpPr>
        <p:spPr>
          <a:xfrm>
            <a:off x="2276072" y="1578486"/>
            <a:ext cx="235200" cy="498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6523aa13488e8b86_4"/>
          <p:cNvSpPr txBox="1"/>
          <p:nvPr/>
        </p:nvSpPr>
        <p:spPr>
          <a:xfrm>
            <a:off x="2276072" y="1515913"/>
            <a:ext cx="235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247" name="Google Shape;247;g6523aa13488e8b86_4"/>
          <p:cNvSpPr/>
          <p:nvPr/>
        </p:nvSpPr>
        <p:spPr>
          <a:xfrm>
            <a:off x="4426975" y="1578486"/>
            <a:ext cx="235200" cy="498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6523aa13488e8b86_4"/>
          <p:cNvSpPr txBox="1"/>
          <p:nvPr/>
        </p:nvSpPr>
        <p:spPr>
          <a:xfrm>
            <a:off x="4426975" y="1515913"/>
            <a:ext cx="235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249" name="Google Shape;249;g6523aa13488e8b86_4"/>
          <p:cNvSpPr/>
          <p:nvPr/>
        </p:nvSpPr>
        <p:spPr>
          <a:xfrm>
            <a:off x="6577877" y="1578486"/>
            <a:ext cx="235200" cy="498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6523aa13488e8b86_4"/>
          <p:cNvSpPr txBox="1"/>
          <p:nvPr/>
        </p:nvSpPr>
        <p:spPr>
          <a:xfrm>
            <a:off x="6577877" y="1515913"/>
            <a:ext cx="235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251" name="Google Shape;251;g6523aa13488e8b86_4"/>
          <p:cNvSpPr/>
          <p:nvPr/>
        </p:nvSpPr>
        <p:spPr>
          <a:xfrm>
            <a:off x="360327" y="2979425"/>
            <a:ext cx="8368500" cy="498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6523aa13488e8b86_4"/>
          <p:cNvSpPr txBox="1"/>
          <p:nvPr/>
        </p:nvSpPr>
        <p:spPr>
          <a:xfrm>
            <a:off x="2934234" y="3045803"/>
            <a:ext cx="34299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1" u="none" strike="noStrike" cap="none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← STOP → IDLE  (after 434 cycles)</a:t>
            </a:r>
            <a:endParaRPr sz="1050"/>
          </a:p>
        </p:txBody>
      </p:sp>
      <p:sp>
        <p:nvSpPr>
          <p:cNvPr id="253" name="Google Shape;253;g6523aa13488e8b86_4"/>
          <p:cNvSpPr/>
          <p:nvPr/>
        </p:nvSpPr>
        <p:spPr>
          <a:xfrm>
            <a:off x="322400" y="3409900"/>
            <a:ext cx="8478300" cy="1553100"/>
          </a:xfrm>
          <a:prstGeom prst="rect">
            <a:avLst/>
          </a:prstGeom>
          <a:solidFill>
            <a:srgbClr val="ECF3FF"/>
          </a:solidFill>
          <a:ln>
            <a:noFill/>
          </a:ln>
          <a:effectLst>
            <a:outerShdw blurRad="30007" dist="1725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600" tIns="34275" rIns="6860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6523aa13488e8b86_4"/>
          <p:cNvSpPr txBox="1"/>
          <p:nvPr/>
        </p:nvSpPr>
        <p:spPr>
          <a:xfrm>
            <a:off x="322400" y="3507749"/>
            <a:ext cx="8478300" cy="14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34275" rIns="6860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0" i="0" u="none" strike="noStrike" cap="none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Ports: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clk, reset          — system clock &amp; active-high reset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data[7:0]           — byte to transmit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valid               — pulse: assert HIGH for 1 cycle when data is ready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ready               — HIGH when TX is in IDLE (accepting new byte)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tx                  — serial output line (connect to RX pin of receiver)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88">
              <a:solidFill>
                <a:srgbClr val="1A3A6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Key Registers: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shift_reg[7:0]      — loaded from data; right-shifted each bit-period; bit[0] → tx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clk_cnt[9:0]        — baud counter: counts 0 → 433 (= CLKS_PER_BIT − 1)</a:t>
            </a:r>
            <a:endParaRPr sz="10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bit_cnt[2:0]        — data bit counter: counts 0 → 7 in DATA state</a:t>
            </a:r>
            <a:endParaRPr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523aa13488e8b86_8"/>
          <p:cNvSpPr txBox="1"/>
          <p:nvPr/>
        </p:nvSpPr>
        <p:spPr>
          <a:xfrm>
            <a:off x="322169" y="553305"/>
            <a:ext cx="773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UART RX FSM — rtl/uart_rx.v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g6523aa13488e8b86_8"/>
          <p:cNvSpPr/>
          <p:nvPr/>
        </p:nvSpPr>
        <p:spPr>
          <a:xfrm>
            <a:off x="424350" y="1226000"/>
            <a:ext cx="3464700" cy="2550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6523aa13488e8b86_8"/>
          <p:cNvSpPr txBox="1"/>
          <p:nvPr/>
        </p:nvSpPr>
        <p:spPr>
          <a:xfrm>
            <a:off x="486227" y="1237858"/>
            <a:ext cx="3340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2-FF Synchronizer — Why It Exists</a:t>
            </a:r>
            <a:endParaRPr/>
          </a:p>
        </p:txBody>
      </p:sp>
      <p:sp>
        <p:nvSpPr>
          <p:cNvPr id="263" name="Google Shape;263;g6523aa13488e8b86_8"/>
          <p:cNvSpPr/>
          <p:nvPr/>
        </p:nvSpPr>
        <p:spPr>
          <a:xfrm>
            <a:off x="415200" y="1481002"/>
            <a:ext cx="3464700" cy="16161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6523aa13488e8b86_8"/>
          <p:cNvSpPr txBox="1"/>
          <p:nvPr/>
        </p:nvSpPr>
        <p:spPr>
          <a:xfrm>
            <a:off x="504787" y="1504654"/>
            <a:ext cx="33099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External rx arrives asynchronously — its edges may not align to our 50 MHz clock.</a:t>
            </a:r>
            <a:b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Capturing such a signal directly risks metastability: the flip-flop may output</a:t>
            </a:r>
            <a:b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 undefined voltage for an unknown duration.</a:t>
            </a:r>
            <a:b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Fix: 2-stage flip-flop chain:</a:t>
            </a:r>
            <a:b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rx  →  rx_sync0  →  rx_sync1  →  rx_s  (safe, clock-domain-crossed)</a:t>
            </a:r>
            <a:endParaRPr/>
          </a:p>
        </p:txBody>
      </p:sp>
      <p:sp>
        <p:nvSpPr>
          <p:cNvPr id="265" name="Google Shape;265;g6523aa13488e8b86_8"/>
          <p:cNvSpPr/>
          <p:nvPr/>
        </p:nvSpPr>
        <p:spPr>
          <a:xfrm>
            <a:off x="4043600" y="1226000"/>
            <a:ext cx="1924200" cy="315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6523aa13488e8b86_8"/>
          <p:cNvSpPr txBox="1"/>
          <p:nvPr/>
        </p:nvSpPr>
        <p:spPr>
          <a:xfrm>
            <a:off x="4084539" y="1278473"/>
            <a:ext cx="184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/>
          </a:p>
        </p:txBody>
      </p:sp>
      <p:sp>
        <p:nvSpPr>
          <p:cNvPr id="267" name="Google Shape;267;g6523aa13488e8b86_8"/>
          <p:cNvSpPr/>
          <p:nvPr/>
        </p:nvSpPr>
        <p:spPr>
          <a:xfrm>
            <a:off x="4043600" y="1540841"/>
            <a:ext cx="1924200" cy="839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6523aa13488e8b86_8"/>
          <p:cNvSpPr txBox="1"/>
          <p:nvPr/>
        </p:nvSpPr>
        <p:spPr>
          <a:xfrm>
            <a:off x="4125478" y="1593314"/>
            <a:ext cx="1801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Monitor rx_s for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falling edge (start bit).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Detect 0 → goto START</a:t>
            </a:r>
            <a:endParaRPr/>
          </a:p>
        </p:txBody>
      </p:sp>
      <p:sp>
        <p:nvSpPr>
          <p:cNvPr id="269" name="Google Shape;269;g6523aa13488e8b86_8"/>
          <p:cNvSpPr/>
          <p:nvPr/>
        </p:nvSpPr>
        <p:spPr>
          <a:xfrm>
            <a:off x="6131501" y="1226000"/>
            <a:ext cx="1924200" cy="315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6523aa13488e8b86_8"/>
          <p:cNvSpPr txBox="1"/>
          <p:nvPr/>
        </p:nvSpPr>
        <p:spPr>
          <a:xfrm>
            <a:off x="6172440" y="1278473"/>
            <a:ext cx="184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/>
          </a:p>
        </p:txBody>
      </p:sp>
      <p:sp>
        <p:nvSpPr>
          <p:cNvPr id="271" name="Google Shape;271;g6523aa13488e8b86_8"/>
          <p:cNvSpPr/>
          <p:nvPr/>
        </p:nvSpPr>
        <p:spPr>
          <a:xfrm>
            <a:off x="6131501" y="1540841"/>
            <a:ext cx="1924200" cy="839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6523aa13488e8b86_8"/>
          <p:cNvSpPr txBox="1"/>
          <p:nvPr/>
        </p:nvSpPr>
        <p:spPr>
          <a:xfrm>
            <a:off x="6213379" y="1593314"/>
            <a:ext cx="1801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 217 cycles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(half-bit) then sample.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Still 0? → DATA. 1? → IDLE</a:t>
            </a:r>
            <a:endParaRPr/>
          </a:p>
        </p:txBody>
      </p:sp>
      <p:sp>
        <p:nvSpPr>
          <p:cNvPr id="273" name="Google Shape;273;g6523aa13488e8b86_8"/>
          <p:cNvSpPr/>
          <p:nvPr/>
        </p:nvSpPr>
        <p:spPr>
          <a:xfrm>
            <a:off x="4048175" y="2633439"/>
            <a:ext cx="1924200" cy="315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6523aa13488e8b86_8"/>
          <p:cNvSpPr txBox="1"/>
          <p:nvPr/>
        </p:nvSpPr>
        <p:spPr>
          <a:xfrm>
            <a:off x="4089114" y="2685912"/>
            <a:ext cx="184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275" name="Google Shape;275;g6523aa13488e8b86_8"/>
          <p:cNvSpPr/>
          <p:nvPr/>
        </p:nvSpPr>
        <p:spPr>
          <a:xfrm>
            <a:off x="4048175" y="2948279"/>
            <a:ext cx="1924200" cy="839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6523aa13488e8b86_8"/>
          <p:cNvSpPr txBox="1"/>
          <p:nvPr/>
        </p:nvSpPr>
        <p:spPr>
          <a:xfrm>
            <a:off x="4130053" y="3000753"/>
            <a:ext cx="1801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Sample rx_s at mid-bit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every 434 cycles (×8).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shift_reg ← {rx_s, [7:1]}</a:t>
            </a:r>
            <a:endParaRPr/>
          </a:p>
        </p:txBody>
      </p:sp>
      <p:sp>
        <p:nvSpPr>
          <p:cNvPr id="277" name="Google Shape;277;g6523aa13488e8b86_8"/>
          <p:cNvSpPr/>
          <p:nvPr/>
        </p:nvSpPr>
        <p:spPr>
          <a:xfrm>
            <a:off x="6131501" y="2633439"/>
            <a:ext cx="1924200" cy="315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6523aa13488e8b86_8"/>
          <p:cNvSpPr txBox="1"/>
          <p:nvPr/>
        </p:nvSpPr>
        <p:spPr>
          <a:xfrm>
            <a:off x="6172440" y="2685912"/>
            <a:ext cx="184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/>
          </a:p>
        </p:txBody>
      </p:sp>
      <p:sp>
        <p:nvSpPr>
          <p:cNvPr id="279" name="Google Shape;279;g6523aa13488e8b86_8"/>
          <p:cNvSpPr/>
          <p:nvPr/>
        </p:nvSpPr>
        <p:spPr>
          <a:xfrm>
            <a:off x="6131501" y="2948279"/>
            <a:ext cx="1924200" cy="839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6523aa13488e8b86_8"/>
          <p:cNvSpPr txBox="1"/>
          <p:nvPr/>
        </p:nvSpPr>
        <p:spPr>
          <a:xfrm>
            <a:off x="6213379" y="3000753"/>
            <a:ext cx="1801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 434 cycles.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rx_s=1: data_out←shift_reg</a:t>
            </a:r>
            <a:b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data_valid pulses 1 cycle</a:t>
            </a:r>
            <a:endParaRPr/>
          </a:p>
        </p:txBody>
      </p:sp>
      <p:sp>
        <p:nvSpPr>
          <p:cNvPr id="281" name="Google Shape;281;g6523aa13488e8b86_8"/>
          <p:cNvSpPr txBox="1"/>
          <p:nvPr/>
        </p:nvSpPr>
        <p:spPr>
          <a:xfrm>
            <a:off x="5869604" y="1420907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2" name="Google Shape;282;g6523aa13488e8b86_8"/>
          <p:cNvSpPr txBox="1"/>
          <p:nvPr/>
        </p:nvSpPr>
        <p:spPr>
          <a:xfrm>
            <a:off x="4842133" y="2331313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83" name="Google Shape;283;g6523aa13488e8b86_8"/>
          <p:cNvSpPr txBox="1"/>
          <p:nvPr/>
        </p:nvSpPr>
        <p:spPr>
          <a:xfrm>
            <a:off x="5869604" y="2892533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/>
          </a:p>
        </p:txBody>
      </p:sp>
      <p:sp>
        <p:nvSpPr>
          <p:cNvPr id="284" name="Google Shape;284;g6523aa13488e8b86_8"/>
          <p:cNvSpPr txBox="1"/>
          <p:nvPr/>
        </p:nvSpPr>
        <p:spPr>
          <a:xfrm>
            <a:off x="7752681" y="2331313"/>
            <a:ext cx="26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/>
          </a:p>
        </p:txBody>
      </p:sp>
      <p:sp>
        <p:nvSpPr>
          <p:cNvPr id="285" name="Google Shape;285;g6523aa13488e8b86_8"/>
          <p:cNvSpPr/>
          <p:nvPr/>
        </p:nvSpPr>
        <p:spPr>
          <a:xfrm>
            <a:off x="424350" y="3893947"/>
            <a:ext cx="7795200" cy="1121400"/>
          </a:xfrm>
          <a:prstGeom prst="rect">
            <a:avLst/>
          </a:prstGeom>
          <a:solidFill>
            <a:srgbClr val="ECF3FF">
              <a:alpha val="5849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6523aa13488e8b86_8"/>
          <p:cNvSpPr txBox="1"/>
          <p:nvPr/>
        </p:nvSpPr>
        <p:spPr>
          <a:xfrm>
            <a:off x="498601" y="3953249"/>
            <a:ext cx="76467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Output:  data_out[7:0]   — received byte (valid on data_valid pulse)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       data_valid       — single-cycle HIGH pulse per successfully received byte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1A3A6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Mid-bit timing:  CLKS_HALF_BIT = CLKS_PER_BIT / 2 = 434 / 2 = 217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→ RX waits 217 cycles after detecting start bit before first sample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  → Subsequent bits sampled every 434 cycles (mid-bit of each DATA bit)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"/>
          <p:cNvSpPr txBox="1"/>
          <p:nvPr/>
        </p:nvSpPr>
        <p:spPr>
          <a:xfrm>
            <a:off x="231107" y="479654"/>
            <a:ext cx="825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Baud Rate &amp; Project Configuration</a:t>
            </a:r>
            <a:endParaRPr sz="1011">
              <a:solidFill>
                <a:schemeClr val="dk1"/>
              </a:solidFill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264207" y="861026"/>
            <a:ext cx="82566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9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MHz Clock · 115200 Baud · CLKS_PER_BIT = 434</a:t>
            </a:r>
            <a:endParaRPr sz="1011">
              <a:solidFill>
                <a:schemeClr val="dk1"/>
              </a:solidFill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231181" y="1191285"/>
            <a:ext cx="3963000" cy="1717500"/>
          </a:xfrm>
          <a:prstGeom prst="rect">
            <a:avLst/>
          </a:prstGeom>
          <a:solidFill>
            <a:srgbClr val="C9DAF8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330258" y="1244126"/>
            <a:ext cx="3765000" cy="22230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1" b="1" i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Project Calculation</a:t>
            </a:r>
            <a:endParaRPr sz="1011">
              <a:solidFill>
                <a:srgbClr val="1C4587"/>
              </a:solidFill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317048" y="1534754"/>
            <a:ext cx="37980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CLK_FREQ    =  50,000,000 Hz  (50 MHz)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BAUD_RATE   =     115,200 baud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CLKS_PER_BIT  =  50,000,000 ÷ 115,200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=  434 clock cycles / bit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CLKS_HALF_BIT =  434 ÷ 2  =  217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 bit period  =  434 × 20 ns  =  8.68 µs</a:t>
            </a:r>
            <a:b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31" b="0" i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 byte frame  =  10 bits × 8.68 µs  =  86.8 µs</a:t>
            </a:r>
            <a:endParaRPr sz="1011">
              <a:solidFill>
                <a:schemeClr val="dk1"/>
              </a:solidFill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326386" y="1191285"/>
            <a:ext cx="4227300" cy="17175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326386" y="1191285"/>
            <a:ext cx="4227300" cy="2643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4392437" y="1204495"/>
            <a:ext cx="409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7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RTL — uart_tx.v / uart_rx.v</a:t>
            </a:r>
            <a:endParaRPr sz="1011"/>
          </a:p>
        </p:txBody>
      </p:sp>
      <p:sp>
        <p:nvSpPr>
          <p:cNvPr id="300" name="Google Shape;300;p7"/>
          <p:cNvSpPr txBox="1"/>
          <p:nvPr/>
        </p:nvSpPr>
        <p:spPr>
          <a:xfrm>
            <a:off x="4412253" y="1508333"/>
            <a:ext cx="4062000" cy="12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localparam CLK_FREQ    = 50_000_000;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localparam BAUD_RATE   = 115_200;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localparam CLKS_PER_BIT = CLK_FREQ / BAUD_RATE; // 434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// In DATA state: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if (clk_cnt == CLKS_PER_BIT - 1) begin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clk_cnt &lt;= 0;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shift_reg &lt;= shift_reg &gt;&gt; 1;  // LSB first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bit_cnt   &lt;= bit_cnt + 1;</a:t>
            </a:r>
            <a:b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8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11"/>
          </a:p>
        </p:txBody>
      </p:sp>
      <p:sp>
        <p:nvSpPr>
          <p:cNvPr id="301" name="Google Shape;301;p7"/>
          <p:cNvSpPr/>
          <p:nvPr/>
        </p:nvSpPr>
        <p:spPr>
          <a:xfrm>
            <a:off x="231181" y="3007707"/>
            <a:ext cx="8322600" cy="2775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330258" y="3020917"/>
            <a:ext cx="79263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8N1 Configuration means:</a:t>
            </a:r>
            <a:endParaRPr sz="1100"/>
          </a:p>
        </p:txBody>
      </p:sp>
      <p:sp>
        <p:nvSpPr>
          <p:cNvPr id="303" name="Google Shape;303;p7"/>
          <p:cNvSpPr/>
          <p:nvPr/>
        </p:nvSpPr>
        <p:spPr>
          <a:xfrm>
            <a:off x="231181" y="3337965"/>
            <a:ext cx="462300" cy="660600"/>
          </a:xfrm>
          <a:prstGeom prst="rect">
            <a:avLst/>
          </a:prstGeom>
          <a:solidFill>
            <a:srgbClr val="3C78D8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231181" y="3404017"/>
            <a:ext cx="4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11"/>
          </a:p>
        </p:txBody>
      </p:sp>
      <p:sp>
        <p:nvSpPr>
          <p:cNvPr id="305" name="Google Shape;305;p7"/>
          <p:cNvSpPr/>
          <p:nvPr/>
        </p:nvSpPr>
        <p:spPr>
          <a:xfrm>
            <a:off x="693542" y="3337965"/>
            <a:ext cx="2311800" cy="6606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772805" y="3370991"/>
            <a:ext cx="21795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Data Bits</a:t>
            </a:r>
            <a:endParaRPr sz="1000"/>
          </a:p>
        </p:txBody>
      </p:sp>
      <p:sp>
        <p:nvSpPr>
          <p:cNvPr id="307" name="Google Shape;307;p7"/>
          <p:cNvSpPr txBox="1"/>
          <p:nvPr/>
        </p:nvSpPr>
        <p:spPr>
          <a:xfrm>
            <a:off x="772805" y="3621987"/>
            <a:ext cx="21795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uart_tx.v counts bit_cnt 0→7  (8 states in DATA)</a:t>
            </a:r>
            <a:endParaRPr sz="800"/>
          </a:p>
        </p:txBody>
      </p:sp>
      <p:sp>
        <p:nvSpPr>
          <p:cNvPr id="308" name="Google Shape;308;p7"/>
          <p:cNvSpPr/>
          <p:nvPr/>
        </p:nvSpPr>
        <p:spPr>
          <a:xfrm>
            <a:off x="3038378" y="3337965"/>
            <a:ext cx="462300" cy="660600"/>
          </a:xfrm>
          <a:prstGeom prst="rect">
            <a:avLst/>
          </a:prstGeom>
          <a:solidFill>
            <a:srgbClr val="3C78D8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3038378" y="3404017"/>
            <a:ext cx="4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011"/>
          </a:p>
        </p:txBody>
      </p:sp>
      <p:sp>
        <p:nvSpPr>
          <p:cNvPr id="310" name="Google Shape;310;p7"/>
          <p:cNvSpPr/>
          <p:nvPr/>
        </p:nvSpPr>
        <p:spPr>
          <a:xfrm>
            <a:off x="3500740" y="3337965"/>
            <a:ext cx="2311800" cy="6606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3580002" y="3370991"/>
            <a:ext cx="21795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No Parity</a:t>
            </a:r>
            <a:endParaRPr sz="1000"/>
          </a:p>
        </p:txBody>
      </p:sp>
      <p:sp>
        <p:nvSpPr>
          <p:cNvPr id="312" name="Google Shape;312;p7"/>
          <p:cNvSpPr txBox="1"/>
          <p:nvPr/>
        </p:nvSpPr>
        <p:spPr>
          <a:xfrm>
            <a:off x="3580002" y="3621987"/>
            <a:ext cx="21795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Parity bit position is skipped entirely — saves 1 bit time</a:t>
            </a:r>
            <a:endParaRPr sz="800"/>
          </a:p>
        </p:txBody>
      </p:sp>
      <p:sp>
        <p:nvSpPr>
          <p:cNvPr id="313" name="Google Shape;313;p7"/>
          <p:cNvSpPr/>
          <p:nvPr/>
        </p:nvSpPr>
        <p:spPr>
          <a:xfrm>
            <a:off x="5845575" y="3337965"/>
            <a:ext cx="462300" cy="660600"/>
          </a:xfrm>
          <a:prstGeom prst="rect">
            <a:avLst/>
          </a:prstGeom>
          <a:solidFill>
            <a:srgbClr val="3C78D8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5845575" y="3404017"/>
            <a:ext cx="4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11"/>
          </a:p>
        </p:txBody>
      </p:sp>
      <p:sp>
        <p:nvSpPr>
          <p:cNvPr id="315" name="Google Shape;315;p7"/>
          <p:cNvSpPr/>
          <p:nvPr/>
        </p:nvSpPr>
        <p:spPr>
          <a:xfrm>
            <a:off x="6307936" y="3337965"/>
            <a:ext cx="2311800" cy="6606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6387198" y="3370991"/>
            <a:ext cx="21795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Stop Bit</a:t>
            </a:r>
            <a:endParaRPr sz="1000"/>
          </a:p>
        </p:txBody>
      </p:sp>
      <p:sp>
        <p:nvSpPr>
          <p:cNvPr id="317" name="Google Shape;317;p7"/>
          <p:cNvSpPr txBox="1"/>
          <p:nvPr/>
        </p:nvSpPr>
        <p:spPr>
          <a:xfrm>
            <a:off x="6387198" y="3621987"/>
            <a:ext cx="21795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TX returns HIGH for 1 full bit period before next frame</a:t>
            </a:r>
            <a:endParaRPr sz="800"/>
          </a:p>
        </p:txBody>
      </p:sp>
      <p:sp>
        <p:nvSpPr>
          <p:cNvPr id="318" name="Google Shape;318;p7"/>
          <p:cNvSpPr/>
          <p:nvPr/>
        </p:nvSpPr>
        <p:spPr>
          <a:xfrm>
            <a:off x="231181" y="4097560"/>
            <a:ext cx="8322600" cy="2508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330258" y="4110770"/>
            <a:ext cx="80583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 Baud Rates  (all with 50 MHz clock):</a:t>
            </a:r>
            <a:endParaRPr sz="1100"/>
          </a:p>
        </p:txBody>
      </p:sp>
      <p:sp>
        <p:nvSpPr>
          <p:cNvPr id="320" name="Google Shape;320;p7"/>
          <p:cNvSpPr/>
          <p:nvPr/>
        </p:nvSpPr>
        <p:spPr>
          <a:xfrm>
            <a:off x="231181" y="4374977"/>
            <a:ext cx="1175700" cy="4359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 txBox="1"/>
          <p:nvPr/>
        </p:nvSpPr>
        <p:spPr>
          <a:xfrm>
            <a:off x="264206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9600</a:t>
            </a:r>
            <a:endParaRPr sz="900"/>
          </a:p>
        </p:txBody>
      </p:sp>
      <p:sp>
        <p:nvSpPr>
          <p:cNvPr id="322" name="Google Shape;322;p7"/>
          <p:cNvSpPr txBox="1"/>
          <p:nvPr/>
        </p:nvSpPr>
        <p:spPr>
          <a:xfrm>
            <a:off x="264206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÷5208</a:t>
            </a:r>
            <a:endParaRPr sz="900"/>
          </a:p>
        </p:txBody>
      </p:sp>
      <p:sp>
        <p:nvSpPr>
          <p:cNvPr id="323" name="Google Shape;323;p7"/>
          <p:cNvSpPr/>
          <p:nvPr/>
        </p:nvSpPr>
        <p:spPr>
          <a:xfrm>
            <a:off x="1459742" y="4374977"/>
            <a:ext cx="1175700" cy="4359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1492767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19200</a:t>
            </a:r>
            <a:endParaRPr sz="900"/>
          </a:p>
        </p:txBody>
      </p:sp>
      <p:sp>
        <p:nvSpPr>
          <p:cNvPr id="325" name="Google Shape;325;p7"/>
          <p:cNvSpPr txBox="1"/>
          <p:nvPr/>
        </p:nvSpPr>
        <p:spPr>
          <a:xfrm>
            <a:off x="1492767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÷2604</a:t>
            </a:r>
            <a:endParaRPr sz="900"/>
          </a:p>
        </p:txBody>
      </p:sp>
      <p:sp>
        <p:nvSpPr>
          <p:cNvPr id="326" name="Google Shape;326;p7"/>
          <p:cNvSpPr/>
          <p:nvPr/>
        </p:nvSpPr>
        <p:spPr>
          <a:xfrm>
            <a:off x="2688304" y="4374977"/>
            <a:ext cx="1175700" cy="4359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2721330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38400</a:t>
            </a:r>
            <a:endParaRPr sz="900"/>
          </a:p>
        </p:txBody>
      </p:sp>
      <p:sp>
        <p:nvSpPr>
          <p:cNvPr id="328" name="Google Shape;328;p7"/>
          <p:cNvSpPr txBox="1"/>
          <p:nvPr/>
        </p:nvSpPr>
        <p:spPr>
          <a:xfrm>
            <a:off x="2721330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÷1302</a:t>
            </a:r>
            <a:endParaRPr sz="900"/>
          </a:p>
        </p:txBody>
      </p:sp>
      <p:sp>
        <p:nvSpPr>
          <p:cNvPr id="329" name="Google Shape;329;p7"/>
          <p:cNvSpPr/>
          <p:nvPr/>
        </p:nvSpPr>
        <p:spPr>
          <a:xfrm>
            <a:off x="3916865" y="4374977"/>
            <a:ext cx="1175700" cy="4359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3949891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57600</a:t>
            </a:r>
            <a:endParaRPr sz="900"/>
          </a:p>
        </p:txBody>
      </p:sp>
      <p:sp>
        <p:nvSpPr>
          <p:cNvPr id="331" name="Google Shape;331;p7"/>
          <p:cNvSpPr txBox="1"/>
          <p:nvPr/>
        </p:nvSpPr>
        <p:spPr>
          <a:xfrm>
            <a:off x="3949891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÷868</a:t>
            </a:r>
            <a:endParaRPr sz="900"/>
          </a:p>
        </p:txBody>
      </p:sp>
      <p:sp>
        <p:nvSpPr>
          <p:cNvPr id="332" name="Google Shape;332;p7"/>
          <p:cNvSpPr/>
          <p:nvPr/>
        </p:nvSpPr>
        <p:spPr>
          <a:xfrm>
            <a:off x="5145427" y="4374977"/>
            <a:ext cx="1175700" cy="435900"/>
          </a:xfrm>
          <a:prstGeom prst="rect">
            <a:avLst/>
          </a:prstGeom>
          <a:solidFill>
            <a:srgbClr val="FFF0C0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5178453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115200</a:t>
            </a:r>
            <a:endParaRPr sz="900"/>
          </a:p>
        </p:txBody>
      </p:sp>
      <p:sp>
        <p:nvSpPr>
          <p:cNvPr id="334" name="Google Shape;334;p7"/>
          <p:cNvSpPr txBox="1"/>
          <p:nvPr/>
        </p:nvSpPr>
        <p:spPr>
          <a:xfrm>
            <a:off x="5178453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÷434</a:t>
            </a:r>
            <a:endParaRPr sz="900"/>
          </a:p>
        </p:txBody>
      </p:sp>
      <p:sp>
        <p:nvSpPr>
          <p:cNvPr id="335" name="Google Shape;335;p7"/>
          <p:cNvSpPr/>
          <p:nvPr/>
        </p:nvSpPr>
        <p:spPr>
          <a:xfrm>
            <a:off x="6373988" y="4374977"/>
            <a:ext cx="1175700" cy="4359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6407014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230400</a:t>
            </a:r>
            <a:endParaRPr sz="900"/>
          </a:p>
        </p:txBody>
      </p:sp>
      <p:sp>
        <p:nvSpPr>
          <p:cNvPr id="337" name="Google Shape;337;p7"/>
          <p:cNvSpPr txBox="1"/>
          <p:nvPr/>
        </p:nvSpPr>
        <p:spPr>
          <a:xfrm>
            <a:off x="6407014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÷217</a:t>
            </a:r>
            <a:endParaRPr sz="900"/>
          </a:p>
        </p:txBody>
      </p:sp>
      <p:sp>
        <p:nvSpPr>
          <p:cNvPr id="338" name="Google Shape;338;p7"/>
          <p:cNvSpPr/>
          <p:nvPr/>
        </p:nvSpPr>
        <p:spPr>
          <a:xfrm>
            <a:off x="7602550" y="4374977"/>
            <a:ext cx="1175700" cy="4359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894" dist="1661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6050" tIns="33000" rIns="66050" bIns="33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7635575" y="438818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921600</a:t>
            </a:r>
            <a:endParaRPr sz="900"/>
          </a:p>
        </p:txBody>
      </p:sp>
      <p:sp>
        <p:nvSpPr>
          <p:cNvPr id="340" name="Google Shape;340;p7"/>
          <p:cNvSpPr txBox="1"/>
          <p:nvPr/>
        </p:nvSpPr>
        <p:spPr>
          <a:xfrm>
            <a:off x="7635575" y="4579737"/>
            <a:ext cx="1122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050" tIns="33000" rIns="66050" bIns="33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÷54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523aa13488e8b86_120"/>
          <p:cNvSpPr txBox="1"/>
          <p:nvPr/>
        </p:nvSpPr>
        <p:spPr>
          <a:xfrm>
            <a:off x="422795" y="1061891"/>
            <a:ext cx="80052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1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Loopback Verification · Verilator Simulation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347" name="Google Shape;347;g6523aa13488e8b86_120"/>
          <p:cNvSpPr/>
          <p:nvPr/>
        </p:nvSpPr>
        <p:spPr>
          <a:xfrm>
            <a:off x="422574" y="1288350"/>
            <a:ext cx="8069700" cy="402000"/>
          </a:xfrm>
          <a:prstGeom prst="rect">
            <a:avLst/>
          </a:prstGeom>
          <a:solidFill>
            <a:srgbClr val="6D9EEB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6523aa13488e8b86_120"/>
          <p:cNvSpPr txBox="1"/>
          <p:nvPr/>
        </p:nvSpPr>
        <p:spPr>
          <a:xfrm>
            <a:off x="550659" y="1295120"/>
            <a:ext cx="76851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9" b="1" i="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$ make uart</a:t>
            </a:r>
            <a:endParaRPr sz="992">
              <a:solidFill>
                <a:srgbClr val="00FFFF"/>
              </a:solidFill>
            </a:endParaRPr>
          </a:p>
        </p:txBody>
      </p:sp>
      <p:sp>
        <p:nvSpPr>
          <p:cNvPr id="349" name="Google Shape;349;g6523aa13488e8b86_120"/>
          <p:cNvSpPr/>
          <p:nvPr/>
        </p:nvSpPr>
        <p:spPr>
          <a:xfrm>
            <a:off x="422575" y="1768150"/>
            <a:ext cx="1898700" cy="324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6523aa13488e8b86_120"/>
          <p:cNvSpPr txBox="1"/>
          <p:nvPr/>
        </p:nvSpPr>
        <p:spPr>
          <a:xfrm>
            <a:off x="485867" y="1787590"/>
            <a:ext cx="18039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1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Compile</a:t>
            </a:r>
            <a:endParaRPr sz="992"/>
          </a:p>
        </p:txBody>
      </p:sp>
      <p:sp>
        <p:nvSpPr>
          <p:cNvPr id="351" name="Google Shape;351;g6523aa13488e8b86_120"/>
          <p:cNvSpPr/>
          <p:nvPr/>
        </p:nvSpPr>
        <p:spPr>
          <a:xfrm>
            <a:off x="422575" y="2092146"/>
            <a:ext cx="1898700" cy="8748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6523aa13488e8b86_120"/>
          <p:cNvSpPr txBox="1"/>
          <p:nvPr/>
        </p:nvSpPr>
        <p:spPr>
          <a:xfrm>
            <a:off x="498526" y="2137506"/>
            <a:ext cx="17847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Verilator builds: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uart_tx.v + uart_rx.v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uart_top.v + tb_uart_top.v</a:t>
            </a:r>
            <a:endParaRPr sz="800"/>
          </a:p>
        </p:txBody>
      </p:sp>
      <p:sp>
        <p:nvSpPr>
          <p:cNvPr id="353" name="Google Shape;353;g6523aa13488e8b86_120"/>
          <p:cNvSpPr txBox="1"/>
          <p:nvPr/>
        </p:nvSpPr>
        <p:spPr>
          <a:xfrm>
            <a:off x="2273884" y="2340693"/>
            <a:ext cx="1581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 i="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92">
              <a:solidFill>
                <a:srgbClr val="1155CC"/>
              </a:solidFill>
            </a:endParaRPr>
          </a:p>
        </p:txBody>
      </p:sp>
      <p:sp>
        <p:nvSpPr>
          <p:cNvPr id="354" name="Google Shape;354;g6523aa13488e8b86_120"/>
          <p:cNvSpPr/>
          <p:nvPr/>
        </p:nvSpPr>
        <p:spPr>
          <a:xfrm>
            <a:off x="2479577" y="1768150"/>
            <a:ext cx="1898700" cy="324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6523aa13488e8b86_120"/>
          <p:cNvSpPr txBox="1"/>
          <p:nvPr/>
        </p:nvSpPr>
        <p:spPr>
          <a:xfrm>
            <a:off x="2542870" y="1787590"/>
            <a:ext cx="18039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1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Loopback</a:t>
            </a:r>
            <a:endParaRPr sz="992"/>
          </a:p>
        </p:txBody>
      </p:sp>
      <p:sp>
        <p:nvSpPr>
          <p:cNvPr id="356" name="Google Shape;356;g6523aa13488e8b86_120"/>
          <p:cNvSpPr/>
          <p:nvPr/>
        </p:nvSpPr>
        <p:spPr>
          <a:xfrm>
            <a:off x="2479577" y="2092146"/>
            <a:ext cx="1898700" cy="8748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6523aa13488e8b86_120"/>
          <p:cNvSpPr txBox="1"/>
          <p:nvPr/>
        </p:nvSpPr>
        <p:spPr>
          <a:xfrm>
            <a:off x="2555528" y="2137506"/>
            <a:ext cx="17847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uart_top.tx wire-connected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uart_top.rx internally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(no physical hardware needed)</a:t>
            </a:r>
            <a:endParaRPr sz="800"/>
          </a:p>
        </p:txBody>
      </p:sp>
      <p:sp>
        <p:nvSpPr>
          <p:cNvPr id="358" name="Google Shape;358;g6523aa13488e8b86_120"/>
          <p:cNvSpPr txBox="1"/>
          <p:nvPr/>
        </p:nvSpPr>
        <p:spPr>
          <a:xfrm>
            <a:off x="4331133" y="2340693"/>
            <a:ext cx="1581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92"/>
          </a:p>
        </p:txBody>
      </p:sp>
      <p:sp>
        <p:nvSpPr>
          <p:cNvPr id="359" name="Google Shape;359;g6523aa13488e8b86_120"/>
          <p:cNvSpPr/>
          <p:nvPr/>
        </p:nvSpPr>
        <p:spPr>
          <a:xfrm>
            <a:off x="4536579" y="1768150"/>
            <a:ext cx="1898700" cy="324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6523aa13488e8b86_120"/>
          <p:cNvSpPr txBox="1"/>
          <p:nvPr/>
        </p:nvSpPr>
        <p:spPr>
          <a:xfrm>
            <a:off x="4599871" y="1787590"/>
            <a:ext cx="18039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1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Run TB</a:t>
            </a:r>
            <a:endParaRPr sz="992"/>
          </a:p>
        </p:txBody>
      </p:sp>
      <p:sp>
        <p:nvSpPr>
          <p:cNvPr id="361" name="Google Shape;361;g6523aa13488e8b86_120"/>
          <p:cNvSpPr/>
          <p:nvPr/>
        </p:nvSpPr>
        <p:spPr>
          <a:xfrm>
            <a:off x="4536579" y="2092146"/>
            <a:ext cx="1898700" cy="8748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6523aa13488e8b86_120"/>
          <p:cNvSpPr txBox="1"/>
          <p:nvPr/>
        </p:nvSpPr>
        <p:spPr>
          <a:xfrm>
            <a:off x="4612530" y="2137506"/>
            <a:ext cx="17847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Testbench sends bytes: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"hello deepak"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RX captures &amp; compares</a:t>
            </a:r>
            <a:endParaRPr sz="800"/>
          </a:p>
        </p:txBody>
      </p:sp>
      <p:sp>
        <p:nvSpPr>
          <p:cNvPr id="363" name="Google Shape;363;g6523aa13488e8b86_120"/>
          <p:cNvSpPr txBox="1"/>
          <p:nvPr/>
        </p:nvSpPr>
        <p:spPr>
          <a:xfrm>
            <a:off x="6388409" y="2321652"/>
            <a:ext cx="1581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6" b="1" i="0">
                <a:solidFill>
                  <a:srgbClr val="1F6B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992"/>
          </a:p>
        </p:txBody>
      </p:sp>
      <p:sp>
        <p:nvSpPr>
          <p:cNvPr id="364" name="Google Shape;364;g6523aa13488e8b86_120"/>
          <p:cNvSpPr/>
          <p:nvPr/>
        </p:nvSpPr>
        <p:spPr>
          <a:xfrm>
            <a:off x="6593582" y="1768150"/>
            <a:ext cx="1898700" cy="324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6523aa13488e8b86_120"/>
          <p:cNvSpPr txBox="1"/>
          <p:nvPr/>
        </p:nvSpPr>
        <p:spPr>
          <a:xfrm>
            <a:off x="6656874" y="1787590"/>
            <a:ext cx="18039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1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VCD Out</a:t>
            </a:r>
            <a:endParaRPr sz="992"/>
          </a:p>
        </p:txBody>
      </p:sp>
      <p:sp>
        <p:nvSpPr>
          <p:cNvPr id="366" name="Google Shape;366;g6523aa13488e8b86_120"/>
          <p:cNvSpPr/>
          <p:nvPr/>
        </p:nvSpPr>
        <p:spPr>
          <a:xfrm>
            <a:off x="6593582" y="2092146"/>
            <a:ext cx="1898700" cy="8748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6523aa13488e8b86_120"/>
          <p:cNvSpPr txBox="1"/>
          <p:nvPr/>
        </p:nvSpPr>
        <p:spPr>
          <a:xfrm>
            <a:off x="6669532" y="2137506"/>
            <a:ext cx="17847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Produces tb_uart.vcd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(~2.9 MB waveform file)</a:t>
            </a:r>
            <a:b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 in GTKWave</a:t>
            </a:r>
            <a:endParaRPr sz="800"/>
          </a:p>
        </p:txBody>
      </p:sp>
      <p:sp>
        <p:nvSpPr>
          <p:cNvPr id="368" name="Google Shape;368;g6523aa13488e8b86_120"/>
          <p:cNvSpPr/>
          <p:nvPr/>
        </p:nvSpPr>
        <p:spPr>
          <a:xfrm>
            <a:off x="422574" y="3064128"/>
            <a:ext cx="3906600" cy="2592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6523aa13488e8b86_120"/>
          <p:cNvSpPr txBox="1"/>
          <p:nvPr/>
        </p:nvSpPr>
        <p:spPr>
          <a:xfrm>
            <a:off x="518638" y="3077088"/>
            <a:ext cx="3714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Terminal Output</a:t>
            </a:r>
            <a:endParaRPr sz="992"/>
          </a:p>
        </p:txBody>
      </p:sp>
      <p:sp>
        <p:nvSpPr>
          <p:cNvPr id="370" name="Google Shape;370;g6523aa13488e8b86_120"/>
          <p:cNvSpPr/>
          <p:nvPr/>
        </p:nvSpPr>
        <p:spPr>
          <a:xfrm>
            <a:off x="422574" y="3342763"/>
            <a:ext cx="3906600" cy="1004400"/>
          </a:xfrm>
          <a:prstGeom prst="rect">
            <a:avLst/>
          </a:prstGeom>
          <a:solidFill>
            <a:srgbClr val="ECF3F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6523aa13488e8b86_120"/>
          <p:cNvSpPr txBox="1"/>
          <p:nvPr/>
        </p:nvSpPr>
        <p:spPr>
          <a:xfrm>
            <a:off x="499425" y="3407562"/>
            <a:ext cx="37527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[UART TB] Sending byte: 0x68 ('h')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[UART TB] Received: 0x68 ('h') ← PASS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[UART TB] Sending byte: 0x65 ('e')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[UART TB] Received: 0x65 ('e') ← PASS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[UART TB] String "hello deepak" verified: ALL PASS</a:t>
            </a:r>
            <a:endParaRPr sz="992"/>
          </a:p>
        </p:txBody>
      </p:sp>
      <p:sp>
        <p:nvSpPr>
          <p:cNvPr id="372" name="Google Shape;372;g6523aa13488e8b86_120"/>
          <p:cNvSpPr/>
          <p:nvPr/>
        </p:nvSpPr>
        <p:spPr>
          <a:xfrm>
            <a:off x="4457259" y="3064128"/>
            <a:ext cx="4034400" cy="2592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6523aa13488e8b86_120"/>
          <p:cNvSpPr txBox="1"/>
          <p:nvPr/>
        </p:nvSpPr>
        <p:spPr>
          <a:xfrm>
            <a:off x="4553323" y="3077088"/>
            <a:ext cx="37785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GTKWave Signals to Add</a:t>
            </a:r>
            <a:endParaRPr sz="992"/>
          </a:p>
        </p:txBody>
      </p:sp>
      <p:sp>
        <p:nvSpPr>
          <p:cNvPr id="374" name="Google Shape;374;g6523aa13488e8b86_120"/>
          <p:cNvSpPr/>
          <p:nvPr/>
        </p:nvSpPr>
        <p:spPr>
          <a:xfrm>
            <a:off x="4457250" y="3342770"/>
            <a:ext cx="4034400" cy="1055100"/>
          </a:xfrm>
          <a:prstGeom prst="rect">
            <a:avLst/>
          </a:prstGeom>
          <a:solidFill>
            <a:srgbClr val="ECF3FF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6523aa13488e8b86_120"/>
          <p:cNvSpPr txBox="1"/>
          <p:nvPr/>
        </p:nvSpPr>
        <p:spPr>
          <a:xfrm>
            <a:off x="4534111" y="3407562"/>
            <a:ext cx="3881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clk                    — 50 MHz system clock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reset                  — active-high reset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uart_top.tx            — serial output (8N1 frame)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uart_top.tx_state[1:0] — 0=IDLE 1=START 2=DATA 3=STOP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uart_tx.clk_cnt[9:0]  — baud counter (0 → 433)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uart_tx.bit_cnt[2:0]  — bit counter (0 → 7)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uart_rx.data_valid     — 1-cycle pulse per received byte</a:t>
            </a:r>
            <a:endParaRPr sz="992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9">
                <a:solidFill>
                  <a:srgbClr val="1A3A6B"/>
                </a:solidFill>
                <a:latin typeface="Consolas"/>
                <a:ea typeface="Consolas"/>
                <a:cs typeface="Consolas"/>
                <a:sym typeface="Consolas"/>
              </a:rPr>
              <a:t>uart_rx.data_out[7:0] — received byte value</a:t>
            </a:r>
            <a:endParaRPr sz="992"/>
          </a:p>
        </p:txBody>
      </p:sp>
      <p:sp>
        <p:nvSpPr>
          <p:cNvPr id="376" name="Google Shape;376;g6523aa13488e8b86_120"/>
          <p:cNvSpPr/>
          <p:nvPr/>
        </p:nvSpPr>
        <p:spPr>
          <a:xfrm>
            <a:off x="470349" y="4723004"/>
            <a:ext cx="8069700" cy="246300"/>
          </a:xfrm>
          <a:prstGeom prst="rect">
            <a:avLst/>
          </a:prstGeom>
          <a:solidFill>
            <a:srgbClr val="FFF0C0"/>
          </a:solidFill>
          <a:ln>
            <a:noFill/>
          </a:ln>
          <a:effectLst>
            <a:outerShdw blurRad="28346" dist="16299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6523aa13488e8b86_120"/>
          <p:cNvSpPr txBox="1"/>
          <p:nvPr/>
        </p:nvSpPr>
        <p:spPr>
          <a:xfrm>
            <a:off x="566413" y="4735964"/>
            <a:ext cx="78135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4" b="0" i="0">
                <a:solidFill>
                  <a:srgbClr val="7C4A00"/>
                </a:solidFill>
                <a:latin typeface="Calibri"/>
                <a:ea typeface="Calibri"/>
                <a:cs typeface="Calibri"/>
                <a:sym typeface="Calibri"/>
              </a:rPr>
              <a:t>Debug:  data_valid never fires → check reset clears rx_sync to 1'b1   |   Wrong byte → verify CLKS_PER_BIT matches TX &amp; RX   |   Framing error → check CLK_FREQ param</a:t>
            </a:r>
            <a:endParaRPr sz="992"/>
          </a:p>
        </p:txBody>
      </p:sp>
      <p:sp>
        <p:nvSpPr>
          <p:cNvPr id="378" name="Google Shape;378;g6523aa13488e8b86_120"/>
          <p:cNvSpPr txBox="1"/>
          <p:nvPr/>
        </p:nvSpPr>
        <p:spPr>
          <a:xfrm>
            <a:off x="308850" y="481875"/>
            <a:ext cx="792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Execution — make uart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6523aa13488e8b86_124"/>
          <p:cNvSpPr txBox="1"/>
          <p:nvPr/>
        </p:nvSpPr>
        <p:spPr>
          <a:xfrm>
            <a:off x="416291" y="547968"/>
            <a:ext cx="77085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Waveform: Decoding a UART Frame in GTKWave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85" name="Google Shape;385;g6523aa13488e8b86_124"/>
          <p:cNvSpPr txBox="1"/>
          <p:nvPr/>
        </p:nvSpPr>
        <p:spPr>
          <a:xfrm>
            <a:off x="416291" y="1002855"/>
            <a:ext cx="77085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7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Transmitting 'H' = 0x48 = 0100_1000</a:t>
            </a:r>
            <a:endParaRPr sz="902">
              <a:solidFill>
                <a:schemeClr val="dk1"/>
              </a:solidFill>
            </a:endParaRPr>
          </a:p>
        </p:txBody>
      </p:sp>
      <p:sp>
        <p:nvSpPr>
          <p:cNvPr id="386" name="Google Shape;386;g6523aa13488e8b86_124"/>
          <p:cNvSpPr/>
          <p:nvPr/>
        </p:nvSpPr>
        <p:spPr>
          <a:xfrm>
            <a:off x="476800" y="1217125"/>
            <a:ext cx="8082600" cy="3057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6523aa13488e8b86_124"/>
          <p:cNvSpPr txBox="1"/>
          <p:nvPr/>
        </p:nvSpPr>
        <p:spPr>
          <a:xfrm>
            <a:off x="489629" y="1230701"/>
            <a:ext cx="8658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</a:t>
            </a:r>
            <a:endParaRPr sz="1000"/>
          </a:p>
        </p:txBody>
      </p:sp>
      <p:sp>
        <p:nvSpPr>
          <p:cNvPr id="388" name="Google Shape;388;g6523aa13488e8b86_124"/>
          <p:cNvSpPr txBox="1"/>
          <p:nvPr/>
        </p:nvSpPr>
        <p:spPr>
          <a:xfrm>
            <a:off x="1246545" y="1230701"/>
            <a:ext cx="8658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Cycles</a:t>
            </a:r>
            <a:endParaRPr sz="1000"/>
          </a:p>
        </p:txBody>
      </p:sp>
      <p:sp>
        <p:nvSpPr>
          <p:cNvPr id="389" name="Google Shape;389;g6523aa13488e8b86_124"/>
          <p:cNvSpPr txBox="1"/>
          <p:nvPr/>
        </p:nvSpPr>
        <p:spPr>
          <a:xfrm>
            <a:off x="2176653" y="1230701"/>
            <a:ext cx="8658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(ns)</a:t>
            </a:r>
            <a:endParaRPr sz="1000"/>
          </a:p>
        </p:txBody>
      </p:sp>
      <p:sp>
        <p:nvSpPr>
          <p:cNvPr id="390" name="Google Shape;390;g6523aa13488e8b86_124"/>
          <p:cNvSpPr txBox="1"/>
          <p:nvPr/>
        </p:nvSpPr>
        <p:spPr>
          <a:xfrm>
            <a:off x="3619924" y="1230701"/>
            <a:ext cx="8658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TX Value</a:t>
            </a:r>
            <a:endParaRPr sz="1000"/>
          </a:p>
        </p:txBody>
      </p:sp>
      <p:sp>
        <p:nvSpPr>
          <p:cNvPr id="391" name="Google Shape;391;g6523aa13488e8b86_124"/>
          <p:cNvSpPr txBox="1"/>
          <p:nvPr/>
        </p:nvSpPr>
        <p:spPr>
          <a:xfrm>
            <a:off x="5383923" y="1230701"/>
            <a:ext cx="8658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 sz="1000"/>
          </a:p>
        </p:txBody>
      </p:sp>
      <p:sp>
        <p:nvSpPr>
          <p:cNvPr id="392" name="Google Shape;392;g6523aa13488e8b86_124"/>
          <p:cNvSpPr txBox="1"/>
          <p:nvPr/>
        </p:nvSpPr>
        <p:spPr>
          <a:xfrm>
            <a:off x="7115848" y="1230701"/>
            <a:ext cx="8658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Value</a:t>
            </a:r>
            <a:endParaRPr sz="1000"/>
          </a:p>
        </p:txBody>
      </p:sp>
      <p:sp>
        <p:nvSpPr>
          <p:cNvPr id="393" name="Google Shape;393;g6523aa13488e8b86_124"/>
          <p:cNvSpPr/>
          <p:nvPr/>
        </p:nvSpPr>
        <p:spPr>
          <a:xfrm>
            <a:off x="476800" y="1556541"/>
            <a:ext cx="8082600" cy="3120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6523aa13488e8b86_124"/>
          <p:cNvSpPr/>
          <p:nvPr/>
        </p:nvSpPr>
        <p:spPr>
          <a:xfrm>
            <a:off x="7019630" y="1556541"/>
            <a:ext cx="564600" cy="312000"/>
          </a:xfrm>
          <a:prstGeom prst="rect">
            <a:avLst/>
          </a:prstGeom>
          <a:solidFill>
            <a:srgbClr val="0B5394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6523aa13488e8b86_124"/>
          <p:cNvSpPr txBox="1"/>
          <p:nvPr/>
        </p:nvSpPr>
        <p:spPr>
          <a:xfrm>
            <a:off x="489629" y="1590482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800"/>
          </a:p>
        </p:txBody>
      </p:sp>
      <p:sp>
        <p:nvSpPr>
          <p:cNvPr id="396" name="Google Shape;396;g6523aa13488e8b86_124"/>
          <p:cNvSpPr txBox="1"/>
          <p:nvPr/>
        </p:nvSpPr>
        <p:spPr>
          <a:xfrm>
            <a:off x="1246545" y="1590482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0–433</a:t>
            </a:r>
            <a:endParaRPr sz="800"/>
          </a:p>
        </p:txBody>
      </p:sp>
      <p:sp>
        <p:nvSpPr>
          <p:cNvPr id="397" name="Google Shape;397;g6523aa13488e8b86_124"/>
          <p:cNvSpPr txBox="1"/>
          <p:nvPr/>
        </p:nvSpPr>
        <p:spPr>
          <a:xfrm>
            <a:off x="2176653" y="1590482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0–8,680</a:t>
            </a:r>
            <a:endParaRPr sz="800"/>
          </a:p>
        </p:txBody>
      </p:sp>
      <p:sp>
        <p:nvSpPr>
          <p:cNvPr id="398" name="Google Shape;398;g6523aa13488e8b86_124"/>
          <p:cNvSpPr txBox="1"/>
          <p:nvPr/>
        </p:nvSpPr>
        <p:spPr>
          <a:xfrm>
            <a:off x="3619924" y="1590482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399" name="Google Shape;399;g6523aa13488e8b86_124"/>
          <p:cNvSpPr txBox="1"/>
          <p:nvPr/>
        </p:nvSpPr>
        <p:spPr>
          <a:xfrm>
            <a:off x="5383923" y="1590482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Start bit (LOW)</a:t>
            </a:r>
            <a:endParaRPr sz="800"/>
          </a:p>
        </p:txBody>
      </p:sp>
      <p:sp>
        <p:nvSpPr>
          <p:cNvPr id="400" name="Google Shape;400;g6523aa13488e8b86_124"/>
          <p:cNvSpPr txBox="1"/>
          <p:nvPr/>
        </p:nvSpPr>
        <p:spPr>
          <a:xfrm>
            <a:off x="7032459" y="1590482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800"/>
          </a:p>
        </p:txBody>
      </p:sp>
      <p:sp>
        <p:nvSpPr>
          <p:cNvPr id="401" name="Google Shape;401;g6523aa13488e8b86_124"/>
          <p:cNvSpPr/>
          <p:nvPr/>
        </p:nvSpPr>
        <p:spPr>
          <a:xfrm>
            <a:off x="476800" y="1868803"/>
            <a:ext cx="8082600" cy="312000"/>
          </a:xfrm>
          <a:prstGeom prst="rect">
            <a:avLst/>
          </a:prstGeom>
          <a:noFill/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6523aa13488e8b86_124"/>
          <p:cNvSpPr/>
          <p:nvPr/>
        </p:nvSpPr>
        <p:spPr>
          <a:xfrm>
            <a:off x="7019630" y="1868803"/>
            <a:ext cx="564600" cy="31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6523aa13488e8b86_124"/>
          <p:cNvSpPr txBox="1"/>
          <p:nvPr/>
        </p:nvSpPr>
        <p:spPr>
          <a:xfrm>
            <a:off x="489629" y="1902745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D0</a:t>
            </a:r>
            <a:endParaRPr sz="800"/>
          </a:p>
        </p:txBody>
      </p:sp>
      <p:sp>
        <p:nvSpPr>
          <p:cNvPr id="404" name="Google Shape;404;g6523aa13488e8b86_124"/>
          <p:cNvSpPr txBox="1"/>
          <p:nvPr/>
        </p:nvSpPr>
        <p:spPr>
          <a:xfrm>
            <a:off x="1246545" y="1902745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434–867</a:t>
            </a:r>
            <a:endParaRPr sz="800"/>
          </a:p>
        </p:txBody>
      </p:sp>
      <p:sp>
        <p:nvSpPr>
          <p:cNvPr id="405" name="Google Shape;405;g6523aa13488e8b86_124"/>
          <p:cNvSpPr txBox="1"/>
          <p:nvPr/>
        </p:nvSpPr>
        <p:spPr>
          <a:xfrm>
            <a:off x="2176653" y="1902745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8,680–17,360</a:t>
            </a:r>
            <a:endParaRPr sz="800"/>
          </a:p>
        </p:txBody>
      </p:sp>
      <p:sp>
        <p:nvSpPr>
          <p:cNvPr id="406" name="Google Shape;406;g6523aa13488e8b86_124"/>
          <p:cNvSpPr txBox="1"/>
          <p:nvPr/>
        </p:nvSpPr>
        <p:spPr>
          <a:xfrm>
            <a:off x="3619924" y="1902745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407" name="Google Shape;407;g6523aa13488e8b86_124"/>
          <p:cNvSpPr txBox="1"/>
          <p:nvPr/>
        </p:nvSpPr>
        <p:spPr>
          <a:xfrm>
            <a:off x="5383923" y="1902745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D0 = 0  (LSB of 0x48)</a:t>
            </a:r>
            <a:endParaRPr sz="800"/>
          </a:p>
        </p:txBody>
      </p:sp>
      <p:sp>
        <p:nvSpPr>
          <p:cNvPr id="408" name="Google Shape;408;g6523aa13488e8b86_124"/>
          <p:cNvSpPr txBox="1"/>
          <p:nvPr/>
        </p:nvSpPr>
        <p:spPr>
          <a:xfrm>
            <a:off x="7032459" y="1902745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/>
          </a:p>
        </p:txBody>
      </p:sp>
      <p:sp>
        <p:nvSpPr>
          <p:cNvPr id="409" name="Google Shape;409;g6523aa13488e8b86_124"/>
          <p:cNvSpPr/>
          <p:nvPr/>
        </p:nvSpPr>
        <p:spPr>
          <a:xfrm>
            <a:off x="476800" y="2181066"/>
            <a:ext cx="8082600" cy="3120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6523aa13488e8b86_124"/>
          <p:cNvSpPr/>
          <p:nvPr/>
        </p:nvSpPr>
        <p:spPr>
          <a:xfrm>
            <a:off x="7019630" y="2181066"/>
            <a:ext cx="564600" cy="3120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6523aa13488e8b86_124"/>
          <p:cNvSpPr txBox="1"/>
          <p:nvPr/>
        </p:nvSpPr>
        <p:spPr>
          <a:xfrm>
            <a:off x="489629" y="2215007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D1</a:t>
            </a:r>
            <a:endParaRPr sz="800"/>
          </a:p>
        </p:txBody>
      </p:sp>
      <p:sp>
        <p:nvSpPr>
          <p:cNvPr id="412" name="Google Shape;412;g6523aa13488e8b86_124"/>
          <p:cNvSpPr txBox="1"/>
          <p:nvPr/>
        </p:nvSpPr>
        <p:spPr>
          <a:xfrm>
            <a:off x="1246545" y="2215007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868–1301</a:t>
            </a:r>
            <a:endParaRPr sz="800"/>
          </a:p>
        </p:txBody>
      </p:sp>
      <p:sp>
        <p:nvSpPr>
          <p:cNvPr id="413" name="Google Shape;413;g6523aa13488e8b86_124"/>
          <p:cNvSpPr txBox="1"/>
          <p:nvPr/>
        </p:nvSpPr>
        <p:spPr>
          <a:xfrm>
            <a:off x="2176653" y="2215007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17,360–26,040</a:t>
            </a:r>
            <a:endParaRPr sz="800"/>
          </a:p>
        </p:txBody>
      </p:sp>
      <p:sp>
        <p:nvSpPr>
          <p:cNvPr id="414" name="Google Shape;414;g6523aa13488e8b86_124"/>
          <p:cNvSpPr txBox="1"/>
          <p:nvPr/>
        </p:nvSpPr>
        <p:spPr>
          <a:xfrm>
            <a:off x="3619924" y="2215007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415" name="Google Shape;415;g6523aa13488e8b86_124"/>
          <p:cNvSpPr txBox="1"/>
          <p:nvPr/>
        </p:nvSpPr>
        <p:spPr>
          <a:xfrm>
            <a:off x="5383923" y="2215007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D1 = 0</a:t>
            </a:r>
            <a:endParaRPr sz="800"/>
          </a:p>
        </p:txBody>
      </p:sp>
      <p:sp>
        <p:nvSpPr>
          <p:cNvPr id="416" name="Google Shape;416;g6523aa13488e8b86_124"/>
          <p:cNvSpPr txBox="1"/>
          <p:nvPr/>
        </p:nvSpPr>
        <p:spPr>
          <a:xfrm>
            <a:off x="7032459" y="2215007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/>
          </a:p>
        </p:txBody>
      </p:sp>
      <p:sp>
        <p:nvSpPr>
          <p:cNvPr id="417" name="Google Shape;417;g6523aa13488e8b86_124"/>
          <p:cNvSpPr/>
          <p:nvPr/>
        </p:nvSpPr>
        <p:spPr>
          <a:xfrm>
            <a:off x="476800" y="2493328"/>
            <a:ext cx="8082600" cy="312000"/>
          </a:xfrm>
          <a:prstGeom prst="rect">
            <a:avLst/>
          </a:prstGeom>
          <a:noFill/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6523aa13488e8b86_124"/>
          <p:cNvSpPr/>
          <p:nvPr/>
        </p:nvSpPr>
        <p:spPr>
          <a:xfrm>
            <a:off x="7019630" y="2493328"/>
            <a:ext cx="564600" cy="31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6523aa13488e8b86_124"/>
          <p:cNvSpPr txBox="1"/>
          <p:nvPr/>
        </p:nvSpPr>
        <p:spPr>
          <a:xfrm>
            <a:off x="489629" y="2527270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D2</a:t>
            </a:r>
            <a:endParaRPr sz="800"/>
          </a:p>
        </p:txBody>
      </p:sp>
      <p:sp>
        <p:nvSpPr>
          <p:cNvPr id="420" name="Google Shape;420;g6523aa13488e8b86_124"/>
          <p:cNvSpPr txBox="1"/>
          <p:nvPr/>
        </p:nvSpPr>
        <p:spPr>
          <a:xfrm>
            <a:off x="1246545" y="2527270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1302–1735</a:t>
            </a:r>
            <a:endParaRPr sz="800"/>
          </a:p>
        </p:txBody>
      </p:sp>
      <p:sp>
        <p:nvSpPr>
          <p:cNvPr id="421" name="Google Shape;421;g6523aa13488e8b86_124"/>
          <p:cNvSpPr txBox="1"/>
          <p:nvPr/>
        </p:nvSpPr>
        <p:spPr>
          <a:xfrm>
            <a:off x="2176653" y="2527270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26,040–34,720</a:t>
            </a:r>
            <a:endParaRPr sz="800"/>
          </a:p>
        </p:txBody>
      </p:sp>
      <p:sp>
        <p:nvSpPr>
          <p:cNvPr id="422" name="Google Shape;422;g6523aa13488e8b86_124"/>
          <p:cNvSpPr txBox="1"/>
          <p:nvPr/>
        </p:nvSpPr>
        <p:spPr>
          <a:xfrm>
            <a:off x="3619924" y="2527270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423" name="Google Shape;423;g6523aa13488e8b86_124"/>
          <p:cNvSpPr txBox="1"/>
          <p:nvPr/>
        </p:nvSpPr>
        <p:spPr>
          <a:xfrm>
            <a:off x="5383923" y="2527270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D2 = 0</a:t>
            </a:r>
            <a:endParaRPr sz="800"/>
          </a:p>
        </p:txBody>
      </p:sp>
      <p:sp>
        <p:nvSpPr>
          <p:cNvPr id="424" name="Google Shape;424;g6523aa13488e8b86_124"/>
          <p:cNvSpPr txBox="1"/>
          <p:nvPr/>
        </p:nvSpPr>
        <p:spPr>
          <a:xfrm>
            <a:off x="7032459" y="2527270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/>
          </a:p>
        </p:txBody>
      </p:sp>
      <p:sp>
        <p:nvSpPr>
          <p:cNvPr id="425" name="Google Shape;425;g6523aa13488e8b86_124"/>
          <p:cNvSpPr/>
          <p:nvPr/>
        </p:nvSpPr>
        <p:spPr>
          <a:xfrm>
            <a:off x="476800" y="2805591"/>
            <a:ext cx="8082600" cy="3120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6523aa13488e8b86_124"/>
          <p:cNvSpPr/>
          <p:nvPr/>
        </p:nvSpPr>
        <p:spPr>
          <a:xfrm>
            <a:off x="7019630" y="2805591"/>
            <a:ext cx="564600" cy="3120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6523aa13488e8b86_124"/>
          <p:cNvSpPr txBox="1"/>
          <p:nvPr/>
        </p:nvSpPr>
        <p:spPr>
          <a:xfrm>
            <a:off x="489629" y="2839532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D3</a:t>
            </a:r>
            <a:endParaRPr sz="800"/>
          </a:p>
        </p:txBody>
      </p:sp>
      <p:sp>
        <p:nvSpPr>
          <p:cNvPr id="428" name="Google Shape;428;g6523aa13488e8b86_124"/>
          <p:cNvSpPr txBox="1"/>
          <p:nvPr/>
        </p:nvSpPr>
        <p:spPr>
          <a:xfrm>
            <a:off x="1246545" y="2839532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1736–2169</a:t>
            </a:r>
            <a:endParaRPr sz="800"/>
          </a:p>
        </p:txBody>
      </p:sp>
      <p:sp>
        <p:nvSpPr>
          <p:cNvPr id="429" name="Google Shape;429;g6523aa13488e8b86_124"/>
          <p:cNvSpPr txBox="1"/>
          <p:nvPr/>
        </p:nvSpPr>
        <p:spPr>
          <a:xfrm>
            <a:off x="2176653" y="2839532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34,720–43,400</a:t>
            </a:r>
            <a:endParaRPr sz="800"/>
          </a:p>
        </p:txBody>
      </p:sp>
      <p:sp>
        <p:nvSpPr>
          <p:cNvPr id="430" name="Google Shape;430;g6523aa13488e8b86_124"/>
          <p:cNvSpPr txBox="1"/>
          <p:nvPr/>
        </p:nvSpPr>
        <p:spPr>
          <a:xfrm>
            <a:off x="3619924" y="2839532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1</a:t>
            </a:r>
            <a:endParaRPr sz="800"/>
          </a:p>
        </p:txBody>
      </p:sp>
      <p:sp>
        <p:nvSpPr>
          <p:cNvPr id="431" name="Google Shape;431;g6523aa13488e8b86_124"/>
          <p:cNvSpPr txBox="1"/>
          <p:nvPr/>
        </p:nvSpPr>
        <p:spPr>
          <a:xfrm>
            <a:off x="5383923" y="2839532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D3 = 1</a:t>
            </a:r>
            <a:endParaRPr sz="800"/>
          </a:p>
        </p:txBody>
      </p:sp>
      <p:sp>
        <p:nvSpPr>
          <p:cNvPr id="432" name="Google Shape;432;g6523aa13488e8b86_124"/>
          <p:cNvSpPr txBox="1"/>
          <p:nvPr/>
        </p:nvSpPr>
        <p:spPr>
          <a:xfrm>
            <a:off x="7032459" y="2839532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/>
          </a:p>
        </p:txBody>
      </p:sp>
      <p:sp>
        <p:nvSpPr>
          <p:cNvPr id="433" name="Google Shape;433;g6523aa13488e8b86_124"/>
          <p:cNvSpPr/>
          <p:nvPr/>
        </p:nvSpPr>
        <p:spPr>
          <a:xfrm>
            <a:off x="476800" y="3117853"/>
            <a:ext cx="8082600" cy="312000"/>
          </a:xfrm>
          <a:prstGeom prst="rect">
            <a:avLst/>
          </a:prstGeom>
          <a:noFill/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6523aa13488e8b86_124"/>
          <p:cNvSpPr/>
          <p:nvPr/>
        </p:nvSpPr>
        <p:spPr>
          <a:xfrm>
            <a:off x="7019630" y="3117853"/>
            <a:ext cx="564600" cy="31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6523aa13488e8b86_124"/>
          <p:cNvSpPr txBox="1"/>
          <p:nvPr/>
        </p:nvSpPr>
        <p:spPr>
          <a:xfrm>
            <a:off x="489629" y="3151795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D4</a:t>
            </a:r>
            <a:endParaRPr sz="800"/>
          </a:p>
        </p:txBody>
      </p:sp>
      <p:sp>
        <p:nvSpPr>
          <p:cNvPr id="436" name="Google Shape;436;g6523aa13488e8b86_124"/>
          <p:cNvSpPr txBox="1"/>
          <p:nvPr/>
        </p:nvSpPr>
        <p:spPr>
          <a:xfrm>
            <a:off x="1246545" y="3151795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2170–2603</a:t>
            </a:r>
            <a:endParaRPr sz="800"/>
          </a:p>
        </p:txBody>
      </p:sp>
      <p:sp>
        <p:nvSpPr>
          <p:cNvPr id="437" name="Google Shape;437;g6523aa13488e8b86_124"/>
          <p:cNvSpPr txBox="1"/>
          <p:nvPr/>
        </p:nvSpPr>
        <p:spPr>
          <a:xfrm>
            <a:off x="2176653" y="3151795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43,400–52,060</a:t>
            </a:r>
            <a:endParaRPr sz="800"/>
          </a:p>
        </p:txBody>
      </p:sp>
      <p:sp>
        <p:nvSpPr>
          <p:cNvPr id="438" name="Google Shape;438;g6523aa13488e8b86_124"/>
          <p:cNvSpPr txBox="1"/>
          <p:nvPr/>
        </p:nvSpPr>
        <p:spPr>
          <a:xfrm>
            <a:off x="3619924" y="3151795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439" name="Google Shape;439;g6523aa13488e8b86_124"/>
          <p:cNvSpPr txBox="1"/>
          <p:nvPr/>
        </p:nvSpPr>
        <p:spPr>
          <a:xfrm>
            <a:off x="5383923" y="3151795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D4 = 0</a:t>
            </a:r>
            <a:endParaRPr sz="800"/>
          </a:p>
        </p:txBody>
      </p:sp>
      <p:sp>
        <p:nvSpPr>
          <p:cNvPr id="440" name="Google Shape;440;g6523aa13488e8b86_124"/>
          <p:cNvSpPr txBox="1"/>
          <p:nvPr/>
        </p:nvSpPr>
        <p:spPr>
          <a:xfrm>
            <a:off x="7032459" y="3151795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/>
          </a:p>
        </p:txBody>
      </p:sp>
      <p:sp>
        <p:nvSpPr>
          <p:cNvPr id="441" name="Google Shape;441;g6523aa13488e8b86_124"/>
          <p:cNvSpPr/>
          <p:nvPr/>
        </p:nvSpPr>
        <p:spPr>
          <a:xfrm>
            <a:off x="476800" y="3430116"/>
            <a:ext cx="8082600" cy="3120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6523aa13488e8b86_124"/>
          <p:cNvSpPr/>
          <p:nvPr/>
        </p:nvSpPr>
        <p:spPr>
          <a:xfrm>
            <a:off x="7019630" y="3430116"/>
            <a:ext cx="564600" cy="3120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6523aa13488e8b86_124"/>
          <p:cNvSpPr txBox="1"/>
          <p:nvPr/>
        </p:nvSpPr>
        <p:spPr>
          <a:xfrm>
            <a:off x="489629" y="3464057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D5</a:t>
            </a:r>
            <a:endParaRPr sz="800"/>
          </a:p>
        </p:txBody>
      </p:sp>
      <p:sp>
        <p:nvSpPr>
          <p:cNvPr id="444" name="Google Shape;444;g6523aa13488e8b86_124"/>
          <p:cNvSpPr txBox="1"/>
          <p:nvPr/>
        </p:nvSpPr>
        <p:spPr>
          <a:xfrm>
            <a:off x="1246545" y="3464057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2604–3037</a:t>
            </a:r>
            <a:endParaRPr sz="800"/>
          </a:p>
        </p:txBody>
      </p:sp>
      <p:sp>
        <p:nvSpPr>
          <p:cNvPr id="445" name="Google Shape;445;g6523aa13488e8b86_124"/>
          <p:cNvSpPr txBox="1"/>
          <p:nvPr/>
        </p:nvSpPr>
        <p:spPr>
          <a:xfrm>
            <a:off x="2176653" y="3464057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52,060–60,740</a:t>
            </a:r>
            <a:endParaRPr sz="800"/>
          </a:p>
        </p:txBody>
      </p:sp>
      <p:sp>
        <p:nvSpPr>
          <p:cNvPr id="446" name="Google Shape;446;g6523aa13488e8b86_124"/>
          <p:cNvSpPr txBox="1"/>
          <p:nvPr/>
        </p:nvSpPr>
        <p:spPr>
          <a:xfrm>
            <a:off x="3619924" y="3464057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447" name="Google Shape;447;g6523aa13488e8b86_124"/>
          <p:cNvSpPr txBox="1"/>
          <p:nvPr/>
        </p:nvSpPr>
        <p:spPr>
          <a:xfrm>
            <a:off x="5383923" y="3464057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D5 = 0</a:t>
            </a:r>
            <a:endParaRPr sz="800"/>
          </a:p>
        </p:txBody>
      </p:sp>
      <p:sp>
        <p:nvSpPr>
          <p:cNvPr id="448" name="Google Shape;448;g6523aa13488e8b86_124"/>
          <p:cNvSpPr txBox="1"/>
          <p:nvPr/>
        </p:nvSpPr>
        <p:spPr>
          <a:xfrm>
            <a:off x="7032459" y="3464057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/>
          </a:p>
        </p:txBody>
      </p:sp>
      <p:sp>
        <p:nvSpPr>
          <p:cNvPr id="449" name="Google Shape;449;g6523aa13488e8b86_124"/>
          <p:cNvSpPr/>
          <p:nvPr/>
        </p:nvSpPr>
        <p:spPr>
          <a:xfrm>
            <a:off x="476800" y="3742378"/>
            <a:ext cx="8082600" cy="312000"/>
          </a:xfrm>
          <a:prstGeom prst="rect">
            <a:avLst/>
          </a:prstGeom>
          <a:noFill/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6523aa13488e8b86_124"/>
          <p:cNvSpPr/>
          <p:nvPr/>
        </p:nvSpPr>
        <p:spPr>
          <a:xfrm>
            <a:off x="7019630" y="3742378"/>
            <a:ext cx="564600" cy="3120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6523aa13488e8b86_124"/>
          <p:cNvSpPr txBox="1"/>
          <p:nvPr/>
        </p:nvSpPr>
        <p:spPr>
          <a:xfrm>
            <a:off x="489629" y="3776320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D6</a:t>
            </a:r>
            <a:endParaRPr sz="800"/>
          </a:p>
        </p:txBody>
      </p:sp>
      <p:sp>
        <p:nvSpPr>
          <p:cNvPr id="452" name="Google Shape;452;g6523aa13488e8b86_124"/>
          <p:cNvSpPr txBox="1"/>
          <p:nvPr/>
        </p:nvSpPr>
        <p:spPr>
          <a:xfrm>
            <a:off x="1246545" y="3776320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3038–3471</a:t>
            </a:r>
            <a:endParaRPr sz="800"/>
          </a:p>
        </p:txBody>
      </p:sp>
      <p:sp>
        <p:nvSpPr>
          <p:cNvPr id="453" name="Google Shape;453;g6523aa13488e8b86_124"/>
          <p:cNvSpPr txBox="1"/>
          <p:nvPr/>
        </p:nvSpPr>
        <p:spPr>
          <a:xfrm>
            <a:off x="2176653" y="3776320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60,740–69,420</a:t>
            </a:r>
            <a:endParaRPr sz="800"/>
          </a:p>
        </p:txBody>
      </p:sp>
      <p:sp>
        <p:nvSpPr>
          <p:cNvPr id="454" name="Google Shape;454;g6523aa13488e8b86_124"/>
          <p:cNvSpPr txBox="1"/>
          <p:nvPr/>
        </p:nvSpPr>
        <p:spPr>
          <a:xfrm>
            <a:off x="3619924" y="3776320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1</a:t>
            </a:r>
            <a:endParaRPr sz="800"/>
          </a:p>
        </p:txBody>
      </p:sp>
      <p:sp>
        <p:nvSpPr>
          <p:cNvPr id="455" name="Google Shape;455;g6523aa13488e8b86_124"/>
          <p:cNvSpPr txBox="1"/>
          <p:nvPr/>
        </p:nvSpPr>
        <p:spPr>
          <a:xfrm>
            <a:off x="5383923" y="3776320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D6 = 1</a:t>
            </a:r>
            <a:endParaRPr sz="800"/>
          </a:p>
        </p:txBody>
      </p:sp>
      <p:sp>
        <p:nvSpPr>
          <p:cNvPr id="456" name="Google Shape;456;g6523aa13488e8b86_124"/>
          <p:cNvSpPr txBox="1"/>
          <p:nvPr/>
        </p:nvSpPr>
        <p:spPr>
          <a:xfrm>
            <a:off x="7032459" y="3776320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/>
          </a:p>
        </p:txBody>
      </p:sp>
      <p:sp>
        <p:nvSpPr>
          <p:cNvPr id="457" name="Google Shape;457;g6523aa13488e8b86_124"/>
          <p:cNvSpPr/>
          <p:nvPr/>
        </p:nvSpPr>
        <p:spPr>
          <a:xfrm>
            <a:off x="476800" y="4054641"/>
            <a:ext cx="8082600" cy="3120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6523aa13488e8b86_124"/>
          <p:cNvSpPr/>
          <p:nvPr/>
        </p:nvSpPr>
        <p:spPr>
          <a:xfrm>
            <a:off x="7019630" y="4054641"/>
            <a:ext cx="564600" cy="312000"/>
          </a:xfrm>
          <a:prstGeom prst="rect">
            <a:avLst/>
          </a:prstGeom>
          <a:solidFill>
            <a:srgbClr val="D6E8FF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6523aa13488e8b86_124"/>
          <p:cNvSpPr txBox="1"/>
          <p:nvPr/>
        </p:nvSpPr>
        <p:spPr>
          <a:xfrm>
            <a:off x="489629" y="4088582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D7</a:t>
            </a:r>
            <a:endParaRPr sz="800"/>
          </a:p>
        </p:txBody>
      </p:sp>
      <p:sp>
        <p:nvSpPr>
          <p:cNvPr id="460" name="Google Shape;460;g6523aa13488e8b86_124"/>
          <p:cNvSpPr txBox="1"/>
          <p:nvPr/>
        </p:nvSpPr>
        <p:spPr>
          <a:xfrm>
            <a:off x="1246545" y="4088582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3472–3905</a:t>
            </a:r>
            <a:endParaRPr sz="800"/>
          </a:p>
        </p:txBody>
      </p:sp>
      <p:sp>
        <p:nvSpPr>
          <p:cNvPr id="461" name="Google Shape;461;g6523aa13488e8b86_124"/>
          <p:cNvSpPr txBox="1"/>
          <p:nvPr/>
        </p:nvSpPr>
        <p:spPr>
          <a:xfrm>
            <a:off x="2176653" y="4088582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69,420–78,100</a:t>
            </a:r>
            <a:endParaRPr sz="800"/>
          </a:p>
        </p:txBody>
      </p:sp>
      <p:sp>
        <p:nvSpPr>
          <p:cNvPr id="462" name="Google Shape;462;g6523aa13488e8b86_124"/>
          <p:cNvSpPr txBox="1"/>
          <p:nvPr/>
        </p:nvSpPr>
        <p:spPr>
          <a:xfrm>
            <a:off x="3619924" y="4088582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0</a:t>
            </a:r>
            <a:endParaRPr sz="800"/>
          </a:p>
        </p:txBody>
      </p:sp>
      <p:sp>
        <p:nvSpPr>
          <p:cNvPr id="463" name="Google Shape;463;g6523aa13488e8b86_124"/>
          <p:cNvSpPr txBox="1"/>
          <p:nvPr/>
        </p:nvSpPr>
        <p:spPr>
          <a:xfrm>
            <a:off x="5383923" y="4088582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D7 = 0  (MSB of 0x48)</a:t>
            </a:r>
            <a:endParaRPr sz="800"/>
          </a:p>
        </p:txBody>
      </p:sp>
      <p:sp>
        <p:nvSpPr>
          <p:cNvPr id="464" name="Google Shape;464;g6523aa13488e8b86_124"/>
          <p:cNvSpPr txBox="1"/>
          <p:nvPr/>
        </p:nvSpPr>
        <p:spPr>
          <a:xfrm>
            <a:off x="7032459" y="4088582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/>
          </a:p>
        </p:txBody>
      </p:sp>
      <p:sp>
        <p:nvSpPr>
          <p:cNvPr id="465" name="Google Shape;465;g6523aa13488e8b86_124"/>
          <p:cNvSpPr/>
          <p:nvPr/>
        </p:nvSpPr>
        <p:spPr>
          <a:xfrm>
            <a:off x="476800" y="4366903"/>
            <a:ext cx="8082600" cy="312000"/>
          </a:xfrm>
          <a:prstGeom prst="rect">
            <a:avLst/>
          </a:prstGeom>
          <a:noFill/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6523aa13488e8b86_124"/>
          <p:cNvSpPr/>
          <p:nvPr/>
        </p:nvSpPr>
        <p:spPr>
          <a:xfrm>
            <a:off x="7019630" y="4366903"/>
            <a:ext cx="564600" cy="312000"/>
          </a:xfrm>
          <a:prstGeom prst="rect">
            <a:avLst/>
          </a:prstGeom>
          <a:solidFill>
            <a:srgbClr val="0B5394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6523aa13488e8b86_124"/>
          <p:cNvSpPr txBox="1"/>
          <p:nvPr/>
        </p:nvSpPr>
        <p:spPr>
          <a:xfrm>
            <a:off x="489629" y="4400845"/>
            <a:ext cx="7377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endParaRPr sz="800"/>
          </a:p>
        </p:txBody>
      </p:sp>
      <p:sp>
        <p:nvSpPr>
          <p:cNvPr id="468" name="Google Shape;468;g6523aa13488e8b86_124"/>
          <p:cNvSpPr txBox="1"/>
          <p:nvPr/>
        </p:nvSpPr>
        <p:spPr>
          <a:xfrm>
            <a:off x="1246545" y="4400845"/>
            <a:ext cx="910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3906–4339</a:t>
            </a:r>
            <a:endParaRPr sz="800"/>
          </a:p>
        </p:txBody>
      </p:sp>
      <p:sp>
        <p:nvSpPr>
          <p:cNvPr id="469" name="Google Shape;469;g6523aa13488e8b86_124"/>
          <p:cNvSpPr txBox="1"/>
          <p:nvPr/>
        </p:nvSpPr>
        <p:spPr>
          <a:xfrm>
            <a:off x="2176653" y="4400845"/>
            <a:ext cx="1411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78,100–86,800</a:t>
            </a:r>
            <a:endParaRPr sz="800"/>
          </a:p>
        </p:txBody>
      </p:sp>
      <p:sp>
        <p:nvSpPr>
          <p:cNvPr id="470" name="Google Shape;470;g6523aa13488e8b86_124"/>
          <p:cNvSpPr txBox="1"/>
          <p:nvPr/>
        </p:nvSpPr>
        <p:spPr>
          <a:xfrm>
            <a:off x="3619924" y="4400845"/>
            <a:ext cx="17322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tx = 1</a:t>
            </a:r>
            <a:endParaRPr sz="800"/>
          </a:p>
        </p:txBody>
      </p:sp>
      <p:sp>
        <p:nvSpPr>
          <p:cNvPr id="471" name="Google Shape;471;g6523aa13488e8b86_124"/>
          <p:cNvSpPr txBox="1"/>
          <p:nvPr/>
        </p:nvSpPr>
        <p:spPr>
          <a:xfrm>
            <a:off x="5383923" y="4400845"/>
            <a:ext cx="1719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Stop bit (HIGH)</a:t>
            </a:r>
            <a:endParaRPr sz="800"/>
          </a:p>
        </p:txBody>
      </p:sp>
      <p:sp>
        <p:nvSpPr>
          <p:cNvPr id="472" name="Google Shape;472;g6523aa13488e8b86_124"/>
          <p:cNvSpPr txBox="1"/>
          <p:nvPr/>
        </p:nvSpPr>
        <p:spPr>
          <a:xfrm>
            <a:off x="7032459" y="4400845"/>
            <a:ext cx="538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875" tIns="29425" rIns="58875" bIns="29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800"/>
          </a:p>
        </p:txBody>
      </p:sp>
      <p:sp>
        <p:nvSpPr>
          <p:cNvPr id="473" name="Google Shape;473;g6523aa13488e8b86_124"/>
          <p:cNvSpPr/>
          <p:nvPr/>
        </p:nvSpPr>
        <p:spPr>
          <a:xfrm>
            <a:off x="476800" y="4692742"/>
            <a:ext cx="8082600" cy="25740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25757" dist="1481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8875" tIns="29425" rIns="58875" bIns="29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6523aa13488e8b86_124"/>
          <p:cNvSpPr txBox="1"/>
          <p:nvPr/>
        </p:nvSpPr>
        <p:spPr>
          <a:xfrm>
            <a:off x="476900" y="4679150"/>
            <a:ext cx="8082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  4340 cycles × 20 ns = 86.8 µs  |  Read D0→D7 LSB-first: 0 0 0 1 0 0 1 0  →  reverse = 0100_1000 = 0x48 = 'H' ✓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"/>
          <p:cNvSpPr txBox="1"/>
          <p:nvPr/>
        </p:nvSpPr>
        <p:spPr>
          <a:xfrm>
            <a:off x="406948" y="596444"/>
            <a:ext cx="81006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Applications of UART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456870" y="1189551"/>
            <a:ext cx="4017900" cy="3888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 txBox="1"/>
          <p:nvPr/>
        </p:nvSpPr>
        <p:spPr>
          <a:xfrm>
            <a:off x="534636" y="1228434"/>
            <a:ext cx="38883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FT232 / CP2102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USB-UART Bridges</a:t>
            </a:r>
            <a:endParaRPr sz="1100"/>
          </a:p>
        </p:txBody>
      </p:sp>
      <p:sp>
        <p:nvSpPr>
          <p:cNvPr id="483" name="Google Shape;483;p9"/>
          <p:cNvSpPr/>
          <p:nvPr/>
        </p:nvSpPr>
        <p:spPr>
          <a:xfrm>
            <a:off x="456870" y="1578385"/>
            <a:ext cx="4017900" cy="1328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 txBox="1"/>
          <p:nvPr/>
        </p:nvSpPr>
        <p:spPr>
          <a:xfrm>
            <a:off x="547600" y="1643209"/>
            <a:ext cx="386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Convert USB to UART for connecting microcontrollers and FPGAs to a host PC serial terminal (PuTTY / screen). The exact interface this project's uart_tx.v would drive.</a:t>
            </a:r>
            <a:endParaRPr sz="1000"/>
          </a:p>
        </p:txBody>
      </p:sp>
      <p:sp>
        <p:nvSpPr>
          <p:cNvPr id="485" name="Google Shape;485;p9"/>
          <p:cNvSpPr/>
          <p:nvPr/>
        </p:nvSpPr>
        <p:spPr>
          <a:xfrm>
            <a:off x="4669236" y="1189551"/>
            <a:ext cx="4017900" cy="3888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 txBox="1"/>
          <p:nvPr/>
        </p:nvSpPr>
        <p:spPr>
          <a:xfrm>
            <a:off x="4747003" y="1228434"/>
            <a:ext cx="38883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FPGA Bring-Up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Debug</a:t>
            </a:r>
            <a:endParaRPr sz="1100"/>
          </a:p>
        </p:txBody>
      </p:sp>
      <p:sp>
        <p:nvSpPr>
          <p:cNvPr id="487" name="Google Shape;487;p9"/>
          <p:cNvSpPr/>
          <p:nvPr/>
        </p:nvSpPr>
        <p:spPr>
          <a:xfrm>
            <a:off x="4669236" y="1578385"/>
            <a:ext cx="4017900" cy="1328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 txBox="1"/>
          <p:nvPr/>
        </p:nvSpPr>
        <p:spPr>
          <a:xfrm>
            <a:off x="4759963" y="1643190"/>
            <a:ext cx="386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 is the first peripheral added to any new SoC or FPGA design — its simplicity makes it the perfect early-stage debug channel. If UART works, the clock tree and basic RTL are correct.</a:t>
            </a:r>
            <a:endParaRPr sz="1000"/>
          </a:p>
        </p:txBody>
      </p:sp>
      <p:sp>
        <p:nvSpPr>
          <p:cNvPr id="489" name="Google Shape;489;p9"/>
          <p:cNvSpPr/>
          <p:nvPr/>
        </p:nvSpPr>
        <p:spPr>
          <a:xfrm>
            <a:off x="456870" y="3036511"/>
            <a:ext cx="4017900" cy="3888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534636" y="3075394"/>
            <a:ext cx="38883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Arduino / STM32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Embedded MCUs</a:t>
            </a:r>
            <a:endParaRPr sz="1100"/>
          </a:p>
        </p:txBody>
      </p:sp>
      <p:sp>
        <p:nvSpPr>
          <p:cNvPr id="491" name="Google Shape;491;p9"/>
          <p:cNvSpPr/>
          <p:nvPr/>
        </p:nvSpPr>
        <p:spPr>
          <a:xfrm>
            <a:off x="456870" y="3425345"/>
            <a:ext cx="4017900" cy="13284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 txBox="1"/>
          <p:nvPr/>
        </p:nvSpPr>
        <p:spPr>
          <a:xfrm>
            <a:off x="547598" y="3490150"/>
            <a:ext cx="386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Serial.print() call on Arduino uses a UART transmitter identical in structure to uart_tx.v — same 8N1 format, same baud rate configuration, same start/stop framing.</a:t>
            </a:r>
            <a:endParaRPr sz="1000"/>
          </a:p>
        </p:txBody>
      </p:sp>
      <p:sp>
        <p:nvSpPr>
          <p:cNvPr id="493" name="Google Shape;493;p9"/>
          <p:cNvSpPr/>
          <p:nvPr/>
        </p:nvSpPr>
        <p:spPr>
          <a:xfrm>
            <a:off x="4669236" y="3036511"/>
            <a:ext cx="4017900" cy="388800"/>
          </a:xfrm>
          <a:prstGeom prst="rect">
            <a:avLst/>
          </a:prstGeom>
          <a:solidFill>
            <a:srgbClr val="1F6BBF"/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 txBox="1"/>
          <p:nvPr/>
        </p:nvSpPr>
        <p:spPr>
          <a:xfrm>
            <a:off x="4747003" y="3075394"/>
            <a:ext cx="38883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Project: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PicoRV32 SoC</a:t>
            </a:r>
            <a:endParaRPr sz="1100"/>
          </a:p>
        </p:txBody>
      </p:sp>
      <p:sp>
        <p:nvSpPr>
          <p:cNvPr id="495" name="Google Shape;495;p9"/>
          <p:cNvSpPr/>
          <p:nvPr/>
        </p:nvSpPr>
        <p:spPr>
          <a:xfrm>
            <a:off x="4669236" y="3425345"/>
            <a:ext cx="4017900" cy="1328400"/>
          </a:xfrm>
          <a:prstGeom prst="rect">
            <a:avLst/>
          </a:prstGeom>
          <a:solidFill>
            <a:srgbClr val="D0F0E0"/>
          </a:solidFill>
          <a:ln>
            <a:noFill/>
          </a:ln>
          <a:effectLst>
            <a:outerShdw blurRad="28349" dist="16301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4800" tIns="32400" rIns="64800" bIns="32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 txBox="1"/>
          <p:nvPr/>
        </p:nvSpPr>
        <p:spPr>
          <a:xfrm>
            <a:off x="4759963" y="3490150"/>
            <a:ext cx="38625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800" tIns="32400" rIns="64800" bIns="324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uart_tx_pin in GTKWave shows the live 8N1 serial stream. tb_top.v UART monitor decodes bytes and prints:</a:t>
            </a:r>
            <a:b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[TB] RX byte: H  ← verified ✓</a:t>
            </a:r>
            <a:b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10× 'Hello Deepak from Nielit!'  →  TEST PASSED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"/>
          <p:cNvSpPr/>
          <p:nvPr/>
        </p:nvSpPr>
        <p:spPr>
          <a:xfrm>
            <a:off x="320060" y="522467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320047" y="1188724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387459" y="1256135"/>
            <a:ext cx="19212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 Protocol</a:t>
            </a:r>
            <a:endParaRPr sz="1032"/>
          </a:p>
        </p:txBody>
      </p:sp>
      <p:sp>
        <p:nvSpPr>
          <p:cNvPr id="505" name="Google Shape;505;p12"/>
          <p:cNvSpPr/>
          <p:nvPr/>
        </p:nvSpPr>
        <p:spPr>
          <a:xfrm>
            <a:off x="2342388" y="1188724"/>
            <a:ext cx="6471600" cy="4719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 txBox="1"/>
          <p:nvPr/>
        </p:nvSpPr>
        <p:spPr>
          <a:xfrm>
            <a:off x="2430023" y="1256135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Asynchronous serial, 2 wires (TX + RX), no clock line — both sides must agree on baud rate</a:t>
            </a:r>
            <a:endParaRPr sz="1032"/>
          </a:p>
        </p:txBody>
      </p:sp>
      <p:sp>
        <p:nvSpPr>
          <p:cNvPr id="507" name="Google Shape;507;p12"/>
          <p:cNvSpPr/>
          <p:nvPr/>
        </p:nvSpPr>
        <p:spPr>
          <a:xfrm>
            <a:off x="320047" y="1748238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 txBox="1"/>
          <p:nvPr/>
        </p:nvSpPr>
        <p:spPr>
          <a:xfrm>
            <a:off x="387459" y="1815649"/>
            <a:ext cx="1921200" cy="20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8N1 Format</a:t>
            </a:r>
            <a:endParaRPr sz="1032"/>
          </a:p>
        </p:txBody>
      </p:sp>
      <p:sp>
        <p:nvSpPr>
          <p:cNvPr id="509" name="Google Shape;509;p12"/>
          <p:cNvSpPr/>
          <p:nvPr/>
        </p:nvSpPr>
        <p:spPr>
          <a:xfrm>
            <a:off x="2342388" y="1748238"/>
            <a:ext cx="6471600" cy="471900"/>
          </a:xfrm>
          <a:prstGeom prst="rect">
            <a:avLst/>
          </a:prstGeom>
          <a:noFill/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2430023" y="1815649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 start bit (LOW) + 8 data bits (LSB first) + 1 stop bit (HIGH) — no parity in this project</a:t>
            </a:r>
            <a:endParaRPr sz="1032"/>
          </a:p>
        </p:txBody>
      </p:sp>
      <p:sp>
        <p:nvSpPr>
          <p:cNvPr id="511" name="Google Shape;511;p12"/>
          <p:cNvSpPr/>
          <p:nvPr/>
        </p:nvSpPr>
        <p:spPr>
          <a:xfrm>
            <a:off x="320047" y="2307751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 txBox="1"/>
          <p:nvPr/>
        </p:nvSpPr>
        <p:spPr>
          <a:xfrm>
            <a:off x="387459" y="2375163"/>
            <a:ext cx="19212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Baud Calculation</a:t>
            </a:r>
            <a:endParaRPr sz="1032"/>
          </a:p>
        </p:txBody>
      </p:sp>
      <p:sp>
        <p:nvSpPr>
          <p:cNvPr id="513" name="Google Shape;513;p12"/>
          <p:cNvSpPr/>
          <p:nvPr/>
        </p:nvSpPr>
        <p:spPr>
          <a:xfrm>
            <a:off x="2342388" y="2307751"/>
            <a:ext cx="6471600" cy="4719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 txBox="1"/>
          <p:nvPr/>
        </p:nvSpPr>
        <p:spPr>
          <a:xfrm>
            <a:off x="2430023" y="2375163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CLKS_PER_BIT = 50,000,000 ÷ 115,200 = 434 clock cycles per bit at 50 MHz system clock</a:t>
            </a:r>
            <a:endParaRPr sz="1032"/>
          </a:p>
        </p:txBody>
      </p:sp>
      <p:sp>
        <p:nvSpPr>
          <p:cNvPr id="515" name="Google Shape;515;p12"/>
          <p:cNvSpPr/>
          <p:nvPr/>
        </p:nvSpPr>
        <p:spPr>
          <a:xfrm>
            <a:off x="320047" y="2867265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 txBox="1"/>
          <p:nvPr/>
        </p:nvSpPr>
        <p:spPr>
          <a:xfrm>
            <a:off x="387459" y="2934677"/>
            <a:ext cx="1921200" cy="20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TX FSM</a:t>
            </a:r>
            <a:endParaRPr sz="1032"/>
          </a:p>
        </p:txBody>
      </p:sp>
      <p:sp>
        <p:nvSpPr>
          <p:cNvPr id="517" name="Google Shape;517;p12"/>
          <p:cNvSpPr/>
          <p:nvPr/>
        </p:nvSpPr>
        <p:spPr>
          <a:xfrm>
            <a:off x="2342388" y="2867265"/>
            <a:ext cx="6471600" cy="471900"/>
          </a:xfrm>
          <a:prstGeom prst="rect">
            <a:avLst/>
          </a:prstGeom>
          <a:noFill/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 txBox="1"/>
          <p:nvPr/>
        </p:nvSpPr>
        <p:spPr>
          <a:xfrm>
            <a:off x="2430023" y="2934677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rtl/uart_tx.v — 4 states: IDLE / START / DATA / STOP  (bit_cnt 0→7 in DATA state)</a:t>
            </a:r>
            <a:endParaRPr sz="1032"/>
          </a:p>
        </p:txBody>
      </p:sp>
      <p:sp>
        <p:nvSpPr>
          <p:cNvPr id="519" name="Google Shape;519;p12"/>
          <p:cNvSpPr/>
          <p:nvPr/>
        </p:nvSpPr>
        <p:spPr>
          <a:xfrm>
            <a:off x="320047" y="3426779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 txBox="1"/>
          <p:nvPr/>
        </p:nvSpPr>
        <p:spPr>
          <a:xfrm>
            <a:off x="387459" y="3494190"/>
            <a:ext cx="1921200" cy="20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RX FSM</a:t>
            </a:r>
            <a:endParaRPr sz="1032"/>
          </a:p>
        </p:txBody>
      </p:sp>
      <p:sp>
        <p:nvSpPr>
          <p:cNvPr id="521" name="Google Shape;521;p12"/>
          <p:cNvSpPr/>
          <p:nvPr/>
        </p:nvSpPr>
        <p:spPr>
          <a:xfrm>
            <a:off x="2342388" y="3426779"/>
            <a:ext cx="6471600" cy="4719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2430023" y="3494190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rtl/uart_rx.v — mid-bit sampling + 2-FF synchronizer (rx_sync0→rx_sync1) for metastability protection</a:t>
            </a:r>
            <a:endParaRPr sz="1032"/>
          </a:p>
        </p:txBody>
      </p:sp>
      <p:sp>
        <p:nvSpPr>
          <p:cNvPr id="523" name="Google Shape;523;p12"/>
          <p:cNvSpPr/>
          <p:nvPr/>
        </p:nvSpPr>
        <p:spPr>
          <a:xfrm>
            <a:off x="320047" y="3986292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 txBox="1"/>
          <p:nvPr/>
        </p:nvSpPr>
        <p:spPr>
          <a:xfrm>
            <a:off x="387459" y="4053704"/>
            <a:ext cx="1921200" cy="20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Command</a:t>
            </a:r>
            <a:endParaRPr sz="1032"/>
          </a:p>
        </p:txBody>
      </p:sp>
      <p:sp>
        <p:nvSpPr>
          <p:cNvPr id="525" name="Google Shape;525;p12"/>
          <p:cNvSpPr/>
          <p:nvPr/>
        </p:nvSpPr>
        <p:spPr>
          <a:xfrm>
            <a:off x="2342388" y="3986292"/>
            <a:ext cx="6471600" cy="471900"/>
          </a:xfrm>
          <a:prstGeom prst="rect">
            <a:avLst/>
          </a:prstGeom>
          <a:noFill/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 txBox="1"/>
          <p:nvPr/>
        </p:nvSpPr>
        <p:spPr>
          <a:xfrm>
            <a:off x="2430023" y="4053704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make uart  →  loopback  →  tx_byte == rx_byte  →  PASS  →  inspect tb_uart.vcd in GTKWave</a:t>
            </a:r>
            <a:endParaRPr sz="1032"/>
          </a:p>
        </p:txBody>
      </p:sp>
      <p:sp>
        <p:nvSpPr>
          <p:cNvPr id="527" name="Google Shape;527;p12"/>
          <p:cNvSpPr/>
          <p:nvPr/>
        </p:nvSpPr>
        <p:spPr>
          <a:xfrm>
            <a:off x="320047" y="4545806"/>
            <a:ext cx="2022300" cy="4719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 txBox="1"/>
          <p:nvPr/>
        </p:nvSpPr>
        <p:spPr>
          <a:xfrm>
            <a:off x="387459" y="4613217"/>
            <a:ext cx="1921200" cy="204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SoC</a:t>
            </a:r>
            <a:endParaRPr sz="1032"/>
          </a:p>
        </p:txBody>
      </p:sp>
      <p:sp>
        <p:nvSpPr>
          <p:cNvPr id="529" name="Google Shape;529;p12"/>
          <p:cNvSpPr/>
          <p:nvPr/>
        </p:nvSpPr>
        <p:spPr>
          <a:xfrm>
            <a:off x="2342388" y="4545806"/>
            <a:ext cx="6471600" cy="471900"/>
          </a:xfrm>
          <a:prstGeom prst="rect">
            <a:avLst/>
          </a:prstGeom>
          <a:solidFill>
            <a:srgbClr val="D6E8FF">
              <a:alpha val="60000"/>
            </a:srgbClr>
          </a:solidFill>
          <a:ln>
            <a:noFill/>
          </a:ln>
          <a:effectLst>
            <a:outerShdw blurRad="29489" dist="16956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7400" tIns="33700" rIns="67400" bIns="33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 txBox="1"/>
          <p:nvPr/>
        </p:nvSpPr>
        <p:spPr>
          <a:xfrm>
            <a:off x="2430023" y="4613217"/>
            <a:ext cx="63231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00" tIns="33700" rIns="67400" bIns="33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UART enabled via AXI write to 0x1000_0000 — uart_axi.v wraps TX+RX with AXI-Lite backpressure</a:t>
            </a:r>
            <a:endParaRPr sz="103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2205</Words>
  <Application>Microsoft Office PowerPoint</Application>
  <PresentationFormat>On-screen Show (16:9)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acer</cp:lastModifiedBy>
  <cp:revision>1</cp:revision>
  <dcterms:created xsi:type="dcterms:W3CDTF">2026-04-24T09:47:54Z</dcterms:created>
  <dcterms:modified xsi:type="dcterms:W3CDTF">2026-05-09T13:10:33Z</dcterms:modified>
</cp:coreProperties>
</file>