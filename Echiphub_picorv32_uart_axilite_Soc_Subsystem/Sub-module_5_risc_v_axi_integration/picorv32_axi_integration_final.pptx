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yZf+xsUcKt9SOtwBsCgWPFK4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DC0CB7-83C1-4F9A-B7B1-EBB327AD35FF}">
  <a:tblStyle styleId="{2FDC0CB7-83C1-4F9A-B7B1-EBB327AD35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b0311e21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b0311e218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db0311e218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b0311e21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db0311e218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3db0311e218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5" name="Google Shape;46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b0311e218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b0311e218_0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3db0311e218_0_2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-224" y="4103518"/>
            <a:ext cx="9144459" cy="1039980"/>
            <a:chOff x="0" y="0"/>
            <a:chExt cx="24417782" cy="2776982"/>
          </a:xfrm>
        </p:grpSpPr>
        <p:sp>
          <p:nvSpPr>
            <p:cNvPr id="17" name="Google Shape;17;p1"/>
            <p:cNvSpPr/>
            <p:nvPr/>
          </p:nvSpPr>
          <p:spPr>
            <a:xfrm>
              <a:off x="16891" y="16891"/>
              <a:ext cx="24383999" cy="2743200"/>
            </a:xfrm>
            <a:custGeom>
              <a:avLst/>
              <a:gdLst/>
              <a:ahLst/>
              <a:cxnLst/>
              <a:rect l="l" t="t" r="r" b="b"/>
              <a:pathLst>
                <a:path w="24383999" h="2743200" extrusionOk="0">
                  <a:moveTo>
                    <a:pt x="0" y="0"/>
                  </a:moveTo>
                  <a:lnTo>
                    <a:pt x="24383999" y="0"/>
                  </a:lnTo>
                  <a:lnTo>
                    <a:pt x="2438399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0" y="0"/>
              <a:ext cx="24417782" cy="2776982"/>
            </a:xfrm>
            <a:custGeom>
              <a:avLst/>
              <a:gdLst/>
              <a:ahLst/>
              <a:cxnLst/>
              <a:rect l="l" t="t" r="r" b="b"/>
              <a:pathLst>
                <a:path w="24417782" h="2776982" extrusionOk="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760091"/>
                  </a:lnTo>
                  <a:cubicBezTo>
                    <a:pt x="24417782" y="2769489"/>
                    <a:pt x="24410163" y="2776982"/>
                    <a:pt x="24400890" y="2776982"/>
                  </a:cubicBezTo>
                  <a:lnTo>
                    <a:pt x="16891" y="2776982"/>
                  </a:lnTo>
                  <a:cubicBezTo>
                    <a:pt x="7493" y="2776982"/>
                    <a:pt x="0" y="2769362"/>
                    <a:pt x="0" y="276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60091"/>
                  </a:lnTo>
                  <a:lnTo>
                    <a:pt x="16891" y="2760091"/>
                  </a:lnTo>
                  <a:lnTo>
                    <a:pt x="16891" y="2743200"/>
                  </a:lnTo>
                  <a:lnTo>
                    <a:pt x="24400890" y="2743200"/>
                  </a:lnTo>
                  <a:lnTo>
                    <a:pt x="24400890" y="2760091"/>
                  </a:lnTo>
                  <a:lnTo>
                    <a:pt x="24384000" y="2760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645311" y="797368"/>
            <a:ext cx="8218627" cy="478049"/>
            <a:chOff x="0" y="-57150"/>
            <a:chExt cx="21945600" cy="1276500"/>
          </a:xfrm>
        </p:grpSpPr>
        <p:sp>
          <p:nvSpPr>
            <p:cNvPr id="20" name="Google Shape;20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 txBox="1"/>
            <p:nvPr/>
          </p:nvSpPr>
          <p:spPr>
            <a:xfrm>
              <a:off x="0" y="-57150"/>
              <a:ext cx="21945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Sub-module  5</a:t>
              </a:r>
              <a:endParaRPr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1"/>
          <p:cNvGrpSpPr/>
          <p:nvPr/>
        </p:nvGrpSpPr>
        <p:grpSpPr>
          <a:xfrm>
            <a:off x="645311" y="1152158"/>
            <a:ext cx="8218627" cy="1405499"/>
            <a:chOff x="0" y="-95250"/>
            <a:chExt cx="21945600" cy="3753000"/>
          </a:xfrm>
        </p:grpSpPr>
        <p:sp>
          <p:nvSpPr>
            <p:cNvPr id="23" name="Google Shape;23;p1"/>
            <p:cNvSpPr/>
            <p:nvPr/>
          </p:nvSpPr>
          <p:spPr>
            <a:xfrm>
              <a:off x="0" y="0"/>
              <a:ext cx="21945600" cy="3657600"/>
            </a:xfrm>
            <a:custGeom>
              <a:avLst/>
              <a:gdLst/>
              <a:ahLst/>
              <a:cxnLst/>
              <a:rect l="l" t="t" r="r" b="b"/>
              <a:pathLst>
                <a:path w="21945600" h="36576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 txBox="1"/>
            <p:nvPr/>
          </p:nvSpPr>
          <p:spPr>
            <a:xfrm>
              <a:off x="0" y="-95250"/>
              <a:ext cx="21945600" cy="3753000"/>
            </a:xfrm>
            <a:prstGeom prst="rect">
              <a:avLst/>
            </a:pr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3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RISC-V AXI Integration</a:t>
              </a:r>
              <a:endParaRPr sz="519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" name="Google Shape;25;p1"/>
          <p:cNvGrpSpPr/>
          <p:nvPr/>
        </p:nvGrpSpPr>
        <p:grpSpPr>
          <a:xfrm>
            <a:off x="645311" y="2669530"/>
            <a:ext cx="6848856" cy="664213"/>
            <a:chOff x="0" y="-66675"/>
            <a:chExt cx="18288000" cy="1773600"/>
          </a:xfrm>
        </p:grpSpPr>
        <p:sp>
          <p:nvSpPr>
            <p:cNvPr id="26" name="Google Shape;26;p1"/>
            <p:cNvSpPr/>
            <p:nvPr/>
          </p:nvSpPr>
          <p:spPr>
            <a:xfrm>
              <a:off x="0" y="0"/>
              <a:ext cx="18288000" cy="1706880"/>
            </a:xfrm>
            <a:custGeom>
              <a:avLst/>
              <a:gdLst/>
              <a:ahLst/>
              <a:cxnLst/>
              <a:rect l="l" t="t" r="r" b="b"/>
              <a:pathLst>
                <a:path w="18288000" h="170688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 txBox="1"/>
            <p:nvPr/>
          </p:nvSpPr>
          <p:spPr>
            <a:xfrm>
              <a:off x="0" y="-66675"/>
              <a:ext cx="18288000" cy="177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0E8F5"/>
                </a:buClr>
                <a:buSzPts val="1800"/>
                <a:buFont typeface="Calibri"/>
                <a:buNone/>
              </a:pPr>
              <a:r>
                <a:rPr lang="en-US" sz="1800" i="1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PicoRV32 ↔ AXI-Lite Bridge FSM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1"/>
          <p:cNvGrpSpPr/>
          <p:nvPr/>
        </p:nvGrpSpPr>
        <p:grpSpPr>
          <a:xfrm>
            <a:off x="645311" y="4186903"/>
            <a:ext cx="8218627" cy="470859"/>
            <a:chOff x="0" y="-38100"/>
            <a:chExt cx="21945600" cy="1257300"/>
          </a:xfrm>
        </p:grpSpPr>
        <p:sp>
          <p:nvSpPr>
            <p:cNvPr id="29" name="Google Shape;29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45650" tIns="22825" rIns="45650" bIns="22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9"/>
                <a:buFont typeface="Arial"/>
                <a:buNone/>
              </a:pPr>
              <a:endParaRPr sz="8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learners with RISC-V ISA and AXI4-Lite fundamentals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/>
        </p:nvSpPr>
        <p:spPr>
          <a:xfrm>
            <a:off x="363506" y="595425"/>
            <a:ext cx="80529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9"/>
              <a:buFont typeface="Arial"/>
              <a:buNone/>
            </a:pPr>
            <a:r>
              <a:rPr lang="en-US" sz="273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We'll Cover</a:t>
            </a:r>
            <a:endParaRPr sz="68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3500" y="1225675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2"/>
          <p:cNvGrpSpPr/>
          <p:nvPr/>
        </p:nvGrpSpPr>
        <p:grpSpPr>
          <a:xfrm>
            <a:off x="470872" y="1292696"/>
            <a:ext cx="375779" cy="333139"/>
            <a:chOff x="0" y="-47625"/>
            <a:chExt cx="1024200" cy="1218057"/>
          </a:xfrm>
        </p:grpSpPr>
        <p:sp>
          <p:nvSpPr>
            <p:cNvPr id="39" name="Google Shape;3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876253" y="1287749"/>
            <a:ext cx="30288" cy="356029"/>
            <a:chOff x="0" y="0"/>
            <a:chExt cx="82550" cy="1301750"/>
          </a:xfrm>
        </p:grpSpPr>
        <p:sp>
          <p:nvSpPr>
            <p:cNvPr id="42" name="Google Shape;4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2"/>
          <p:cNvSpPr/>
          <p:nvPr/>
        </p:nvSpPr>
        <p:spPr>
          <a:xfrm>
            <a:off x="363500" y="1792672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2"/>
          <p:cNvGrpSpPr/>
          <p:nvPr/>
        </p:nvGrpSpPr>
        <p:grpSpPr>
          <a:xfrm>
            <a:off x="470872" y="1859694"/>
            <a:ext cx="375779" cy="333139"/>
            <a:chOff x="0" y="-47625"/>
            <a:chExt cx="1024200" cy="1218057"/>
          </a:xfrm>
        </p:grpSpPr>
        <p:sp>
          <p:nvSpPr>
            <p:cNvPr id="46" name="Google Shape;46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2"/>
          <p:cNvGrpSpPr/>
          <p:nvPr/>
        </p:nvGrpSpPr>
        <p:grpSpPr>
          <a:xfrm>
            <a:off x="1007733" y="1287741"/>
            <a:ext cx="3220758" cy="356103"/>
            <a:chOff x="0" y="-38100"/>
            <a:chExt cx="8778300" cy="769620"/>
          </a:xfrm>
        </p:grpSpPr>
        <p:sp>
          <p:nvSpPr>
            <p:cNvPr id="49" name="Google Shape;49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i="0" u="none" strike="noStrike" cap="none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Integration Problem Statement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876253" y="1854747"/>
            <a:ext cx="30288" cy="356029"/>
            <a:chOff x="0" y="0"/>
            <a:chExt cx="82550" cy="1301750"/>
          </a:xfrm>
        </p:grpSpPr>
        <p:sp>
          <p:nvSpPr>
            <p:cNvPr id="52" name="Google Shape;5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1007733" y="1854750"/>
            <a:ext cx="3220758" cy="356026"/>
            <a:chOff x="0" y="-38100"/>
            <a:chExt cx="8778300" cy="769620"/>
          </a:xfrm>
        </p:grpSpPr>
        <p:sp>
          <p:nvSpPr>
            <p:cNvPr id="55" name="Google Shape;5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i="0" u="none" strike="noStrike" cap="none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PicoRV32 Native Memory Interface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2"/>
          <p:cNvSpPr/>
          <p:nvPr/>
        </p:nvSpPr>
        <p:spPr>
          <a:xfrm>
            <a:off x="363500" y="2359670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Google Shape;58;p2"/>
          <p:cNvGrpSpPr/>
          <p:nvPr/>
        </p:nvGrpSpPr>
        <p:grpSpPr>
          <a:xfrm>
            <a:off x="470872" y="2426691"/>
            <a:ext cx="375779" cy="333139"/>
            <a:chOff x="0" y="-47625"/>
            <a:chExt cx="1024200" cy="1218057"/>
          </a:xfrm>
        </p:grpSpPr>
        <p:sp>
          <p:nvSpPr>
            <p:cNvPr id="59" name="Google Shape;5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876253" y="2421744"/>
            <a:ext cx="30288" cy="356029"/>
            <a:chOff x="0" y="0"/>
            <a:chExt cx="82550" cy="1301750"/>
          </a:xfrm>
        </p:grpSpPr>
        <p:sp>
          <p:nvSpPr>
            <p:cNvPr id="62" name="Google Shape;6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2"/>
          <p:cNvGrpSpPr/>
          <p:nvPr/>
        </p:nvGrpSpPr>
        <p:grpSpPr>
          <a:xfrm>
            <a:off x="1007733" y="2426686"/>
            <a:ext cx="3220758" cy="333168"/>
            <a:chOff x="0" y="-38100"/>
            <a:chExt cx="8778300" cy="769620"/>
          </a:xfrm>
        </p:grpSpPr>
        <p:sp>
          <p:nvSpPr>
            <p:cNvPr id="65" name="Google Shape;6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i="0" u="none" strike="noStrike" cap="none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Why Introduce AXI4-Lite?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363500" y="2926667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470872" y="2993689"/>
            <a:ext cx="375779" cy="333139"/>
            <a:chOff x="0" y="-47625"/>
            <a:chExt cx="1024200" cy="1218057"/>
          </a:xfrm>
        </p:grpSpPr>
        <p:sp>
          <p:nvSpPr>
            <p:cNvPr id="69" name="Google Shape;6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2"/>
          <p:cNvGrpSpPr/>
          <p:nvPr/>
        </p:nvGrpSpPr>
        <p:grpSpPr>
          <a:xfrm>
            <a:off x="876253" y="2988742"/>
            <a:ext cx="30288" cy="356029"/>
            <a:chOff x="0" y="0"/>
            <a:chExt cx="82550" cy="1301750"/>
          </a:xfrm>
        </p:grpSpPr>
        <p:sp>
          <p:nvSpPr>
            <p:cNvPr id="72" name="Google Shape;7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1007733" y="2993689"/>
            <a:ext cx="3220758" cy="333168"/>
            <a:chOff x="0" y="-38100"/>
            <a:chExt cx="8778300" cy="769620"/>
          </a:xfrm>
        </p:grpSpPr>
        <p:sp>
          <p:nvSpPr>
            <p:cNvPr id="75" name="Google Shape;7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THIS Project’s Bridge — Custom FSM in top.v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2"/>
          <p:cNvSpPr/>
          <p:nvPr/>
        </p:nvSpPr>
        <p:spPr>
          <a:xfrm>
            <a:off x="363500" y="3493665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470872" y="3560686"/>
            <a:ext cx="375779" cy="333139"/>
            <a:chOff x="0" y="-47625"/>
            <a:chExt cx="1024200" cy="1218057"/>
          </a:xfrm>
        </p:grpSpPr>
        <p:sp>
          <p:nvSpPr>
            <p:cNvPr id="79" name="Google Shape;7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76253" y="3555739"/>
            <a:ext cx="30288" cy="356029"/>
            <a:chOff x="0" y="0"/>
            <a:chExt cx="82550" cy="1301750"/>
          </a:xfrm>
        </p:grpSpPr>
        <p:sp>
          <p:nvSpPr>
            <p:cNvPr id="82" name="Google Shape;8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1007733" y="3560688"/>
            <a:ext cx="3220758" cy="333168"/>
            <a:chOff x="0" y="-38100"/>
            <a:chExt cx="8778300" cy="769620"/>
          </a:xfrm>
        </p:grpSpPr>
        <p:sp>
          <p:nvSpPr>
            <p:cNvPr id="85" name="Google Shape;8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i="0" u="none" strike="noStrike" cap="none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SoC Architecture Overview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"/>
          <p:cNvSpPr/>
          <p:nvPr/>
        </p:nvSpPr>
        <p:spPr>
          <a:xfrm>
            <a:off x="4658384" y="1225675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2"/>
          <p:cNvGrpSpPr/>
          <p:nvPr/>
        </p:nvGrpSpPr>
        <p:grpSpPr>
          <a:xfrm>
            <a:off x="4765756" y="1292696"/>
            <a:ext cx="375779" cy="333139"/>
            <a:chOff x="0" y="-47625"/>
            <a:chExt cx="1024200" cy="1218057"/>
          </a:xfrm>
        </p:grpSpPr>
        <p:sp>
          <p:nvSpPr>
            <p:cNvPr id="89" name="Google Shape;8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2"/>
          <p:cNvGrpSpPr/>
          <p:nvPr/>
        </p:nvGrpSpPr>
        <p:grpSpPr>
          <a:xfrm>
            <a:off x="5171137" y="1287749"/>
            <a:ext cx="30288" cy="356029"/>
            <a:chOff x="0" y="0"/>
            <a:chExt cx="82550" cy="1301750"/>
          </a:xfrm>
        </p:grpSpPr>
        <p:sp>
          <p:nvSpPr>
            <p:cNvPr id="92" name="Google Shape;9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5302622" y="1287744"/>
            <a:ext cx="3220758" cy="333168"/>
            <a:chOff x="0" y="-38100"/>
            <a:chExt cx="8778300" cy="76962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AXI Write &amp; Read Transactions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4658384" y="1792672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4765756" y="1859694"/>
            <a:ext cx="375779" cy="333139"/>
            <a:chOff x="0" y="-47625"/>
            <a:chExt cx="1024200" cy="1218057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09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5171137" y="1854747"/>
            <a:ext cx="30288" cy="356029"/>
            <a:chOff x="0" y="0"/>
            <a:chExt cx="82550" cy="1301750"/>
          </a:xfrm>
        </p:grpSpPr>
        <p:sp>
          <p:nvSpPr>
            <p:cNvPr id="102" name="Google Shape;10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5302622" y="1859691"/>
            <a:ext cx="3220758" cy="333168"/>
            <a:chOff x="0" y="-38100"/>
            <a:chExt cx="8778300" cy="76962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Design Rules 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4658384" y="2359670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4765756" y="2426691"/>
            <a:ext cx="375779" cy="333139"/>
            <a:chOff x="0" y="-47625"/>
            <a:chExt cx="1024200" cy="1218057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5171137" y="2421744"/>
            <a:ext cx="30288" cy="356029"/>
            <a:chOff x="0" y="0"/>
            <a:chExt cx="82550" cy="1301750"/>
          </a:xfrm>
        </p:grpSpPr>
        <p:sp>
          <p:nvSpPr>
            <p:cNvPr id="112" name="Google Shape;11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5302622" y="2426686"/>
            <a:ext cx="3220758" cy="333168"/>
            <a:chOff x="0" y="-38100"/>
            <a:chExt cx="8778300" cy="76962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End-to-End: uart_putc(‘H’) Full Signal Trace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4658384" y="2926667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4765756" y="2993689"/>
            <a:ext cx="375779" cy="333139"/>
            <a:chOff x="0" y="-47625"/>
            <a:chExt cx="1024200" cy="1218057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171137" y="2988742"/>
            <a:ext cx="30288" cy="356029"/>
            <a:chOff x="0" y="0"/>
            <a:chExt cx="82550" cy="1301750"/>
          </a:xfrm>
        </p:grpSpPr>
        <p:sp>
          <p:nvSpPr>
            <p:cNvPr id="122" name="Google Shape;12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5302622" y="2993679"/>
            <a:ext cx="3220758" cy="333239"/>
            <a:chOff x="0" y="0"/>
            <a:chExt cx="8778300" cy="1341001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1"/>
              <a:ext cx="87783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Firmware Macros — fw/main.c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363509" y="4027725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470881" y="4093971"/>
            <a:ext cx="375779" cy="333139"/>
            <a:chOff x="0" y="-47625"/>
            <a:chExt cx="1024200" cy="1218057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876262" y="4089024"/>
            <a:ext cx="30288" cy="356029"/>
            <a:chOff x="0" y="0"/>
            <a:chExt cx="82550" cy="1301750"/>
          </a:xfrm>
        </p:grpSpPr>
        <p:sp>
          <p:nvSpPr>
            <p:cNvPr id="132" name="Google Shape;13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007747" y="4089019"/>
            <a:ext cx="3220758" cy="333168"/>
            <a:chOff x="0" y="-38100"/>
            <a:chExt cx="8778300" cy="76962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Bridge FSM: 5 States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2"/>
          <p:cNvSpPr/>
          <p:nvPr/>
        </p:nvSpPr>
        <p:spPr>
          <a:xfrm>
            <a:off x="363509" y="4561772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2"/>
          <p:cNvGrpSpPr/>
          <p:nvPr/>
        </p:nvGrpSpPr>
        <p:grpSpPr>
          <a:xfrm>
            <a:off x="470881" y="4628794"/>
            <a:ext cx="375779" cy="333139"/>
            <a:chOff x="0" y="-47625"/>
            <a:chExt cx="1024200" cy="1218057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"/>
          <p:cNvGrpSpPr/>
          <p:nvPr/>
        </p:nvGrpSpPr>
        <p:grpSpPr>
          <a:xfrm>
            <a:off x="876262" y="4623847"/>
            <a:ext cx="30288" cy="356029"/>
            <a:chOff x="0" y="0"/>
            <a:chExt cx="82550" cy="1301750"/>
          </a:xfrm>
        </p:grpSpPr>
        <p:sp>
          <p:nvSpPr>
            <p:cNvPr id="142" name="Google Shape;14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1007747" y="4628791"/>
            <a:ext cx="3220758" cy="333168"/>
            <a:chOff x="0" y="-38100"/>
            <a:chExt cx="8778300" cy="76962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Bridge Registers &amp; ASIC-Clean Code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4658375" y="3493677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2"/>
          <p:cNvGrpSpPr/>
          <p:nvPr/>
        </p:nvGrpSpPr>
        <p:grpSpPr>
          <a:xfrm>
            <a:off x="4765747" y="3560699"/>
            <a:ext cx="375779" cy="333139"/>
            <a:chOff x="0" y="-47625"/>
            <a:chExt cx="1024200" cy="1218057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5171128" y="3555752"/>
            <a:ext cx="30288" cy="356029"/>
            <a:chOff x="0" y="0"/>
            <a:chExt cx="82550" cy="1301750"/>
          </a:xfrm>
        </p:grpSpPr>
        <p:sp>
          <p:nvSpPr>
            <p:cNvPr id="152" name="Google Shape;15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5302608" y="3560701"/>
            <a:ext cx="3220758" cy="333168"/>
            <a:chOff x="0" y="-38100"/>
            <a:chExt cx="8778300" cy="76962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Lab: make riscv_axi</a:t>
              </a:r>
              <a:endParaRPr sz="11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"/>
          <p:cNvSpPr/>
          <p:nvPr/>
        </p:nvSpPr>
        <p:spPr>
          <a:xfrm>
            <a:off x="4658384" y="4027738"/>
            <a:ext cx="4122115" cy="482803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4725" tIns="22350" rIns="44725" bIns="223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endParaRPr sz="11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p2"/>
          <p:cNvGrpSpPr/>
          <p:nvPr/>
        </p:nvGrpSpPr>
        <p:grpSpPr>
          <a:xfrm>
            <a:off x="4765756" y="4093984"/>
            <a:ext cx="375779" cy="333139"/>
            <a:chOff x="0" y="-47625"/>
            <a:chExt cx="1024200" cy="1218057"/>
          </a:xfrm>
        </p:grpSpPr>
        <p:sp>
          <p:nvSpPr>
            <p:cNvPr id="159" name="Google Shape;15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69"/>
                <a:buFont typeface="Arial"/>
                <a:buNone/>
              </a:pPr>
              <a:r>
                <a:rPr lang="en-US" sz="136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68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2"/>
          <p:cNvGrpSpPr/>
          <p:nvPr/>
        </p:nvGrpSpPr>
        <p:grpSpPr>
          <a:xfrm>
            <a:off x="5171137" y="4089037"/>
            <a:ext cx="30288" cy="356029"/>
            <a:chOff x="0" y="0"/>
            <a:chExt cx="82550" cy="1301750"/>
          </a:xfrm>
        </p:grpSpPr>
        <p:sp>
          <p:nvSpPr>
            <p:cNvPr id="162" name="Google Shape;16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88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2"/>
          <p:cNvGrpSpPr/>
          <p:nvPr/>
        </p:nvGrpSpPr>
        <p:grpSpPr>
          <a:xfrm>
            <a:off x="5302622" y="4089031"/>
            <a:ext cx="3220758" cy="333168"/>
            <a:chOff x="0" y="-38100"/>
            <a:chExt cx="8778300" cy="769620"/>
          </a:xfrm>
        </p:grpSpPr>
        <p:sp>
          <p:nvSpPr>
            <p:cNvPr id="165" name="Google Shape;16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4725" tIns="22350" rIns="44725" bIns="223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Arial"/>
                <a:buNone/>
              </a:pP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Summary</a:t>
              </a:r>
              <a:endParaRPr sz="11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/>
          <p:nvPr/>
        </p:nvSpPr>
        <p:spPr>
          <a:xfrm>
            <a:off x="310840" y="584451"/>
            <a:ext cx="84126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274325" y="1133838"/>
            <a:ext cx="8595300" cy="508200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A8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02341" y="1166633"/>
            <a:ext cx="9144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Analogy</a:t>
            </a:r>
            <a:r>
              <a:rPr lang="en-US" sz="105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02341" y="1330609"/>
            <a:ext cx="83211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PicoRV32 speaks its own simple handshake language (mem_valid/mem_ready). AXI4-Lite is a richer, industry-standard protocol used by most SoC IP blocks. To connect them, you need a translator — an adapter — just like a plug adapter when travelling abroad.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274325" y="1765145"/>
            <a:ext cx="2798100" cy="287100"/>
          </a:xfrm>
          <a:prstGeom prst="rect">
            <a:avLst/>
          </a:prstGeom>
          <a:solidFill>
            <a:srgbClr val="2B6CB0"/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365765" y="1765145"/>
            <a:ext cx="26151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 Native Bus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74325" y="2052103"/>
            <a:ext cx="2798100" cy="1885800"/>
          </a:xfrm>
          <a:prstGeom prst="rect">
            <a:avLst/>
          </a:prstGeom>
          <a:solidFill>
            <a:srgbClr val="00B0F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365765" y="2134091"/>
            <a:ext cx="26151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Uses mem_valid to request a transfer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Waits (stalls) until mem_ready=1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One transaction at a time — very simple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No channels, no separate handshakes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3163826" y="1765145"/>
            <a:ext cx="2798100" cy="287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3255266" y="1765145"/>
            <a:ext cx="26151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Mismatch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3163826" y="2052103"/>
            <a:ext cx="2798100" cy="1885800"/>
          </a:xfrm>
          <a:prstGeom prst="rect">
            <a:avLst/>
          </a:prstGeom>
          <a:solidFill>
            <a:srgbClr val="FEF9E7">
              <a:alpha val="5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3255266" y="2134091"/>
            <a:ext cx="26151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AXI4-Lite has 5 independent channels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Each channel has its own VALID/READY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Most SoC IP only exposes AXI interfaces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You cannot wire them together directly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6053326" y="1765145"/>
            <a:ext cx="2798100" cy="2871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144766" y="1765145"/>
            <a:ext cx="26151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053326" y="2052103"/>
            <a:ext cx="2798100" cy="1885800"/>
          </a:xfrm>
          <a:prstGeom prst="rect">
            <a:avLst/>
          </a:prstGeom>
          <a:solidFill>
            <a:srgbClr val="E8F5E9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144766" y="2134091"/>
            <a:ext cx="26151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Use picorv32_axi wrapper, 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Use picorv32 + axi_adapter bridge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The adapter converts single-channel mem bus → 5-channel AXI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Rest of SoC sees a clean AXI master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274325" y="4085404"/>
            <a:ext cx="8595300" cy="696900"/>
          </a:xfrm>
          <a:prstGeom prst="rect">
            <a:avLst/>
          </a:prstGeom>
          <a:solidFill>
            <a:srgbClr val="EDF2F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02341" y="4134597"/>
            <a:ext cx="22860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Prerequisites assumed: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402341" y="4314970"/>
            <a:ext cx="822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RISC-V ISA — you know how lw / sw / store instructions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AXI4-Lite — you know the 5 channels (AW, W, B, AR, R) and VALID/READY handshake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/>
          <p:nvPr/>
        </p:nvSpPr>
        <p:spPr>
          <a:xfrm>
            <a:off x="-9075" y="416625"/>
            <a:ext cx="9144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274360" y="599370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PicoRV32 Native Memory Interface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274350" y="3826875"/>
            <a:ext cx="8595300" cy="1038000"/>
          </a:xfrm>
          <a:prstGeom prst="rect">
            <a:avLst/>
          </a:prstGeom>
          <a:solidFill>
            <a:srgbClr val="00B0F0">
              <a:alpha val="3921"/>
            </a:srgbClr>
          </a:solidFill>
          <a:ln w="1270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02386" y="3826882"/>
            <a:ext cx="36576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Handshake Rules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402366" y="4084593"/>
            <a:ext cx="83211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0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mem_valid MUST stay HIGH until mem_ready=1</a:t>
            </a:r>
            <a:b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mem_wstrb≠0 → Write transaction; =0 → Read transaction</a:t>
            </a:r>
            <a:b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One outstanding transaction at a time</a:t>
            </a:r>
            <a:b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CATCH_MISALIGN=1 and CATCH_ILLINSN=1 active in this project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p4"/>
          <p:cNvGraphicFramePr/>
          <p:nvPr/>
        </p:nvGraphicFramePr>
        <p:xfrm>
          <a:off x="320028" y="1207275"/>
          <a:ext cx="8503925" cy="2487200"/>
        </p:xfrm>
        <a:graphic>
          <a:graphicData uri="http://schemas.openxmlformats.org/drawingml/2006/table">
            <a:tbl>
              <a:tblPr>
                <a:noFill/>
                <a:tableStyleId>{2FDC0CB7-83C1-4F9A-B7B1-EBB327AD35FF}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Width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mem_valid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asserts: memory request active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mem_ready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Slave responds: request accepted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mem_addr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byte address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mem_wdata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data (byte-lane aligned)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mem_wstrb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 enables — non-zero = write, 0 = read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mem_rdata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 data from slave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mem_instr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 fetch (vs data access)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/>
          <p:nvPr/>
        </p:nvSpPr>
        <p:spPr>
          <a:xfrm>
            <a:off x="380565" y="40620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AXI4-Lite?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80575" y="1320500"/>
            <a:ext cx="4104900" cy="1617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80575" y="1320500"/>
            <a:ext cx="53700" cy="161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14424" y="1444914"/>
            <a:ext cx="4908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049820" y="1469797"/>
            <a:ext cx="33018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Industry Standard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14424" y="1859627"/>
            <a:ext cx="38370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AXI4-Lite is ARM AMBA spec — used in Xilinx, Intel, SiFive IP. Familiarity and toolchain support.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708358" y="1320500"/>
            <a:ext cx="4104900" cy="1617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4708358" y="1320500"/>
            <a:ext cx="53700" cy="1617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842207" y="1444914"/>
            <a:ext cx="4908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377603" y="1469797"/>
            <a:ext cx="33018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Simple Subset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842207" y="1859627"/>
            <a:ext cx="38370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No bursts, no out-of-order. Single-beat transfers only — matches PicoRV32's one-outstanding-TX constraint perfectly.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80575" y="3062295"/>
            <a:ext cx="4104900" cy="1617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80575" y="3062295"/>
            <a:ext cx="53700" cy="1617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514424" y="3186709"/>
            <a:ext cx="4908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2200" b="0" i="0" u="none" strike="noStrike" cap="non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049820" y="3211592"/>
            <a:ext cx="33018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Peripheral Ecosystem</a:t>
            </a:r>
            <a:endParaRPr sz="1400" b="0" i="0" u="none" strike="noStrike" cap="non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514424" y="3601422"/>
            <a:ext cx="38370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AXI-Lite slaves (UART, GPIO, SPI) are readily available and reusable. uart_axi.v drops in without modification.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708358" y="3062295"/>
            <a:ext cx="4104900" cy="161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708358" y="3062295"/>
            <a:ext cx="53700" cy="1617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4842207" y="3186709"/>
            <a:ext cx="4908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377603" y="3211592"/>
            <a:ext cx="33018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Verifiable Waveforms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842207" y="3601422"/>
            <a:ext cx="38370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5 named channels produce clear GTKWave traces. b_state[2:0] lets students trace every cycle of the handshake.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426300" y="456200"/>
            <a:ext cx="82638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Project's Bridge — Custom FSM in top.v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26300" y="1017239"/>
            <a:ext cx="82638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NOT picorv32_axi wrapper — fully visible custom logic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26300" y="1224747"/>
            <a:ext cx="3998700" cy="33045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26300" y="1224747"/>
            <a:ext cx="3998700" cy="276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15157" y="1224747"/>
            <a:ext cx="38208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CUSTOM?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59586" y="1547536"/>
            <a:ext cx="3687600" cy="28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Native bus stays accessible for debug</a:t>
            </a:r>
            <a:b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Fully visible: rtl/top.v lines 91–224</a:t>
            </a:r>
            <a:b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Integrates with 3-slave interconnect</a:t>
            </a:r>
            <a:b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ASIC-clean: no initial blocks, no = value initializers</a:t>
            </a:r>
            <a:b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b_state[2:0] observable in GTKWave</a:t>
            </a:r>
            <a:b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602591" y="1224747"/>
            <a:ext cx="4087500" cy="33045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602591" y="1224747"/>
            <a:ext cx="4087500" cy="2763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691449" y="1224747"/>
            <a:ext cx="3909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 SIGNALS (m_axi_*)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691449" y="1547536"/>
            <a:ext cx="3909600" cy="29052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780306" y="1609020"/>
            <a:ext cx="3732300" cy="27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Outputs (CPU → Fabric)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m_axi_awaddr   [31:0]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m_axi_awvalid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m_axi_wdata    [31:0]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m_axi_wstrb    [3:0]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m_axi_wvalid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m_axi_bready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m_axi_araddr   [31:0]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m_axi_arvalid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m_axi_rready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Inputs (Fabric → CPU)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m_axi_awready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m_axi_wready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m_axi_bvalid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m_axi_arready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m_axi_rvalid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m_axi_rdata    [31:0]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/>
          <p:nvPr/>
        </p:nvSpPr>
        <p:spPr>
          <a:xfrm>
            <a:off x="0" y="378600"/>
            <a:ext cx="90330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70998" y="479828"/>
            <a:ext cx="83106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 Architecture Overview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0992" y="986676"/>
            <a:ext cx="84909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How the PicoRV32 master, interconnect, and AXI4-Lite slaves fit together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154675" y="1223070"/>
            <a:ext cx="2743200" cy="640200"/>
          </a:xfrm>
          <a:prstGeom prst="rect">
            <a:avLst/>
          </a:prstGeom>
          <a:solidFill>
            <a:srgbClr val="1A3A5C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154675" y="1223070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 CPU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063235" y="1890582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↓ mem_valid / mem_ready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606035" y="2183190"/>
            <a:ext cx="3840600" cy="594300"/>
          </a:xfrm>
          <a:prstGeom prst="rect">
            <a:avLst/>
          </a:prstGeom>
          <a:solidFill>
            <a:srgbClr val="2471A3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2606035" y="2183190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CPU-to-AXI Bridge (rtl/top.v  lines 91–224)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063235" y="2804982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↓ AXI-Lite 5-channel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1600195" y="3097590"/>
            <a:ext cx="5852100" cy="5304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1600195" y="3097590"/>
            <a:ext cx="5852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AXI-Lite Interconnect (axi_lite_interconnect.v) + Decoder (axi_decoder.v)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15" y="3902262"/>
            <a:ext cx="2743200" cy="96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274315" y="3902262"/>
            <a:ext cx="2743200" cy="3201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274315" y="390226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S0: ROM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(rom.v)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65755" y="4258878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– 0x0000_FFFF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7"/>
          <p:cNvCxnSpPr/>
          <p:nvPr/>
        </p:nvCxnSpPr>
        <p:spPr>
          <a:xfrm>
            <a:off x="4571995" y="3627942"/>
            <a:ext cx="0" cy="274200"/>
          </a:xfrm>
          <a:prstGeom prst="straightConnector1">
            <a:avLst/>
          </a:prstGeom>
          <a:noFill/>
          <a:ln w="19050" cap="flat" cmpd="sng">
            <a:solidFill>
              <a:srgbClr val="5D6D7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p7"/>
          <p:cNvSpPr/>
          <p:nvPr/>
        </p:nvSpPr>
        <p:spPr>
          <a:xfrm>
            <a:off x="3200395" y="3902262"/>
            <a:ext cx="2743200" cy="96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200395" y="3902262"/>
            <a:ext cx="2743200" cy="3201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3200395" y="390226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S1: SRAM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(sram.v)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291835" y="4258878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– 0x0001_FFFF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7372750" y="3627942"/>
            <a:ext cx="0" cy="274200"/>
          </a:xfrm>
          <a:prstGeom prst="straightConnector1">
            <a:avLst/>
          </a:prstGeom>
          <a:noFill/>
          <a:ln w="19050" cap="flat" cmpd="sng">
            <a:solidFill>
              <a:srgbClr val="5D6D7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7"/>
          <p:cNvSpPr/>
          <p:nvPr/>
        </p:nvSpPr>
        <p:spPr>
          <a:xfrm>
            <a:off x="6126475" y="3902262"/>
            <a:ext cx="2743200" cy="96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126475" y="3902262"/>
            <a:ext cx="2743200" cy="3201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126475" y="390226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S2: UART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(uart_axi.v)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217915" y="4258878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– 0x1000_000F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7"/>
          <p:cNvCxnSpPr/>
          <p:nvPr/>
        </p:nvCxnSpPr>
        <p:spPr>
          <a:xfrm>
            <a:off x="1904495" y="3627942"/>
            <a:ext cx="0" cy="274200"/>
          </a:xfrm>
          <a:prstGeom prst="straightConnector1">
            <a:avLst/>
          </a:prstGeom>
          <a:noFill/>
          <a:ln w="19050" cap="flat" cmpd="sng">
            <a:solidFill>
              <a:srgbClr val="5D6D7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/>
          <p:nvPr/>
        </p:nvSpPr>
        <p:spPr>
          <a:xfrm>
            <a:off x="452256" y="594050"/>
            <a:ext cx="82872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 FSM: 5 States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52256" y="1196158"/>
            <a:ext cx="8287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b_state[2:0] in rtl/top.v — complete state transitions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52250" y="1460100"/>
            <a:ext cx="1559400" cy="22422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52256" y="1460096"/>
            <a:ext cx="1559400" cy="412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2256" y="1460096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3'd0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2256" y="1666297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ST_IDLE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23550" y="1868450"/>
            <a:ext cx="1425900" cy="12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Wait for cpu_mem_valid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wstrb≠0 → ST_WR_AW  |  wstrb=0 → ST_RD_AR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011664" y="2821025"/>
            <a:ext cx="1335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145325" y="1460099"/>
            <a:ext cx="1559400" cy="22422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2145327" y="1460096"/>
            <a:ext cx="1559400" cy="4122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2145327" y="1460096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3'd1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145327" y="1666297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ST_WR_AW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2216625" y="1930225"/>
            <a:ext cx="1425900" cy="12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Issue awaddr, awvalid, wdata, wvalid=1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Wait awready &amp; wready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If bvalid → ST_IDLE else → ST_WR_B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704735" y="2821025"/>
            <a:ext cx="1335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838400" y="1460099"/>
            <a:ext cx="1559400" cy="22422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838398" y="1460096"/>
            <a:ext cx="1559400" cy="4122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838398" y="1460096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3'd2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838398" y="1666297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ST_WR_B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909675" y="1930230"/>
            <a:ext cx="1425900" cy="12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Wait for bvalid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Assert ready_r=1 → cpu_mem_ready=1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→ ST_IDLE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397806" y="2821025"/>
            <a:ext cx="1335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531475" y="1460099"/>
            <a:ext cx="1559400" cy="22422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531469" y="1460096"/>
            <a:ext cx="1559400" cy="412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5531469" y="1460096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3'd3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531469" y="1666297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ST_RD_AR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602750" y="1930225"/>
            <a:ext cx="1425900" cy="12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Issue araddr, arvalid=1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Wait arready handshake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Assert rready=1 → ST_RD_R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090877" y="2821025"/>
            <a:ext cx="1335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224550" y="1460099"/>
            <a:ext cx="1559400" cy="22422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7224540" y="1460096"/>
            <a:ext cx="1559400" cy="412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7224540" y="1460096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3'd4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224540" y="1666297"/>
            <a:ext cx="15594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ST_RD_R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295825" y="1930230"/>
            <a:ext cx="1425900" cy="12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Wait for rvalid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Capture rdata_r ← m_axi_rdata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Assert ready_r=1 → ST_IDLE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52256" y="4718078"/>
            <a:ext cx="8287200" cy="3132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85920" y="4718078"/>
            <a:ext cx="81090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Write latency: 3–4 cycles  |  Read latency: 2–3 cycles  |  Monitor b_state[2:0] in GTKWave for deadlock detection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b0311e218_0_81"/>
          <p:cNvSpPr/>
          <p:nvPr/>
        </p:nvSpPr>
        <p:spPr>
          <a:xfrm>
            <a:off x="348996" y="544600"/>
            <a:ext cx="794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 Registers &amp; ASIC-Clean Code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db0311e218_0_81"/>
          <p:cNvSpPr/>
          <p:nvPr/>
        </p:nvSpPr>
        <p:spPr>
          <a:xfrm>
            <a:off x="465196" y="1230412"/>
            <a:ext cx="794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rtl/top.v — all registers reset-driven, no = initializers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db0311e218_0_81"/>
          <p:cNvSpPr/>
          <p:nvPr/>
        </p:nvSpPr>
        <p:spPr>
          <a:xfrm>
            <a:off x="519325" y="1592125"/>
            <a:ext cx="3717000" cy="32526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db0311e218_0_81"/>
          <p:cNvSpPr/>
          <p:nvPr/>
        </p:nvSpPr>
        <p:spPr>
          <a:xfrm>
            <a:off x="600125" y="1666358"/>
            <a:ext cx="3555300" cy="30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Bridge state register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[2:0]  b_state;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AXI Write outputs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[31:0] m_axi_awaddr;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m_axi_awvalid;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[31:0] m_axi_wdata;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[3:0]  m_axi_wstrb_r;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m_axi_wvalid;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m_axi_bready;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AXI Read outputs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[31:0] m_axi_araddr;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m_axi_arvalid;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m_axi_rready;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Internal capture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[31:0] rdata_r;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reg        ready_r;  // → cpu_mem_ready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db0311e218_0_81"/>
          <p:cNvSpPr/>
          <p:nvPr/>
        </p:nvSpPr>
        <p:spPr>
          <a:xfrm>
            <a:off x="4577800" y="1592125"/>
            <a:ext cx="3717000" cy="32526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db0311e218_0_81"/>
          <p:cNvSpPr/>
          <p:nvPr/>
        </p:nvSpPr>
        <p:spPr>
          <a:xfrm>
            <a:off x="4659500" y="1666358"/>
            <a:ext cx="3554100" cy="30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ASIC-clean reset block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if (reset) begin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b_state       &lt;= ST_IDLE;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m_axi_awvalid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m_axi_wvalid 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m_axi_bready 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m_axi_arvalid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m_axi_rready 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ready_r       &lt;= 1'b0;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rdata_r       &lt;= 32'h0;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(* keep *) on all bridge wires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Prevents Yosys pruning during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synthesis — critical for ASIC flow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tx_out renamed from uart_tx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→ avoids Yosys scope collision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320040" y="526438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 Write Transaction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20040" y="1263112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Example: UART TX write → 0x10000000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0165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01640" y="1677503"/>
            <a:ext cx="2011800" cy="365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301640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01640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 Channel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93075" y="2116422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AWADDR=0x10000000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AWVALID=1 → AWREADY=1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Address handshake complete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313320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247790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2477912" y="1677503"/>
            <a:ext cx="2011800" cy="3657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2477912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477912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Channel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2569350" y="2116421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WDATA=0x48 ('H')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WSTRB=4'h1 (byte store)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WVALID=1 → WREADY=1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489592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654175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654184" y="1677503"/>
            <a:ext cx="2011800" cy="3657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4654184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2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654184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Channel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745625" y="2116422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BVALID=1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BREADY=1 (asserted by bridge)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BRESP=2'b00 (OKAY)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665864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83045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6830456" y="1677503"/>
            <a:ext cx="2011800" cy="3657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6830456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3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830456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Done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921900" y="2116421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ready_r=1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cpu_mem_ready=1 (pulse)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b_state → ST_IDLE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320040" y="4720558"/>
            <a:ext cx="8503800" cy="3201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57200" y="4720558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Note: WSTRB=4'h1 because firmware uses SB (byte store) for UART. AW and W channels can fire simultaneously.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b0311e218_0_120"/>
          <p:cNvSpPr/>
          <p:nvPr/>
        </p:nvSpPr>
        <p:spPr>
          <a:xfrm>
            <a:off x="320040" y="526438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</a:t>
            </a: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Read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Transaction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db0311e218_0_120"/>
          <p:cNvSpPr/>
          <p:nvPr/>
        </p:nvSpPr>
        <p:spPr>
          <a:xfrm>
            <a:off x="320040" y="1263112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Example: UART TX </a:t>
            </a:r>
            <a:r>
              <a:rPr lang="en-US" sz="1000" i="1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 0x10000000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db0311e218_0_120"/>
          <p:cNvSpPr/>
          <p:nvPr/>
        </p:nvSpPr>
        <p:spPr>
          <a:xfrm>
            <a:off x="30165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db0311e218_0_120"/>
          <p:cNvSpPr/>
          <p:nvPr/>
        </p:nvSpPr>
        <p:spPr>
          <a:xfrm>
            <a:off x="301640" y="1677503"/>
            <a:ext cx="2011800" cy="365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db0311e218_0_120"/>
          <p:cNvSpPr/>
          <p:nvPr/>
        </p:nvSpPr>
        <p:spPr>
          <a:xfrm>
            <a:off x="301640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b0311e218_0_120"/>
          <p:cNvSpPr/>
          <p:nvPr/>
        </p:nvSpPr>
        <p:spPr>
          <a:xfrm>
            <a:off x="301640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Channel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b0311e218_0_120"/>
          <p:cNvSpPr/>
          <p:nvPr/>
        </p:nvSpPr>
        <p:spPr>
          <a:xfrm>
            <a:off x="393075" y="2116422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ARADDR=0x10000008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ARVALID=1 → ARREADY=1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Address handshake done</a:t>
            </a:r>
            <a:endParaRPr sz="1100">
              <a:solidFill>
                <a:srgbClr val="1A3A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g3db0311e218_0_120"/>
          <p:cNvSpPr/>
          <p:nvPr/>
        </p:nvSpPr>
        <p:spPr>
          <a:xfrm>
            <a:off x="2313320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b0311e218_0_120"/>
          <p:cNvSpPr/>
          <p:nvPr/>
        </p:nvSpPr>
        <p:spPr>
          <a:xfrm>
            <a:off x="247790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db0311e218_0_120"/>
          <p:cNvSpPr/>
          <p:nvPr/>
        </p:nvSpPr>
        <p:spPr>
          <a:xfrm>
            <a:off x="2477912" y="1677503"/>
            <a:ext cx="2011800" cy="3657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db0311e218_0_120"/>
          <p:cNvSpPr/>
          <p:nvPr/>
        </p:nvSpPr>
        <p:spPr>
          <a:xfrm>
            <a:off x="2477912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1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b0311e218_0_120"/>
          <p:cNvSpPr/>
          <p:nvPr/>
        </p:nvSpPr>
        <p:spPr>
          <a:xfrm>
            <a:off x="2477912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db0311e218_0_120"/>
          <p:cNvSpPr/>
          <p:nvPr/>
        </p:nvSpPr>
        <p:spPr>
          <a:xfrm>
            <a:off x="2569350" y="2116421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b_state: ST_IDLE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→ ST_RD_AR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Assert RREADY=1</a:t>
            </a:r>
            <a:endParaRPr sz="1100">
              <a:solidFill>
                <a:srgbClr val="1A3A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g3db0311e218_0_120"/>
          <p:cNvSpPr/>
          <p:nvPr/>
        </p:nvSpPr>
        <p:spPr>
          <a:xfrm>
            <a:off x="4489592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b0311e218_0_120"/>
          <p:cNvSpPr/>
          <p:nvPr/>
        </p:nvSpPr>
        <p:spPr>
          <a:xfrm>
            <a:off x="4654175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db0311e218_0_120"/>
          <p:cNvSpPr/>
          <p:nvPr/>
        </p:nvSpPr>
        <p:spPr>
          <a:xfrm>
            <a:off x="4654184" y="1677503"/>
            <a:ext cx="2011800" cy="3657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db0311e218_0_120"/>
          <p:cNvSpPr/>
          <p:nvPr/>
        </p:nvSpPr>
        <p:spPr>
          <a:xfrm>
            <a:off x="4654184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2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db0311e218_0_120"/>
          <p:cNvSpPr/>
          <p:nvPr/>
        </p:nvSpPr>
        <p:spPr>
          <a:xfrm>
            <a:off x="4654184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Channel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db0311e218_0_120"/>
          <p:cNvSpPr/>
          <p:nvPr/>
        </p:nvSpPr>
        <p:spPr>
          <a:xfrm>
            <a:off x="4745625" y="2116422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RVALID=1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RREADY=1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RDATA latched into rdata_r</a:t>
            </a:r>
            <a:endParaRPr sz="1100">
              <a:solidFill>
                <a:srgbClr val="1A3A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g3db0311e218_0_120"/>
          <p:cNvSpPr/>
          <p:nvPr/>
        </p:nvSpPr>
        <p:spPr>
          <a:xfrm>
            <a:off x="6665864" y="3140543"/>
            <a:ext cx="16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db0311e218_0_120"/>
          <p:cNvSpPr/>
          <p:nvPr/>
        </p:nvSpPr>
        <p:spPr>
          <a:xfrm>
            <a:off x="6830450" y="1677501"/>
            <a:ext cx="2011800" cy="247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3db0311e218_0_120"/>
          <p:cNvSpPr/>
          <p:nvPr/>
        </p:nvSpPr>
        <p:spPr>
          <a:xfrm>
            <a:off x="6830456" y="1677503"/>
            <a:ext cx="2011800" cy="3657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db0311e218_0_120"/>
          <p:cNvSpPr/>
          <p:nvPr/>
        </p:nvSpPr>
        <p:spPr>
          <a:xfrm>
            <a:off x="6830456" y="1677503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 3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b0311e218_0_120"/>
          <p:cNvSpPr/>
          <p:nvPr/>
        </p:nvSpPr>
        <p:spPr>
          <a:xfrm>
            <a:off x="6830456" y="186038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Done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db0311e218_0_120"/>
          <p:cNvSpPr/>
          <p:nvPr/>
        </p:nvSpPr>
        <p:spPr>
          <a:xfrm>
            <a:off x="6921900" y="2116421"/>
            <a:ext cx="1828800" cy="19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ready_r=1 pulse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cpu_mem_ready=1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b_state → ST_IDLE</a:t>
            </a:r>
            <a:endParaRPr sz="1100">
              <a:solidFill>
                <a:srgbClr val="1A3A5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g3db0311e218_0_120"/>
          <p:cNvSpPr/>
          <p:nvPr/>
        </p:nvSpPr>
        <p:spPr>
          <a:xfrm>
            <a:off x="320040" y="4720558"/>
            <a:ext cx="8503800" cy="3201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db0311e218_0_120"/>
          <p:cNvSpPr/>
          <p:nvPr/>
        </p:nvSpPr>
        <p:spPr>
          <a:xfrm>
            <a:off x="457200" y="4720558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Addresses:  UART TX = 0x10000000  |  UART RX = 0x10000004  |  UART STATUS = 0x10000008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"/>
          <p:cNvSpPr/>
          <p:nvPr/>
        </p:nvSpPr>
        <p:spPr>
          <a:xfrm>
            <a:off x="0" y="549451"/>
            <a:ext cx="9144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274335" y="589307"/>
            <a:ext cx="8412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Rules &amp; Gotchas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20050" y="1133450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320050" y="1133450"/>
            <a:ext cx="497400" cy="11793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4"/>
          <p:cNvSpPr/>
          <p:nvPr/>
        </p:nvSpPr>
        <p:spPr>
          <a:xfrm rot="-5400000">
            <a:off x="328771" y="1564833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908111" y="1203339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Rule 1 — VALID Stays High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908111" y="1482895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mem_valid MUST remain asserted until mem_ready=1. Dropping valid early causes the slave to abort — CPU hangs waiting.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4707893" y="1133450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4707893" y="1133450"/>
            <a:ext cx="497400" cy="11793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4"/>
          <p:cNvSpPr/>
          <p:nvPr/>
        </p:nvSpPr>
        <p:spPr>
          <a:xfrm rot="-5400000">
            <a:off x="4716614" y="1564833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295954" y="1203339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Rule 2 — One Outstanding TX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295954" y="1482895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Bridge supports one in-flight transaction at a time. b_state must return to ST_IDLE before next request is issued.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320050" y="2400189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320050" y="2400189"/>
            <a:ext cx="497400" cy="11793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 rot="-5400000">
            <a:off x="328771" y="2831572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908111" y="2470078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Rule 3 — ASIC-Clean Bridge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908111" y="2749635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All bridge registers use reset-driven initialization. No = value initializers in top.v. Verified Yosys-compatible.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4707893" y="2400189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4707893" y="2400189"/>
            <a:ext cx="497400" cy="11793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4"/>
          <p:cNvSpPr/>
          <p:nvPr/>
        </p:nvSpPr>
        <p:spPr>
          <a:xfrm rot="-5400000">
            <a:off x="4716614" y="2831572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5295954" y="2470078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Rule 4 — Trap on Bad Access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5295954" y="2749635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CATCH_MISALIGN=1, CATCH_ILLINSN=1 active. CPU traps if bridge fails to respond — prevents silent hang.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20050" y="3666929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320050" y="3666929"/>
            <a:ext cx="497400" cy="11793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4"/>
          <p:cNvSpPr/>
          <p:nvPr/>
        </p:nvSpPr>
        <p:spPr>
          <a:xfrm rot="-5400000">
            <a:off x="328771" y="4098311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908111" y="3736818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Rule 5 — tx_out Rename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908111" y="4016374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uart_tx renamed to tx_out port in uart_axi.v. Required to avoid Yosys scope collision during synthesis.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707893" y="3666929"/>
            <a:ext cx="4161600" cy="11793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4707893" y="3666929"/>
            <a:ext cx="497400" cy="11793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4"/>
          <p:cNvSpPr/>
          <p:nvPr/>
        </p:nvSpPr>
        <p:spPr>
          <a:xfrm rot="-5400000">
            <a:off x="4716614" y="4098311"/>
            <a:ext cx="48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295954" y="3736818"/>
            <a:ext cx="348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Rule 6 — Deadlock Detection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295954" y="4016374"/>
            <a:ext cx="34833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If b_state stays non-zero &gt; 10 cycles: check slave valid/ready not toggling. Check wr_sel/rd_sel routing in interconnect.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/>
          <p:nvPr/>
        </p:nvSpPr>
        <p:spPr>
          <a:xfrm>
            <a:off x="274335" y="520149"/>
            <a:ext cx="841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End-to-End: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uart_putc('H') Full Signal Trace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274375" y="1279400"/>
            <a:ext cx="2788800" cy="146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274365" y="1279395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47517" y="127939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Firmware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65800" y="1681727"/>
            <a:ext cx="2606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uart_putc('H')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→ UART_TX = 'H'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→ SB x5,0(x10)  [wstrb=4'h1, addr=0x10000000, wdata=0x48]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3063285" y="1965195"/>
            <a:ext cx="15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3218725" y="1279399"/>
            <a:ext cx="2788800" cy="14691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3218733" y="1279395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3291885" y="1279395"/>
            <a:ext cx="26517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Native Bus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3310175" y="1681727"/>
            <a:ext cx="2606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CPU asserts: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mem_valid=1, mem_wstrb=4'h1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mem_addr=0x10000000, mem_wdata=0x48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6007653" y="1965195"/>
            <a:ext cx="15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6163100" y="1279399"/>
            <a:ext cx="2788800" cy="14691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6163101" y="1279395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6236253" y="1279395"/>
            <a:ext cx="26517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Bridge FSM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6254550" y="1681727"/>
            <a:ext cx="2606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ST_IDLE → ST_WR_AW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awaddr=0x10000000, awvalid=1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wdata=0x48, wstrb=4'h1, wvalid=1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278950" y="3050750"/>
            <a:ext cx="2788800" cy="1554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78953" y="3050750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352104" y="3050750"/>
            <a:ext cx="26517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Interconnect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370400" y="3453078"/>
            <a:ext cx="26061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wr_sel=3'b100 (UART selected)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uart_axi.s_axi_awvalid=1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Other slaves: awvalid=0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3067873" y="3736550"/>
            <a:ext cx="15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3223325" y="3050750"/>
            <a:ext cx="2788800" cy="1554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3223321" y="3050750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3296473" y="3050750"/>
            <a:ext cx="26517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uart_axi.v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3314750" y="3453075"/>
            <a:ext cx="26061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AW handshake → aw_got=1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W handshake → w_byte=0x48, buf_valid=1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BVALID=1, BRESP=2'b00 OKAY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012241" y="3736550"/>
            <a:ext cx="15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167700" y="3050750"/>
            <a:ext cx="2788800" cy="15546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167689" y="3050750"/>
            <a:ext cx="27888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240841" y="3050750"/>
            <a:ext cx="2651700" cy="347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uart_tx.v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259125" y="3453078"/>
            <a:ext cx="26061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data=0x48, FSM: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START → DATA(×8) → STOP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tx_out: 8N1 @ 115200 baud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274315" y="4771170"/>
            <a:ext cx="8503800" cy="3201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411475" y="477117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Total latency: ~3 cycle bridge transition + 434 cycle UART start bit (115200 baud @ 50 MHz)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320115" y="943862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From C firmware to serial bit on tx_out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/>
          <p:nvPr/>
        </p:nvSpPr>
        <p:spPr>
          <a:xfrm>
            <a:off x="320040" y="419125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Firmware Macros — fw/main.c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20040" y="990650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Project address map and UART API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320038" y="1313775"/>
            <a:ext cx="5120700" cy="36651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411463" y="1386925"/>
            <a:ext cx="4937700" cy="3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#define UART_TX     (*(volatile char*)0x10000000)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#define UART_RX     (*(volatile char*)0x10000004)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#define UART_STATUS (*(volatile int*) 0x10000008)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// No uart_init() needed — uart_axi auto-enabled after reset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static void uart_putc(char c) {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  UART_TX = c;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  // Generates: SB x5, 0(x10)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  // mem_addr=0x10000000, mem_wstrb=4'h1, mem_wdata=c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static char uart_getc(void) {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  while (!(UART_STATUS &amp; 0x2)); // poll bit[1] RX ready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  return UART_RX;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1" name="Google Shape;471;p13"/>
          <p:cNvGraphicFramePr/>
          <p:nvPr/>
        </p:nvGraphicFramePr>
        <p:xfrm>
          <a:off x="5577827" y="1313775"/>
          <a:ext cx="3246125" cy="1481350"/>
        </p:xfrm>
        <a:graphic>
          <a:graphicData uri="http://schemas.openxmlformats.org/drawingml/2006/table">
            <a:tbl>
              <a:tblPr>
                <a:noFill/>
                <a:tableStyleId>{2FDC0CB7-83C1-4F9A-B7B1-EBB327AD35FF}</a:tableStyleId>
              </a:tblPr>
              <a:tblGrid>
                <a:gridCol w="12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0x10000000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UART_TX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 write → triggers serial TX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0x10000004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UART_RX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 read → receive buffer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0x10000008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UART_STATUS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bit[0]=TX busy, bit[1]=RX ready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2" name="Google Shape;472;p13"/>
          <p:cNvSpPr/>
          <p:nvPr/>
        </p:nvSpPr>
        <p:spPr>
          <a:xfrm>
            <a:off x="5577838" y="2776825"/>
            <a:ext cx="3246000" cy="2202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5577828" y="2776815"/>
            <a:ext cx="3246000" cy="3201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5577828" y="2776815"/>
            <a:ext cx="324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TX FLOW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5669275" y="3142575"/>
            <a:ext cx="30633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uart_putc('H')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UART_TX = 0x48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SB x5, 0(x10)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mem_valid=1, wstrb=4'h1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AXI Write → uart_axi.v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tx_out: 8N1 bits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b0311e218_0_250"/>
          <p:cNvSpPr/>
          <p:nvPr/>
        </p:nvSpPr>
        <p:spPr>
          <a:xfrm>
            <a:off x="320040" y="340075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— RISC-V AXI Integration Demo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b0311e218_0_250"/>
          <p:cNvSpPr/>
          <p:nvPr/>
        </p:nvSpPr>
        <p:spPr>
          <a:xfrm>
            <a:off x="320040" y="940812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make riscv_axi → AXI handshake walk-through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b0311e218_0_250"/>
          <p:cNvSpPr/>
          <p:nvPr/>
        </p:nvSpPr>
        <p:spPr>
          <a:xfrm>
            <a:off x="320050" y="1263474"/>
            <a:ext cx="8503800" cy="4335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db0311e218_0_250"/>
          <p:cNvSpPr/>
          <p:nvPr/>
        </p:nvSpPr>
        <p:spPr>
          <a:xfrm>
            <a:off x="502930" y="1263474"/>
            <a:ext cx="8321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ADE2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5DADE2"/>
                </a:solidFill>
                <a:latin typeface="Consolas"/>
                <a:ea typeface="Consolas"/>
                <a:cs typeface="Consolas"/>
                <a:sym typeface="Consolas"/>
              </a:rPr>
              <a:t>$ make riscv_axi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b0311e218_0_250"/>
          <p:cNvSpPr/>
          <p:nvPr/>
        </p:nvSpPr>
        <p:spPr>
          <a:xfrm>
            <a:off x="320050" y="1763745"/>
            <a:ext cx="5074800" cy="3110100"/>
          </a:xfrm>
          <a:prstGeom prst="rect">
            <a:avLst/>
          </a:prstGeom>
          <a:solidFill>
            <a:srgbClr val="1E2D3D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3db0311e218_0_250"/>
          <p:cNvSpPr/>
          <p:nvPr/>
        </p:nvSpPr>
        <p:spPr>
          <a:xfrm>
            <a:off x="411490" y="1830447"/>
            <a:ext cx="4892100" cy="29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---- Simulation Start ----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[50 ns] AXI WRITE TRANSACTION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AWADDR=0x10000000, AWVALID=1 → AWREADY=1 → Address accepted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WDATA=0x000000A5, WVALID=1  → WREADY=1  → Data accepted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BVALID=1 → Write OKAY → Transaction complete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Result: 0xA5 written to 0x10000000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[110 ns] AXI READ TRANSACTION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ARADDR=0x10000000, ARVALID=1 → ARREADY=1 → Address accepted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RDATA=0x000000A5, RVALID=1  → RREADY=1  → Data received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  Result: Read 0xA5 (matches written value)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Write = Success | Read = Success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8F4FD"/>
                </a:solidFill>
                <a:latin typeface="Consolas"/>
                <a:ea typeface="Consolas"/>
                <a:cs typeface="Consolas"/>
                <a:sym typeface="Consolas"/>
              </a:rPr>
              <a:t>---- Simulation End ----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db0311e218_0_250"/>
          <p:cNvSpPr/>
          <p:nvPr/>
        </p:nvSpPr>
        <p:spPr>
          <a:xfrm>
            <a:off x="5532127" y="1763745"/>
            <a:ext cx="3291900" cy="3110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3db0311e218_0_250"/>
          <p:cNvSpPr/>
          <p:nvPr/>
        </p:nvSpPr>
        <p:spPr>
          <a:xfrm>
            <a:off x="5532127" y="1763745"/>
            <a:ext cx="3291900" cy="30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3db0311e218_0_250"/>
          <p:cNvSpPr/>
          <p:nvPr/>
        </p:nvSpPr>
        <p:spPr>
          <a:xfrm>
            <a:off x="5532127" y="1763745"/>
            <a:ext cx="3291900" cy="3000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GTKWave Signals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b0311e218_0_250"/>
          <p:cNvSpPr/>
          <p:nvPr/>
        </p:nvSpPr>
        <p:spPr>
          <a:xfrm>
            <a:off x="5623567" y="2113934"/>
            <a:ext cx="3108900" cy="27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clk, reset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m_awvalid, s_awready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AW 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m_wdata, m_wvalid, s_wready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W 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s_bvalid, m_bready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B 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m_arvalid, s_arready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AR 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s_rdata[31:0], s_rvalid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R channel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b_state[2:0] from tb_top.fst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3A5C"/>
                </a:solidFill>
                <a:latin typeface="Consolas"/>
                <a:ea typeface="Consolas"/>
                <a:cs typeface="Consolas"/>
                <a:sym typeface="Consolas"/>
              </a:rPr>
              <a:t>  ← Full SoC bridge debug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db0311e218_0_250"/>
          <p:cNvSpPr/>
          <p:nvPr/>
        </p:nvSpPr>
        <p:spPr>
          <a:xfrm>
            <a:off x="320040" y="4919472"/>
            <a:ext cx="8503800" cy="183000"/>
          </a:xfrm>
          <a:prstGeom prst="rect">
            <a:avLst/>
          </a:prstGeom>
          <a:solidFill>
            <a:srgbClr val="D0E8F5"/>
          </a:solidFill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3db0311e218_0_250"/>
          <p:cNvSpPr/>
          <p:nvPr/>
        </p:nvSpPr>
        <p:spPr>
          <a:xfrm>
            <a:off x="457200" y="4919472"/>
            <a:ext cx="8321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VCD Output: tb_riscv_axi_lite.vcd (3.3 KB)  |  Testbench: tb/tb_riscv_axi_lite.v (self-contained)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16"/>
          <p:cNvGrpSpPr/>
          <p:nvPr/>
        </p:nvGrpSpPr>
        <p:grpSpPr>
          <a:xfrm>
            <a:off x="302494" y="429910"/>
            <a:ext cx="7849183" cy="677384"/>
            <a:chOff x="0" y="0"/>
            <a:chExt cx="20970300" cy="1809736"/>
          </a:xfrm>
        </p:grpSpPr>
        <p:sp>
          <p:nvSpPr>
            <p:cNvPr id="499" name="Google Shape;499;p16"/>
            <p:cNvSpPr/>
            <p:nvPr/>
          </p:nvSpPr>
          <p:spPr>
            <a:xfrm>
              <a:off x="0" y="0"/>
              <a:ext cx="20970239" cy="1584960"/>
            </a:xfrm>
            <a:custGeom>
              <a:avLst/>
              <a:gdLst/>
              <a:ahLst/>
              <a:cxnLst/>
              <a:rect l="l" t="t" r="r" b="b"/>
              <a:pathLst>
                <a:path w="20970239" h="1584960" extrusionOk="0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7812" b="-207812"/>
              </a:stretch>
            </a:blipFill>
            <a:ln>
              <a:noFill/>
            </a:ln>
          </p:spPr>
          <p:txBody>
            <a:bodyPr spcFirstLastPara="1" wrap="square" lIns="45625" tIns="22800" rIns="45625" bIns="228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"/>
                <a:buFont typeface="Arial"/>
                <a:buNone/>
              </a:pPr>
              <a:endParaRPr sz="89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6"/>
            <p:cNvSpPr txBox="1"/>
            <p:nvPr/>
          </p:nvSpPr>
          <p:spPr>
            <a:xfrm>
              <a:off x="0" y="167536"/>
              <a:ext cx="20970300" cy="16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4"/>
                <a:buFont typeface="Arial"/>
                <a:buNone/>
              </a:pPr>
              <a:r>
                <a:rPr lang="en-US" sz="3194" b="1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  <a:endParaRPr sz="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16"/>
          <p:cNvSpPr/>
          <p:nvPr/>
        </p:nvSpPr>
        <p:spPr>
          <a:xfrm>
            <a:off x="320090" y="1165870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320090" y="1165870"/>
            <a:ext cx="45600" cy="548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457250" y="125731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932738" y="1239022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Bridge translates mem_valid/mem_ready → 5-channel AXI-Lite. Implemented in rtl/top.v lines 91–224.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320090" y="1796806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320090" y="1796806"/>
            <a:ext cx="45600" cy="5487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457250" y="188824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932738" y="1869958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Write path: ST_IDLE → ST_WR_AW → ST_WR_B → ST_IDLE  |  Read path: ST_IDLE → ST_RD_AR → ST_RD_R → ST_IDLE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320090" y="2427742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320090" y="2427742"/>
            <a:ext cx="45600" cy="548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457250" y="251918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932738" y="2500894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All bridge registers: m_axi_* — ASIC-clean, reset-driven, no = initializers. b_state[2:0] is the FSM register.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20090" y="3058678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320090" y="3058678"/>
            <a:ext cx="45600" cy="5487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457250" y="315011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932738" y="3131830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Project addresses: ROM=0x0000_0000 | SRAM=0x0001_0000 | UART TX=0x1000_0000 | RX=0x1000_0004 | STATUS=0x1000_0008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320090" y="3689614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320090" y="3689614"/>
            <a:ext cx="45600" cy="5487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457250" y="378105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🛠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932738" y="3762766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Lab: make riscv_axi → observe step-by-step AXI handshake log. Testbench: tb/tb_riscv_axi_lite.v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320090" y="4320550"/>
            <a:ext cx="8503800" cy="548700"/>
          </a:xfrm>
          <a:prstGeom prst="rect">
            <a:avLst/>
          </a:prstGeom>
          <a:noFill/>
          <a:ln w="9525" cap="flat" cmpd="sng">
            <a:solidFill>
              <a:srgbClr val="D0E8F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320090" y="4320550"/>
            <a:ext cx="45600" cy="548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457250" y="441199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932738" y="4393702"/>
            <a:ext cx="7772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GTKWave: add b_state[2:0], m_axi_awvalid, m_axi_rvalid from tb_top.fst to trace full bridge activity.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2624</Words>
  <Application>Microsoft Office PowerPoint</Application>
  <PresentationFormat>On-screen Show (16:9)</PresentationFormat>
  <Paragraphs>421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Poppins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acer</cp:lastModifiedBy>
  <cp:revision>2</cp:revision>
  <dcterms:created xsi:type="dcterms:W3CDTF">2026-04-25T11:33:50Z</dcterms:created>
  <dcterms:modified xsi:type="dcterms:W3CDTF">2026-05-09T13:10:59Z</dcterms:modified>
</cp:coreProperties>
</file>