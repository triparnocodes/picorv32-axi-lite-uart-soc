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Jsx/OBQblN+fWP+//mLBcC5sh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c2b1ff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6c2b1ffe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6c2b1ffe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c2b1ffe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c2b1ffe9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e6c2b1ffe9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6c2b1ffe9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e6c2b1ffe9_0_1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e6c2b1ffe9_0_1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6c2b1ffe9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6c2b1ffe9_0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e6c2b1ffe9_0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6c2b1ffe9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6c2b1ffe9_0_2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e6c2b1ffe9_0_2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6" name="Google Shape;45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BEGINNER'S GUIDE 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1143000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Firmware on</a:t>
            </a:r>
            <a:endParaRPr sz="42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PicoRV32 + UART</a:t>
            </a:r>
            <a:endParaRPr sz="42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83464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A90"/>
                </a:solidFill>
                <a:latin typeface="Calibri"/>
                <a:ea typeface="Calibri"/>
                <a:cs typeface="Calibri"/>
                <a:sym typeface="Calibri"/>
              </a:rPr>
              <a:t>Bare-metal bring-up, memory maps, UART I/O</a:t>
            </a:r>
            <a:endParaRPr sz="1400" b="0" i="0" u="none" strike="noStrike" cap="none">
              <a:solidFill>
                <a:srgbClr val="6B7A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B7A90"/>
                </a:solidFill>
                <a:latin typeface="Calibri"/>
                <a:ea typeface="Calibri"/>
                <a:cs typeface="Calibri"/>
                <a:sym typeface="Calibri"/>
              </a:rPr>
              <a:t>and how firmware talks to hardware</a:t>
            </a:r>
            <a:endParaRPr sz="1400" b="0" i="0" u="none" strike="noStrike" cap="none">
              <a:solidFill>
                <a:srgbClr val="6B7A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2B5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A90"/>
                </a:solidFill>
                <a:latin typeface="Calibri"/>
                <a:ea typeface="Calibri"/>
                <a:cs typeface="Calibri"/>
                <a:sym typeface="Calibri"/>
              </a:rPr>
              <a:t>From first boot to UART hello world — step by step</a:t>
            </a:r>
            <a:endParaRPr sz="1100" b="0" i="0" u="none" strike="noStrike" cap="none">
              <a:solidFill>
                <a:srgbClr val="6B7A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p1"/>
          <p:cNvGrpSpPr/>
          <p:nvPr/>
        </p:nvGrpSpPr>
        <p:grpSpPr>
          <a:xfrm>
            <a:off x="0" y="4274025"/>
            <a:ext cx="9144459" cy="869473"/>
            <a:chOff x="0" y="0"/>
            <a:chExt cx="24417782" cy="2776982"/>
          </a:xfrm>
        </p:grpSpPr>
        <p:sp>
          <p:nvSpPr>
            <p:cNvPr id="21" name="Google Shape;21;p1"/>
            <p:cNvSpPr/>
            <p:nvPr/>
          </p:nvSpPr>
          <p:spPr>
            <a:xfrm>
              <a:off x="16891" y="16891"/>
              <a:ext cx="24383999" cy="2743200"/>
            </a:xfrm>
            <a:custGeom>
              <a:avLst/>
              <a:gdLst/>
              <a:ahLst/>
              <a:cxnLst/>
              <a:rect l="l" t="t" r="r" b="b"/>
              <a:pathLst>
                <a:path w="24383999" h="2743200" extrusionOk="0">
                  <a:moveTo>
                    <a:pt x="0" y="0"/>
                  </a:moveTo>
                  <a:lnTo>
                    <a:pt x="24383999" y="0"/>
                  </a:lnTo>
                  <a:lnTo>
                    <a:pt x="24383999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39825" tIns="19900" rIns="39825" bIns="19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4"/>
                <a:buFont typeface="Arial"/>
                <a:buNone/>
              </a:pPr>
              <a:endParaRPr sz="78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0" y="0"/>
              <a:ext cx="24417782" cy="2776982"/>
            </a:xfrm>
            <a:custGeom>
              <a:avLst/>
              <a:gdLst/>
              <a:ahLst/>
              <a:cxnLst/>
              <a:rect l="l" t="t" r="r" b="b"/>
              <a:pathLst>
                <a:path w="24417782" h="2776982" extrusionOk="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760091"/>
                  </a:lnTo>
                  <a:cubicBezTo>
                    <a:pt x="24417782" y="2769489"/>
                    <a:pt x="24410163" y="2776982"/>
                    <a:pt x="24400890" y="2776982"/>
                  </a:cubicBezTo>
                  <a:lnTo>
                    <a:pt x="16891" y="2776982"/>
                  </a:lnTo>
                  <a:cubicBezTo>
                    <a:pt x="7493" y="2776982"/>
                    <a:pt x="0" y="2769362"/>
                    <a:pt x="0" y="2760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760091"/>
                  </a:lnTo>
                  <a:lnTo>
                    <a:pt x="16891" y="2760091"/>
                  </a:lnTo>
                  <a:lnTo>
                    <a:pt x="16891" y="2743200"/>
                  </a:lnTo>
                  <a:lnTo>
                    <a:pt x="24400890" y="2743200"/>
                  </a:lnTo>
                  <a:lnTo>
                    <a:pt x="24400890" y="2760091"/>
                  </a:lnTo>
                  <a:lnTo>
                    <a:pt x="24384000" y="27600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0F0">
                <a:alpha val="3921"/>
              </a:srgbClr>
            </a:solidFill>
            <a:ln>
              <a:noFill/>
            </a:ln>
          </p:spPr>
          <p:txBody>
            <a:bodyPr spcFirstLastPara="1" wrap="square" lIns="39825" tIns="19900" rIns="39825" bIns="199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4"/>
                <a:buFont typeface="Arial"/>
                <a:buNone/>
              </a:pPr>
              <a:endParaRPr sz="784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283875" y="611250"/>
            <a:ext cx="83700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7"/>
              <a:buFont typeface="Arial"/>
              <a:buNone/>
            </a:pPr>
            <a:r>
              <a:rPr lang="en-US" sz="2847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What We'll Cover</a:t>
            </a:r>
            <a:endParaRPr sz="71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83875" y="1232154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" name="Google Shape;30;p2"/>
          <p:cNvGrpSpPr/>
          <p:nvPr/>
        </p:nvGrpSpPr>
        <p:grpSpPr>
          <a:xfrm>
            <a:off x="395473" y="1320717"/>
            <a:ext cx="390630" cy="440328"/>
            <a:chOff x="0" y="-47625"/>
            <a:chExt cx="1024200" cy="1218057"/>
          </a:xfrm>
        </p:grpSpPr>
        <p:sp>
          <p:nvSpPr>
            <p:cNvPr id="31" name="Google Shape;3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816810" y="1314183"/>
            <a:ext cx="31485" cy="470583"/>
            <a:chOff x="0" y="0"/>
            <a:chExt cx="82550" cy="1301750"/>
          </a:xfrm>
        </p:grpSpPr>
        <p:sp>
          <p:nvSpPr>
            <p:cNvPr id="34" name="Google Shape;3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283875" y="1981423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p2"/>
          <p:cNvGrpSpPr/>
          <p:nvPr/>
        </p:nvGrpSpPr>
        <p:grpSpPr>
          <a:xfrm>
            <a:off x="395473" y="2069986"/>
            <a:ext cx="390630" cy="440328"/>
            <a:chOff x="0" y="-47625"/>
            <a:chExt cx="1024200" cy="1218057"/>
          </a:xfrm>
        </p:grpSpPr>
        <p:sp>
          <p:nvSpPr>
            <p:cNvPr id="38" name="Google Shape;38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953466" y="1314170"/>
            <a:ext cx="3348044" cy="470623"/>
            <a:chOff x="0" y="-38100"/>
            <a:chExt cx="8778300" cy="769620"/>
          </a:xfrm>
        </p:grpSpPr>
        <p:sp>
          <p:nvSpPr>
            <p:cNvPr id="41" name="Google Shape;41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200" i="0" u="none" strike="noStrike" cap="none">
                  <a:solidFill>
                    <a:srgbClr val="073763"/>
                  </a:solidFill>
                  <a:latin typeface="Calibri"/>
                  <a:ea typeface="Calibri"/>
                  <a:cs typeface="Calibri"/>
                  <a:sym typeface="Calibri"/>
                </a:rPr>
                <a:t>What is Firmware?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16810" y="2063452"/>
            <a:ext cx="31485" cy="470583"/>
            <a:chOff x="0" y="0"/>
            <a:chExt cx="82550" cy="1301750"/>
          </a:xfrm>
        </p:grpSpPr>
        <p:sp>
          <p:nvSpPr>
            <p:cNvPr id="44" name="Google Shape;4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953466" y="2063454"/>
            <a:ext cx="3348044" cy="470546"/>
            <a:chOff x="0" y="-38100"/>
            <a:chExt cx="8778300" cy="769620"/>
          </a:xfrm>
        </p:grpSpPr>
        <p:sp>
          <p:nvSpPr>
            <p:cNvPr id="47" name="Google Shape;4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THIS Project Firmware File Tree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2"/>
          <p:cNvSpPr/>
          <p:nvPr/>
        </p:nvSpPr>
        <p:spPr>
          <a:xfrm>
            <a:off x="283875" y="2730693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" name="Google Shape;50;p2"/>
          <p:cNvGrpSpPr/>
          <p:nvPr/>
        </p:nvGrpSpPr>
        <p:grpSpPr>
          <a:xfrm>
            <a:off x="395473" y="2819255"/>
            <a:ext cx="390630" cy="440328"/>
            <a:chOff x="0" y="-47625"/>
            <a:chExt cx="1024200" cy="1218057"/>
          </a:xfrm>
        </p:grpSpPr>
        <p:sp>
          <p:nvSpPr>
            <p:cNvPr id="51" name="Google Shape;5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2"/>
          <p:cNvGrpSpPr/>
          <p:nvPr/>
        </p:nvGrpSpPr>
        <p:grpSpPr>
          <a:xfrm>
            <a:off x="816810" y="2812722"/>
            <a:ext cx="31485" cy="470583"/>
            <a:chOff x="0" y="0"/>
            <a:chExt cx="82550" cy="1301750"/>
          </a:xfrm>
        </p:grpSpPr>
        <p:sp>
          <p:nvSpPr>
            <p:cNvPr id="54" name="Google Shape;5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953466" y="2819251"/>
            <a:ext cx="3348044" cy="440300"/>
            <a:chOff x="0" y="-38100"/>
            <a:chExt cx="8778300" cy="769620"/>
          </a:xfrm>
        </p:grpSpPr>
        <p:sp>
          <p:nvSpPr>
            <p:cNvPr id="57" name="Google Shape;5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UART MMIO Map 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2"/>
          <p:cNvSpPr/>
          <p:nvPr/>
        </p:nvSpPr>
        <p:spPr>
          <a:xfrm>
            <a:off x="283875" y="3479962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" name="Google Shape;60;p2"/>
          <p:cNvGrpSpPr/>
          <p:nvPr/>
        </p:nvGrpSpPr>
        <p:grpSpPr>
          <a:xfrm>
            <a:off x="395473" y="3568525"/>
            <a:ext cx="390630" cy="440328"/>
            <a:chOff x="0" y="-47625"/>
            <a:chExt cx="1024200" cy="1218057"/>
          </a:xfrm>
        </p:grpSpPr>
        <p:sp>
          <p:nvSpPr>
            <p:cNvPr id="61" name="Google Shape;6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816810" y="3561991"/>
            <a:ext cx="31485" cy="470583"/>
            <a:chOff x="0" y="0"/>
            <a:chExt cx="82550" cy="1301750"/>
          </a:xfrm>
        </p:grpSpPr>
        <p:sp>
          <p:nvSpPr>
            <p:cNvPr id="64" name="Google Shape;6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953466" y="3568528"/>
            <a:ext cx="3348044" cy="440300"/>
            <a:chOff x="0" y="-38100"/>
            <a:chExt cx="8778300" cy="769620"/>
          </a:xfrm>
        </p:grpSpPr>
        <p:sp>
          <p:nvSpPr>
            <p:cNvPr id="67" name="Google Shape;6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Startup Code: crt0.S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2"/>
          <p:cNvSpPr/>
          <p:nvPr/>
        </p:nvSpPr>
        <p:spPr>
          <a:xfrm>
            <a:off x="4747810" y="1232154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2"/>
          <p:cNvGrpSpPr/>
          <p:nvPr/>
        </p:nvGrpSpPr>
        <p:grpSpPr>
          <a:xfrm>
            <a:off x="4859409" y="1320717"/>
            <a:ext cx="390630" cy="440328"/>
            <a:chOff x="0" y="-47625"/>
            <a:chExt cx="1024200" cy="1218057"/>
          </a:xfrm>
        </p:grpSpPr>
        <p:sp>
          <p:nvSpPr>
            <p:cNvPr id="71" name="Google Shape;7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l="-96642" r="-9663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sz="1423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2"/>
          <p:cNvGrpSpPr/>
          <p:nvPr/>
        </p:nvGrpSpPr>
        <p:grpSpPr>
          <a:xfrm>
            <a:off x="5280746" y="1314183"/>
            <a:ext cx="31485" cy="470583"/>
            <a:chOff x="0" y="0"/>
            <a:chExt cx="82550" cy="1301750"/>
          </a:xfrm>
        </p:grpSpPr>
        <p:sp>
          <p:nvSpPr>
            <p:cNvPr id="74" name="Google Shape;7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2"/>
          <p:cNvGrpSpPr/>
          <p:nvPr/>
        </p:nvGrpSpPr>
        <p:grpSpPr>
          <a:xfrm>
            <a:off x="5417407" y="1314174"/>
            <a:ext cx="3348044" cy="440300"/>
            <a:chOff x="0" y="-38100"/>
            <a:chExt cx="8778300" cy="769620"/>
          </a:xfrm>
        </p:grpSpPr>
        <p:sp>
          <p:nvSpPr>
            <p:cNvPr id="77" name="Google Shape;7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t="-183820" b="-183820"/>
              </a:stretch>
            </a:blip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uart_putc + uart_getc</a:t>
              </a:r>
              <a:endParaRPr sz="1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2"/>
          <p:cNvSpPr/>
          <p:nvPr/>
        </p:nvSpPr>
        <p:spPr>
          <a:xfrm>
            <a:off x="4747810" y="1981423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2"/>
          <p:cNvGrpSpPr/>
          <p:nvPr/>
        </p:nvGrpSpPr>
        <p:grpSpPr>
          <a:xfrm>
            <a:off x="4859409" y="2069986"/>
            <a:ext cx="390630" cy="440328"/>
            <a:chOff x="0" y="-47625"/>
            <a:chExt cx="1024200" cy="1218057"/>
          </a:xfrm>
        </p:grpSpPr>
        <p:sp>
          <p:nvSpPr>
            <p:cNvPr id="81" name="Google Shape;8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sz="1423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2"/>
          <p:cNvGrpSpPr/>
          <p:nvPr/>
        </p:nvGrpSpPr>
        <p:grpSpPr>
          <a:xfrm>
            <a:off x="5280746" y="2063452"/>
            <a:ext cx="31485" cy="470583"/>
            <a:chOff x="0" y="0"/>
            <a:chExt cx="82550" cy="1301750"/>
          </a:xfrm>
        </p:grpSpPr>
        <p:sp>
          <p:nvSpPr>
            <p:cNvPr id="84" name="Google Shape;8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2"/>
          <p:cNvGrpSpPr/>
          <p:nvPr/>
        </p:nvGrpSpPr>
        <p:grpSpPr>
          <a:xfrm>
            <a:off x="5417407" y="2069985"/>
            <a:ext cx="3348044" cy="440300"/>
            <a:chOff x="0" y="-38100"/>
            <a:chExt cx="8778300" cy="769620"/>
          </a:xfrm>
        </p:grpSpPr>
        <p:sp>
          <p:nvSpPr>
            <p:cNvPr id="87" name="Google Shape;8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Hello World → uart_puts + echo loop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2"/>
          <p:cNvSpPr/>
          <p:nvPr/>
        </p:nvSpPr>
        <p:spPr>
          <a:xfrm>
            <a:off x="4747810" y="2730693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2"/>
          <p:cNvGrpSpPr/>
          <p:nvPr/>
        </p:nvGrpSpPr>
        <p:grpSpPr>
          <a:xfrm>
            <a:off x="4859409" y="2819255"/>
            <a:ext cx="390630" cy="440328"/>
            <a:chOff x="0" y="-47625"/>
            <a:chExt cx="1024200" cy="1218057"/>
          </a:xfrm>
        </p:grpSpPr>
        <p:sp>
          <p:nvSpPr>
            <p:cNvPr id="91" name="Google Shape;9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sz="1423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5280746" y="2812722"/>
            <a:ext cx="31485" cy="470583"/>
            <a:chOff x="0" y="0"/>
            <a:chExt cx="82550" cy="1301750"/>
          </a:xfrm>
        </p:grpSpPr>
        <p:sp>
          <p:nvSpPr>
            <p:cNvPr id="94" name="Google Shape;9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5417407" y="2819251"/>
            <a:ext cx="3348044" cy="440300"/>
            <a:chOff x="0" y="-38100"/>
            <a:chExt cx="8778300" cy="76962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38100"/>
              <a:ext cx="877830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Build System — actual fw/Makefile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4747810" y="3479962"/>
            <a:ext cx="4290365" cy="636422"/>
          </a:xfrm>
          <a:custGeom>
            <a:avLst/>
            <a:gdLst/>
            <a:ahLst/>
            <a:cxnLst/>
            <a:rect l="l" t="t" r="r" b="b"/>
            <a:pathLst>
              <a:path w="11216640" h="1755648" extrusionOk="0">
                <a:moveTo>
                  <a:pt x="0" y="0"/>
                </a:moveTo>
                <a:lnTo>
                  <a:pt x="11216640" y="0"/>
                </a:lnTo>
                <a:lnTo>
                  <a:pt x="11216640" y="1755648"/>
                </a:lnTo>
                <a:lnTo>
                  <a:pt x="0" y="1755648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46475" tIns="23225" rIns="46475" bIns="23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5"/>
              <a:buFont typeface="Arial"/>
              <a:buNone/>
            </a:pPr>
            <a:endParaRPr sz="1200" i="0" u="none" strike="noStrike" cap="non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4859409" y="3568525"/>
            <a:ext cx="390630" cy="440328"/>
            <a:chOff x="0" y="-47625"/>
            <a:chExt cx="1024200" cy="1218057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24128" cy="1170432"/>
            </a:xfrm>
            <a:custGeom>
              <a:avLst/>
              <a:gdLst/>
              <a:ahLst/>
              <a:cxnLst/>
              <a:rect l="l" t="t" r="r" b="b"/>
              <a:pathLst>
                <a:path w="1024128" h="1170432" extrusionOk="0">
                  <a:moveTo>
                    <a:pt x="0" y="0"/>
                  </a:moveTo>
                  <a:lnTo>
                    <a:pt x="1024128" y="0"/>
                  </a:lnTo>
                  <a:lnTo>
                    <a:pt x="1024128" y="1170432"/>
                  </a:lnTo>
                  <a:lnTo>
                    <a:pt x="0" y="117043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47625"/>
              <a:ext cx="1024200" cy="12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3"/>
                <a:buFont typeface="Arial"/>
                <a:buNone/>
              </a:pPr>
              <a:r>
                <a:rPr lang="en-US" sz="1423" b="1" i="0" u="none" strike="noStrike" cap="none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lang="en-US" sz="1423" b="1">
                  <a:solidFill>
                    <a:srgbClr val="2E74B5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5280746" y="3561991"/>
            <a:ext cx="31485" cy="470583"/>
            <a:chOff x="0" y="0"/>
            <a:chExt cx="82550" cy="1301750"/>
          </a:xfrm>
        </p:grpSpPr>
        <p:sp>
          <p:nvSpPr>
            <p:cNvPr id="104" name="Google Shape;104;p2"/>
            <p:cNvSpPr/>
            <p:nvPr/>
          </p:nvSpPr>
          <p:spPr>
            <a:xfrm>
              <a:off x="16891" y="16891"/>
              <a:ext cx="48768" cy="1267968"/>
            </a:xfrm>
            <a:custGeom>
              <a:avLst/>
              <a:gdLst/>
              <a:ahLst/>
              <a:cxnLst/>
              <a:rect l="l" t="t" r="r" b="b"/>
              <a:pathLst>
                <a:path w="48768" h="1267968" extrusionOk="0">
                  <a:moveTo>
                    <a:pt x="0" y="0"/>
                  </a:moveTo>
                  <a:lnTo>
                    <a:pt x="48768" y="0"/>
                  </a:lnTo>
                  <a:lnTo>
                    <a:pt x="48768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82550" cy="1301750"/>
            </a:xfrm>
            <a:custGeom>
              <a:avLst/>
              <a:gdLst/>
              <a:ahLst/>
              <a:cxnLst/>
              <a:rect l="l" t="t" r="r" b="b"/>
              <a:pathLst>
                <a:path w="82550" h="1301750" extrusionOk="0">
                  <a:moveTo>
                    <a:pt x="16891" y="0"/>
                  </a:moveTo>
                  <a:lnTo>
                    <a:pt x="65659" y="0"/>
                  </a:lnTo>
                  <a:cubicBezTo>
                    <a:pt x="75057" y="0"/>
                    <a:pt x="82550" y="7620"/>
                    <a:pt x="82550" y="16891"/>
                  </a:cubicBezTo>
                  <a:lnTo>
                    <a:pt x="82550" y="1284859"/>
                  </a:lnTo>
                  <a:cubicBezTo>
                    <a:pt x="82550" y="1294257"/>
                    <a:pt x="74930" y="1301750"/>
                    <a:pt x="65659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65659" y="1267968"/>
                  </a:lnTo>
                  <a:lnTo>
                    <a:pt x="65659" y="1284859"/>
                  </a:lnTo>
                  <a:lnTo>
                    <a:pt x="48768" y="1284859"/>
                  </a:lnTo>
                  <a:lnTo>
                    <a:pt x="48768" y="16891"/>
                  </a:lnTo>
                  <a:lnTo>
                    <a:pt x="65659" y="16891"/>
                  </a:lnTo>
                  <a:lnTo>
                    <a:pt x="656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AEAF7"/>
            </a:solidFill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91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5417407" y="3568516"/>
            <a:ext cx="3348044" cy="440251"/>
            <a:chOff x="0" y="0"/>
            <a:chExt cx="8778300" cy="1341001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 extrusionOk="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6475" tIns="23225" rIns="46475" bIns="232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15"/>
                <a:buFont typeface="Arial"/>
                <a:buNone/>
              </a:pP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1"/>
              <a:ext cx="8778300" cy="13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180"/>
                </a:spcBef>
                <a:spcAft>
                  <a:spcPts val="18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rgbClr val="073763"/>
                  </a:solidFill>
                  <a:latin typeface="Cambria"/>
                  <a:ea typeface="Cambria"/>
                  <a:cs typeface="Cambria"/>
                  <a:sym typeface="Cambria"/>
                </a:rPr>
                <a:t>Lab: make fw → make soc</a:t>
              </a:r>
              <a:endParaRPr sz="1200" i="0" u="none" strike="noStrike" cap="non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365770" y="558625"/>
            <a:ext cx="84126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What is Firmware?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65770" y="1035533"/>
            <a:ext cx="8412600" cy="33600"/>
          </a:xfrm>
          <a:prstGeom prst="rect">
            <a:avLst/>
          </a:prstGeom>
          <a:solidFill>
            <a:srgbClr val="D0DCF0"/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65770" y="1161036"/>
            <a:ext cx="8412600" cy="920400"/>
          </a:xfrm>
          <a:prstGeom prst="rect">
            <a:avLst/>
          </a:prstGeom>
          <a:solidFill>
            <a:srgbClr val="DAEAF7">
              <a:alpha val="5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15032" y="1177769"/>
            <a:ext cx="18288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Analogy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02930" y="1428774"/>
            <a:ext cx="82296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Think of firmware like the instructions printed on a microwave's control panel. The hardware (chip) is the microwave oven. The firmware is the tiny program baked inside that reads button presses and controls the heating element — it runs forever, doesn't need an OS, and talks directly to the chip's pins and registers.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20050" y="2206887"/>
            <a:ext cx="2743200" cy="2593800"/>
          </a:xfrm>
          <a:prstGeom prst="rect">
            <a:avLst/>
          </a:prstGeom>
          <a:solidFill>
            <a:srgbClr val="E8F1FB">
              <a:alpha val="60000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20050" y="2206887"/>
            <a:ext cx="2743200" cy="376500"/>
          </a:xfrm>
          <a:prstGeom prst="rect">
            <a:avLst/>
          </a:prstGeom>
          <a:solidFill>
            <a:srgbClr val="2E6BB0"/>
          </a:solidFill>
          <a:ln w="12700" cap="flat" cmpd="sng">
            <a:solidFill>
              <a:srgbClr val="2E6B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11490" y="2206887"/>
            <a:ext cx="25602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Firmware 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29900" y="2583375"/>
            <a:ext cx="2541900" cy="19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A C/assembly program compiled for a specific chip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Runs directly on the CPU — no Linux, no Windows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Stored in on-chip ROM or Flash memory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The very first code the chip executes after reset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200403" y="2206887"/>
            <a:ext cx="2743200" cy="2593800"/>
          </a:xfrm>
          <a:prstGeom prst="rect">
            <a:avLst/>
          </a:prstGeom>
          <a:solidFill>
            <a:srgbClr val="AED6F1">
              <a:alpha val="50000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200403" y="2206887"/>
            <a:ext cx="2743200" cy="376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291843" y="2206887"/>
            <a:ext cx="25602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Firmware Does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310125" y="2625225"/>
            <a:ext cx="25419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Sets up the stack, clears memory, copies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Configures hardware peripherals (UART, GPIO…)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Reads sensors, drives outputs in a tight loop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Handles interrupts when events occur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80756" y="2206887"/>
            <a:ext cx="2743200" cy="2593800"/>
          </a:xfrm>
          <a:prstGeom prst="rect">
            <a:avLst/>
          </a:prstGeom>
          <a:solidFill>
            <a:srgbClr val="00B0F0">
              <a:alpha val="3920"/>
            </a:srgbClr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80756" y="2206887"/>
            <a:ext cx="2743200" cy="376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172196" y="2206887"/>
            <a:ext cx="2560200" cy="3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RISC-V / PicoRV32?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190475" y="2625225"/>
            <a:ext cx="25419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PicoRV32 = a tiny RISC-V CPU core for FPGAs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AXI4-Lite bus connects CPU to peripherals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Open-source: you can read every transistor!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Perfect for learning SoC firmware from scratch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6c2b1ffe9_0_0"/>
          <p:cNvSpPr/>
          <p:nvPr/>
        </p:nvSpPr>
        <p:spPr>
          <a:xfrm>
            <a:off x="256575" y="228325"/>
            <a:ext cx="6876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Firmware Structure — fw/ Directory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6c2b1ffe9_0_0"/>
          <p:cNvSpPr/>
          <p:nvPr/>
        </p:nvSpPr>
        <p:spPr>
          <a:xfrm>
            <a:off x="389700" y="960125"/>
            <a:ext cx="4091100" cy="3950100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g3e6c2b1ffe9_0_0"/>
          <p:cNvSpPr/>
          <p:nvPr/>
        </p:nvSpPr>
        <p:spPr>
          <a:xfrm>
            <a:off x="526059" y="1053365"/>
            <a:ext cx="38184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# fw/ directory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6c2b1ffe9_0_0"/>
          <p:cNvSpPr/>
          <p:nvPr/>
        </p:nvSpPr>
        <p:spPr>
          <a:xfrm>
            <a:off x="526059" y="1361075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rPr>
              <a:t>fw/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6c2b1ffe9_0_0"/>
          <p:cNvSpPr/>
          <p:nvPr/>
        </p:nvSpPr>
        <p:spPr>
          <a:xfrm>
            <a:off x="526059" y="1622162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├── main.c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6c2b1ffe9_0_0"/>
          <p:cNvSpPr/>
          <p:nvPr/>
        </p:nvSpPr>
        <p:spPr>
          <a:xfrm>
            <a:off x="526059" y="1883248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├── crt0.S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6c2b1ffe9_0_0"/>
          <p:cNvSpPr/>
          <p:nvPr/>
        </p:nvSpPr>
        <p:spPr>
          <a:xfrm>
            <a:off x="526059" y="2144335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├── link.ld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6c2b1ffe9_0_0"/>
          <p:cNvSpPr/>
          <p:nvPr/>
        </p:nvSpPr>
        <p:spPr>
          <a:xfrm>
            <a:off x="526059" y="2405422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├── Makefile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6c2b1ffe9_0_0"/>
          <p:cNvSpPr/>
          <p:nvPr/>
        </p:nvSpPr>
        <p:spPr>
          <a:xfrm>
            <a:off x="526059" y="2666508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├── bin2hex.py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6c2b1ffe9_0_0"/>
          <p:cNvSpPr/>
          <p:nvPr/>
        </p:nvSpPr>
        <p:spPr>
          <a:xfrm>
            <a:off x="526059" y="2927595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├── gen_rom_case.py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6c2b1ffe9_0_0"/>
          <p:cNvSpPr/>
          <p:nvPr/>
        </p:nvSpPr>
        <p:spPr>
          <a:xfrm>
            <a:off x="526059" y="3188682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BDE2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7BDE2"/>
                </a:solidFill>
                <a:latin typeface="Consolas"/>
                <a:ea typeface="Consolas"/>
                <a:cs typeface="Consolas"/>
                <a:sym typeface="Consolas"/>
              </a:rPr>
              <a:t>├── firmware.elf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6c2b1ffe9_0_0"/>
          <p:cNvSpPr/>
          <p:nvPr/>
        </p:nvSpPr>
        <p:spPr>
          <a:xfrm>
            <a:off x="526059" y="3449769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BDE2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D7BDE2"/>
                </a:solidFill>
                <a:latin typeface="Consolas"/>
                <a:ea typeface="Consolas"/>
                <a:cs typeface="Consolas"/>
                <a:sym typeface="Consolas"/>
              </a:rPr>
              <a:t>├── firmware.bin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6c2b1ffe9_0_0"/>
          <p:cNvSpPr/>
          <p:nvPr/>
        </p:nvSpPr>
        <p:spPr>
          <a:xfrm>
            <a:off x="526059" y="3710855"/>
            <a:ext cx="381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└── → ../rtl/rom.hex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6c2b1ffe9_0_0"/>
          <p:cNvSpPr/>
          <p:nvPr/>
        </p:nvSpPr>
        <p:spPr>
          <a:xfrm>
            <a:off x="389700" y="4182184"/>
            <a:ext cx="4091100" cy="692400"/>
          </a:xfrm>
          <a:prstGeom prst="rect">
            <a:avLst/>
          </a:prstGeom>
          <a:solidFill>
            <a:srgbClr val="0D1F2D"/>
          </a:solidFill>
          <a:ln w="1905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6c2b1ffe9_0_0"/>
          <p:cNvSpPr/>
          <p:nvPr/>
        </p:nvSpPr>
        <p:spPr>
          <a:xfrm>
            <a:off x="526064" y="4217689"/>
            <a:ext cx="38184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Build:    make fw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Inspect:  riscv32-unknown-elf-objdump -d fw/firmware.elf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Verify:   cat rtl/rom.hex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6c2b1ffe9_0_0"/>
          <p:cNvSpPr/>
          <p:nvPr/>
        </p:nvSpPr>
        <p:spPr>
          <a:xfrm>
            <a:off x="4617720" y="960120"/>
            <a:ext cx="4206300" cy="7314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e6c2b1ffe9_0_0"/>
          <p:cNvSpPr/>
          <p:nvPr/>
        </p:nvSpPr>
        <p:spPr>
          <a:xfrm>
            <a:off x="4617720" y="960120"/>
            <a:ext cx="54900" cy="7314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e6c2b1ffe9_0_0"/>
          <p:cNvSpPr/>
          <p:nvPr/>
        </p:nvSpPr>
        <p:spPr>
          <a:xfrm>
            <a:off x="4727448" y="1005840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main.c</a:t>
            </a:r>
            <a:endParaRPr sz="105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6c2b1ffe9_0_0"/>
          <p:cNvSpPr/>
          <p:nvPr/>
        </p:nvSpPr>
        <p:spPr>
          <a:xfrm>
            <a:off x="6583680" y="1024128"/>
            <a:ext cx="1234500" cy="201300"/>
          </a:xfrm>
          <a:prstGeom prst="roundRect">
            <a:avLst>
              <a:gd name="adj" fmla="val 18182"/>
            </a:avLst>
          </a:prstGeom>
          <a:solidFill>
            <a:srgbClr val="7FB3D3"/>
          </a:solidFill>
          <a:ln w="127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6c2b1ffe9_0_0"/>
          <p:cNvSpPr/>
          <p:nvPr/>
        </p:nvSpPr>
        <p:spPr>
          <a:xfrm>
            <a:off x="4727448" y="1280160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Greet 10 times then echo loop. Defines UART macros, uart_putc(), uart_getc(), uart_puts(), main().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6c2b1ffe9_0_0"/>
          <p:cNvSpPr/>
          <p:nvPr/>
        </p:nvSpPr>
        <p:spPr>
          <a:xfrm>
            <a:off x="4617720" y="1764792"/>
            <a:ext cx="4206300" cy="7314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e6c2b1ffe9_0_0"/>
          <p:cNvSpPr/>
          <p:nvPr/>
        </p:nvSpPr>
        <p:spPr>
          <a:xfrm>
            <a:off x="4617720" y="1764792"/>
            <a:ext cx="54900" cy="7314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e6c2b1ffe9_0_0"/>
          <p:cNvSpPr/>
          <p:nvPr/>
        </p:nvSpPr>
        <p:spPr>
          <a:xfrm>
            <a:off x="4727448" y="1810512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crt0.S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6c2b1ffe9_0_0"/>
          <p:cNvSpPr/>
          <p:nvPr/>
        </p:nvSpPr>
        <p:spPr>
          <a:xfrm>
            <a:off x="6583680" y="1828800"/>
            <a:ext cx="1234500" cy="201300"/>
          </a:xfrm>
          <a:prstGeom prst="roundRect">
            <a:avLst>
              <a:gd name="adj" fmla="val 18182"/>
            </a:avLst>
          </a:prstGeom>
          <a:solidFill>
            <a:srgbClr val="2471A3">
              <a:alpha val="18040"/>
            </a:srgbClr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6c2b1ffe9_0_0"/>
          <p:cNvSpPr/>
          <p:nvPr/>
        </p:nvSpPr>
        <p:spPr>
          <a:xfrm>
            <a:off x="6583680" y="1828800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Startup</a:t>
            </a:r>
            <a:endParaRPr sz="7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6c2b1ffe9_0_0"/>
          <p:cNvSpPr/>
          <p:nvPr/>
        </p:nvSpPr>
        <p:spPr>
          <a:xfrm>
            <a:off x="4727448" y="2084832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init (sp = 0x0001_00FC), BSS zero-fill, call main, trap on return. Runs before main().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6c2b1ffe9_0_0"/>
          <p:cNvSpPr/>
          <p:nvPr/>
        </p:nvSpPr>
        <p:spPr>
          <a:xfrm>
            <a:off x="4617720" y="2569464"/>
            <a:ext cx="4206300" cy="7314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6c2b1ffe9_0_0"/>
          <p:cNvSpPr/>
          <p:nvPr/>
        </p:nvSpPr>
        <p:spPr>
          <a:xfrm>
            <a:off x="4617720" y="2569464"/>
            <a:ext cx="54900" cy="7314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e6c2b1ffe9_0_0"/>
          <p:cNvSpPr/>
          <p:nvPr/>
        </p:nvSpPr>
        <p:spPr>
          <a:xfrm>
            <a:off x="4727448" y="2615184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link.ld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e6c2b1ffe9_0_0"/>
          <p:cNvSpPr/>
          <p:nvPr/>
        </p:nvSpPr>
        <p:spPr>
          <a:xfrm>
            <a:off x="6583680" y="2633472"/>
            <a:ext cx="1234500" cy="201300"/>
          </a:xfrm>
          <a:prstGeom prst="roundRect">
            <a:avLst>
              <a:gd name="adj" fmla="val 18182"/>
            </a:avLst>
          </a:prstGeom>
          <a:solidFill>
            <a:srgbClr val="2471A3">
              <a:alpha val="18040"/>
            </a:srgbClr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6c2b1ffe9_0_0"/>
          <p:cNvSpPr/>
          <p:nvPr/>
        </p:nvSpPr>
        <p:spPr>
          <a:xfrm>
            <a:off x="6583680" y="2633472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Linker Script</a:t>
            </a:r>
            <a:endParaRPr sz="7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e6c2b1ffe9_0_0"/>
          <p:cNvSpPr/>
          <p:nvPr/>
        </p:nvSpPr>
        <p:spPr>
          <a:xfrm>
            <a:off x="4727448" y="2889504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ROM@0x0, SRAM@0x10000, STACKADDR=0x10100. Controls where each section is placed in memory.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e6c2b1ffe9_0_0"/>
          <p:cNvSpPr/>
          <p:nvPr/>
        </p:nvSpPr>
        <p:spPr>
          <a:xfrm>
            <a:off x="4617720" y="3374136"/>
            <a:ext cx="4206300" cy="731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e6c2b1ffe9_0_0"/>
          <p:cNvSpPr/>
          <p:nvPr/>
        </p:nvSpPr>
        <p:spPr>
          <a:xfrm>
            <a:off x="4617720" y="3374136"/>
            <a:ext cx="54900" cy="731400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e6c2b1ffe9_0_0"/>
          <p:cNvSpPr/>
          <p:nvPr/>
        </p:nvSpPr>
        <p:spPr>
          <a:xfrm>
            <a:off x="4727448" y="3419856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8E44AD"/>
                </a:solidFill>
                <a:latin typeface="Consolas"/>
                <a:ea typeface="Consolas"/>
                <a:cs typeface="Consolas"/>
                <a:sym typeface="Consolas"/>
              </a:rPr>
              <a:t>bin2hex.py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6c2b1ffe9_0_0"/>
          <p:cNvSpPr/>
          <p:nvPr/>
        </p:nvSpPr>
        <p:spPr>
          <a:xfrm>
            <a:off x="6583680" y="3438144"/>
            <a:ext cx="1234500" cy="201300"/>
          </a:xfrm>
          <a:prstGeom prst="roundRect">
            <a:avLst>
              <a:gd name="adj" fmla="val 18182"/>
            </a:avLst>
          </a:prstGeom>
          <a:solidFill>
            <a:srgbClr val="8E44AD">
              <a:alpha val="18040"/>
            </a:srgbClr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e6c2b1ffe9_0_0"/>
          <p:cNvSpPr/>
          <p:nvPr/>
        </p:nvSpPr>
        <p:spPr>
          <a:xfrm>
            <a:off x="6583680" y="3438144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7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6c2b1ffe9_0_0"/>
          <p:cNvSpPr/>
          <p:nvPr/>
        </p:nvSpPr>
        <p:spPr>
          <a:xfrm>
            <a:off x="4727448" y="3694176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Converts firmware.bin to 4-byte-wide hex format for use with Verilog $readmemh in ROM module.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6c2b1ffe9_0_0"/>
          <p:cNvSpPr/>
          <p:nvPr/>
        </p:nvSpPr>
        <p:spPr>
          <a:xfrm>
            <a:off x="4617720" y="4178808"/>
            <a:ext cx="4206300" cy="731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e6c2b1ffe9_0_0"/>
          <p:cNvSpPr/>
          <p:nvPr/>
        </p:nvSpPr>
        <p:spPr>
          <a:xfrm>
            <a:off x="4617720" y="4178808"/>
            <a:ext cx="54900" cy="731400"/>
          </a:xfrm>
          <a:prstGeom prst="rect">
            <a:avLst/>
          </a:prstGeom>
          <a:solidFill>
            <a:srgbClr val="8E44AD"/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e6c2b1ffe9_0_0"/>
          <p:cNvSpPr/>
          <p:nvPr/>
        </p:nvSpPr>
        <p:spPr>
          <a:xfrm>
            <a:off x="4727448" y="4224528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8E44AD"/>
                </a:solidFill>
                <a:latin typeface="Consolas"/>
                <a:ea typeface="Consolas"/>
                <a:cs typeface="Consolas"/>
                <a:sym typeface="Consolas"/>
              </a:rPr>
              <a:t>gen_rom_case.py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6c2b1ffe9_0_0"/>
          <p:cNvSpPr/>
          <p:nvPr/>
        </p:nvSpPr>
        <p:spPr>
          <a:xfrm>
            <a:off x="6583680" y="4242816"/>
            <a:ext cx="1234500" cy="201300"/>
          </a:xfrm>
          <a:prstGeom prst="roundRect">
            <a:avLst>
              <a:gd name="adj" fmla="val 18182"/>
            </a:avLst>
          </a:prstGeom>
          <a:solidFill>
            <a:srgbClr val="8E44AD">
              <a:alpha val="18040"/>
            </a:srgbClr>
          </a:solidFill>
          <a:ln w="12700" cap="flat" cmpd="sng">
            <a:solidFill>
              <a:srgbClr val="8E44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e6c2b1ffe9_0_0"/>
          <p:cNvSpPr/>
          <p:nvPr/>
        </p:nvSpPr>
        <p:spPr>
          <a:xfrm>
            <a:off x="6583680" y="4242816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7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6c2b1ffe9_0_0"/>
          <p:cNvSpPr/>
          <p:nvPr/>
        </p:nvSpPr>
        <p:spPr>
          <a:xfrm>
            <a:off x="4727448" y="4498848"/>
            <a:ext cx="4005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Generates a synthesizable case-ROM Verilog module from rom.hex for ASIC/synthesis flows.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6c2b1ffe9_0_0"/>
          <p:cNvSpPr/>
          <p:nvPr/>
        </p:nvSpPr>
        <p:spPr>
          <a:xfrm>
            <a:off x="6583680" y="1024128"/>
            <a:ext cx="1234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750" b="0" i="0" u="none" strike="noStrike" cap="non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c2b1ffe9_0_54"/>
          <p:cNvSpPr/>
          <p:nvPr/>
        </p:nvSpPr>
        <p:spPr>
          <a:xfrm>
            <a:off x="256575" y="228325"/>
            <a:ext cx="6876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Firmware MMIO — PicoRV32 SoC Register Map</a:t>
            </a:r>
            <a:endParaRPr sz="2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e6c2b1ffe9_0_54"/>
          <p:cNvSpPr/>
          <p:nvPr/>
        </p:nvSpPr>
        <p:spPr>
          <a:xfrm>
            <a:off x="274320" y="960120"/>
            <a:ext cx="4114800" cy="594300"/>
          </a:xfrm>
          <a:prstGeom prst="rect">
            <a:avLst/>
          </a:prstGeom>
          <a:solidFill>
            <a:srgbClr val="3C78D8"/>
          </a:solidFill>
          <a:ln w="1270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e6c2b1ffe9_0_54"/>
          <p:cNvSpPr/>
          <p:nvPr/>
        </p:nvSpPr>
        <p:spPr>
          <a:xfrm>
            <a:off x="384048" y="996696"/>
            <a:ext cx="1188600" cy="255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e6c2b1ffe9_0_54"/>
          <p:cNvSpPr/>
          <p:nvPr/>
        </p:nvSpPr>
        <p:spPr>
          <a:xfrm>
            <a:off x="1645920" y="996696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0x0000_0000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6c2b1ffe9_0_54"/>
          <p:cNvSpPr/>
          <p:nvPr/>
        </p:nvSpPr>
        <p:spPr>
          <a:xfrm>
            <a:off x="384048" y="1289304"/>
            <a:ext cx="3840600" cy="2013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.text section (firmware instructions)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6c2b1ffe9_0_54"/>
          <p:cNvSpPr/>
          <p:nvPr/>
        </p:nvSpPr>
        <p:spPr>
          <a:xfrm>
            <a:off x="274320" y="1627632"/>
            <a:ext cx="4114800" cy="594300"/>
          </a:xfrm>
          <a:prstGeom prst="rect">
            <a:avLst/>
          </a:prstGeom>
          <a:solidFill>
            <a:srgbClr val="3C78D8"/>
          </a:solidFill>
          <a:ln w="12700" cap="flat" cmpd="sng">
            <a:solidFill>
              <a:srgbClr val="1A5276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e6c2b1ffe9_0_54"/>
          <p:cNvSpPr/>
          <p:nvPr/>
        </p:nvSpPr>
        <p:spPr>
          <a:xfrm>
            <a:off x="384048" y="1664208"/>
            <a:ext cx="1188600" cy="2559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SRAM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6c2b1ffe9_0_54"/>
          <p:cNvSpPr/>
          <p:nvPr/>
        </p:nvSpPr>
        <p:spPr>
          <a:xfrm>
            <a:off x="1645920" y="166420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0x0001_0000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6c2b1ffe9_0_54"/>
          <p:cNvSpPr/>
          <p:nvPr/>
        </p:nvSpPr>
        <p:spPr>
          <a:xfrm>
            <a:off x="384048" y="1956816"/>
            <a:ext cx="3840600" cy="2013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stack + global variables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6c2b1ffe9_0_54"/>
          <p:cNvSpPr/>
          <p:nvPr/>
        </p:nvSpPr>
        <p:spPr>
          <a:xfrm>
            <a:off x="274320" y="2295144"/>
            <a:ext cx="4114800" cy="5943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e6c2b1ffe9_0_54"/>
          <p:cNvSpPr/>
          <p:nvPr/>
        </p:nvSpPr>
        <p:spPr>
          <a:xfrm>
            <a:off x="384048" y="2331720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Top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6c2b1ffe9_0_54"/>
          <p:cNvSpPr/>
          <p:nvPr/>
        </p:nvSpPr>
        <p:spPr>
          <a:xfrm>
            <a:off x="1645920" y="23317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0x0001_00FC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6c2b1ffe9_0_54"/>
          <p:cNvSpPr/>
          <p:nvPr/>
        </p:nvSpPr>
        <p:spPr>
          <a:xfrm>
            <a:off x="384048" y="2624328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set by STACKADDR in link.ld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6c2b1ffe9_0_54"/>
          <p:cNvSpPr/>
          <p:nvPr/>
        </p:nvSpPr>
        <p:spPr>
          <a:xfrm>
            <a:off x="274320" y="2962656"/>
            <a:ext cx="4114800" cy="594300"/>
          </a:xfrm>
          <a:prstGeom prst="rect">
            <a:avLst/>
          </a:prstGeom>
          <a:solidFill>
            <a:srgbClr val="0E6655"/>
          </a:solidFill>
          <a:ln w="12700" cap="flat" cmpd="sng">
            <a:solidFill>
              <a:srgbClr val="0E6655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e6c2b1ffe9_0_54"/>
          <p:cNvSpPr/>
          <p:nvPr/>
        </p:nvSpPr>
        <p:spPr>
          <a:xfrm>
            <a:off x="384048" y="2999232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 TX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6c2b1ffe9_0_54"/>
          <p:cNvSpPr/>
          <p:nvPr/>
        </p:nvSpPr>
        <p:spPr>
          <a:xfrm>
            <a:off x="1645920" y="299923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0x1000_0000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e6c2b1ffe9_0_54"/>
          <p:cNvSpPr/>
          <p:nvPr/>
        </p:nvSpPr>
        <p:spPr>
          <a:xfrm>
            <a:off x="384048" y="3291840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Write → [7:0] = byte to transmit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e6c2b1ffe9_0_54"/>
          <p:cNvSpPr/>
          <p:nvPr/>
        </p:nvSpPr>
        <p:spPr>
          <a:xfrm>
            <a:off x="274320" y="3630168"/>
            <a:ext cx="4114800" cy="59430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e6c2b1ffe9_0_54"/>
          <p:cNvSpPr/>
          <p:nvPr/>
        </p:nvSpPr>
        <p:spPr>
          <a:xfrm>
            <a:off x="384048" y="3666744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 RX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e6c2b1ffe9_0_54"/>
          <p:cNvSpPr/>
          <p:nvPr/>
        </p:nvSpPr>
        <p:spPr>
          <a:xfrm>
            <a:off x="1645920" y="3666744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0x1000_0004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e6c2b1ffe9_0_54"/>
          <p:cNvSpPr/>
          <p:nvPr/>
        </p:nvSpPr>
        <p:spPr>
          <a:xfrm>
            <a:off x="384048" y="3959352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Read  → [7:0] = byte, [8]=rx_valid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e6c2b1ffe9_0_54"/>
          <p:cNvSpPr/>
          <p:nvPr/>
        </p:nvSpPr>
        <p:spPr>
          <a:xfrm>
            <a:off x="274320" y="4297680"/>
            <a:ext cx="4114800" cy="594300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e6c2b1ffe9_0_54"/>
          <p:cNvSpPr/>
          <p:nvPr/>
        </p:nvSpPr>
        <p:spPr>
          <a:xfrm>
            <a:off x="384048" y="433425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 STATUS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6c2b1ffe9_0_54"/>
          <p:cNvSpPr/>
          <p:nvPr/>
        </p:nvSpPr>
        <p:spPr>
          <a:xfrm>
            <a:off x="1645920" y="4334256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0x1000_0008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e6c2b1ffe9_0_54"/>
          <p:cNvSpPr/>
          <p:nvPr/>
        </p:nvSpPr>
        <p:spPr>
          <a:xfrm>
            <a:off x="384048" y="4626864"/>
            <a:ext cx="3840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9E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C8D9E8"/>
                </a:solidFill>
                <a:latin typeface="Calibri"/>
                <a:ea typeface="Calibri"/>
                <a:cs typeface="Calibri"/>
                <a:sym typeface="Calibri"/>
              </a:rPr>
              <a:t>Read  → [1]=rx_buf_valid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e6c2b1ffe9_0_54"/>
          <p:cNvSpPr/>
          <p:nvPr/>
        </p:nvSpPr>
        <p:spPr>
          <a:xfrm>
            <a:off x="4617720" y="960120"/>
            <a:ext cx="4206300" cy="2331600"/>
          </a:xfrm>
          <a:prstGeom prst="rect">
            <a:avLst/>
          </a:prstGeom>
          <a:solidFill>
            <a:srgbClr val="1B263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e6c2b1ffe9_0_54"/>
          <p:cNvSpPr/>
          <p:nvPr/>
        </p:nvSpPr>
        <p:spPr>
          <a:xfrm>
            <a:off x="4736592" y="1033272"/>
            <a:ext cx="397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/* fw/main.c — hardware register definitions */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6c2b1ffe9_0_54"/>
          <p:cNvSpPr/>
          <p:nvPr/>
        </p:nvSpPr>
        <p:spPr>
          <a:xfrm>
            <a:off x="4736592" y="1353312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lang="en-US" sz="9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UART_TX    </a:t>
            </a:r>
            <a:r>
              <a:rPr lang="en-US" sz="9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 (*(volatile char*)0x10000000)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6c2b1ffe9_0_54"/>
          <p:cNvSpPr/>
          <p:nvPr/>
        </p:nvSpPr>
        <p:spPr>
          <a:xfrm>
            <a:off x="4736592" y="1673352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lang="en-US" sz="9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UART_RX    </a:t>
            </a:r>
            <a:r>
              <a:rPr lang="en-US" sz="9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 (*(volatile char*)0x10000004)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6c2b1ffe9_0_54"/>
          <p:cNvSpPr/>
          <p:nvPr/>
        </p:nvSpPr>
        <p:spPr>
          <a:xfrm>
            <a:off x="4736592" y="1993392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#define </a:t>
            </a:r>
            <a:r>
              <a:rPr lang="en-US" sz="9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UART_STATUS</a:t>
            </a:r>
            <a:r>
              <a:rPr lang="en-US" sz="9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 (*(volatile int*) 0x10000008)</a:t>
            </a:r>
            <a:endParaRPr sz="9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6c2b1ffe9_0_54"/>
          <p:cNvSpPr/>
          <p:nvPr/>
        </p:nvSpPr>
        <p:spPr>
          <a:xfrm>
            <a:off x="4617720" y="2468880"/>
            <a:ext cx="4206300" cy="822900"/>
          </a:xfrm>
          <a:prstGeom prst="rect">
            <a:avLst/>
          </a:prstGeom>
          <a:solidFill>
            <a:srgbClr val="0D1F2D"/>
          </a:solidFill>
          <a:ln w="15225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e6c2b1ffe9_0_54"/>
          <p:cNvSpPr/>
          <p:nvPr/>
        </p:nvSpPr>
        <p:spPr>
          <a:xfrm>
            <a:off x="4736592" y="2523744"/>
            <a:ext cx="3977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volatile  →  tells the compiler: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e6c2b1ffe9_0_54"/>
          <p:cNvSpPr/>
          <p:nvPr/>
        </p:nvSpPr>
        <p:spPr>
          <a:xfrm>
            <a:off x="4736592" y="2779776"/>
            <a:ext cx="3977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• </a:t>
            </a: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DO NOT cache this read in a register</a:t>
            </a:r>
            <a:b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• </a:t>
            </a: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DO NOT reorder or optimize away writes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6c2b1ffe9_0_54"/>
          <p:cNvSpPr/>
          <p:nvPr/>
        </p:nvSpPr>
        <p:spPr>
          <a:xfrm>
            <a:off x="4617720" y="3456432"/>
            <a:ext cx="4206300" cy="7131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e6c2b1ffe9_0_54"/>
          <p:cNvSpPr/>
          <p:nvPr/>
        </p:nvSpPr>
        <p:spPr>
          <a:xfrm>
            <a:off x="4617720" y="3456432"/>
            <a:ext cx="54900" cy="713100"/>
          </a:xfrm>
          <a:prstGeom prst="rect">
            <a:avLst/>
          </a:prstGeom>
          <a:solidFill>
            <a:srgbClr val="148F77"/>
          </a:solidFill>
          <a:ln w="1270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e6c2b1ffe9_0_54"/>
          <p:cNvSpPr/>
          <p:nvPr/>
        </p:nvSpPr>
        <p:spPr>
          <a:xfrm>
            <a:off x="4727448" y="3520440"/>
            <a:ext cx="393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48F77"/>
                </a:solidFill>
                <a:latin typeface="Calibri"/>
                <a:ea typeface="Calibri"/>
                <a:cs typeface="Calibri"/>
                <a:sym typeface="Calibri"/>
              </a:rPr>
              <a:t>✅  No uart_init() needed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e6c2b1ffe9_0_54"/>
          <p:cNvSpPr/>
          <p:nvPr/>
        </p:nvSpPr>
        <p:spPr>
          <a:xfrm>
            <a:off x="4727448" y="378561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uart_axi.v auto-enables on reset. Baud rate is compile-time fixed — zero runtime init.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6c2b1ffe9_0_54"/>
          <p:cNvSpPr/>
          <p:nvPr/>
        </p:nvSpPr>
        <p:spPr>
          <a:xfrm>
            <a:off x="4617720" y="4261104"/>
            <a:ext cx="4206300" cy="713100"/>
          </a:xfrm>
          <a:prstGeom prst="rect">
            <a:avLst/>
          </a:prstGeom>
          <a:solidFill>
            <a:srgbClr val="FFFFFF"/>
          </a:solidFill>
          <a:ln w="15225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e6c2b1ffe9_0_54"/>
          <p:cNvSpPr/>
          <p:nvPr/>
        </p:nvSpPr>
        <p:spPr>
          <a:xfrm>
            <a:off x="4617720" y="4261104"/>
            <a:ext cx="54900" cy="713100"/>
          </a:xfrm>
          <a:prstGeom prst="rect">
            <a:avLst/>
          </a:prstGeom>
          <a:solidFill>
            <a:srgbClr val="148F77"/>
          </a:solidFill>
          <a:ln w="1270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e6c2b1ffe9_0_54"/>
          <p:cNvSpPr/>
          <p:nvPr/>
        </p:nvSpPr>
        <p:spPr>
          <a:xfrm>
            <a:off x="4727448" y="4325112"/>
            <a:ext cx="393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48F77"/>
                </a:solidFill>
                <a:latin typeface="Calibri"/>
                <a:ea typeface="Calibri"/>
                <a:cs typeface="Calibri"/>
                <a:sym typeface="Calibri"/>
              </a:rPr>
              <a:t>🔄  AXI Backpressure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6c2b1ffe9_0_54"/>
          <p:cNvSpPr/>
          <p:nvPr/>
        </p:nvSpPr>
        <p:spPr>
          <a:xfrm>
            <a:off x="4727448" y="459028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When TX buf full: AWREADY/WREADY go LOW, CPU bridge stalls — no busy-wait loop needed.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"/>
          <p:cNvSpPr/>
          <p:nvPr/>
        </p:nvSpPr>
        <p:spPr>
          <a:xfrm>
            <a:off x="171850" y="292450"/>
            <a:ext cx="8332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Startup Code — Before main()  •  crt0.S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274320" y="960120"/>
            <a:ext cx="4755000" cy="4069200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4" name="Google Shape;234;p4"/>
          <p:cNvSpPr/>
          <p:nvPr/>
        </p:nvSpPr>
        <p:spPr>
          <a:xfrm>
            <a:off x="411480" y="1033272"/>
            <a:ext cx="4480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# fw/crt0.S — startup code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11480" y="1316736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.section .text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11480" y="1481328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.global _start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411480" y="1645920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900"/>
              <a:buFont typeface="Consolas"/>
              <a:buNone/>
            </a:pPr>
            <a:r>
              <a:rPr lang="en-US" sz="900" b="1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_start: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411480" y="1810512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411480" y="1975104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  # 1. Init stack pointer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411480" y="2139696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LUI  sp, 0x10         # sp = 0x10000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411480" y="2304288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ADDI sp, sp, 0xFC     # sp = 0x100FC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411480" y="2468880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  #     → STACKADDR = 0x0001_00FC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411480" y="2633472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/>
          <p:nvPr/>
        </p:nvSpPr>
        <p:spPr>
          <a:xfrm>
            <a:off x="411480" y="2798064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  # 2. Zero BSS segment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411480" y="2962656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LA   a0, __bss_start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411480" y="3127248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LA   a1, __bss_end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411480" y="3291840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bss_loop: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411480" y="3456432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SW   zero, 0(a0)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411480" y="3621024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ADDI a0, a0, 4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411480" y="3785616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BLT  a0, a1, bss_loop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411480" y="3950208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411480" y="4114800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  # 3. Call main()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411480" y="4279392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  CALL main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411480" y="4443984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411480" y="4608576"/>
            <a:ext cx="4526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_exit: J _exit  # trap on return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5257800" y="960120"/>
            <a:ext cx="3566100" cy="7314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5321808" y="1097280"/>
            <a:ext cx="384000" cy="384000"/>
          </a:xfrm>
          <a:prstGeom prst="ellipse">
            <a:avLst/>
          </a:prstGeom>
          <a:solidFill>
            <a:srgbClr val="3D85C6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5779008" y="1024128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Reset vector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5779008" y="1271016"/>
            <a:ext cx="297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PicoRV32 jumps to 0x0000_0000 (PROGADDR_RESET) — first instruction in ROM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5257800" y="1764792"/>
            <a:ext cx="3566100" cy="7314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5321808" y="1901952"/>
            <a:ext cx="384000" cy="384000"/>
          </a:xfrm>
          <a:prstGeom prst="ellipse">
            <a:avLst/>
          </a:prstGeom>
          <a:solidFill>
            <a:srgbClr val="3D85C6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"/>
          <p:cNvSpPr/>
          <p:nvPr/>
        </p:nvSpPr>
        <p:spPr>
          <a:xfrm>
            <a:off x="5779008" y="1828800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Stack init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5779008" y="2075688"/>
            <a:ext cx="297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LUI + ADDI sets sp = 0x0001_00FC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Defined by STACKADDR in fw/link.ld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5257800" y="2569464"/>
            <a:ext cx="3566100" cy="731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5321808" y="2706624"/>
            <a:ext cx="384000" cy="384000"/>
          </a:xfrm>
          <a:prstGeom prst="ellipse">
            <a:avLst/>
          </a:prstGeom>
          <a:solidFill>
            <a:srgbClr val="3D85C6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"/>
          <p:cNvSpPr/>
          <p:nvPr/>
        </p:nvSpPr>
        <p:spPr>
          <a:xfrm>
            <a:off x="5779008" y="2633472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BSS zero-fill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5779008" y="2880360"/>
            <a:ext cx="297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Clears BSS segment (globals = 0). In this project BSS = 0 bytes, but the pattern is critical.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5257800" y="3374136"/>
            <a:ext cx="3566100" cy="731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5321808" y="3511296"/>
            <a:ext cx="384000" cy="384000"/>
          </a:xfrm>
          <a:prstGeom prst="ellipse">
            <a:avLst/>
          </a:prstGeom>
          <a:solidFill>
            <a:srgbClr val="3D85C6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"/>
          <p:cNvSpPr/>
          <p:nvPr/>
        </p:nvSpPr>
        <p:spPr>
          <a:xfrm>
            <a:off x="5779008" y="3438144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Call main()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5779008" y="3685032"/>
            <a:ext cx="297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CALL main — firmware application starts. uart_puts() runs, then echo loop begins.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5257800" y="4178808"/>
            <a:ext cx="3566100" cy="731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"/>
          <p:cNvSpPr/>
          <p:nvPr/>
        </p:nvSpPr>
        <p:spPr>
          <a:xfrm>
            <a:off x="5321808" y="4315968"/>
            <a:ext cx="384000" cy="384000"/>
          </a:xfrm>
          <a:prstGeom prst="ellipse">
            <a:avLst/>
          </a:prstGeom>
          <a:solidFill>
            <a:srgbClr val="3D85C6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5779008" y="4242816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Trap on return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5779008" y="4489704"/>
            <a:ext cx="2971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J _exit — infinite loop. main() should never return; this is a safety net.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5257800" y="4956048"/>
            <a:ext cx="3566100" cy="201300"/>
          </a:xfrm>
          <a:prstGeom prst="roundRect">
            <a:avLst>
              <a:gd name="adj" fmla="val 18182"/>
            </a:avLst>
          </a:prstGeom>
          <a:solidFill>
            <a:srgbClr val="D6EAF8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5349240" y="4956048"/>
            <a:ext cx="3429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PicoRV32: active-LOW reset (resetn) connected in top.v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5321808" y="431596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5321808" y="351129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5321808" y="270662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5321808" y="109728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5321808" y="190195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6c2b1ffe9_0_195"/>
          <p:cNvSpPr/>
          <p:nvPr/>
        </p:nvSpPr>
        <p:spPr>
          <a:xfrm>
            <a:off x="130450" y="246875"/>
            <a:ext cx="82296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uart_putc + uart_getc  —  Project API (no FIFO bit)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6c2b1ffe9_0_195"/>
          <p:cNvSpPr/>
          <p:nvPr/>
        </p:nvSpPr>
        <p:spPr>
          <a:xfrm>
            <a:off x="274320" y="960120"/>
            <a:ext cx="5120700" cy="4069200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e6c2b1ffe9_0_195"/>
          <p:cNvSpPr/>
          <p:nvPr/>
        </p:nvSpPr>
        <p:spPr>
          <a:xfrm>
            <a:off x="411480" y="1024128"/>
            <a:ext cx="4892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/* fw/main.c — UART API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6c2b1ffe9_0_195"/>
          <p:cNvSpPr/>
          <p:nvPr/>
        </p:nvSpPr>
        <p:spPr>
          <a:xfrm>
            <a:off x="411480" y="1316736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/* ── Register macros ──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6c2b1ffe9_0_195"/>
          <p:cNvSpPr/>
          <p:nvPr/>
        </p:nvSpPr>
        <p:spPr>
          <a:xfrm>
            <a:off x="411480" y="1517904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#define UART_TX     (*(volatile char*)0x10000000)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e6c2b1ffe9_0_195"/>
          <p:cNvSpPr/>
          <p:nvPr/>
        </p:nvSpPr>
        <p:spPr>
          <a:xfrm>
            <a:off x="411480" y="1719072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#define UART_RX     (*(volatile char*)0x10000004)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6c2b1ffe9_0_195"/>
          <p:cNvSpPr/>
          <p:nvPr/>
        </p:nvSpPr>
        <p:spPr>
          <a:xfrm>
            <a:off x="411480" y="1920240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#define UART_STATUS (*(volatile int*) 0x10000008)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6c2b1ffe9_0_195"/>
          <p:cNvSpPr/>
          <p:nvPr/>
        </p:nvSpPr>
        <p:spPr>
          <a:xfrm>
            <a:off x="411480" y="2121408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6c2b1ffe9_0_195"/>
          <p:cNvSpPr/>
          <p:nvPr/>
        </p:nvSpPr>
        <p:spPr>
          <a:xfrm>
            <a:off x="411480" y="2322576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/* ── Transmit one byte ──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6c2b1ffe9_0_195"/>
          <p:cNvSpPr/>
          <p:nvPr/>
        </p:nvSpPr>
        <p:spPr>
          <a:xfrm>
            <a:off x="411480" y="2523744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static void uart_putc(char c) {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6c2b1ffe9_0_195"/>
          <p:cNvSpPr/>
          <p:nvPr/>
        </p:nvSpPr>
        <p:spPr>
          <a:xfrm>
            <a:off x="411480" y="2724912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UART_TX = c;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6c2b1ffe9_0_195"/>
          <p:cNvSpPr/>
          <p:nvPr/>
        </p:nvSpPr>
        <p:spPr>
          <a:xfrm>
            <a:off x="411480" y="2926080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    /* AXI backpressure stalls CPU if buf full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6c2b1ffe9_0_195"/>
          <p:cNvSpPr/>
          <p:nvPr/>
        </p:nvSpPr>
        <p:spPr>
          <a:xfrm>
            <a:off x="411480" y="3127248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948A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1948A"/>
                </a:solidFill>
                <a:latin typeface="Consolas"/>
                <a:ea typeface="Consolas"/>
                <a:cs typeface="Consolas"/>
                <a:sym typeface="Consolas"/>
              </a:rPr>
              <a:t>    /* NO busy-wait loop needed!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6c2b1ffe9_0_195"/>
          <p:cNvSpPr/>
          <p:nvPr/>
        </p:nvSpPr>
        <p:spPr>
          <a:xfrm>
            <a:off x="411480" y="3328416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6c2b1ffe9_0_195"/>
          <p:cNvSpPr/>
          <p:nvPr/>
        </p:nvSpPr>
        <p:spPr>
          <a:xfrm>
            <a:off x="411480" y="3529584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e6c2b1ffe9_0_195"/>
          <p:cNvSpPr/>
          <p:nvPr/>
        </p:nvSpPr>
        <p:spPr>
          <a:xfrm>
            <a:off x="411480" y="3730752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/* ── Receive one byte ──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6c2b1ffe9_0_195"/>
          <p:cNvSpPr/>
          <p:nvPr/>
        </p:nvSpPr>
        <p:spPr>
          <a:xfrm>
            <a:off x="411480" y="3931920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static char uart_getc(void) {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6c2b1ffe9_0_195"/>
          <p:cNvSpPr/>
          <p:nvPr/>
        </p:nvSpPr>
        <p:spPr>
          <a:xfrm>
            <a:off x="411480" y="4133088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    /* Poll STATUS bit[1] = rx_buf_valid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6c2b1ffe9_0_195"/>
          <p:cNvSpPr/>
          <p:nvPr/>
        </p:nvSpPr>
        <p:spPr>
          <a:xfrm>
            <a:off x="411480" y="4334256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while (!(UART_STATUS &amp; 0x2));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e6c2b1ffe9_0_195"/>
          <p:cNvSpPr/>
          <p:nvPr/>
        </p:nvSpPr>
        <p:spPr>
          <a:xfrm>
            <a:off x="411480" y="4535424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return UART_RX;  /* read clears rx_buf_valid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6c2b1ffe9_0_195"/>
          <p:cNvSpPr/>
          <p:nvPr/>
        </p:nvSpPr>
        <p:spPr>
          <a:xfrm>
            <a:off x="411480" y="4736592"/>
            <a:ext cx="4892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e6c2b1ffe9_0_195"/>
          <p:cNvSpPr/>
          <p:nvPr/>
        </p:nvSpPr>
        <p:spPr>
          <a:xfrm>
            <a:off x="5623560" y="960120"/>
            <a:ext cx="3200400" cy="1261800"/>
          </a:xfrm>
          <a:prstGeom prst="rect">
            <a:avLst/>
          </a:prstGeom>
          <a:noFill/>
          <a:ln w="2540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e6c2b1ffe9_0_195"/>
          <p:cNvSpPr/>
          <p:nvPr/>
        </p:nvSpPr>
        <p:spPr>
          <a:xfrm>
            <a:off x="5623560" y="960120"/>
            <a:ext cx="63900" cy="1261800"/>
          </a:xfrm>
          <a:prstGeom prst="rect">
            <a:avLst/>
          </a:prstGeom>
          <a:solidFill>
            <a:srgbClr val="148F77"/>
          </a:solidFill>
          <a:ln w="1270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e6c2b1ffe9_0_195"/>
          <p:cNvSpPr/>
          <p:nvPr/>
        </p:nvSpPr>
        <p:spPr>
          <a:xfrm>
            <a:off x="5742432" y="1033272"/>
            <a:ext cx="2999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48F77"/>
                </a:solidFill>
                <a:latin typeface="Calibri"/>
                <a:ea typeface="Calibri"/>
                <a:cs typeface="Calibri"/>
                <a:sym typeface="Calibri"/>
              </a:rPr>
              <a:t>Why no busy-wait in uart_putc?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6c2b1ffe9_0_195"/>
          <p:cNvSpPr/>
          <p:nvPr/>
        </p:nvSpPr>
        <p:spPr>
          <a:xfrm>
            <a:off x="5742432" y="1417320"/>
            <a:ext cx="2999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When the TX buffer is full, uart_axi.v asserts backpressure: AWREADY and WREADY go LOW. The AXI bridge automatically stalls the CPU write — no software polling required.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6c2b1ffe9_0_195"/>
          <p:cNvSpPr/>
          <p:nvPr/>
        </p:nvSpPr>
        <p:spPr>
          <a:xfrm>
            <a:off x="5623560" y="2331720"/>
            <a:ext cx="3200400" cy="12618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e6c2b1ffe9_0_195"/>
          <p:cNvSpPr/>
          <p:nvPr/>
        </p:nvSpPr>
        <p:spPr>
          <a:xfrm>
            <a:off x="5623560" y="2331720"/>
            <a:ext cx="63900" cy="12618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e6c2b1ffe9_0_195"/>
          <p:cNvSpPr/>
          <p:nvPr/>
        </p:nvSpPr>
        <p:spPr>
          <a:xfrm>
            <a:off x="5742432" y="2404872"/>
            <a:ext cx="2999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Why poll STATUS in uart_getc?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6c2b1ffe9_0_195"/>
          <p:cNvSpPr/>
          <p:nvPr/>
        </p:nvSpPr>
        <p:spPr>
          <a:xfrm>
            <a:off x="5742432" y="2788920"/>
            <a:ext cx="2999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ENABLE_IRQ=0 in this PicoRV32 config — no interrupt support. rx_buf_valid (STATUS bit[1]) must be polled. Reading UART_RX automatically clears the flag.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6c2b1ffe9_0_195"/>
          <p:cNvSpPr/>
          <p:nvPr/>
        </p:nvSpPr>
        <p:spPr>
          <a:xfrm>
            <a:off x="5623560" y="3703320"/>
            <a:ext cx="3200400" cy="12618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D4861F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e6c2b1ffe9_0_195"/>
          <p:cNvSpPr/>
          <p:nvPr/>
        </p:nvSpPr>
        <p:spPr>
          <a:xfrm>
            <a:off x="5623560" y="3703320"/>
            <a:ext cx="63900" cy="1261800"/>
          </a:xfrm>
          <a:prstGeom prst="rect">
            <a:avLst/>
          </a:prstGeom>
          <a:solidFill>
            <a:srgbClr val="D4861F"/>
          </a:solidFill>
          <a:ln w="12700" cap="flat" cmpd="sng">
            <a:solidFill>
              <a:srgbClr val="D486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e6c2b1ffe9_0_195"/>
          <p:cNvSpPr/>
          <p:nvPr/>
        </p:nvSpPr>
        <p:spPr>
          <a:xfrm>
            <a:off x="5742432" y="3776472"/>
            <a:ext cx="2999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861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D4861F"/>
                </a:solidFill>
                <a:latin typeface="Calibri"/>
                <a:ea typeface="Calibri"/>
                <a:cs typeface="Calibri"/>
                <a:sym typeface="Calibri"/>
              </a:rPr>
              <a:t>SiFive vs THIS project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6c2b1ffe9_0_195"/>
          <p:cNvSpPr/>
          <p:nvPr/>
        </p:nvSpPr>
        <p:spPr>
          <a:xfrm>
            <a:off x="5742432" y="4160520"/>
            <a:ext cx="2999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SiFive uses bit[31] (FIFO full flag) + explicit polling. THIS project uses AXI backpressure — uart_putc is one line, not a while-loop wrapper.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6c2b1ffe9_0_233"/>
          <p:cNvSpPr/>
          <p:nvPr/>
        </p:nvSpPr>
        <p:spPr>
          <a:xfrm>
            <a:off x="166725" y="278350"/>
            <a:ext cx="82296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Hello World  →  uart_puts + Echo Loop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e6c2b1ffe9_0_233"/>
          <p:cNvSpPr/>
          <p:nvPr/>
        </p:nvSpPr>
        <p:spPr>
          <a:xfrm>
            <a:off x="274320" y="960120"/>
            <a:ext cx="4892100" cy="4069200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6c2b1ffe9_0_233"/>
          <p:cNvSpPr/>
          <p:nvPr/>
        </p:nvSpPr>
        <p:spPr>
          <a:xfrm>
            <a:off x="411480" y="1024128"/>
            <a:ext cx="466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/* fw/main.c — complete application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e6c2b1ffe9_0_233"/>
          <p:cNvSpPr/>
          <p:nvPr/>
        </p:nvSpPr>
        <p:spPr>
          <a:xfrm>
            <a:off x="411480" y="1316736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static void uart_puts(const char *s) {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6c2b1ffe9_0_233"/>
          <p:cNvSpPr/>
          <p:nvPr/>
        </p:nvSpPr>
        <p:spPr>
          <a:xfrm>
            <a:off x="411480" y="1536192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while (*s) uart_putc(*s++);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e6c2b1ffe9_0_233"/>
          <p:cNvSpPr/>
          <p:nvPr/>
        </p:nvSpPr>
        <p:spPr>
          <a:xfrm>
            <a:off x="411480" y="1755648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6c2b1ffe9_0_233"/>
          <p:cNvSpPr/>
          <p:nvPr/>
        </p:nvSpPr>
        <p:spPr>
          <a:xfrm>
            <a:off x="411480" y="1975104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e6c2b1ffe9_0_233"/>
          <p:cNvSpPr/>
          <p:nvPr/>
        </p:nvSpPr>
        <p:spPr>
          <a:xfrm>
            <a:off x="411480" y="2194560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int main(void) {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6c2b1ffe9_0_233"/>
          <p:cNvSpPr/>
          <p:nvPr/>
        </p:nvSpPr>
        <p:spPr>
          <a:xfrm>
            <a:off x="411480" y="2414016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6c2b1ffe9_0_233"/>
          <p:cNvSpPr/>
          <p:nvPr/>
        </p:nvSpPr>
        <p:spPr>
          <a:xfrm>
            <a:off x="411480" y="2633472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    /* Send greeting 10 times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6c2b1ffe9_0_233"/>
          <p:cNvSpPr/>
          <p:nvPr/>
        </p:nvSpPr>
        <p:spPr>
          <a:xfrm>
            <a:off x="411480" y="2852928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for (int i = 0; i &lt; 10; i++)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e6c2b1ffe9_0_233"/>
          <p:cNvSpPr/>
          <p:nvPr/>
        </p:nvSpPr>
        <p:spPr>
          <a:xfrm>
            <a:off x="411480" y="3072384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        uart_puts("Hello Deepak from Nielit!\n");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6c2b1ffe9_0_233"/>
          <p:cNvSpPr/>
          <p:nvPr/>
        </p:nvSpPr>
        <p:spPr>
          <a:xfrm>
            <a:off x="411480" y="3291840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e6c2b1ffe9_0_233"/>
          <p:cNvSpPr/>
          <p:nvPr/>
        </p:nvSpPr>
        <p:spPr>
          <a:xfrm>
            <a:off x="411480" y="3511296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    /* Echo loop — receive and retransmit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6c2b1ffe9_0_233"/>
          <p:cNvSpPr/>
          <p:nvPr/>
        </p:nvSpPr>
        <p:spPr>
          <a:xfrm>
            <a:off x="411480" y="3730752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while (1)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e6c2b1ffe9_0_233"/>
          <p:cNvSpPr/>
          <p:nvPr/>
        </p:nvSpPr>
        <p:spPr>
          <a:xfrm>
            <a:off x="411480" y="3950208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        uart_putc(uart_getc());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6c2b1ffe9_0_233"/>
          <p:cNvSpPr/>
          <p:nvPr/>
        </p:nvSpPr>
        <p:spPr>
          <a:xfrm>
            <a:off x="411480" y="4169664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e6c2b1ffe9_0_233"/>
          <p:cNvSpPr/>
          <p:nvPr/>
        </p:nvSpPr>
        <p:spPr>
          <a:xfrm>
            <a:off x="411480" y="4389120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    return 0;  /* never reached */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6c2b1ffe9_0_233"/>
          <p:cNvSpPr/>
          <p:nvPr/>
        </p:nvSpPr>
        <p:spPr>
          <a:xfrm>
            <a:off x="411480" y="4608576"/>
            <a:ext cx="46635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6c2b1ffe9_0_233"/>
          <p:cNvSpPr/>
          <p:nvPr/>
        </p:nvSpPr>
        <p:spPr>
          <a:xfrm>
            <a:off x="5376672" y="960120"/>
            <a:ext cx="3474600" cy="1737300"/>
          </a:xfrm>
          <a:prstGeom prst="rect">
            <a:avLst/>
          </a:prstGeom>
          <a:noFill/>
          <a:ln w="1905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e6c2b1ffe9_0_233"/>
          <p:cNvSpPr/>
          <p:nvPr/>
        </p:nvSpPr>
        <p:spPr>
          <a:xfrm>
            <a:off x="5486400" y="1024128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471A3"/>
                </a:solidFill>
                <a:latin typeface="Calibri"/>
                <a:ea typeface="Calibri"/>
                <a:cs typeface="Calibri"/>
                <a:sym typeface="Calibri"/>
              </a:rPr>
              <a:t>Execution Flow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e6c2b1ffe9_0_233"/>
          <p:cNvSpPr/>
          <p:nvPr/>
        </p:nvSpPr>
        <p:spPr>
          <a:xfrm>
            <a:off x="5486400" y="1371600"/>
            <a:ext cx="914400" cy="292500"/>
          </a:xfrm>
          <a:prstGeom prst="roundRect">
            <a:avLst>
              <a:gd name="adj" fmla="val 15625"/>
            </a:avLst>
          </a:prstGeom>
          <a:solidFill>
            <a:srgbClr val="4A86E8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6c2b1ffe9_0_233"/>
          <p:cNvSpPr/>
          <p:nvPr/>
        </p:nvSpPr>
        <p:spPr>
          <a:xfrm>
            <a:off x="6492240" y="1371600"/>
            <a:ext cx="22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6c2b1ffe9_0_233"/>
          <p:cNvSpPr/>
          <p:nvPr/>
        </p:nvSpPr>
        <p:spPr>
          <a:xfrm>
            <a:off x="6766560" y="1408176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+ BSS → call main()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6c2b1ffe9_0_233"/>
          <p:cNvSpPr/>
          <p:nvPr/>
        </p:nvSpPr>
        <p:spPr>
          <a:xfrm>
            <a:off x="5486400" y="1783080"/>
            <a:ext cx="914400" cy="292500"/>
          </a:xfrm>
          <a:prstGeom prst="roundRect">
            <a:avLst>
              <a:gd name="adj" fmla="val 15625"/>
            </a:avLst>
          </a:prstGeom>
          <a:solidFill>
            <a:srgbClr val="4A86E8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e6c2b1ffe9_0_233"/>
          <p:cNvSpPr/>
          <p:nvPr/>
        </p:nvSpPr>
        <p:spPr>
          <a:xfrm>
            <a:off x="6492240" y="1783080"/>
            <a:ext cx="22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6c2b1ffe9_0_233"/>
          <p:cNvSpPr/>
          <p:nvPr/>
        </p:nvSpPr>
        <p:spPr>
          <a:xfrm>
            <a:off x="6766560" y="1819656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uart_puts × 10 greeting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6c2b1ffe9_0_233"/>
          <p:cNvSpPr/>
          <p:nvPr/>
        </p:nvSpPr>
        <p:spPr>
          <a:xfrm>
            <a:off x="5486400" y="2194560"/>
            <a:ext cx="914400" cy="292500"/>
          </a:xfrm>
          <a:prstGeom prst="roundRect">
            <a:avLst>
              <a:gd name="adj" fmla="val 15625"/>
            </a:avLst>
          </a:prstGeom>
          <a:solidFill>
            <a:srgbClr val="4A86E8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e6c2b1ffe9_0_233"/>
          <p:cNvSpPr/>
          <p:nvPr/>
        </p:nvSpPr>
        <p:spPr>
          <a:xfrm>
            <a:off x="6492240" y="2194560"/>
            <a:ext cx="22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6c2b1ffe9_0_233"/>
          <p:cNvSpPr/>
          <p:nvPr/>
        </p:nvSpPr>
        <p:spPr>
          <a:xfrm>
            <a:off x="6766560" y="2231136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uart_getc() → uart_putc()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6c2b1ffe9_0_233"/>
          <p:cNvSpPr/>
          <p:nvPr/>
        </p:nvSpPr>
        <p:spPr>
          <a:xfrm>
            <a:off x="5376672" y="2834640"/>
            <a:ext cx="3474600" cy="2194500"/>
          </a:xfrm>
          <a:prstGeom prst="rect">
            <a:avLst/>
          </a:prstGeom>
          <a:solidFill>
            <a:srgbClr val="0D1F2D"/>
          </a:solidFill>
          <a:ln w="1905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6c2b1ffe9_0_233"/>
          <p:cNvSpPr/>
          <p:nvPr/>
        </p:nvSpPr>
        <p:spPr>
          <a:xfrm>
            <a:off x="5486400" y="2898648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Testbench Verification  (tb/tb_top.v)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6c2b1ffe9_0_233"/>
          <p:cNvSpPr/>
          <p:nvPr/>
        </p:nvSpPr>
        <p:spPr>
          <a:xfrm>
            <a:off x="5486400" y="320040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// Verify 10 greetings: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6c2b1ffe9_0_233"/>
          <p:cNvSpPr/>
          <p:nvPr/>
        </p:nvSpPr>
        <p:spPr>
          <a:xfrm>
            <a:off x="5486400" y="3401568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expect: "Hello Deepak from Nielit!"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6c2b1ffe9_0_233"/>
          <p:cNvSpPr/>
          <p:nvPr/>
        </p:nvSpPr>
        <p:spPr>
          <a:xfrm>
            <a:off x="5486400" y="3602736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// Repeat × 10 ✓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e6c2b1ffe9_0_233"/>
          <p:cNvSpPr/>
          <p:nvPr/>
        </p:nvSpPr>
        <p:spPr>
          <a:xfrm>
            <a:off x="5486400" y="3803904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6c2b1ffe9_0_233"/>
          <p:cNvSpPr/>
          <p:nvPr/>
        </p:nvSpPr>
        <p:spPr>
          <a:xfrm>
            <a:off x="5486400" y="4005072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8F6D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6D8F6D"/>
                </a:solidFill>
                <a:latin typeface="Consolas"/>
                <a:ea typeface="Consolas"/>
                <a:cs typeface="Consolas"/>
                <a:sym typeface="Consolas"/>
              </a:rPr>
              <a:t>// Send PING, expect echo: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e6c2b1ffe9_0_233"/>
          <p:cNvSpPr/>
          <p:nvPr/>
        </p:nvSpPr>
        <p:spPr>
          <a:xfrm>
            <a:off x="5486400" y="4206240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uart.send("PING");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e6c2b1ffe9_0_233"/>
          <p:cNvSpPr/>
          <p:nvPr/>
        </p:nvSpPr>
        <p:spPr>
          <a:xfrm>
            <a:off x="5486400" y="4407408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uart.expect("PING");  // ✓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6c2b1ffe9_0_233"/>
          <p:cNvSpPr/>
          <p:nvPr/>
        </p:nvSpPr>
        <p:spPr>
          <a:xfrm>
            <a:off x="5486400" y="4608576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e6c2b1ffe9_0_233"/>
          <p:cNvSpPr/>
          <p:nvPr/>
        </p:nvSpPr>
        <p:spPr>
          <a:xfrm>
            <a:off x="5486400" y="4809744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$display("TEST PASSED");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e6c2b1ffe9_0_233"/>
          <p:cNvSpPr/>
          <p:nvPr/>
        </p:nvSpPr>
        <p:spPr>
          <a:xfrm>
            <a:off x="5486400" y="137160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crt0.S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6c2b1ffe9_0_233"/>
          <p:cNvSpPr/>
          <p:nvPr/>
        </p:nvSpPr>
        <p:spPr>
          <a:xfrm>
            <a:off x="5486400" y="178308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main()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6c2b1ffe9_0_233"/>
          <p:cNvSpPr/>
          <p:nvPr/>
        </p:nvSpPr>
        <p:spPr>
          <a:xfrm>
            <a:off x="5486400" y="219456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echo loop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6c2b1ffe9_0_282"/>
          <p:cNvSpPr/>
          <p:nvPr/>
        </p:nvSpPr>
        <p:spPr>
          <a:xfrm>
            <a:off x="159750" y="255750"/>
            <a:ext cx="8344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System — fw/Makefile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e6c2b1ffe9_0_282"/>
          <p:cNvSpPr/>
          <p:nvPr/>
        </p:nvSpPr>
        <p:spPr>
          <a:xfrm>
            <a:off x="274320" y="960120"/>
            <a:ext cx="5120700" cy="4069200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rgbClr val="5DADE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e6c2b1ffe9_0_282"/>
          <p:cNvSpPr/>
          <p:nvPr/>
        </p:nvSpPr>
        <p:spPr>
          <a:xfrm>
            <a:off x="411480" y="1024128"/>
            <a:ext cx="4892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7FB3D3"/>
                </a:solidFill>
                <a:latin typeface="Consolas"/>
                <a:ea typeface="Consolas"/>
                <a:cs typeface="Consolas"/>
                <a:sym typeface="Consolas"/>
              </a:rPr>
              <a:t># fw/Makefile — actual project build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e6c2b1ffe9_0_282"/>
          <p:cNvSpPr/>
          <p:nvPr/>
        </p:nvSpPr>
        <p:spPr>
          <a:xfrm>
            <a:off x="411480" y="1316736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CC      = riscv32-unknown-elf-gcc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6c2b1ffe9_0_282"/>
          <p:cNvSpPr/>
          <p:nvPr/>
        </p:nvSpPr>
        <p:spPr>
          <a:xfrm>
            <a:off x="411480" y="1490472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OBJCOPY = riscv32-unknown-elf-objcopy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6c2b1ffe9_0_282"/>
          <p:cNvSpPr/>
          <p:nvPr/>
        </p:nvSpPr>
        <p:spPr>
          <a:xfrm>
            <a:off x="411480" y="1664208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e6c2b1ffe9_0_282"/>
          <p:cNvSpPr/>
          <p:nvPr/>
        </p:nvSpPr>
        <p:spPr>
          <a:xfrm>
            <a:off x="411480" y="1837944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CFLAGS  = -march=rv32i  -mabi=ilp32 \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e6c2b1ffe9_0_282"/>
          <p:cNvSpPr/>
          <p:nvPr/>
        </p:nvSpPr>
        <p:spPr>
          <a:xfrm>
            <a:off x="411480" y="2011680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          -nostartfiles -nostdlib   \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6c2b1ffe9_0_282"/>
          <p:cNvSpPr/>
          <p:nvPr/>
        </p:nvSpPr>
        <p:spPr>
          <a:xfrm>
            <a:off x="411480" y="2185416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          -T link.ld  -O2  -Wall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6c2b1ffe9_0_282"/>
          <p:cNvSpPr/>
          <p:nvPr/>
        </p:nvSpPr>
        <p:spPr>
          <a:xfrm>
            <a:off x="411480" y="2359152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6c2b1ffe9_0_282"/>
          <p:cNvSpPr/>
          <p:nvPr/>
        </p:nvSpPr>
        <p:spPr>
          <a:xfrm>
            <a:off x="411480" y="2532888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SOURCES = crt0.S main.c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6c2b1ffe9_0_282"/>
          <p:cNvSpPr/>
          <p:nvPr/>
        </p:nvSpPr>
        <p:spPr>
          <a:xfrm>
            <a:off x="411480" y="2706624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6c2b1ffe9_0_282"/>
          <p:cNvSpPr/>
          <p:nvPr/>
        </p:nvSpPr>
        <p:spPr>
          <a:xfrm>
            <a:off x="411480" y="2880360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all: firmware.elf firmware.bin rom.hex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6c2b1ffe9_0_282"/>
          <p:cNvSpPr/>
          <p:nvPr/>
        </p:nvSpPr>
        <p:spPr>
          <a:xfrm>
            <a:off x="411480" y="3054096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6c2b1ffe9_0_282"/>
          <p:cNvSpPr/>
          <p:nvPr/>
        </p:nvSpPr>
        <p:spPr>
          <a:xfrm>
            <a:off x="411480" y="3227832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firmware.elf: $(SOURCES)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6c2b1ffe9_0_282"/>
          <p:cNvSpPr/>
          <p:nvPr/>
        </p:nvSpPr>
        <p:spPr>
          <a:xfrm>
            <a:off x="411480" y="3401568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$(CC) $(CFLAGS) -o $@ $(SOURCES)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6c2b1ffe9_0_282"/>
          <p:cNvSpPr/>
          <p:nvPr/>
        </p:nvSpPr>
        <p:spPr>
          <a:xfrm>
            <a:off x="411480" y="3575304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6c2b1ffe9_0_282"/>
          <p:cNvSpPr/>
          <p:nvPr/>
        </p:nvSpPr>
        <p:spPr>
          <a:xfrm>
            <a:off x="411480" y="3749040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firmware.bin: firmware.elf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6c2b1ffe9_0_282"/>
          <p:cNvSpPr/>
          <p:nvPr/>
        </p:nvSpPr>
        <p:spPr>
          <a:xfrm>
            <a:off x="411480" y="3922776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$(OBJCOPY) -O binary $&lt; $@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e6c2b1ffe9_0_282"/>
          <p:cNvSpPr/>
          <p:nvPr/>
        </p:nvSpPr>
        <p:spPr>
          <a:xfrm>
            <a:off x="411480" y="4096512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alibri"/>
              <a:buNone/>
            </a:pP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6c2b1ffe9_0_282"/>
          <p:cNvSpPr/>
          <p:nvPr/>
        </p:nvSpPr>
        <p:spPr>
          <a:xfrm>
            <a:off x="411480" y="4270248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DFBF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9DFBF"/>
                </a:solidFill>
                <a:latin typeface="Consolas"/>
                <a:ea typeface="Consolas"/>
                <a:cs typeface="Consolas"/>
                <a:sym typeface="Consolas"/>
              </a:rPr>
              <a:t>rom.hex: firmware.bin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6c2b1ffe9_0_282"/>
          <p:cNvSpPr/>
          <p:nvPr/>
        </p:nvSpPr>
        <p:spPr>
          <a:xfrm>
            <a:off x="411480" y="4443984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python3 bin2hex.py firmware.bin \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6c2b1ffe9_0_282"/>
          <p:cNvSpPr/>
          <p:nvPr/>
        </p:nvSpPr>
        <p:spPr>
          <a:xfrm>
            <a:off x="411480" y="4617720"/>
            <a:ext cx="48921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         &gt; ../rtl/rom.hex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e6c2b1ffe9_0_282"/>
          <p:cNvSpPr/>
          <p:nvPr/>
        </p:nvSpPr>
        <p:spPr>
          <a:xfrm>
            <a:off x="5623560" y="960120"/>
            <a:ext cx="3200400" cy="57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e6c2b1ffe9_0_282"/>
          <p:cNvSpPr/>
          <p:nvPr/>
        </p:nvSpPr>
        <p:spPr>
          <a:xfrm>
            <a:off x="5623560" y="960120"/>
            <a:ext cx="54900" cy="5760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e6c2b1ffe9_0_282"/>
          <p:cNvSpPr/>
          <p:nvPr/>
        </p:nvSpPr>
        <p:spPr>
          <a:xfrm>
            <a:off x="5733288" y="1005840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-march=rv32i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6c2b1ffe9_0_282"/>
          <p:cNvSpPr/>
          <p:nvPr/>
        </p:nvSpPr>
        <p:spPr>
          <a:xfrm>
            <a:off x="5733288" y="1252728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Base ISA only — no M/A/F extensions. Matches PicoRV32 config.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6c2b1ffe9_0_282"/>
          <p:cNvSpPr/>
          <p:nvPr/>
        </p:nvSpPr>
        <p:spPr>
          <a:xfrm>
            <a:off x="5623560" y="1618488"/>
            <a:ext cx="3200400" cy="576000"/>
          </a:xfrm>
          <a:prstGeom prst="rect">
            <a:avLst/>
          </a:prstGeom>
          <a:noFill/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e6c2b1ffe9_0_282"/>
          <p:cNvSpPr/>
          <p:nvPr/>
        </p:nvSpPr>
        <p:spPr>
          <a:xfrm>
            <a:off x="5623560" y="1618488"/>
            <a:ext cx="54900" cy="5760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e6c2b1ffe9_0_282"/>
          <p:cNvSpPr/>
          <p:nvPr/>
        </p:nvSpPr>
        <p:spPr>
          <a:xfrm>
            <a:off x="5733288" y="1664208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-mabi=ilp32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6c2b1ffe9_0_282"/>
          <p:cNvSpPr/>
          <p:nvPr/>
        </p:nvSpPr>
        <p:spPr>
          <a:xfrm>
            <a:off x="5733288" y="1911096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int/long/pointer = 32-bit. No hardware float registers.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6c2b1ffe9_0_282"/>
          <p:cNvSpPr/>
          <p:nvPr/>
        </p:nvSpPr>
        <p:spPr>
          <a:xfrm>
            <a:off x="5623560" y="2276856"/>
            <a:ext cx="3200400" cy="57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e6c2b1ffe9_0_282"/>
          <p:cNvSpPr/>
          <p:nvPr/>
        </p:nvSpPr>
        <p:spPr>
          <a:xfrm>
            <a:off x="5623560" y="2276856"/>
            <a:ext cx="54900" cy="5760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e6c2b1ffe9_0_282"/>
          <p:cNvSpPr/>
          <p:nvPr/>
        </p:nvSpPr>
        <p:spPr>
          <a:xfrm>
            <a:off x="5733288" y="2322576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-nostartfiles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6c2b1ffe9_0_282"/>
          <p:cNvSpPr/>
          <p:nvPr/>
        </p:nvSpPr>
        <p:spPr>
          <a:xfrm>
            <a:off x="5733288" y="2569464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Don't link GCC's crt0.o — we use our own crt0.S.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6c2b1ffe9_0_282"/>
          <p:cNvSpPr/>
          <p:nvPr/>
        </p:nvSpPr>
        <p:spPr>
          <a:xfrm>
            <a:off x="5623560" y="2935224"/>
            <a:ext cx="3200400" cy="57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e6c2b1ffe9_0_282"/>
          <p:cNvSpPr/>
          <p:nvPr/>
        </p:nvSpPr>
        <p:spPr>
          <a:xfrm>
            <a:off x="5623560" y="2935224"/>
            <a:ext cx="54900" cy="5760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3e6c2b1ffe9_0_282"/>
          <p:cNvSpPr/>
          <p:nvPr/>
        </p:nvSpPr>
        <p:spPr>
          <a:xfrm>
            <a:off x="5733288" y="2980944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-nostdlib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6c2b1ffe9_0_282"/>
          <p:cNvSpPr/>
          <p:nvPr/>
        </p:nvSpPr>
        <p:spPr>
          <a:xfrm>
            <a:off x="5733288" y="3227832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Don't link libc/libm — bare-metal, no stdlib.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6c2b1ffe9_0_282"/>
          <p:cNvSpPr/>
          <p:nvPr/>
        </p:nvSpPr>
        <p:spPr>
          <a:xfrm>
            <a:off x="5623560" y="3593592"/>
            <a:ext cx="3200400" cy="576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e6c2b1ffe9_0_282"/>
          <p:cNvSpPr/>
          <p:nvPr/>
        </p:nvSpPr>
        <p:spPr>
          <a:xfrm>
            <a:off x="5623560" y="3593592"/>
            <a:ext cx="54900" cy="5760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e6c2b1ffe9_0_282"/>
          <p:cNvSpPr/>
          <p:nvPr/>
        </p:nvSpPr>
        <p:spPr>
          <a:xfrm>
            <a:off x="5733288" y="3639312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-T link.ld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e6c2b1ffe9_0_282"/>
          <p:cNvSpPr/>
          <p:nvPr/>
        </p:nvSpPr>
        <p:spPr>
          <a:xfrm>
            <a:off x="5733288" y="3886200"/>
            <a:ext cx="3017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 our linker script for ROM/SRAM/stack layout.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6c2b1ffe9_0_282"/>
          <p:cNvSpPr/>
          <p:nvPr/>
        </p:nvSpPr>
        <p:spPr>
          <a:xfrm>
            <a:off x="5623560" y="4251960"/>
            <a:ext cx="3200400" cy="777300"/>
          </a:xfrm>
          <a:prstGeom prst="rect">
            <a:avLst/>
          </a:prstGeom>
          <a:solidFill>
            <a:srgbClr val="0D1F2D"/>
          </a:solidFill>
          <a:ln w="1905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e6c2b1ffe9_0_282"/>
          <p:cNvSpPr/>
          <p:nvPr/>
        </p:nvSpPr>
        <p:spPr>
          <a:xfrm>
            <a:off x="5742432" y="431596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E79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9E79F"/>
                </a:solidFill>
                <a:latin typeface="Consolas"/>
                <a:ea typeface="Consolas"/>
                <a:cs typeface="Consolas"/>
                <a:sym typeface="Consolas"/>
              </a:rPr>
              <a:t>Firmware Size: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e6c2b1ffe9_0_282"/>
          <p:cNvSpPr/>
          <p:nvPr/>
        </p:nvSpPr>
        <p:spPr>
          <a:xfrm>
            <a:off x="5742432" y="4535424"/>
            <a:ext cx="30174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firmware.elf: ~167 bytes total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.text: 132 bytes  (~33 instructions)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5C1E9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85C1E9"/>
                </a:solidFill>
                <a:latin typeface="Consolas"/>
                <a:ea typeface="Consolas"/>
                <a:cs typeface="Consolas"/>
                <a:sym typeface="Consolas"/>
              </a:rPr>
              <a:t>  .data:  35 bytes  (hello string)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"/>
          <p:cNvSpPr/>
          <p:nvPr/>
        </p:nvSpPr>
        <p:spPr>
          <a:xfrm>
            <a:off x="233450" y="681375"/>
            <a:ext cx="8412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MMIO — How Firmware Talks to Hardware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365750" y="1216342"/>
            <a:ext cx="5120700" cy="32094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2E3F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"/>
          <p:cNvSpPr/>
          <p:nvPr/>
        </p:nvSpPr>
        <p:spPr>
          <a:xfrm>
            <a:off x="502910" y="1273947"/>
            <a:ext cx="4846200" cy="30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A9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  <a:t>/* soc.h — all hardware addresses in one place */</a:t>
            </a:r>
            <a:b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UART0_BASE     0x10013000u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  <a:t>/* Byte offsets from UART0_BASE */</a:t>
            </a:r>
            <a:b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UART_TXDATA    0x00  /* Write char to send */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UART_RXDATA    0x04  /* Read received char */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UART_STATUS    0x08  /* TX full / RX empty */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UART_BAUDDIV   0x0C  /* Clock divider      */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#define  UART_CTRL      0x10  /* Enable TX / RX     */</a:t>
            </a: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  <a:t>/* Pointer macro for register access */</a:t>
            </a:r>
            <a:br>
              <a:rPr lang="en-US" sz="1000" b="0" i="0" u="none" strike="noStrike" cap="none">
                <a:solidFill>
                  <a:srgbClr val="6B7A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F9A825"/>
                </a:solidFill>
                <a:latin typeface="Consolas"/>
                <a:ea typeface="Consolas"/>
                <a:cs typeface="Consolas"/>
                <a:sym typeface="Consolas"/>
              </a:rPr>
              <a:t>#define  UART_REG(off)  \</a:t>
            </a:r>
            <a:br>
              <a:rPr lang="en-US" sz="1000" b="0" i="0" u="none" strike="noStrike" cap="none">
                <a:solidFill>
                  <a:srgbClr val="F9A82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 b="0" i="0" u="none" strike="noStrike" cap="none">
                <a:solidFill>
                  <a:srgbClr val="A8D8A8"/>
                </a:solidFill>
                <a:latin typeface="Consolas"/>
                <a:ea typeface="Consolas"/>
                <a:cs typeface="Consolas"/>
                <a:sym typeface="Consolas"/>
              </a:rPr>
              <a:t>  (*(volatile uint32_t*)(UART0_BASE+(off)))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"/>
          <p:cNvSpPr/>
          <p:nvPr/>
        </p:nvSpPr>
        <p:spPr>
          <a:xfrm>
            <a:off x="5669273" y="1216342"/>
            <a:ext cx="3200400" cy="3291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5669273" y="1578427"/>
            <a:ext cx="3200400" cy="362100"/>
          </a:xfrm>
          <a:prstGeom prst="rect">
            <a:avLst/>
          </a:prstGeom>
          <a:solidFill>
            <a:srgbClr val="E8F1FB">
              <a:alpha val="54901"/>
            </a:srgbClr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5742425" y="1578427"/>
            <a:ext cx="822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B0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2E6BB0"/>
                </a:solidFill>
                <a:latin typeface="Consolas"/>
                <a:ea typeface="Consolas"/>
                <a:cs typeface="Consolas"/>
                <a:sym typeface="Consolas"/>
              </a:rPr>
              <a:t>TXDATA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5"/>
          <p:cNvSpPr/>
          <p:nvPr/>
        </p:nvSpPr>
        <p:spPr>
          <a:xfrm>
            <a:off x="6583674" y="1578427"/>
            <a:ext cx="64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E8762C"/>
                </a:solidFill>
                <a:latin typeface="Consolas"/>
                <a:ea typeface="Consolas"/>
                <a:cs typeface="Consolas"/>
                <a:sym typeface="Consolas"/>
              </a:rPr>
              <a:t>0x00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"/>
          <p:cNvSpPr/>
          <p:nvPr/>
        </p:nvSpPr>
        <p:spPr>
          <a:xfrm>
            <a:off x="7242042" y="1578427"/>
            <a:ext cx="15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Write = send byte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5669273" y="1940511"/>
            <a:ext cx="3200400" cy="36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5742425" y="1940511"/>
            <a:ext cx="822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B0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2E6BB0"/>
                </a:solidFill>
                <a:latin typeface="Consolas"/>
                <a:ea typeface="Consolas"/>
                <a:cs typeface="Consolas"/>
                <a:sym typeface="Consolas"/>
              </a:rPr>
              <a:t>RXDATA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"/>
          <p:cNvSpPr/>
          <p:nvPr/>
        </p:nvSpPr>
        <p:spPr>
          <a:xfrm>
            <a:off x="6583674" y="1940511"/>
            <a:ext cx="64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E8762C"/>
                </a:solidFill>
                <a:latin typeface="Consolas"/>
                <a:ea typeface="Consolas"/>
                <a:cs typeface="Consolas"/>
                <a:sym typeface="Consolas"/>
              </a:rPr>
              <a:t>0x04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"/>
          <p:cNvSpPr/>
          <p:nvPr/>
        </p:nvSpPr>
        <p:spPr>
          <a:xfrm>
            <a:off x="7242042" y="1940511"/>
            <a:ext cx="15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Read = received byte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"/>
          <p:cNvSpPr/>
          <p:nvPr/>
        </p:nvSpPr>
        <p:spPr>
          <a:xfrm>
            <a:off x="5669273" y="2302595"/>
            <a:ext cx="3200400" cy="362100"/>
          </a:xfrm>
          <a:prstGeom prst="rect">
            <a:avLst/>
          </a:prstGeom>
          <a:solidFill>
            <a:srgbClr val="E8F1FB">
              <a:alpha val="54901"/>
            </a:srgbClr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"/>
          <p:cNvSpPr/>
          <p:nvPr/>
        </p:nvSpPr>
        <p:spPr>
          <a:xfrm>
            <a:off x="5742425" y="2302595"/>
            <a:ext cx="822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B0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2E6BB0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"/>
          <p:cNvSpPr/>
          <p:nvPr/>
        </p:nvSpPr>
        <p:spPr>
          <a:xfrm>
            <a:off x="6583674" y="2302595"/>
            <a:ext cx="64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E8762C"/>
                </a:solidFill>
                <a:latin typeface="Consolas"/>
                <a:ea typeface="Consolas"/>
                <a:cs typeface="Consolas"/>
                <a:sym typeface="Consolas"/>
              </a:rPr>
              <a:t>0x08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"/>
          <p:cNvSpPr/>
          <p:nvPr/>
        </p:nvSpPr>
        <p:spPr>
          <a:xfrm>
            <a:off x="7242042" y="2302595"/>
            <a:ext cx="15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Bit0=TXFULL, Bit1=RXEMPTY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"/>
          <p:cNvSpPr/>
          <p:nvPr/>
        </p:nvSpPr>
        <p:spPr>
          <a:xfrm>
            <a:off x="5669273" y="2664679"/>
            <a:ext cx="3200400" cy="36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"/>
          <p:cNvSpPr/>
          <p:nvPr/>
        </p:nvSpPr>
        <p:spPr>
          <a:xfrm>
            <a:off x="5742425" y="2664679"/>
            <a:ext cx="822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B0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2E6BB0"/>
                </a:solidFill>
                <a:latin typeface="Consolas"/>
                <a:ea typeface="Consolas"/>
                <a:cs typeface="Consolas"/>
                <a:sym typeface="Consolas"/>
              </a:rPr>
              <a:t>BAUDDIV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"/>
          <p:cNvSpPr/>
          <p:nvPr/>
        </p:nvSpPr>
        <p:spPr>
          <a:xfrm>
            <a:off x="6583674" y="2664679"/>
            <a:ext cx="64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E8762C"/>
                </a:solidFill>
                <a:latin typeface="Consolas"/>
                <a:ea typeface="Consolas"/>
                <a:cs typeface="Consolas"/>
                <a:sym typeface="Consolas"/>
              </a:rPr>
              <a:t>0x0C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"/>
          <p:cNvSpPr/>
          <p:nvPr/>
        </p:nvSpPr>
        <p:spPr>
          <a:xfrm>
            <a:off x="7242042" y="2664679"/>
            <a:ext cx="15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Baud = clk ÷ BAUDDIV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5"/>
          <p:cNvSpPr/>
          <p:nvPr/>
        </p:nvSpPr>
        <p:spPr>
          <a:xfrm>
            <a:off x="5669273" y="3026763"/>
            <a:ext cx="3200400" cy="362100"/>
          </a:xfrm>
          <a:prstGeom prst="rect">
            <a:avLst/>
          </a:prstGeom>
          <a:solidFill>
            <a:srgbClr val="E8F1FB">
              <a:alpha val="54901"/>
            </a:srgbClr>
          </a:solidFill>
          <a:ln w="12700" cap="flat" cmpd="sng">
            <a:solidFill>
              <a:srgbClr val="D0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"/>
          <p:cNvSpPr/>
          <p:nvPr/>
        </p:nvSpPr>
        <p:spPr>
          <a:xfrm>
            <a:off x="5742425" y="3026763"/>
            <a:ext cx="8229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B0"/>
              </a:buClr>
              <a:buSzPts val="950"/>
              <a:buFont typeface="Consolas"/>
              <a:buNone/>
            </a:pPr>
            <a:r>
              <a:rPr lang="en-US" sz="950" b="1" i="0" u="none" strike="noStrike" cap="none">
                <a:solidFill>
                  <a:srgbClr val="2E6BB0"/>
                </a:solidFill>
                <a:latin typeface="Consolas"/>
                <a:ea typeface="Consolas"/>
                <a:cs typeface="Consolas"/>
                <a:sym typeface="Consolas"/>
              </a:rPr>
              <a:t>CTRL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5"/>
          <p:cNvSpPr/>
          <p:nvPr/>
        </p:nvSpPr>
        <p:spPr>
          <a:xfrm>
            <a:off x="6583674" y="3026763"/>
            <a:ext cx="64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762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E8762C"/>
                </a:solidFill>
                <a:latin typeface="Consolas"/>
                <a:ea typeface="Consolas"/>
                <a:cs typeface="Consolas"/>
                <a:sym typeface="Consolas"/>
              </a:rPr>
              <a:t>0x10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"/>
          <p:cNvSpPr/>
          <p:nvPr/>
        </p:nvSpPr>
        <p:spPr>
          <a:xfrm>
            <a:off x="7242042" y="3026763"/>
            <a:ext cx="15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E2A3A"/>
                </a:solidFill>
                <a:latin typeface="Calibri"/>
                <a:ea typeface="Calibri"/>
                <a:cs typeface="Calibri"/>
                <a:sym typeface="Calibri"/>
              </a:rPr>
              <a:t>Bit0=TXEN, Bit1=RXEN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5"/>
          <p:cNvSpPr/>
          <p:nvPr/>
        </p:nvSpPr>
        <p:spPr>
          <a:xfrm>
            <a:off x="365750" y="4508016"/>
            <a:ext cx="5120700" cy="411600"/>
          </a:xfrm>
          <a:prstGeom prst="rect">
            <a:avLst/>
          </a:prstGeom>
          <a:solidFill>
            <a:srgbClr val="A4C2F4"/>
          </a:solidFill>
          <a:ln w="127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502910" y="4508016"/>
            <a:ext cx="4892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7D"/>
              </a:buClr>
              <a:buSzPts val="1050"/>
              <a:buFont typeface="Consolas"/>
              <a:buNone/>
            </a:pPr>
            <a:r>
              <a:rPr lang="en-US" sz="1050" b="1" i="0" u="none" strike="noStrike" cap="non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UART_REG(UART_TXDATA) = 'H';  // Sends the letter H over serial!</a:t>
            </a:r>
            <a:endParaRPr sz="1050" b="0" i="0" u="none" strike="noStrike" cap="non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"/>
          <p:cNvSpPr/>
          <p:nvPr/>
        </p:nvSpPr>
        <p:spPr>
          <a:xfrm>
            <a:off x="5669273" y="1216342"/>
            <a:ext cx="3200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 Register Map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"/>
          <p:cNvSpPr/>
          <p:nvPr/>
        </p:nvSpPr>
        <p:spPr>
          <a:xfrm>
            <a:off x="161380" y="210200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Execution — Building and Running Firmware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274325" y="987550"/>
            <a:ext cx="4206300" cy="1812900"/>
          </a:xfrm>
          <a:prstGeom prst="rect">
            <a:avLst/>
          </a:prstGeom>
          <a:noFill/>
          <a:ln w="1905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274320" y="987552"/>
            <a:ext cx="4206300" cy="475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384048" y="1060704"/>
            <a:ext cx="329100" cy="3291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384048" y="1060704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804672" y="1078992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Firmware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411480" y="1536192"/>
            <a:ext cx="3931800" cy="292500"/>
          </a:xfrm>
          <a:prstGeom prst="rect">
            <a:avLst/>
          </a:prstGeom>
          <a:solidFill>
            <a:srgbClr val="1B2631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475488" y="1536192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A9CCE3"/>
                </a:solidFill>
                <a:latin typeface="Consolas"/>
                <a:ea typeface="Consolas"/>
                <a:cs typeface="Consolas"/>
                <a:sym typeface="Consolas"/>
              </a:rPr>
              <a:t>make fw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438912" y="1901952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→  riscv32-unknown-elf-gcc (compile + link)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38912" y="2167128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→  objcopy -O binary → firmware.bin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38912" y="243230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A5276"/>
                </a:solidFill>
                <a:latin typeface="Consolas"/>
                <a:ea typeface="Consolas"/>
                <a:cs typeface="Consolas"/>
                <a:sym typeface="Consolas"/>
              </a:rPr>
              <a:t>→  python3 bin2hex.py → ../rtl/rom.hex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754875" y="987550"/>
            <a:ext cx="4206300" cy="1812900"/>
          </a:xfrm>
          <a:prstGeom prst="rect">
            <a:avLst/>
          </a:prstGeom>
          <a:noFill/>
          <a:ln w="1905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4754880" y="987552"/>
            <a:ext cx="4206300" cy="475500"/>
          </a:xfrm>
          <a:prstGeom prst="rect">
            <a:avLst/>
          </a:prstGeom>
          <a:solidFill>
            <a:srgbClr val="2471A3"/>
          </a:solidFill>
          <a:ln w="12700" cap="flat" cmpd="sng">
            <a:solidFill>
              <a:srgbClr val="2471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4864608" y="1060704"/>
            <a:ext cx="329100" cy="3291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864608" y="1060704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285232" y="1078992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ELF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892040" y="1536192"/>
            <a:ext cx="3931800" cy="292500"/>
          </a:xfrm>
          <a:prstGeom prst="rect">
            <a:avLst/>
          </a:prstGeom>
          <a:solidFill>
            <a:srgbClr val="1B2631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4956048" y="1536192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A9CCE3"/>
                </a:solidFill>
                <a:latin typeface="Consolas"/>
                <a:ea typeface="Consolas"/>
                <a:cs typeface="Consolas"/>
                <a:sym typeface="Consolas"/>
              </a:rPr>
              <a:t>riscv32-unknown-elf-objdump -d fw/firmware.elf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4919472" y="1901952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→  00000000 &lt;_start&gt;: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919472" y="2167128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→    lui  sp, 0x10     # sp = 0x10000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4919472" y="243230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471A3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2471A3"/>
                </a:solidFill>
                <a:latin typeface="Consolas"/>
                <a:ea typeface="Consolas"/>
                <a:cs typeface="Consolas"/>
                <a:sym typeface="Consolas"/>
              </a:rPr>
              <a:t>→    addi sp, sp, -4   # sp = 0x0001_00FC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69700" y="2962651"/>
            <a:ext cx="4206300" cy="1810500"/>
          </a:xfrm>
          <a:prstGeom prst="rect">
            <a:avLst/>
          </a:prstGeom>
          <a:noFill/>
          <a:ln w="1905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269695" y="2962659"/>
            <a:ext cx="4206300" cy="475500"/>
          </a:xfrm>
          <a:prstGeom prst="rect">
            <a:avLst/>
          </a:prstGeom>
          <a:solidFill>
            <a:srgbClr val="148F77"/>
          </a:solidFill>
          <a:ln w="12700" cap="flat" cmpd="sng">
            <a:solidFill>
              <a:srgbClr val="148F7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379423" y="3035811"/>
            <a:ext cx="329100" cy="3291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379423" y="3035811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800047" y="3054099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SoC Simulation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06855" y="3511299"/>
            <a:ext cx="3931800" cy="292500"/>
          </a:xfrm>
          <a:prstGeom prst="rect">
            <a:avLst/>
          </a:prstGeom>
          <a:solidFill>
            <a:srgbClr val="1B2631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470863" y="3511299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A9CCE3"/>
                </a:solidFill>
                <a:latin typeface="Consolas"/>
                <a:ea typeface="Consolas"/>
                <a:cs typeface="Consolas"/>
                <a:sym typeface="Consolas"/>
              </a:rPr>
              <a:t>make soc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34287" y="3877059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ROM loads rtl/rom.hex via $readmemh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34287" y="4142235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PicoRV32 fetches from 0x0000_0000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34287" y="4407411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UART output verified by testbench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750250" y="2947475"/>
            <a:ext cx="4206300" cy="1810500"/>
          </a:xfrm>
          <a:prstGeom prst="rect">
            <a:avLst/>
          </a:prstGeom>
          <a:noFill/>
          <a:ln w="1905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4750255" y="2947484"/>
            <a:ext cx="4206300" cy="475500"/>
          </a:xfrm>
          <a:prstGeom prst="rect">
            <a:avLst/>
          </a:prstGeom>
          <a:solidFill>
            <a:srgbClr val="1E8449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4859983" y="3020636"/>
            <a:ext cx="329100" cy="3291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5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4859983" y="3020636"/>
            <a:ext cx="329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5280607" y="3038924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 TEST PASSED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887415" y="3496124"/>
            <a:ext cx="3931800" cy="292500"/>
          </a:xfrm>
          <a:prstGeom prst="rect">
            <a:avLst/>
          </a:prstGeom>
          <a:solidFill>
            <a:srgbClr val="1B2631"/>
          </a:solidFill>
          <a:ln w="12700" cap="flat" cmpd="sng">
            <a:solidFill>
              <a:srgbClr val="3344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4951423" y="3496124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9CCE3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A9CCE3"/>
                </a:solidFill>
                <a:latin typeface="Consolas"/>
                <a:ea typeface="Consolas"/>
                <a:cs typeface="Consolas"/>
                <a:sym typeface="Consolas"/>
              </a:rPr>
              <a:t>[Simulation log output]</a:t>
            </a: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914847" y="386188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[ROM] loaded from plusarg: rtl/rom.hex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914847" y="4127060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[ROM] Loaded 42 words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914847" y="4392236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148F77"/>
                </a:solidFill>
                <a:latin typeface="Consolas"/>
                <a:ea typeface="Consolas"/>
                <a:cs typeface="Consolas"/>
                <a:sym typeface="Consolas"/>
              </a:rPr>
              <a:t>→  TEST PASSED</a:t>
            </a:r>
            <a:endParaRPr sz="8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274345" y="4861723"/>
            <a:ext cx="8595300" cy="2013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AED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365785" y="4861723"/>
            <a:ext cx="8412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Pipeline:  make fw  →  firmware.elf  →  firmware.bin  →  rtl/rom.hex  →  make soc  →  TEST PASSED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2014</Words>
  <Application>Microsoft Office PowerPoint</Application>
  <PresentationFormat>On-screen Show (16:9)</PresentationFormat>
  <Paragraphs>278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Poppins</vt:lpstr>
      <vt:lpstr>Cambria</vt:lpstr>
      <vt:lpstr>Arial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acer</cp:lastModifiedBy>
  <cp:revision>1</cp:revision>
  <dcterms:created xsi:type="dcterms:W3CDTF">2026-04-25T12:15:25Z</dcterms:created>
  <dcterms:modified xsi:type="dcterms:W3CDTF">2026-05-07T06:16:58Z</dcterms:modified>
</cp:coreProperties>
</file>