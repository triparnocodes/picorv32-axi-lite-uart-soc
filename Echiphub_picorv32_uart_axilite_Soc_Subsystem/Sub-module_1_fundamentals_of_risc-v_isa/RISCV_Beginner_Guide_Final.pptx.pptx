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wpJfWlCiz23kFRpmyvbXqIJ4W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C5BE33-1F8A-4EB3-BEDC-1FB9BAF27BD4}">
  <a:tblStyle styleId="{82C5BE33-1F8A-4EB3-BEDC-1FB9BAF27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84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81" name="Google Shape;181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21" name="Google Shape;221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4" name="Google Shape;374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376" name="Google Shape;376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6a01a83d9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6a01a83d9_0_16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e6a01a83d9_0_16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84" name="Google Shape;4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86" name="Google Shape;486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05" name="Google Shape;605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6" name="Google Shape;606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12</a:t>
            </a:r>
            <a:endParaRPr/>
          </a:p>
        </p:txBody>
      </p:sp>
      <p:sp>
        <p:nvSpPr>
          <p:cNvPr id="607" name="Google Shape;607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09" name="Google Shape;709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</a:t>
            </a:r>
            <a:endParaRPr/>
          </a:p>
        </p:txBody>
      </p:sp>
      <p:sp>
        <p:nvSpPr>
          <p:cNvPr id="711" name="Google Shape;711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74" name="Google Shape;774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5" name="Google Shape;775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16</a:t>
            </a:r>
            <a:endParaRPr/>
          </a:p>
        </p:txBody>
      </p:sp>
      <p:sp>
        <p:nvSpPr>
          <p:cNvPr id="776" name="Google Shape;776;p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e6a01a83d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e6a01a83d9_0_32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g3e6a01a83d9_0_32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2" name="Google Shape;912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3" name="Google Shape;913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</a:t>
            </a:r>
            <a:endParaRPr/>
          </a:p>
        </p:txBody>
      </p:sp>
      <p:sp>
        <p:nvSpPr>
          <p:cNvPr id="914" name="Google Shape;914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e6a01a83d9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e6a01a83d9_0_37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g3e6a01a83d9_0_37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e6a01a83d9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e6a01a83d9_0_37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g3e6a01a83d9_0_37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e6a5a377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e6a5a3777d_0_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g3e6a5a3777d_0_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-12697" y="8216903"/>
            <a:ext cx="18313336" cy="2082736"/>
            <a:chOff x="0" y="0"/>
            <a:chExt cx="24417782" cy="2776982"/>
          </a:xfrm>
        </p:grpSpPr>
        <p:sp>
          <p:nvSpPr>
            <p:cNvPr id="93" name="Google Shape;93;p1"/>
            <p:cNvSpPr/>
            <p:nvPr/>
          </p:nvSpPr>
          <p:spPr>
            <a:xfrm>
              <a:off x="16891" y="16891"/>
              <a:ext cx="24383999" cy="2743200"/>
            </a:xfrm>
            <a:custGeom>
              <a:avLst/>
              <a:gdLst/>
              <a:ahLst/>
              <a:cxnLst/>
              <a:rect l="l" t="t" r="r" b="b"/>
              <a:pathLst>
                <a:path w="24383999" h="2743200" extrusionOk="0">
                  <a:moveTo>
                    <a:pt x="0" y="0"/>
                  </a:moveTo>
                  <a:lnTo>
                    <a:pt x="24383999" y="0"/>
                  </a:lnTo>
                  <a:lnTo>
                    <a:pt x="24383999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0" y="0"/>
              <a:ext cx="24417782" cy="2776982"/>
            </a:xfrm>
            <a:custGeom>
              <a:avLst/>
              <a:gdLst/>
              <a:ahLst/>
              <a:cxnLst/>
              <a:rect l="l" t="t" r="r" b="b"/>
              <a:pathLst>
                <a:path w="24417782" h="2776982" extrusionOk="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760091"/>
                  </a:lnTo>
                  <a:cubicBezTo>
                    <a:pt x="24417782" y="2769489"/>
                    <a:pt x="24410163" y="2776982"/>
                    <a:pt x="24400890" y="2776982"/>
                  </a:cubicBezTo>
                  <a:lnTo>
                    <a:pt x="16891" y="2776982"/>
                  </a:lnTo>
                  <a:cubicBezTo>
                    <a:pt x="7493" y="2776982"/>
                    <a:pt x="0" y="2769362"/>
                    <a:pt x="0" y="276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760091"/>
                  </a:lnTo>
                  <a:lnTo>
                    <a:pt x="16891" y="2760091"/>
                  </a:lnTo>
                  <a:lnTo>
                    <a:pt x="16891" y="2743200"/>
                  </a:lnTo>
                  <a:lnTo>
                    <a:pt x="24400890" y="2743200"/>
                  </a:lnTo>
                  <a:lnTo>
                    <a:pt x="24400890" y="2760091"/>
                  </a:lnTo>
                  <a:lnTo>
                    <a:pt x="24384000" y="2760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280160" y="1595438"/>
            <a:ext cx="16459200" cy="957263"/>
            <a:chOff x="0" y="-57150"/>
            <a:chExt cx="21945600" cy="127635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00730" b="-3007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57150"/>
              <a:ext cx="219456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 TO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280160" y="2306003"/>
            <a:ext cx="16459200" cy="2814638"/>
            <a:chOff x="0" y="-95250"/>
            <a:chExt cx="21945600" cy="375285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21945600" cy="3657600"/>
            </a:xfrm>
            <a:custGeom>
              <a:avLst/>
              <a:gdLst/>
              <a:ahLst/>
              <a:cxnLst/>
              <a:rect l="l" t="t" r="r" b="b"/>
              <a:pathLst>
                <a:path w="21945600" h="36576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95250"/>
              <a:ext cx="21945600" cy="3752850"/>
            </a:xfrm>
            <a:prstGeom prst="rect">
              <a:avLst/>
            </a:prstGeom>
            <a:blipFill rotWithShape="1">
              <a:blip r:embed="rId4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00"/>
                <a:buFont typeface="Arial"/>
                <a:buNone/>
              </a:pPr>
              <a:r>
                <a:rPr lang="en-US" sz="104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RISC-V Architecture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280160" y="5344954"/>
            <a:ext cx="13716000" cy="1330166"/>
            <a:chOff x="0" y="-66675"/>
            <a:chExt cx="18288000" cy="1773555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18288000" cy="1706880"/>
            </a:xfrm>
            <a:custGeom>
              <a:avLst/>
              <a:gdLst/>
              <a:ahLst/>
              <a:cxnLst/>
              <a:rect l="l" t="t" r="r" b="b"/>
              <a:pathLst>
                <a:path w="18288000" h="1706880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8768" b="-15876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0" y="-66675"/>
              <a:ext cx="18288000" cy="1773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complete beginner's guide to the open-source Instruction Set Architecture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1280160" y="8383905"/>
            <a:ext cx="16459200" cy="942975"/>
            <a:chOff x="0" y="-38100"/>
            <a:chExt cx="21945600" cy="1257300"/>
          </a:xfrm>
        </p:grpSpPr>
        <p:sp>
          <p:nvSpPr>
            <p:cNvPr id="105" name="Google Shape;105;p1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00730" b="-30073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From basic concepts to pipeline stages and extensions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/>
        </p:nvSpPr>
        <p:spPr>
          <a:xfrm>
            <a:off x="548638" y="1144950"/>
            <a:ext cx="16459200" cy="1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lang="en-US" sz="55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We'll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48650" y="2578350"/>
            <a:ext cx="8412480" cy="1711757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768106" y="2817428"/>
            <a:ext cx="768096" cy="1188702"/>
            <a:chOff x="0" y="-47625"/>
            <a:chExt cx="1024128" cy="1218057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36" r="-9663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47625"/>
              <a:ext cx="1024128" cy="1218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596655" y="2799792"/>
            <a:ext cx="61913" cy="1270378"/>
            <a:chOff x="0" y="0"/>
            <a:chExt cx="82550" cy="1301750"/>
          </a:xfrm>
        </p:grpSpPr>
        <p:sp>
          <p:nvSpPr>
            <p:cNvPr id="121" name="Google Shape;12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548650" y="4601037"/>
            <a:ext cx="8412480" cy="1711757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768106" y="4840116"/>
            <a:ext cx="768096" cy="1188702"/>
            <a:chOff x="0" y="-47625"/>
            <a:chExt cx="1024128" cy="1218057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36" r="-9663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1024128" cy="1218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865385" y="2799761"/>
            <a:ext cx="6583725" cy="1270412"/>
            <a:chOff x="0" y="-38100"/>
            <a:chExt cx="8778300" cy="76962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B2E"/>
                </a:buClr>
                <a:buSzPts val="1200"/>
                <a:buFont typeface="Calibri"/>
                <a:buNone/>
              </a:pPr>
              <a:r>
                <a:rPr lang="en-US" sz="2400" dirty="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What is RISC-V ISA and why PicoRV32 for our SoC Subsystem?</a:t>
              </a:r>
              <a:endParaRPr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596655" y="4822479"/>
            <a:ext cx="61913" cy="1270378"/>
            <a:chOff x="0" y="0"/>
            <a:chExt cx="82550" cy="1301750"/>
          </a:xfrm>
        </p:grpSpPr>
        <p:sp>
          <p:nvSpPr>
            <p:cNvPr id="131" name="Google Shape;13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865385" y="4822478"/>
            <a:ext cx="6583680" cy="1270335"/>
            <a:chOff x="0" y="-38100"/>
            <a:chExt cx="8778240" cy="76962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B2E"/>
                </a:buClr>
                <a:buSzPts val="1200"/>
                <a:buFont typeface="Calibri"/>
                <a:buNone/>
              </a:pPr>
              <a:r>
                <a:rPr lang="en-US" sz="240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32 registers (x0–x31) — their role in firmware execution</a:t>
              </a:r>
              <a:endParaRPr sz="24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548650" y="6623725"/>
            <a:ext cx="8412480" cy="1711757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"/>
          <p:cNvGrpSpPr/>
          <p:nvPr/>
        </p:nvGrpSpPr>
        <p:grpSpPr>
          <a:xfrm>
            <a:off x="768106" y="6862803"/>
            <a:ext cx="768096" cy="1188702"/>
            <a:chOff x="0" y="-47625"/>
            <a:chExt cx="1024128" cy="1218057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0" y="-47625"/>
              <a:ext cx="1024128" cy="1218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1596655" y="6845167"/>
            <a:ext cx="61913" cy="1270378"/>
            <a:chOff x="0" y="0"/>
            <a:chExt cx="82550" cy="1301750"/>
          </a:xfrm>
        </p:grpSpPr>
        <p:sp>
          <p:nvSpPr>
            <p:cNvPr id="141" name="Google Shape;14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2"/>
          <p:cNvGrpSpPr/>
          <p:nvPr/>
        </p:nvGrpSpPr>
        <p:grpSpPr>
          <a:xfrm>
            <a:off x="1865385" y="6862788"/>
            <a:ext cx="6583680" cy="1188678"/>
            <a:chOff x="0" y="-38100"/>
            <a:chExt cx="8778240" cy="769620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B2E"/>
                </a:buClr>
                <a:buSzPts val="1200"/>
                <a:buFont typeface="Calibri"/>
                <a:buNone/>
              </a:pPr>
              <a:r>
                <a:rPr lang="en-US" sz="240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Instruction formats — how rom.hex words map to RISC-V opcodes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2"/>
          <p:cNvSpPr/>
          <p:nvPr/>
        </p:nvSpPr>
        <p:spPr>
          <a:xfrm>
            <a:off x="9326875" y="2578350"/>
            <a:ext cx="8412480" cy="1711757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"/>
          <p:cNvGrpSpPr/>
          <p:nvPr/>
        </p:nvGrpSpPr>
        <p:grpSpPr>
          <a:xfrm>
            <a:off x="9546331" y="2817428"/>
            <a:ext cx="768096" cy="1188702"/>
            <a:chOff x="0" y="-47625"/>
            <a:chExt cx="1024128" cy="1218057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36" r="-9663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0" y="-47625"/>
              <a:ext cx="1024128" cy="1218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sz="2799" b="1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2"/>
          <p:cNvGrpSpPr/>
          <p:nvPr/>
        </p:nvGrpSpPr>
        <p:grpSpPr>
          <a:xfrm>
            <a:off x="10374881" y="2799792"/>
            <a:ext cx="61913" cy="1270378"/>
            <a:chOff x="0" y="0"/>
            <a:chExt cx="82550" cy="1301750"/>
          </a:xfrm>
        </p:grpSpPr>
        <p:sp>
          <p:nvSpPr>
            <p:cNvPr id="151" name="Google Shape;15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2"/>
          <p:cNvGrpSpPr/>
          <p:nvPr/>
        </p:nvGrpSpPr>
        <p:grpSpPr>
          <a:xfrm>
            <a:off x="10643620" y="2799765"/>
            <a:ext cx="6583680" cy="1188678"/>
            <a:chOff x="0" y="-38100"/>
            <a:chExt cx="8778240" cy="769620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B2E"/>
                </a:buClr>
                <a:buSzPts val="1200"/>
                <a:buFont typeface="Calibri"/>
                <a:buNone/>
              </a:pPr>
              <a:r>
                <a:rPr lang="en-US" sz="2400" dirty="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PicoRV32 native memory interface (</a:t>
              </a:r>
              <a:r>
                <a:rPr lang="en-US" sz="2400" dirty="0" err="1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mem_valid</a:t>
              </a:r>
              <a:r>
                <a:rPr lang="en-US" sz="2400" dirty="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 / </a:t>
              </a:r>
              <a:r>
                <a:rPr lang="en-US" sz="2400" dirty="0" err="1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mem_ready</a:t>
              </a:r>
              <a:r>
                <a:rPr lang="en-US" sz="2400" dirty="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2400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2"/>
          <p:cNvSpPr/>
          <p:nvPr/>
        </p:nvSpPr>
        <p:spPr>
          <a:xfrm>
            <a:off x="9326875" y="4601037"/>
            <a:ext cx="8412480" cy="1711757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2"/>
          <p:cNvGrpSpPr/>
          <p:nvPr/>
        </p:nvGrpSpPr>
        <p:grpSpPr>
          <a:xfrm>
            <a:off x="9546331" y="4840116"/>
            <a:ext cx="768096" cy="1188702"/>
            <a:chOff x="0" y="-47625"/>
            <a:chExt cx="1024128" cy="1218057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0" y="-47625"/>
              <a:ext cx="1024128" cy="1218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2"/>
          <p:cNvGrpSpPr/>
          <p:nvPr/>
        </p:nvGrpSpPr>
        <p:grpSpPr>
          <a:xfrm>
            <a:off x="10374881" y="4822479"/>
            <a:ext cx="61913" cy="1270378"/>
            <a:chOff x="0" y="0"/>
            <a:chExt cx="82550" cy="1301750"/>
          </a:xfrm>
        </p:grpSpPr>
        <p:sp>
          <p:nvSpPr>
            <p:cNvPr id="161" name="Google Shape;16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2"/>
          <p:cNvGrpSpPr/>
          <p:nvPr/>
        </p:nvGrpSpPr>
        <p:grpSpPr>
          <a:xfrm>
            <a:off x="10643620" y="4840110"/>
            <a:ext cx="6583680" cy="1188678"/>
            <a:chOff x="0" y="-38100"/>
            <a:chExt cx="8778240" cy="769620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B2E"/>
                </a:buClr>
                <a:buSzPts val="1200"/>
                <a:buFont typeface="Calibri"/>
                <a:buNone/>
              </a:pPr>
              <a:r>
                <a:rPr lang="en-US" sz="240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Lab: make pico — run PicoRV32 standalone simulation</a:t>
              </a:r>
              <a:endParaRPr sz="24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2"/>
          <p:cNvSpPr/>
          <p:nvPr/>
        </p:nvSpPr>
        <p:spPr>
          <a:xfrm>
            <a:off x="9326875" y="6623725"/>
            <a:ext cx="8412480" cy="1711757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2"/>
          <p:cNvGrpSpPr/>
          <p:nvPr/>
        </p:nvGrpSpPr>
        <p:grpSpPr>
          <a:xfrm>
            <a:off x="9546331" y="6862803"/>
            <a:ext cx="768096" cy="1188702"/>
            <a:chOff x="0" y="-47625"/>
            <a:chExt cx="1024128" cy="1218057"/>
          </a:xfrm>
        </p:grpSpPr>
        <p:sp>
          <p:nvSpPr>
            <p:cNvPr id="168" name="Google Shape;16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-47625"/>
              <a:ext cx="1024128" cy="1218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1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374881" y="6845167"/>
            <a:ext cx="61913" cy="1270378"/>
            <a:chOff x="0" y="0"/>
            <a:chExt cx="82550" cy="1301750"/>
          </a:xfrm>
        </p:grpSpPr>
        <p:sp>
          <p:nvSpPr>
            <p:cNvPr id="171" name="Google Shape;171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2"/>
          <p:cNvGrpSpPr/>
          <p:nvPr/>
        </p:nvGrpSpPr>
        <p:grpSpPr>
          <a:xfrm>
            <a:off x="10643620" y="6862790"/>
            <a:ext cx="6583680" cy="1188678"/>
            <a:chOff x="0" y="-38100"/>
            <a:chExt cx="8778240" cy="769620"/>
          </a:xfrm>
        </p:grpSpPr>
        <p:sp>
          <p:nvSpPr>
            <p:cNvPr id="174" name="Google Shape;174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B2E"/>
                </a:buClr>
                <a:buSzPts val="1200"/>
                <a:buFont typeface="Calibri"/>
                <a:buNone/>
              </a:pPr>
              <a:r>
                <a:rPr lang="en-US" sz="2400">
                  <a:solidFill>
                    <a:srgbClr val="0D1B2E"/>
                  </a:solidFill>
                  <a:latin typeface="Calibri"/>
                  <a:ea typeface="Calibri"/>
                  <a:cs typeface="Calibri"/>
                  <a:sym typeface="Calibri"/>
                </a:rPr>
                <a:t>Waveform: observe instruction fetch cascade in GTKWave</a:t>
              </a:r>
              <a:endParaRPr sz="24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"/>
          <p:cNvGrpSpPr/>
          <p:nvPr/>
        </p:nvGrpSpPr>
        <p:grpSpPr>
          <a:xfrm>
            <a:off x="914400" y="457200"/>
            <a:ext cx="16492699" cy="1540193"/>
            <a:chOff x="0" y="0"/>
            <a:chExt cx="21990265" cy="2053591"/>
          </a:xfrm>
        </p:grpSpPr>
        <p:sp>
          <p:nvSpPr>
            <p:cNvPr id="185" name="Google Shape;185;p3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42261" b="-24226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44665" y="571500"/>
              <a:ext cx="21945600" cy="14820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an Instruction Set Architecture (ISA)?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3"/>
          <p:cNvSpPr/>
          <p:nvPr/>
        </p:nvSpPr>
        <p:spPr>
          <a:xfrm>
            <a:off x="914403" y="2184282"/>
            <a:ext cx="16459200" cy="2103120"/>
          </a:xfrm>
          <a:custGeom>
            <a:avLst/>
            <a:gdLst/>
            <a:ahLst/>
            <a:cxnLst/>
            <a:rect l="l" t="t" r="r" b="b"/>
            <a:pathLst>
              <a:path w="21945600" h="2804160" extrusionOk="0">
                <a:moveTo>
                  <a:pt x="0" y="0"/>
                </a:moveTo>
                <a:lnTo>
                  <a:pt x="21945600" y="0"/>
                </a:lnTo>
                <a:lnTo>
                  <a:pt x="21945600" y="2804160"/>
                </a:lnTo>
                <a:lnTo>
                  <a:pt x="0" y="2804160"/>
                </a:lnTo>
                <a:close/>
              </a:path>
            </a:pathLst>
          </a:custGeom>
          <a:solidFill>
            <a:srgbClr val="DAEAF7">
              <a:alpha val="6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463040" y="2806271"/>
            <a:ext cx="15361875" cy="123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Think of an ISA like a restaurant menu. The menu (ISA) lists all dishes (instructions) the kitchen (hardware) can make. Software is the customer who orders from the menu — it doesn't need to know HOW the kitchen works, only WHAT it can order.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914400" y="4297680"/>
            <a:ext cx="5212080" cy="5212080"/>
          </a:xfrm>
          <a:custGeom>
            <a:avLst/>
            <a:gdLst/>
            <a:ahLst/>
            <a:cxnLst/>
            <a:rect l="l" t="t" r="r" b="b"/>
            <a:pathLst>
              <a:path w="6949440" h="6949440" extrusionOk="0">
                <a:moveTo>
                  <a:pt x="0" y="0"/>
                </a:moveTo>
                <a:lnTo>
                  <a:pt x="6949440" y="0"/>
                </a:lnTo>
                <a:lnTo>
                  <a:pt x="6949440" y="6949440"/>
                </a:lnTo>
                <a:lnTo>
                  <a:pt x="0" y="694944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3"/>
          <p:cNvGrpSpPr/>
          <p:nvPr/>
        </p:nvGrpSpPr>
        <p:grpSpPr>
          <a:xfrm>
            <a:off x="1462990" y="2011680"/>
            <a:ext cx="2194650" cy="794600"/>
            <a:chOff x="-67" y="0"/>
            <a:chExt cx="2926200" cy="1059467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2926080" cy="731520"/>
            </a:xfrm>
            <a:custGeom>
              <a:avLst/>
              <a:gdLst/>
              <a:ahLst/>
              <a:cxnLst/>
              <a:rect l="l" t="t" r="r" b="b"/>
              <a:pathLst>
                <a:path w="2926080" h="731520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7940" b="-2794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-67" y="289967"/>
              <a:ext cx="29262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Analogy: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3"/>
          <p:cNvGrpSpPr/>
          <p:nvPr/>
        </p:nvGrpSpPr>
        <p:grpSpPr>
          <a:xfrm>
            <a:off x="901703" y="4284983"/>
            <a:ext cx="153352" cy="5237416"/>
            <a:chOff x="0" y="0"/>
            <a:chExt cx="204470" cy="6983222"/>
          </a:xfrm>
        </p:grpSpPr>
        <p:sp>
          <p:nvSpPr>
            <p:cNvPr id="194" name="Google Shape;194;p3"/>
            <p:cNvSpPr/>
            <p:nvPr/>
          </p:nvSpPr>
          <p:spPr>
            <a:xfrm>
              <a:off x="16891" y="16891"/>
              <a:ext cx="170688" cy="6949440"/>
            </a:xfrm>
            <a:custGeom>
              <a:avLst/>
              <a:gdLst/>
              <a:ahLst/>
              <a:cxnLst/>
              <a:rect l="l" t="t" r="r" b="b"/>
              <a:pathLst>
                <a:path w="170688" h="6949440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6949440"/>
                  </a:lnTo>
                  <a:lnTo>
                    <a:pt x="0" y="694944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0" y="0"/>
              <a:ext cx="204470" cy="6983222"/>
            </a:xfrm>
            <a:custGeom>
              <a:avLst/>
              <a:gdLst/>
              <a:ahLst/>
              <a:cxnLst/>
              <a:rect l="l" t="t" r="r" b="b"/>
              <a:pathLst>
                <a:path w="204470" h="6983222" extrusionOk="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66331"/>
                  </a:lnTo>
                  <a:cubicBezTo>
                    <a:pt x="204470" y="6975729"/>
                    <a:pt x="196850" y="6983222"/>
                    <a:pt x="187579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187579" y="6949440"/>
                  </a:lnTo>
                  <a:lnTo>
                    <a:pt x="187579" y="6966331"/>
                  </a:lnTo>
                  <a:lnTo>
                    <a:pt x="170688" y="6966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3"/>
          <p:cNvGrpSpPr/>
          <p:nvPr/>
        </p:nvGrpSpPr>
        <p:grpSpPr>
          <a:xfrm>
            <a:off x="1243584" y="4474274"/>
            <a:ext cx="4663440" cy="682943"/>
            <a:chOff x="0" y="-57150"/>
            <a:chExt cx="6217920" cy="910590"/>
          </a:xfrm>
        </p:grpSpPr>
        <p:sp>
          <p:nvSpPr>
            <p:cNvPr id="197" name="Google Shape;197;p3"/>
            <p:cNvSpPr/>
            <p:nvPr/>
          </p:nvSpPr>
          <p:spPr>
            <a:xfrm>
              <a:off x="0" y="0"/>
              <a:ext cx="6217920" cy="853440"/>
            </a:xfrm>
            <a:custGeom>
              <a:avLst/>
              <a:gdLst/>
              <a:ahLst/>
              <a:cxnLst/>
              <a:rect l="l" t="t" r="r" b="b"/>
              <a:pathLst>
                <a:path w="6217920" h="853440" extrusionOk="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"/>
            <p:cNvSpPr txBox="1"/>
            <p:nvPr/>
          </p:nvSpPr>
          <p:spPr>
            <a:xfrm>
              <a:off x="0" y="-57150"/>
              <a:ext cx="6217920" cy="910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What it defines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3"/>
          <p:cNvSpPr txBox="1"/>
          <p:nvPr/>
        </p:nvSpPr>
        <p:spPr>
          <a:xfrm>
            <a:off x="1243584" y="5164455"/>
            <a:ext cx="4663500" cy="1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The list of valid CPU instructions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How memory is addressed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How registers are used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How the OS talks to hardware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6492240" y="4297680"/>
            <a:ext cx="5212080" cy="5212080"/>
          </a:xfrm>
          <a:custGeom>
            <a:avLst/>
            <a:gdLst/>
            <a:ahLst/>
            <a:cxnLst/>
            <a:rect l="l" t="t" r="r" b="b"/>
            <a:pathLst>
              <a:path w="6949440" h="6949440" extrusionOk="0">
                <a:moveTo>
                  <a:pt x="0" y="0"/>
                </a:moveTo>
                <a:lnTo>
                  <a:pt x="6949440" y="0"/>
                </a:lnTo>
                <a:lnTo>
                  <a:pt x="6949440" y="6949440"/>
                </a:lnTo>
                <a:lnTo>
                  <a:pt x="0" y="694944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3"/>
          <p:cNvGrpSpPr/>
          <p:nvPr/>
        </p:nvGrpSpPr>
        <p:grpSpPr>
          <a:xfrm>
            <a:off x="6479543" y="4284983"/>
            <a:ext cx="153352" cy="5237416"/>
            <a:chOff x="0" y="0"/>
            <a:chExt cx="204470" cy="6983222"/>
          </a:xfrm>
        </p:grpSpPr>
        <p:sp>
          <p:nvSpPr>
            <p:cNvPr id="202" name="Google Shape;202;p3"/>
            <p:cNvSpPr/>
            <p:nvPr/>
          </p:nvSpPr>
          <p:spPr>
            <a:xfrm>
              <a:off x="16891" y="16891"/>
              <a:ext cx="170688" cy="6949440"/>
            </a:xfrm>
            <a:custGeom>
              <a:avLst/>
              <a:gdLst/>
              <a:ahLst/>
              <a:cxnLst/>
              <a:rect l="l" t="t" r="r" b="b"/>
              <a:pathLst>
                <a:path w="170688" h="6949440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6949440"/>
                  </a:lnTo>
                  <a:lnTo>
                    <a:pt x="0" y="694944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0" y="0"/>
              <a:ext cx="204470" cy="6983222"/>
            </a:xfrm>
            <a:custGeom>
              <a:avLst/>
              <a:gdLst/>
              <a:ahLst/>
              <a:cxnLst/>
              <a:rect l="l" t="t" r="r" b="b"/>
              <a:pathLst>
                <a:path w="204470" h="6983222" extrusionOk="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66331"/>
                  </a:lnTo>
                  <a:cubicBezTo>
                    <a:pt x="204470" y="6975729"/>
                    <a:pt x="196850" y="6983222"/>
                    <a:pt x="187579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187579" y="6949440"/>
                  </a:lnTo>
                  <a:lnTo>
                    <a:pt x="187579" y="6966331"/>
                  </a:lnTo>
                  <a:lnTo>
                    <a:pt x="170688" y="6966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3"/>
          <p:cNvGrpSpPr/>
          <p:nvPr/>
        </p:nvGrpSpPr>
        <p:grpSpPr>
          <a:xfrm>
            <a:off x="6821424" y="4474274"/>
            <a:ext cx="4663440" cy="682943"/>
            <a:chOff x="0" y="-57150"/>
            <a:chExt cx="6217920" cy="910590"/>
          </a:xfrm>
        </p:grpSpPr>
        <p:sp>
          <p:nvSpPr>
            <p:cNvPr id="205" name="Google Shape;205;p3"/>
            <p:cNvSpPr/>
            <p:nvPr/>
          </p:nvSpPr>
          <p:spPr>
            <a:xfrm>
              <a:off x="0" y="0"/>
              <a:ext cx="6217920" cy="853440"/>
            </a:xfrm>
            <a:custGeom>
              <a:avLst/>
              <a:gdLst/>
              <a:ahLst/>
              <a:cxnLst/>
              <a:rect l="l" t="t" r="r" b="b"/>
              <a:pathLst>
                <a:path w="6217920" h="853440" extrusionOk="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 txBox="1"/>
            <p:nvPr/>
          </p:nvSpPr>
          <p:spPr>
            <a:xfrm>
              <a:off x="0" y="-57150"/>
              <a:ext cx="6217920" cy="910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E07B39"/>
                  </a:solidFill>
                  <a:latin typeface="Calibri"/>
                  <a:ea typeface="Calibri"/>
                  <a:cs typeface="Calibri"/>
                  <a:sym typeface="Calibri"/>
                </a:rPr>
                <a:t>Why it matters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3"/>
          <p:cNvSpPr txBox="1"/>
          <p:nvPr/>
        </p:nvSpPr>
        <p:spPr>
          <a:xfrm>
            <a:off x="6821424" y="5164455"/>
            <a:ext cx="4663500" cy="24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Software written for one ISA runs on ALL chips that implement 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Separates hardware design from software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Enables a huge ecosystem of tools &amp; compilers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12085291" y="4297651"/>
            <a:ext cx="5212080" cy="5212080"/>
          </a:xfrm>
          <a:custGeom>
            <a:avLst/>
            <a:gdLst/>
            <a:ahLst/>
            <a:cxnLst/>
            <a:rect l="l" t="t" r="r" b="b"/>
            <a:pathLst>
              <a:path w="6949440" h="6949440" extrusionOk="0">
                <a:moveTo>
                  <a:pt x="0" y="0"/>
                </a:moveTo>
                <a:lnTo>
                  <a:pt x="6949440" y="0"/>
                </a:lnTo>
                <a:lnTo>
                  <a:pt x="6949440" y="6949440"/>
                </a:lnTo>
                <a:lnTo>
                  <a:pt x="0" y="694944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3"/>
          <p:cNvGrpSpPr/>
          <p:nvPr/>
        </p:nvGrpSpPr>
        <p:grpSpPr>
          <a:xfrm>
            <a:off x="12057383" y="4284983"/>
            <a:ext cx="153352" cy="5237416"/>
            <a:chOff x="0" y="0"/>
            <a:chExt cx="204470" cy="6983222"/>
          </a:xfrm>
        </p:grpSpPr>
        <p:sp>
          <p:nvSpPr>
            <p:cNvPr id="210" name="Google Shape;210;p3"/>
            <p:cNvSpPr/>
            <p:nvPr/>
          </p:nvSpPr>
          <p:spPr>
            <a:xfrm>
              <a:off x="16891" y="16891"/>
              <a:ext cx="170688" cy="6949440"/>
            </a:xfrm>
            <a:custGeom>
              <a:avLst/>
              <a:gdLst/>
              <a:ahLst/>
              <a:cxnLst/>
              <a:rect l="l" t="t" r="r" b="b"/>
              <a:pathLst>
                <a:path w="170688" h="6949440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6949440"/>
                  </a:lnTo>
                  <a:lnTo>
                    <a:pt x="0" y="694944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0" y="0"/>
              <a:ext cx="204470" cy="6983222"/>
            </a:xfrm>
            <a:custGeom>
              <a:avLst/>
              <a:gdLst/>
              <a:ahLst/>
              <a:cxnLst/>
              <a:rect l="l" t="t" r="r" b="b"/>
              <a:pathLst>
                <a:path w="204470" h="6983222" extrusionOk="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66331"/>
                  </a:lnTo>
                  <a:cubicBezTo>
                    <a:pt x="204470" y="6975729"/>
                    <a:pt x="196850" y="6983222"/>
                    <a:pt x="187579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187579" y="6949440"/>
                  </a:lnTo>
                  <a:lnTo>
                    <a:pt x="187579" y="6966331"/>
                  </a:lnTo>
                  <a:lnTo>
                    <a:pt x="170688" y="6966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3"/>
          <p:cNvGrpSpPr/>
          <p:nvPr/>
        </p:nvGrpSpPr>
        <p:grpSpPr>
          <a:xfrm>
            <a:off x="12399264" y="4474274"/>
            <a:ext cx="4663440" cy="682943"/>
            <a:chOff x="0" y="-57150"/>
            <a:chExt cx="6217920" cy="910590"/>
          </a:xfrm>
        </p:grpSpPr>
        <p:sp>
          <p:nvSpPr>
            <p:cNvPr id="213" name="Google Shape;213;p3"/>
            <p:cNvSpPr/>
            <p:nvPr/>
          </p:nvSpPr>
          <p:spPr>
            <a:xfrm>
              <a:off x="0" y="0"/>
              <a:ext cx="6217920" cy="853440"/>
            </a:xfrm>
            <a:custGeom>
              <a:avLst/>
              <a:gdLst/>
              <a:ahLst/>
              <a:cxnLst/>
              <a:rect l="l" t="t" r="r" b="b"/>
              <a:pathLst>
                <a:path w="6217920" h="853440" extrusionOk="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 txBox="1"/>
            <p:nvPr/>
          </p:nvSpPr>
          <p:spPr>
            <a:xfrm>
              <a:off x="0" y="-57150"/>
              <a:ext cx="6217920" cy="910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Examples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3"/>
          <p:cNvSpPr txBox="1"/>
          <p:nvPr/>
        </p:nvSpPr>
        <p:spPr>
          <a:xfrm>
            <a:off x="12399264" y="5164455"/>
            <a:ext cx="4663500" cy="1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x86 — Used in most PCs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ARM — Used in phones &amp; tablets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MIPS — Used in routers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• RISC-V — Open source, growing fast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4"/>
          <p:cNvGrpSpPr/>
          <p:nvPr/>
        </p:nvGrpSpPr>
        <p:grpSpPr>
          <a:xfrm>
            <a:off x="914400" y="457200"/>
            <a:ext cx="16459200" cy="1439228"/>
            <a:chOff x="0" y="0"/>
            <a:chExt cx="21945600" cy="1918971"/>
          </a:xfrm>
        </p:grpSpPr>
        <p:sp>
          <p:nvSpPr>
            <p:cNvPr id="225" name="Google Shape;225;p4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8837" b="-26883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4"/>
            <p:cNvSpPr txBox="1"/>
            <p:nvPr/>
          </p:nvSpPr>
          <p:spPr>
            <a:xfrm>
              <a:off x="0" y="558800"/>
              <a:ext cx="21945600" cy="1360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RISC vs CISC — Two Design Philosophies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4"/>
          <p:cNvGrpSpPr/>
          <p:nvPr/>
        </p:nvGrpSpPr>
        <p:grpSpPr>
          <a:xfrm>
            <a:off x="627383" y="1816103"/>
            <a:ext cx="4414456" cy="848298"/>
            <a:chOff x="0" y="0"/>
            <a:chExt cx="5885942" cy="1131064"/>
          </a:xfrm>
        </p:grpSpPr>
        <p:sp>
          <p:nvSpPr>
            <p:cNvPr id="228" name="Google Shape;228;p4"/>
            <p:cNvSpPr/>
            <p:nvPr/>
          </p:nvSpPr>
          <p:spPr>
            <a:xfrm>
              <a:off x="16891" y="16891"/>
              <a:ext cx="5852160" cy="1097280"/>
            </a:xfrm>
            <a:custGeom>
              <a:avLst/>
              <a:gdLst/>
              <a:ahLst/>
              <a:cxnLst/>
              <a:rect l="l" t="t" r="r" b="b"/>
              <a:pathLst>
                <a:path w="5852160" h="1097280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0" y="0"/>
              <a:ext cx="5885942" cy="1131064"/>
            </a:xfrm>
            <a:custGeom>
              <a:avLst/>
              <a:gdLst/>
              <a:ahLst/>
              <a:cxnLst/>
              <a:rect l="l" t="t" r="r" b="b"/>
              <a:pathLst>
                <a:path w="5885942" h="1131064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114171"/>
                  </a:lnTo>
                  <a:cubicBezTo>
                    <a:pt x="5885942" y="1123569"/>
                    <a:pt x="5878322" y="1131062"/>
                    <a:pt x="58690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869051" y="1097280"/>
                  </a:lnTo>
                  <a:lnTo>
                    <a:pt x="5869051" y="1114171"/>
                  </a:lnTo>
                  <a:lnTo>
                    <a:pt x="5852160" y="111417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4"/>
          <p:cNvGrpSpPr/>
          <p:nvPr/>
        </p:nvGrpSpPr>
        <p:grpSpPr>
          <a:xfrm>
            <a:off x="822960" y="1800225"/>
            <a:ext cx="4114800" cy="851535"/>
            <a:chOff x="0" y="-38100"/>
            <a:chExt cx="5486400" cy="1135380"/>
          </a:xfrm>
        </p:grpSpPr>
        <p:sp>
          <p:nvSpPr>
            <p:cNvPr id="231" name="Google Shape;231;p4"/>
            <p:cNvSpPr/>
            <p:nvPr/>
          </p:nvSpPr>
          <p:spPr>
            <a:xfrm>
              <a:off x="0" y="0"/>
              <a:ext cx="5486400" cy="1097280"/>
            </a:xfrm>
            <a:custGeom>
              <a:avLst/>
              <a:gdLst/>
              <a:ahLst/>
              <a:cxnLst/>
              <a:rect l="l" t="t" r="r" b="b"/>
              <a:pathLst>
                <a:path w="5486400" h="1097280" extrusionOk="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4"/>
            <p:cNvSpPr txBox="1"/>
            <p:nvPr/>
          </p:nvSpPr>
          <p:spPr>
            <a:xfrm>
              <a:off x="0" y="-38100"/>
              <a:ext cx="5486400" cy="11353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Feature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4"/>
          <p:cNvGrpSpPr/>
          <p:nvPr/>
        </p:nvGrpSpPr>
        <p:grpSpPr>
          <a:xfrm>
            <a:off x="5199383" y="1816103"/>
            <a:ext cx="6334696" cy="848298"/>
            <a:chOff x="0" y="0"/>
            <a:chExt cx="8446262" cy="1131064"/>
          </a:xfrm>
        </p:grpSpPr>
        <p:sp>
          <p:nvSpPr>
            <p:cNvPr id="234" name="Google Shape;234;p4"/>
            <p:cNvSpPr/>
            <p:nvPr/>
          </p:nvSpPr>
          <p:spPr>
            <a:xfrm>
              <a:off x="16891" y="16891"/>
              <a:ext cx="8412481" cy="1097280"/>
            </a:xfrm>
            <a:custGeom>
              <a:avLst/>
              <a:gdLst/>
              <a:ahLst/>
              <a:cxnLst/>
              <a:rect l="l" t="t" r="r" b="b"/>
              <a:pathLst>
                <a:path w="8412481" h="1097280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0" y="0"/>
              <a:ext cx="8446262" cy="1131064"/>
            </a:xfrm>
            <a:custGeom>
              <a:avLst/>
              <a:gdLst/>
              <a:ahLst/>
              <a:cxnLst/>
              <a:rect l="l" t="t" r="r" b="b"/>
              <a:pathLst>
                <a:path w="8446262" h="1131064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114171"/>
                  </a:lnTo>
                  <a:cubicBezTo>
                    <a:pt x="8446262" y="1123569"/>
                    <a:pt x="8438642" y="1131062"/>
                    <a:pt x="84293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429372" y="1097280"/>
                  </a:lnTo>
                  <a:lnTo>
                    <a:pt x="8429372" y="1114171"/>
                  </a:lnTo>
                  <a:lnTo>
                    <a:pt x="8412480" y="1114171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4"/>
          <p:cNvGrpSpPr/>
          <p:nvPr/>
        </p:nvGrpSpPr>
        <p:grpSpPr>
          <a:xfrm>
            <a:off x="5394960" y="1800225"/>
            <a:ext cx="6035040" cy="851535"/>
            <a:chOff x="0" y="-38100"/>
            <a:chExt cx="8046720" cy="1135380"/>
          </a:xfrm>
        </p:grpSpPr>
        <p:sp>
          <p:nvSpPr>
            <p:cNvPr id="237" name="Google Shape;237;p4"/>
            <p:cNvSpPr/>
            <p:nvPr/>
          </p:nvSpPr>
          <p:spPr>
            <a:xfrm>
              <a:off x="0" y="0"/>
              <a:ext cx="8046720" cy="1097280"/>
            </a:xfrm>
            <a:custGeom>
              <a:avLst/>
              <a:gdLst/>
              <a:ahLst/>
              <a:cxnLst/>
              <a:rect l="l" t="t" r="r" b="b"/>
              <a:pathLst>
                <a:path w="8046720" h="1097280" extrusionOk="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4"/>
            <p:cNvSpPr txBox="1"/>
            <p:nvPr/>
          </p:nvSpPr>
          <p:spPr>
            <a:xfrm>
              <a:off x="0" y="-38100"/>
              <a:ext cx="8046720" cy="11353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RISC (Reduced Instruction Set)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4"/>
          <p:cNvGrpSpPr/>
          <p:nvPr/>
        </p:nvGrpSpPr>
        <p:grpSpPr>
          <a:xfrm>
            <a:off x="11691623" y="1816103"/>
            <a:ext cx="6334696" cy="848298"/>
            <a:chOff x="0" y="0"/>
            <a:chExt cx="8446262" cy="1131064"/>
          </a:xfrm>
        </p:grpSpPr>
        <p:sp>
          <p:nvSpPr>
            <p:cNvPr id="240" name="Google Shape;240;p4"/>
            <p:cNvSpPr/>
            <p:nvPr/>
          </p:nvSpPr>
          <p:spPr>
            <a:xfrm>
              <a:off x="16891" y="16891"/>
              <a:ext cx="8412481" cy="1097280"/>
            </a:xfrm>
            <a:custGeom>
              <a:avLst/>
              <a:gdLst/>
              <a:ahLst/>
              <a:cxnLst/>
              <a:rect l="l" t="t" r="r" b="b"/>
              <a:pathLst>
                <a:path w="8412481" h="1097280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07B3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0" y="0"/>
              <a:ext cx="8446262" cy="1131064"/>
            </a:xfrm>
            <a:custGeom>
              <a:avLst/>
              <a:gdLst/>
              <a:ahLst/>
              <a:cxnLst/>
              <a:rect l="l" t="t" r="r" b="b"/>
              <a:pathLst>
                <a:path w="8446262" h="1131064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114171"/>
                  </a:lnTo>
                  <a:cubicBezTo>
                    <a:pt x="8446262" y="1123569"/>
                    <a:pt x="8438642" y="1131062"/>
                    <a:pt x="84293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429372" y="1097280"/>
                  </a:lnTo>
                  <a:lnTo>
                    <a:pt x="8429372" y="1114171"/>
                  </a:lnTo>
                  <a:lnTo>
                    <a:pt x="8412480" y="1114171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4"/>
          <p:cNvGrpSpPr/>
          <p:nvPr/>
        </p:nvGrpSpPr>
        <p:grpSpPr>
          <a:xfrm>
            <a:off x="11887200" y="1800225"/>
            <a:ext cx="6035040" cy="851535"/>
            <a:chOff x="0" y="-38100"/>
            <a:chExt cx="8046720" cy="1135380"/>
          </a:xfrm>
        </p:grpSpPr>
        <p:sp>
          <p:nvSpPr>
            <p:cNvPr id="243" name="Google Shape;243;p4"/>
            <p:cNvSpPr/>
            <p:nvPr/>
          </p:nvSpPr>
          <p:spPr>
            <a:xfrm>
              <a:off x="0" y="0"/>
              <a:ext cx="8046720" cy="1097280"/>
            </a:xfrm>
            <a:custGeom>
              <a:avLst/>
              <a:gdLst/>
              <a:ahLst/>
              <a:cxnLst/>
              <a:rect l="l" t="t" r="r" b="b"/>
              <a:pathLst>
                <a:path w="8046720" h="1097280" extrusionOk="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4"/>
            <p:cNvSpPr txBox="1"/>
            <p:nvPr/>
          </p:nvSpPr>
          <p:spPr>
            <a:xfrm>
              <a:off x="0" y="-38100"/>
              <a:ext cx="8046720" cy="11353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CISC (Complex Instruction Set)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4"/>
          <p:cNvGrpSpPr/>
          <p:nvPr/>
        </p:nvGrpSpPr>
        <p:grpSpPr>
          <a:xfrm>
            <a:off x="627383" y="2639063"/>
            <a:ext cx="4414456" cy="976312"/>
            <a:chOff x="0" y="0"/>
            <a:chExt cx="5885942" cy="1301750"/>
          </a:xfrm>
        </p:grpSpPr>
        <p:sp>
          <p:nvSpPr>
            <p:cNvPr id="246" name="Google Shape;246;p4"/>
            <p:cNvSpPr/>
            <p:nvPr/>
          </p:nvSpPr>
          <p:spPr>
            <a:xfrm>
              <a:off x="16891" y="16891"/>
              <a:ext cx="5852160" cy="1267968"/>
            </a:xfrm>
            <a:custGeom>
              <a:avLst/>
              <a:gdLst/>
              <a:ahLst/>
              <a:cxnLst/>
              <a:rect l="l" t="t" r="r" b="b"/>
              <a:pathLst>
                <a:path w="5852160" h="1267968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0" y="0"/>
              <a:ext cx="5885942" cy="1301750"/>
            </a:xfrm>
            <a:custGeom>
              <a:avLst/>
              <a:gdLst/>
              <a:ahLst/>
              <a:cxnLst/>
              <a:rect l="l" t="t" r="r" b="b"/>
              <a:pathLst>
                <a:path w="5885942" h="1301750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284859"/>
                  </a:lnTo>
                  <a:cubicBezTo>
                    <a:pt x="5885942" y="1294257"/>
                    <a:pt x="5878322" y="1301750"/>
                    <a:pt x="58690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869051" y="1267968"/>
                  </a:lnTo>
                  <a:lnTo>
                    <a:pt x="5869051" y="1284859"/>
                  </a:lnTo>
                  <a:lnTo>
                    <a:pt x="5852160" y="128485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4"/>
          <p:cNvGrpSpPr/>
          <p:nvPr/>
        </p:nvGrpSpPr>
        <p:grpSpPr>
          <a:xfrm>
            <a:off x="822960" y="2616041"/>
            <a:ext cx="4169664" cy="986695"/>
            <a:chOff x="0" y="-47625"/>
            <a:chExt cx="5559552" cy="1315593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5559552" cy="1267968"/>
            </a:xfrm>
            <a:custGeom>
              <a:avLst/>
              <a:gdLst/>
              <a:ahLst/>
              <a:cxnLst/>
              <a:rect l="l" t="t" r="r" b="b"/>
              <a:pathLst>
                <a:path w="5559552" h="1267968" extrusionOk="0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5435" b="-354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4"/>
            <p:cNvSpPr txBox="1"/>
            <p:nvPr/>
          </p:nvSpPr>
          <p:spPr>
            <a:xfrm>
              <a:off x="0" y="-47625"/>
              <a:ext cx="555955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Instruction count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5199383" y="2639063"/>
            <a:ext cx="6334696" cy="976312"/>
            <a:chOff x="0" y="0"/>
            <a:chExt cx="8446262" cy="1301750"/>
          </a:xfrm>
        </p:grpSpPr>
        <p:sp>
          <p:nvSpPr>
            <p:cNvPr id="252" name="Google Shape;252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4"/>
          <p:cNvGrpSpPr/>
          <p:nvPr/>
        </p:nvGrpSpPr>
        <p:grpSpPr>
          <a:xfrm>
            <a:off x="5394960" y="2616041"/>
            <a:ext cx="6089904" cy="986695"/>
            <a:chOff x="0" y="-47625"/>
            <a:chExt cx="8119872" cy="1315593"/>
          </a:xfrm>
        </p:grpSpPr>
        <p:sp>
          <p:nvSpPr>
            <p:cNvPr id="255" name="Google Shape;255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Few, simple instructions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4"/>
          <p:cNvGrpSpPr/>
          <p:nvPr/>
        </p:nvGrpSpPr>
        <p:grpSpPr>
          <a:xfrm>
            <a:off x="11691623" y="2639063"/>
            <a:ext cx="6334696" cy="976312"/>
            <a:chOff x="0" y="0"/>
            <a:chExt cx="8446262" cy="1301750"/>
          </a:xfrm>
        </p:grpSpPr>
        <p:sp>
          <p:nvSpPr>
            <p:cNvPr id="258" name="Google Shape;258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8E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4"/>
          <p:cNvGrpSpPr/>
          <p:nvPr/>
        </p:nvGrpSpPr>
        <p:grpSpPr>
          <a:xfrm>
            <a:off x="11887200" y="2616041"/>
            <a:ext cx="6089904" cy="986695"/>
            <a:chOff x="0" y="-47625"/>
            <a:chExt cx="8119872" cy="1315593"/>
          </a:xfrm>
        </p:grpSpPr>
        <p:sp>
          <p:nvSpPr>
            <p:cNvPr id="261" name="Google Shape;261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Many, complex instructions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4"/>
          <p:cNvGrpSpPr/>
          <p:nvPr/>
        </p:nvGrpSpPr>
        <p:grpSpPr>
          <a:xfrm>
            <a:off x="627383" y="3590039"/>
            <a:ext cx="4414456" cy="976312"/>
            <a:chOff x="0" y="0"/>
            <a:chExt cx="5885942" cy="1301750"/>
          </a:xfrm>
        </p:grpSpPr>
        <p:sp>
          <p:nvSpPr>
            <p:cNvPr id="264" name="Google Shape;264;p4"/>
            <p:cNvSpPr/>
            <p:nvPr/>
          </p:nvSpPr>
          <p:spPr>
            <a:xfrm>
              <a:off x="16891" y="16891"/>
              <a:ext cx="5852160" cy="1267968"/>
            </a:xfrm>
            <a:custGeom>
              <a:avLst/>
              <a:gdLst/>
              <a:ahLst/>
              <a:cxnLst/>
              <a:rect l="l" t="t" r="r" b="b"/>
              <a:pathLst>
                <a:path w="5852160" h="1267968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0" y="0"/>
              <a:ext cx="5885942" cy="1301750"/>
            </a:xfrm>
            <a:custGeom>
              <a:avLst/>
              <a:gdLst/>
              <a:ahLst/>
              <a:cxnLst/>
              <a:rect l="l" t="t" r="r" b="b"/>
              <a:pathLst>
                <a:path w="5885942" h="1301750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284859"/>
                  </a:lnTo>
                  <a:cubicBezTo>
                    <a:pt x="5885942" y="1294257"/>
                    <a:pt x="5878322" y="1301750"/>
                    <a:pt x="58690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869051" y="1267968"/>
                  </a:lnTo>
                  <a:lnTo>
                    <a:pt x="5869051" y="1284859"/>
                  </a:lnTo>
                  <a:lnTo>
                    <a:pt x="5852160" y="128485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4"/>
          <p:cNvGrpSpPr/>
          <p:nvPr/>
        </p:nvGrpSpPr>
        <p:grpSpPr>
          <a:xfrm>
            <a:off x="822960" y="3567017"/>
            <a:ext cx="4169664" cy="986695"/>
            <a:chOff x="0" y="-47625"/>
            <a:chExt cx="5559552" cy="1315593"/>
          </a:xfrm>
        </p:grpSpPr>
        <p:sp>
          <p:nvSpPr>
            <p:cNvPr id="267" name="Google Shape;267;p4"/>
            <p:cNvSpPr/>
            <p:nvPr/>
          </p:nvSpPr>
          <p:spPr>
            <a:xfrm>
              <a:off x="0" y="0"/>
              <a:ext cx="5559552" cy="1267968"/>
            </a:xfrm>
            <a:custGeom>
              <a:avLst/>
              <a:gdLst/>
              <a:ahLst/>
              <a:cxnLst/>
              <a:rect l="l" t="t" r="r" b="b"/>
              <a:pathLst>
                <a:path w="5559552" h="1267968" extrusionOk="0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5435" b="-354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0" y="-47625"/>
              <a:ext cx="555955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Instruction length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5199383" y="3590039"/>
            <a:ext cx="6334696" cy="976312"/>
            <a:chOff x="0" y="0"/>
            <a:chExt cx="8446262" cy="1301750"/>
          </a:xfrm>
        </p:grpSpPr>
        <p:sp>
          <p:nvSpPr>
            <p:cNvPr id="270" name="Google Shape;270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A0CCDA">
                <a:alpha val="4039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CCDA">
                <a:alpha val="4039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4"/>
          <p:cNvGrpSpPr/>
          <p:nvPr/>
        </p:nvGrpSpPr>
        <p:grpSpPr>
          <a:xfrm>
            <a:off x="5394960" y="3567017"/>
            <a:ext cx="6089904" cy="986695"/>
            <a:chOff x="0" y="-47625"/>
            <a:chExt cx="8119872" cy="1315593"/>
          </a:xfrm>
        </p:grpSpPr>
        <p:sp>
          <p:nvSpPr>
            <p:cNvPr id="273" name="Google Shape;273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Fixed (e.g. 32-bit)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4"/>
          <p:cNvGrpSpPr/>
          <p:nvPr/>
        </p:nvGrpSpPr>
        <p:grpSpPr>
          <a:xfrm>
            <a:off x="11691623" y="3590039"/>
            <a:ext cx="6334696" cy="976312"/>
            <a:chOff x="0" y="0"/>
            <a:chExt cx="8446262" cy="1301750"/>
          </a:xfrm>
        </p:grpSpPr>
        <p:sp>
          <p:nvSpPr>
            <p:cNvPr id="276" name="Google Shape;276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D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4"/>
          <p:cNvGrpSpPr/>
          <p:nvPr/>
        </p:nvGrpSpPr>
        <p:grpSpPr>
          <a:xfrm>
            <a:off x="11887200" y="3567017"/>
            <a:ext cx="6089904" cy="986695"/>
            <a:chOff x="0" y="-47625"/>
            <a:chExt cx="8119872" cy="1315593"/>
          </a:xfrm>
        </p:grpSpPr>
        <p:sp>
          <p:nvSpPr>
            <p:cNvPr id="279" name="Google Shape;279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Variable length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4"/>
          <p:cNvGrpSpPr/>
          <p:nvPr/>
        </p:nvGrpSpPr>
        <p:grpSpPr>
          <a:xfrm>
            <a:off x="627383" y="4541015"/>
            <a:ext cx="4414456" cy="976312"/>
            <a:chOff x="0" y="0"/>
            <a:chExt cx="5885942" cy="1301750"/>
          </a:xfrm>
        </p:grpSpPr>
        <p:sp>
          <p:nvSpPr>
            <p:cNvPr id="282" name="Google Shape;282;p4"/>
            <p:cNvSpPr/>
            <p:nvPr/>
          </p:nvSpPr>
          <p:spPr>
            <a:xfrm>
              <a:off x="16891" y="16891"/>
              <a:ext cx="5852160" cy="1267968"/>
            </a:xfrm>
            <a:custGeom>
              <a:avLst/>
              <a:gdLst/>
              <a:ahLst/>
              <a:cxnLst/>
              <a:rect l="l" t="t" r="r" b="b"/>
              <a:pathLst>
                <a:path w="5852160" h="1267968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0" y="0"/>
              <a:ext cx="5885942" cy="1301750"/>
            </a:xfrm>
            <a:custGeom>
              <a:avLst/>
              <a:gdLst/>
              <a:ahLst/>
              <a:cxnLst/>
              <a:rect l="l" t="t" r="r" b="b"/>
              <a:pathLst>
                <a:path w="5885942" h="1301750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284859"/>
                  </a:lnTo>
                  <a:cubicBezTo>
                    <a:pt x="5885942" y="1294257"/>
                    <a:pt x="5878322" y="1301750"/>
                    <a:pt x="58690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869051" y="1267968"/>
                  </a:lnTo>
                  <a:lnTo>
                    <a:pt x="5869051" y="1284859"/>
                  </a:lnTo>
                  <a:lnTo>
                    <a:pt x="5852160" y="128485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4"/>
          <p:cNvGrpSpPr/>
          <p:nvPr/>
        </p:nvGrpSpPr>
        <p:grpSpPr>
          <a:xfrm>
            <a:off x="822960" y="4517993"/>
            <a:ext cx="4169664" cy="986695"/>
            <a:chOff x="0" y="-47625"/>
            <a:chExt cx="5559552" cy="1315593"/>
          </a:xfrm>
        </p:grpSpPr>
        <p:sp>
          <p:nvSpPr>
            <p:cNvPr id="285" name="Google Shape;285;p4"/>
            <p:cNvSpPr/>
            <p:nvPr/>
          </p:nvSpPr>
          <p:spPr>
            <a:xfrm>
              <a:off x="0" y="0"/>
              <a:ext cx="5559552" cy="1267968"/>
            </a:xfrm>
            <a:custGeom>
              <a:avLst/>
              <a:gdLst/>
              <a:ahLst/>
              <a:cxnLst/>
              <a:rect l="l" t="t" r="r" b="b"/>
              <a:pathLst>
                <a:path w="5559552" h="1267968" extrusionOk="0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5435" b="-354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4"/>
            <p:cNvSpPr txBox="1"/>
            <p:nvPr/>
          </p:nvSpPr>
          <p:spPr>
            <a:xfrm>
              <a:off x="0" y="-47625"/>
              <a:ext cx="555955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Clock cycles/instr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4"/>
          <p:cNvGrpSpPr/>
          <p:nvPr/>
        </p:nvGrpSpPr>
        <p:grpSpPr>
          <a:xfrm>
            <a:off x="5199383" y="4541015"/>
            <a:ext cx="6334696" cy="976312"/>
            <a:chOff x="0" y="0"/>
            <a:chExt cx="8446262" cy="1301750"/>
          </a:xfrm>
        </p:grpSpPr>
        <p:sp>
          <p:nvSpPr>
            <p:cNvPr id="288" name="Google Shape;288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4"/>
          <p:cNvGrpSpPr/>
          <p:nvPr/>
        </p:nvGrpSpPr>
        <p:grpSpPr>
          <a:xfrm>
            <a:off x="5394960" y="4517993"/>
            <a:ext cx="6089904" cy="986695"/>
            <a:chOff x="0" y="-47625"/>
            <a:chExt cx="8119872" cy="1315593"/>
          </a:xfrm>
        </p:grpSpPr>
        <p:sp>
          <p:nvSpPr>
            <p:cNvPr id="291" name="Google Shape;291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Usually 1 cycle each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4"/>
          <p:cNvGrpSpPr/>
          <p:nvPr/>
        </p:nvGrpSpPr>
        <p:grpSpPr>
          <a:xfrm>
            <a:off x="11691623" y="4541015"/>
            <a:ext cx="6334696" cy="976312"/>
            <a:chOff x="0" y="0"/>
            <a:chExt cx="8446262" cy="1301750"/>
          </a:xfrm>
        </p:grpSpPr>
        <p:sp>
          <p:nvSpPr>
            <p:cNvPr id="294" name="Google Shape;294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8E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4"/>
          <p:cNvGrpSpPr/>
          <p:nvPr/>
        </p:nvGrpSpPr>
        <p:grpSpPr>
          <a:xfrm>
            <a:off x="11887200" y="4517993"/>
            <a:ext cx="6089904" cy="986695"/>
            <a:chOff x="0" y="-47625"/>
            <a:chExt cx="8119872" cy="1315593"/>
          </a:xfrm>
        </p:grpSpPr>
        <p:sp>
          <p:nvSpPr>
            <p:cNvPr id="297" name="Google Shape;297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1 to many cycles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4"/>
          <p:cNvGrpSpPr/>
          <p:nvPr/>
        </p:nvGrpSpPr>
        <p:grpSpPr>
          <a:xfrm>
            <a:off x="627383" y="5491991"/>
            <a:ext cx="4414456" cy="976312"/>
            <a:chOff x="0" y="0"/>
            <a:chExt cx="5885942" cy="1301750"/>
          </a:xfrm>
        </p:grpSpPr>
        <p:sp>
          <p:nvSpPr>
            <p:cNvPr id="300" name="Google Shape;300;p4"/>
            <p:cNvSpPr/>
            <p:nvPr/>
          </p:nvSpPr>
          <p:spPr>
            <a:xfrm>
              <a:off x="16891" y="16891"/>
              <a:ext cx="5852160" cy="1267968"/>
            </a:xfrm>
            <a:custGeom>
              <a:avLst/>
              <a:gdLst/>
              <a:ahLst/>
              <a:cxnLst/>
              <a:rect l="l" t="t" r="r" b="b"/>
              <a:pathLst>
                <a:path w="5852160" h="1267968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0" y="0"/>
              <a:ext cx="5885942" cy="1301750"/>
            </a:xfrm>
            <a:custGeom>
              <a:avLst/>
              <a:gdLst/>
              <a:ahLst/>
              <a:cxnLst/>
              <a:rect l="l" t="t" r="r" b="b"/>
              <a:pathLst>
                <a:path w="5885942" h="1301750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284859"/>
                  </a:lnTo>
                  <a:cubicBezTo>
                    <a:pt x="5885942" y="1294257"/>
                    <a:pt x="5878322" y="1301750"/>
                    <a:pt x="58690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869051" y="1267968"/>
                  </a:lnTo>
                  <a:lnTo>
                    <a:pt x="5869051" y="1284859"/>
                  </a:lnTo>
                  <a:lnTo>
                    <a:pt x="5852160" y="128485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4"/>
          <p:cNvGrpSpPr/>
          <p:nvPr/>
        </p:nvGrpSpPr>
        <p:grpSpPr>
          <a:xfrm>
            <a:off x="822960" y="5468969"/>
            <a:ext cx="4169664" cy="986695"/>
            <a:chOff x="0" y="-47625"/>
            <a:chExt cx="5559552" cy="1315593"/>
          </a:xfrm>
        </p:grpSpPr>
        <p:sp>
          <p:nvSpPr>
            <p:cNvPr id="303" name="Google Shape;303;p4"/>
            <p:cNvSpPr/>
            <p:nvPr/>
          </p:nvSpPr>
          <p:spPr>
            <a:xfrm>
              <a:off x="0" y="0"/>
              <a:ext cx="5559552" cy="1267968"/>
            </a:xfrm>
            <a:custGeom>
              <a:avLst/>
              <a:gdLst/>
              <a:ahLst/>
              <a:cxnLst/>
              <a:rect l="l" t="t" r="r" b="b"/>
              <a:pathLst>
                <a:path w="5559552" h="1267968" extrusionOk="0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5435" b="-354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4"/>
            <p:cNvSpPr txBox="1"/>
            <p:nvPr/>
          </p:nvSpPr>
          <p:spPr>
            <a:xfrm>
              <a:off x="0" y="-47625"/>
              <a:ext cx="555955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Memory access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4"/>
          <p:cNvGrpSpPr/>
          <p:nvPr/>
        </p:nvGrpSpPr>
        <p:grpSpPr>
          <a:xfrm>
            <a:off x="5199383" y="5491991"/>
            <a:ext cx="6334696" cy="976312"/>
            <a:chOff x="0" y="0"/>
            <a:chExt cx="8446262" cy="1301750"/>
          </a:xfrm>
        </p:grpSpPr>
        <p:sp>
          <p:nvSpPr>
            <p:cNvPr id="306" name="Google Shape;306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A0CCDA">
                <a:alpha val="4039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CCDA">
                <a:alpha val="4039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4"/>
          <p:cNvGrpSpPr/>
          <p:nvPr/>
        </p:nvGrpSpPr>
        <p:grpSpPr>
          <a:xfrm>
            <a:off x="5394960" y="5468969"/>
            <a:ext cx="6089904" cy="986695"/>
            <a:chOff x="0" y="-47625"/>
            <a:chExt cx="8119872" cy="1315593"/>
          </a:xfrm>
        </p:grpSpPr>
        <p:sp>
          <p:nvSpPr>
            <p:cNvPr id="309" name="Google Shape;309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Load/store model only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4"/>
          <p:cNvGrpSpPr/>
          <p:nvPr/>
        </p:nvGrpSpPr>
        <p:grpSpPr>
          <a:xfrm>
            <a:off x="11691623" y="5491991"/>
            <a:ext cx="6334696" cy="976312"/>
            <a:chOff x="0" y="0"/>
            <a:chExt cx="8446262" cy="1301750"/>
          </a:xfrm>
        </p:grpSpPr>
        <p:sp>
          <p:nvSpPr>
            <p:cNvPr id="312" name="Google Shape;312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D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4"/>
          <p:cNvGrpSpPr/>
          <p:nvPr/>
        </p:nvGrpSpPr>
        <p:grpSpPr>
          <a:xfrm>
            <a:off x="11887200" y="5468969"/>
            <a:ext cx="6089904" cy="986695"/>
            <a:chOff x="0" y="-47625"/>
            <a:chExt cx="8119872" cy="1315593"/>
          </a:xfrm>
        </p:grpSpPr>
        <p:sp>
          <p:nvSpPr>
            <p:cNvPr id="315" name="Google Shape;315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Any instruction can access memory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4"/>
          <p:cNvGrpSpPr/>
          <p:nvPr/>
        </p:nvGrpSpPr>
        <p:grpSpPr>
          <a:xfrm>
            <a:off x="627383" y="6442967"/>
            <a:ext cx="4414456" cy="976312"/>
            <a:chOff x="0" y="0"/>
            <a:chExt cx="5885942" cy="1301750"/>
          </a:xfrm>
        </p:grpSpPr>
        <p:sp>
          <p:nvSpPr>
            <p:cNvPr id="318" name="Google Shape;318;p4"/>
            <p:cNvSpPr/>
            <p:nvPr/>
          </p:nvSpPr>
          <p:spPr>
            <a:xfrm>
              <a:off x="16891" y="16891"/>
              <a:ext cx="5852160" cy="1267968"/>
            </a:xfrm>
            <a:custGeom>
              <a:avLst/>
              <a:gdLst/>
              <a:ahLst/>
              <a:cxnLst/>
              <a:rect l="l" t="t" r="r" b="b"/>
              <a:pathLst>
                <a:path w="5852160" h="1267968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0" y="0"/>
              <a:ext cx="5885942" cy="1301750"/>
            </a:xfrm>
            <a:custGeom>
              <a:avLst/>
              <a:gdLst/>
              <a:ahLst/>
              <a:cxnLst/>
              <a:rect l="l" t="t" r="r" b="b"/>
              <a:pathLst>
                <a:path w="5885942" h="1301750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284859"/>
                  </a:lnTo>
                  <a:cubicBezTo>
                    <a:pt x="5885942" y="1294257"/>
                    <a:pt x="5878322" y="1301750"/>
                    <a:pt x="58690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869051" y="1267968"/>
                  </a:lnTo>
                  <a:lnTo>
                    <a:pt x="5869051" y="1284859"/>
                  </a:lnTo>
                  <a:lnTo>
                    <a:pt x="5852160" y="128485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4"/>
          <p:cNvGrpSpPr/>
          <p:nvPr/>
        </p:nvGrpSpPr>
        <p:grpSpPr>
          <a:xfrm>
            <a:off x="822960" y="6419945"/>
            <a:ext cx="4169664" cy="986695"/>
            <a:chOff x="0" y="-47625"/>
            <a:chExt cx="5559552" cy="1315593"/>
          </a:xfrm>
        </p:grpSpPr>
        <p:sp>
          <p:nvSpPr>
            <p:cNvPr id="321" name="Google Shape;321;p4"/>
            <p:cNvSpPr/>
            <p:nvPr/>
          </p:nvSpPr>
          <p:spPr>
            <a:xfrm>
              <a:off x="0" y="0"/>
              <a:ext cx="5559552" cy="1267968"/>
            </a:xfrm>
            <a:custGeom>
              <a:avLst/>
              <a:gdLst/>
              <a:ahLst/>
              <a:cxnLst/>
              <a:rect l="l" t="t" r="r" b="b"/>
              <a:pathLst>
                <a:path w="5559552" h="1267968" extrusionOk="0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5435" b="-354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4"/>
            <p:cNvSpPr txBox="1"/>
            <p:nvPr/>
          </p:nvSpPr>
          <p:spPr>
            <a:xfrm>
              <a:off x="0" y="-47625"/>
              <a:ext cx="555955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Hardware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4"/>
          <p:cNvGrpSpPr/>
          <p:nvPr/>
        </p:nvGrpSpPr>
        <p:grpSpPr>
          <a:xfrm>
            <a:off x="5199383" y="6442967"/>
            <a:ext cx="6334696" cy="976312"/>
            <a:chOff x="0" y="0"/>
            <a:chExt cx="8446262" cy="1301750"/>
          </a:xfrm>
        </p:grpSpPr>
        <p:sp>
          <p:nvSpPr>
            <p:cNvPr id="324" name="Google Shape;324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4"/>
          <p:cNvGrpSpPr/>
          <p:nvPr/>
        </p:nvGrpSpPr>
        <p:grpSpPr>
          <a:xfrm>
            <a:off x="5394960" y="6419945"/>
            <a:ext cx="6089904" cy="986695"/>
            <a:chOff x="0" y="-47625"/>
            <a:chExt cx="8119872" cy="1315593"/>
          </a:xfrm>
        </p:grpSpPr>
        <p:sp>
          <p:nvSpPr>
            <p:cNvPr id="327" name="Google Shape;327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Simple, smaller chip area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4"/>
          <p:cNvGrpSpPr/>
          <p:nvPr/>
        </p:nvGrpSpPr>
        <p:grpSpPr>
          <a:xfrm>
            <a:off x="11691623" y="6442967"/>
            <a:ext cx="6334696" cy="976312"/>
            <a:chOff x="0" y="0"/>
            <a:chExt cx="8446262" cy="1301750"/>
          </a:xfrm>
        </p:grpSpPr>
        <p:sp>
          <p:nvSpPr>
            <p:cNvPr id="330" name="Google Shape;330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8E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4"/>
          <p:cNvGrpSpPr/>
          <p:nvPr/>
        </p:nvGrpSpPr>
        <p:grpSpPr>
          <a:xfrm>
            <a:off x="11887200" y="6419945"/>
            <a:ext cx="6089904" cy="986695"/>
            <a:chOff x="0" y="-47625"/>
            <a:chExt cx="8119872" cy="1315593"/>
          </a:xfrm>
        </p:grpSpPr>
        <p:sp>
          <p:nvSpPr>
            <p:cNvPr id="333" name="Google Shape;333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Complex decoder circuitry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4"/>
          <p:cNvGrpSpPr/>
          <p:nvPr/>
        </p:nvGrpSpPr>
        <p:grpSpPr>
          <a:xfrm>
            <a:off x="627383" y="7393943"/>
            <a:ext cx="4414456" cy="976312"/>
            <a:chOff x="0" y="0"/>
            <a:chExt cx="5885942" cy="1301750"/>
          </a:xfrm>
        </p:grpSpPr>
        <p:sp>
          <p:nvSpPr>
            <p:cNvPr id="336" name="Google Shape;336;p4"/>
            <p:cNvSpPr/>
            <p:nvPr/>
          </p:nvSpPr>
          <p:spPr>
            <a:xfrm>
              <a:off x="16891" y="16891"/>
              <a:ext cx="5852160" cy="1267968"/>
            </a:xfrm>
            <a:custGeom>
              <a:avLst/>
              <a:gdLst/>
              <a:ahLst/>
              <a:cxnLst/>
              <a:rect l="l" t="t" r="r" b="b"/>
              <a:pathLst>
                <a:path w="5852160" h="1267968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0" y="0"/>
              <a:ext cx="5885942" cy="1301750"/>
            </a:xfrm>
            <a:custGeom>
              <a:avLst/>
              <a:gdLst/>
              <a:ahLst/>
              <a:cxnLst/>
              <a:rect l="l" t="t" r="r" b="b"/>
              <a:pathLst>
                <a:path w="5885942" h="1301750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284859"/>
                  </a:lnTo>
                  <a:cubicBezTo>
                    <a:pt x="5885942" y="1294257"/>
                    <a:pt x="5878322" y="1301750"/>
                    <a:pt x="58690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869051" y="1267968"/>
                  </a:lnTo>
                  <a:lnTo>
                    <a:pt x="5869051" y="1284859"/>
                  </a:lnTo>
                  <a:lnTo>
                    <a:pt x="5852160" y="128485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4"/>
          <p:cNvGrpSpPr/>
          <p:nvPr/>
        </p:nvGrpSpPr>
        <p:grpSpPr>
          <a:xfrm>
            <a:off x="822960" y="7370921"/>
            <a:ext cx="4169664" cy="986695"/>
            <a:chOff x="0" y="-47625"/>
            <a:chExt cx="5559552" cy="1315593"/>
          </a:xfrm>
        </p:grpSpPr>
        <p:sp>
          <p:nvSpPr>
            <p:cNvPr id="339" name="Google Shape;339;p4"/>
            <p:cNvSpPr/>
            <p:nvPr/>
          </p:nvSpPr>
          <p:spPr>
            <a:xfrm>
              <a:off x="0" y="0"/>
              <a:ext cx="5559552" cy="1267968"/>
            </a:xfrm>
            <a:custGeom>
              <a:avLst/>
              <a:gdLst/>
              <a:ahLst/>
              <a:cxnLst/>
              <a:rect l="l" t="t" r="r" b="b"/>
              <a:pathLst>
                <a:path w="5559552" h="1267968" extrusionOk="0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5435" b="-354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4"/>
            <p:cNvSpPr txBox="1"/>
            <p:nvPr/>
          </p:nvSpPr>
          <p:spPr>
            <a:xfrm>
              <a:off x="0" y="-47625"/>
              <a:ext cx="555955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Examples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p4"/>
          <p:cNvGrpSpPr/>
          <p:nvPr/>
        </p:nvGrpSpPr>
        <p:grpSpPr>
          <a:xfrm>
            <a:off x="5199383" y="7393943"/>
            <a:ext cx="6334696" cy="976312"/>
            <a:chOff x="0" y="0"/>
            <a:chExt cx="8446262" cy="1301750"/>
          </a:xfrm>
        </p:grpSpPr>
        <p:sp>
          <p:nvSpPr>
            <p:cNvPr id="342" name="Google Shape;342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A0CCDA">
                <a:alpha val="4039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CCDA">
                <a:alpha val="4039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4"/>
          <p:cNvGrpSpPr/>
          <p:nvPr/>
        </p:nvGrpSpPr>
        <p:grpSpPr>
          <a:xfrm>
            <a:off x="5394960" y="7370921"/>
            <a:ext cx="6089904" cy="986695"/>
            <a:chOff x="0" y="-47625"/>
            <a:chExt cx="8119872" cy="1315593"/>
          </a:xfrm>
        </p:grpSpPr>
        <p:sp>
          <p:nvSpPr>
            <p:cNvPr id="345" name="Google Shape;345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ARM, MIPS, RISC-V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4"/>
          <p:cNvGrpSpPr/>
          <p:nvPr/>
        </p:nvGrpSpPr>
        <p:grpSpPr>
          <a:xfrm>
            <a:off x="11691623" y="7393943"/>
            <a:ext cx="6334696" cy="976312"/>
            <a:chOff x="0" y="0"/>
            <a:chExt cx="8446262" cy="1301750"/>
          </a:xfrm>
        </p:grpSpPr>
        <p:sp>
          <p:nvSpPr>
            <p:cNvPr id="348" name="Google Shape;348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D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4"/>
          <p:cNvGrpSpPr/>
          <p:nvPr/>
        </p:nvGrpSpPr>
        <p:grpSpPr>
          <a:xfrm>
            <a:off x="11887200" y="7370921"/>
            <a:ext cx="6089904" cy="986695"/>
            <a:chOff x="0" y="-47625"/>
            <a:chExt cx="8119872" cy="1315593"/>
          </a:xfrm>
        </p:grpSpPr>
        <p:sp>
          <p:nvSpPr>
            <p:cNvPr id="351" name="Google Shape;351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x86, x86-64 (Intel/AMD)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4"/>
          <p:cNvGrpSpPr/>
          <p:nvPr/>
        </p:nvGrpSpPr>
        <p:grpSpPr>
          <a:xfrm>
            <a:off x="627383" y="8344919"/>
            <a:ext cx="4414456" cy="976312"/>
            <a:chOff x="0" y="0"/>
            <a:chExt cx="5885942" cy="1301750"/>
          </a:xfrm>
        </p:grpSpPr>
        <p:sp>
          <p:nvSpPr>
            <p:cNvPr id="354" name="Google Shape;354;p4"/>
            <p:cNvSpPr/>
            <p:nvPr/>
          </p:nvSpPr>
          <p:spPr>
            <a:xfrm>
              <a:off x="16891" y="16891"/>
              <a:ext cx="5852160" cy="1267968"/>
            </a:xfrm>
            <a:custGeom>
              <a:avLst/>
              <a:gdLst/>
              <a:ahLst/>
              <a:cxnLst/>
              <a:rect l="l" t="t" r="r" b="b"/>
              <a:pathLst>
                <a:path w="5852160" h="1267968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0" y="0"/>
              <a:ext cx="5885942" cy="1301750"/>
            </a:xfrm>
            <a:custGeom>
              <a:avLst/>
              <a:gdLst/>
              <a:ahLst/>
              <a:cxnLst/>
              <a:rect l="l" t="t" r="r" b="b"/>
              <a:pathLst>
                <a:path w="5885942" h="1301750" extrusionOk="0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284859"/>
                  </a:lnTo>
                  <a:cubicBezTo>
                    <a:pt x="5885942" y="1294257"/>
                    <a:pt x="5878322" y="1301750"/>
                    <a:pt x="58690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869051" y="1267968"/>
                  </a:lnTo>
                  <a:lnTo>
                    <a:pt x="5869051" y="1284859"/>
                  </a:lnTo>
                  <a:lnTo>
                    <a:pt x="5852160" y="128485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4"/>
          <p:cNvGrpSpPr/>
          <p:nvPr/>
        </p:nvGrpSpPr>
        <p:grpSpPr>
          <a:xfrm>
            <a:off x="822960" y="8321897"/>
            <a:ext cx="4169664" cy="986695"/>
            <a:chOff x="0" y="-47625"/>
            <a:chExt cx="5559552" cy="1315593"/>
          </a:xfrm>
        </p:grpSpPr>
        <p:sp>
          <p:nvSpPr>
            <p:cNvPr id="357" name="Google Shape;357;p4"/>
            <p:cNvSpPr/>
            <p:nvPr/>
          </p:nvSpPr>
          <p:spPr>
            <a:xfrm>
              <a:off x="0" y="0"/>
              <a:ext cx="5559552" cy="1267968"/>
            </a:xfrm>
            <a:custGeom>
              <a:avLst/>
              <a:gdLst/>
              <a:ahLst/>
              <a:cxnLst/>
              <a:rect l="l" t="t" r="r" b="b"/>
              <a:pathLst>
                <a:path w="5559552" h="1267968" extrusionOk="0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5435" b="-354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4"/>
            <p:cNvSpPr txBox="1"/>
            <p:nvPr/>
          </p:nvSpPr>
          <p:spPr>
            <a:xfrm>
              <a:off x="0" y="-47625"/>
              <a:ext cx="555955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Best for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4"/>
          <p:cNvGrpSpPr/>
          <p:nvPr/>
        </p:nvGrpSpPr>
        <p:grpSpPr>
          <a:xfrm>
            <a:off x="5199383" y="8344919"/>
            <a:ext cx="6334696" cy="976312"/>
            <a:chOff x="0" y="0"/>
            <a:chExt cx="8446262" cy="1301750"/>
          </a:xfrm>
        </p:grpSpPr>
        <p:sp>
          <p:nvSpPr>
            <p:cNvPr id="360" name="Google Shape;360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CCDA">
                <a:alpha val="7058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4"/>
          <p:cNvGrpSpPr/>
          <p:nvPr/>
        </p:nvGrpSpPr>
        <p:grpSpPr>
          <a:xfrm>
            <a:off x="5394960" y="8321897"/>
            <a:ext cx="6089904" cy="986695"/>
            <a:chOff x="0" y="-47625"/>
            <a:chExt cx="8119872" cy="1315593"/>
          </a:xfrm>
        </p:grpSpPr>
        <p:sp>
          <p:nvSpPr>
            <p:cNvPr id="363" name="Google Shape;363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Embedded, mobile, efficiency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4"/>
          <p:cNvGrpSpPr/>
          <p:nvPr/>
        </p:nvGrpSpPr>
        <p:grpSpPr>
          <a:xfrm>
            <a:off x="11691623" y="8344919"/>
            <a:ext cx="6334696" cy="976312"/>
            <a:chOff x="0" y="0"/>
            <a:chExt cx="8446262" cy="1301750"/>
          </a:xfrm>
        </p:grpSpPr>
        <p:sp>
          <p:nvSpPr>
            <p:cNvPr id="366" name="Google Shape;366;p4"/>
            <p:cNvSpPr/>
            <p:nvPr/>
          </p:nvSpPr>
          <p:spPr>
            <a:xfrm>
              <a:off x="16891" y="16891"/>
              <a:ext cx="8412481" cy="1267968"/>
            </a:xfrm>
            <a:custGeom>
              <a:avLst/>
              <a:gdLst/>
              <a:ahLst/>
              <a:cxnLst/>
              <a:rect l="l" t="t" r="r" b="b"/>
              <a:pathLst>
                <a:path w="8412481" h="1267968" extrusionOk="0">
                  <a:moveTo>
                    <a:pt x="0" y="0"/>
                  </a:moveTo>
                  <a:lnTo>
                    <a:pt x="8412481" y="0"/>
                  </a:lnTo>
                  <a:lnTo>
                    <a:pt x="84124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8E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0" y="0"/>
              <a:ext cx="8446262" cy="1301750"/>
            </a:xfrm>
            <a:custGeom>
              <a:avLst/>
              <a:gdLst/>
              <a:ahLst/>
              <a:cxnLst/>
              <a:rect l="l" t="t" r="r" b="b"/>
              <a:pathLst>
                <a:path w="8446262" h="1301750" extrusionOk="0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284859"/>
                  </a:lnTo>
                  <a:cubicBezTo>
                    <a:pt x="8446262" y="1294257"/>
                    <a:pt x="8438642" y="1301750"/>
                    <a:pt x="8429372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8429372" y="1267968"/>
                  </a:lnTo>
                  <a:lnTo>
                    <a:pt x="8429372" y="1284859"/>
                  </a:lnTo>
                  <a:lnTo>
                    <a:pt x="8412480" y="1284859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4"/>
          <p:cNvGrpSpPr/>
          <p:nvPr/>
        </p:nvGrpSpPr>
        <p:grpSpPr>
          <a:xfrm>
            <a:off x="11887200" y="8321897"/>
            <a:ext cx="6089904" cy="986695"/>
            <a:chOff x="0" y="-47625"/>
            <a:chExt cx="8119872" cy="1315593"/>
          </a:xfrm>
        </p:grpSpPr>
        <p:sp>
          <p:nvSpPr>
            <p:cNvPr id="369" name="Google Shape;369;p4"/>
            <p:cNvSpPr/>
            <p:nvPr/>
          </p:nvSpPr>
          <p:spPr>
            <a:xfrm>
              <a:off x="0" y="0"/>
              <a:ext cx="8119872" cy="1267968"/>
            </a:xfrm>
            <a:custGeom>
              <a:avLst/>
              <a:gdLst/>
              <a:ahLst/>
              <a:cxnLst/>
              <a:rect l="l" t="t" r="r" b="b"/>
              <a:pathLst>
                <a:path w="8119872" h="1267968" extrusionOk="0">
                  <a:moveTo>
                    <a:pt x="0" y="0"/>
                  </a:moveTo>
                  <a:lnTo>
                    <a:pt x="8119872" y="0"/>
                  </a:lnTo>
                  <a:lnTo>
                    <a:pt x="8119872" y="1267968"/>
                  </a:lnTo>
                  <a:lnTo>
                    <a:pt x="0" y="12679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4782" b="-7478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4"/>
            <p:cNvSpPr txBox="1"/>
            <p:nvPr/>
          </p:nvSpPr>
          <p:spPr>
            <a:xfrm>
              <a:off x="0" y="-47625"/>
              <a:ext cx="8119872" cy="1315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Legacy desktop apps, x86 ecosystem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"/>
          <p:cNvSpPr txBox="1"/>
          <p:nvPr/>
        </p:nvSpPr>
        <p:spPr>
          <a:xfrm>
            <a:off x="906782" y="1288663"/>
            <a:ext cx="16459200" cy="102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RISC-V </a:t>
            </a:r>
            <a:r>
              <a:rPr lang="en-US" sz="4800" b="1"/>
              <a:t>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"/>
          <p:cNvSpPr/>
          <p:nvPr/>
        </p:nvSpPr>
        <p:spPr>
          <a:xfrm>
            <a:off x="906775" y="2890100"/>
            <a:ext cx="15460200" cy="1230000"/>
          </a:xfrm>
          <a:prstGeom prst="rect">
            <a:avLst/>
          </a:prstGeom>
          <a:solidFill>
            <a:srgbClr val="FFFFFF"/>
          </a:solidFill>
          <a:ln w="21100" cap="flat" cmpd="sng">
            <a:solidFill>
              <a:srgbClr val="E8F0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906775" y="2890100"/>
            <a:ext cx="2713800" cy="123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989012" y="2890100"/>
            <a:ext cx="25491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6"/>
              <a:buFont typeface="Calibri"/>
              <a:buNone/>
            </a:pPr>
            <a:r>
              <a:rPr lang="en-US" sz="1826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Born</a:t>
            </a:r>
            <a:endParaRPr sz="182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5"/>
          <p:cNvSpPr/>
          <p:nvPr/>
        </p:nvSpPr>
        <p:spPr>
          <a:xfrm>
            <a:off x="3867304" y="2890100"/>
            <a:ext cx="121710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992"/>
              <a:buFont typeface="Calibri"/>
              <a:buNone/>
            </a:pPr>
            <a:r>
              <a:rPr lang="en-US" sz="1992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UC Berkeley, 2010 — free, open, royalty-free ISA</a:t>
            </a:r>
            <a:endParaRPr sz="19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5"/>
          <p:cNvSpPr/>
          <p:nvPr/>
        </p:nvSpPr>
        <p:spPr>
          <a:xfrm>
            <a:off x="906775" y="4343506"/>
            <a:ext cx="15460200" cy="1230000"/>
          </a:xfrm>
          <a:prstGeom prst="rect">
            <a:avLst/>
          </a:prstGeom>
          <a:solidFill>
            <a:srgbClr val="DAEAF7">
              <a:alpha val="65100"/>
            </a:srgbClr>
          </a:solidFill>
          <a:ln w="21100" cap="flat" cmpd="sng">
            <a:solidFill>
              <a:srgbClr val="E8F0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906775" y="4343506"/>
            <a:ext cx="2713800" cy="123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5"/>
          <p:cNvSpPr/>
          <p:nvPr/>
        </p:nvSpPr>
        <p:spPr>
          <a:xfrm>
            <a:off x="989012" y="4343506"/>
            <a:ext cx="25491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6"/>
              <a:buFont typeface="Calibri"/>
              <a:buNone/>
            </a:pPr>
            <a:r>
              <a:rPr lang="en-US" sz="1826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ISA</a:t>
            </a:r>
            <a:endParaRPr sz="182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"/>
          <p:cNvSpPr/>
          <p:nvPr/>
        </p:nvSpPr>
        <p:spPr>
          <a:xfrm>
            <a:off x="3867304" y="4343506"/>
            <a:ext cx="121710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992"/>
              <a:buFont typeface="Calibri"/>
              <a:buNone/>
            </a:pPr>
            <a:r>
              <a:rPr lang="en-US" sz="1992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RV32I / RV64I — fixed 32-bit instructions</a:t>
            </a:r>
            <a:endParaRPr sz="19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"/>
          <p:cNvSpPr/>
          <p:nvPr/>
        </p:nvSpPr>
        <p:spPr>
          <a:xfrm>
            <a:off x="906775" y="5796913"/>
            <a:ext cx="15460200" cy="1230000"/>
          </a:xfrm>
          <a:prstGeom prst="rect">
            <a:avLst/>
          </a:prstGeom>
          <a:noFill/>
          <a:ln w="21100" cap="flat" cmpd="sng">
            <a:solidFill>
              <a:srgbClr val="E8F0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906775" y="5796913"/>
            <a:ext cx="2713800" cy="123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5"/>
          <p:cNvSpPr/>
          <p:nvPr/>
        </p:nvSpPr>
        <p:spPr>
          <a:xfrm>
            <a:off x="989012" y="5796913"/>
            <a:ext cx="25491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6"/>
              <a:buFont typeface="Calibri"/>
              <a:buNone/>
            </a:pPr>
            <a:r>
              <a:rPr lang="en-US" sz="1826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</a:t>
            </a:r>
            <a:endParaRPr sz="1826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"/>
          <p:cNvSpPr/>
          <p:nvPr/>
        </p:nvSpPr>
        <p:spPr>
          <a:xfrm>
            <a:off x="3867304" y="5796913"/>
            <a:ext cx="121710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992"/>
              <a:buFont typeface="Calibri"/>
              <a:buNone/>
            </a:pPr>
            <a:r>
              <a:rPr lang="en-US" sz="1992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Optional extensions: M (mul), F (float), V (vector)…</a:t>
            </a:r>
            <a:endParaRPr sz="19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"/>
          <p:cNvSpPr/>
          <p:nvPr/>
        </p:nvSpPr>
        <p:spPr>
          <a:xfrm>
            <a:off x="906775" y="7250319"/>
            <a:ext cx="15460200" cy="1230000"/>
          </a:xfrm>
          <a:prstGeom prst="rect">
            <a:avLst/>
          </a:prstGeom>
          <a:solidFill>
            <a:srgbClr val="DAEAF7">
              <a:alpha val="65100"/>
            </a:srgbClr>
          </a:solidFill>
          <a:ln w="21100" cap="flat" cmpd="sng">
            <a:solidFill>
              <a:srgbClr val="E8F0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906775" y="7250319"/>
            <a:ext cx="2713800" cy="123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989012" y="7250319"/>
            <a:ext cx="25491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6"/>
              <a:buFont typeface="Calibri"/>
              <a:buNone/>
            </a:pPr>
            <a:r>
              <a:rPr lang="en-US" sz="1826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Governed</a:t>
            </a:r>
            <a:endParaRPr sz="182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3867304" y="7250319"/>
            <a:ext cx="121710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992"/>
              <a:buFont typeface="Calibri"/>
              <a:buNone/>
            </a:pPr>
            <a:r>
              <a:rPr lang="en-US" sz="1992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RISC-V International — non-profit standards body</a:t>
            </a:r>
            <a:endParaRPr sz="19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"/>
          <p:cNvSpPr/>
          <p:nvPr/>
        </p:nvSpPr>
        <p:spPr>
          <a:xfrm>
            <a:off x="906775" y="8703725"/>
            <a:ext cx="15460200" cy="1230000"/>
          </a:xfrm>
          <a:prstGeom prst="rect">
            <a:avLst/>
          </a:prstGeom>
          <a:solidFill>
            <a:srgbClr val="FFFFFF"/>
          </a:solidFill>
          <a:ln w="21100" cap="flat" cmpd="sng">
            <a:solidFill>
              <a:srgbClr val="E8F0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906775" y="8703725"/>
            <a:ext cx="2713800" cy="123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51750" tIns="151750" rIns="151750" bIns="15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989012" y="8703725"/>
            <a:ext cx="25491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6"/>
              <a:buFont typeface="Calibri"/>
              <a:buNone/>
            </a:pPr>
            <a:r>
              <a:rPr lang="en-US" sz="1826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</a:t>
            </a:r>
            <a:endParaRPr sz="182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3867304" y="8703725"/>
            <a:ext cx="12171000" cy="1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992"/>
              <a:buFont typeface="Calibri"/>
              <a:buNone/>
            </a:pPr>
            <a:r>
              <a:rPr lang="en-US" sz="1992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PicoRV32 — minimal RV32I in ~3100 lines of Verilog</a:t>
            </a:r>
            <a:endParaRPr sz="199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989000" y="2115500"/>
            <a:ext cx="127884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200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Open-Source ISA — Origin &amp; Ecosystem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6a01a83d9_0_169"/>
          <p:cNvSpPr/>
          <p:nvPr/>
        </p:nvSpPr>
        <p:spPr>
          <a:xfrm>
            <a:off x="140550" y="1143363"/>
            <a:ext cx="18006900" cy="13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60"/>
          </a:p>
        </p:txBody>
      </p:sp>
      <p:sp>
        <p:nvSpPr>
          <p:cNvPr id="407" name="Google Shape;407;g3e6a01a83d9_0_169"/>
          <p:cNvSpPr/>
          <p:nvPr/>
        </p:nvSpPr>
        <p:spPr>
          <a:xfrm>
            <a:off x="680757" y="991238"/>
            <a:ext cx="16746000" cy="13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7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PicoRV32 — The CPU in This Project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6a01a83d9_0_169"/>
          <p:cNvSpPr/>
          <p:nvPr/>
        </p:nvSpPr>
        <p:spPr>
          <a:xfrm>
            <a:off x="771007" y="2223386"/>
            <a:ext cx="162063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45"/>
              <a:buFont typeface="Calibri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File: rtl/picorv32.v  (~3100 lines of pure Verilog RTL)   ·   ISA: RV32I — complete base integer instruction set only</a:t>
            </a:r>
            <a:endParaRPr sz="20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6a01a83d9_0_169"/>
          <p:cNvSpPr/>
          <p:nvPr/>
        </p:nvSpPr>
        <p:spPr>
          <a:xfrm>
            <a:off x="537800" y="3158075"/>
            <a:ext cx="3601500" cy="512100"/>
          </a:xfrm>
          <a:prstGeom prst="roundRect">
            <a:avLst>
              <a:gd name="adj" fmla="val 35714"/>
            </a:avLst>
          </a:prstGeom>
          <a:solidFill>
            <a:srgbClr val="7DD3FC"/>
          </a:solidFill>
          <a:ln>
            <a:noFill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0" name="Google Shape;410;g3e6a01a83d9_0_169"/>
          <p:cNvSpPr/>
          <p:nvPr/>
        </p:nvSpPr>
        <p:spPr>
          <a:xfrm>
            <a:off x="537800" y="3817181"/>
            <a:ext cx="10083900" cy="604200"/>
          </a:xfrm>
          <a:prstGeom prst="rect">
            <a:avLst/>
          </a:prstGeom>
          <a:noFill/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1" name="Google Shape;411;g3e6a01a83d9_0_169"/>
          <p:cNvSpPr/>
          <p:nvPr/>
        </p:nvSpPr>
        <p:spPr>
          <a:xfrm>
            <a:off x="627833" y="3817181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.ENABLE_COUNTERS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6a01a83d9_0_169"/>
          <p:cNvSpPr/>
          <p:nvPr/>
        </p:nvSpPr>
        <p:spPr>
          <a:xfrm>
            <a:off x="4643318" y="3817181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(1)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6a01a83d9_0_169"/>
          <p:cNvSpPr/>
          <p:nvPr/>
        </p:nvSpPr>
        <p:spPr>
          <a:xfrm>
            <a:off x="6876143" y="3817181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cycle/instret counters ON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6a01a83d9_0_169"/>
          <p:cNvSpPr/>
          <p:nvPr/>
        </p:nvSpPr>
        <p:spPr>
          <a:xfrm>
            <a:off x="537800" y="4457979"/>
            <a:ext cx="10083900" cy="604200"/>
          </a:xfrm>
          <a:prstGeom prst="rect">
            <a:avLst/>
          </a:prstGeom>
          <a:solidFill>
            <a:srgbClr val="E8F0FE">
              <a:alpha val="60000"/>
            </a:srgbClr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5" name="Google Shape;415;g3e6a01a83d9_0_169"/>
          <p:cNvSpPr/>
          <p:nvPr/>
        </p:nvSpPr>
        <p:spPr>
          <a:xfrm>
            <a:off x="627833" y="4457979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.ENABLE_REGS_16_31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6a01a83d9_0_169"/>
          <p:cNvSpPr/>
          <p:nvPr/>
        </p:nvSpPr>
        <p:spPr>
          <a:xfrm>
            <a:off x="4643318" y="4457979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(1)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e6a01a83d9_0_169"/>
          <p:cNvSpPr/>
          <p:nvPr/>
        </p:nvSpPr>
        <p:spPr>
          <a:xfrm>
            <a:off x="6876143" y="4457979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full 32-register file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e6a01a83d9_0_169"/>
          <p:cNvSpPr/>
          <p:nvPr/>
        </p:nvSpPr>
        <p:spPr>
          <a:xfrm>
            <a:off x="537800" y="5098776"/>
            <a:ext cx="10083900" cy="604200"/>
          </a:xfrm>
          <a:prstGeom prst="rect">
            <a:avLst/>
          </a:prstGeom>
          <a:noFill/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9" name="Google Shape;419;g3e6a01a83d9_0_169"/>
          <p:cNvSpPr/>
          <p:nvPr/>
        </p:nvSpPr>
        <p:spPr>
          <a:xfrm>
            <a:off x="627833" y="5098776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.ENABLE_MUL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6a01a83d9_0_169"/>
          <p:cNvSpPr/>
          <p:nvPr/>
        </p:nvSpPr>
        <p:spPr>
          <a:xfrm>
            <a:off x="4643318" y="5098776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(0)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e6a01a83d9_0_169"/>
          <p:cNvSpPr/>
          <p:nvPr/>
        </p:nvSpPr>
        <p:spPr>
          <a:xfrm>
            <a:off x="6876143" y="5098776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NO multiply (saves area)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6a01a83d9_0_169"/>
          <p:cNvSpPr/>
          <p:nvPr/>
        </p:nvSpPr>
        <p:spPr>
          <a:xfrm>
            <a:off x="537800" y="5739573"/>
            <a:ext cx="10083900" cy="604200"/>
          </a:xfrm>
          <a:prstGeom prst="rect">
            <a:avLst/>
          </a:prstGeom>
          <a:solidFill>
            <a:srgbClr val="E8F0FE">
              <a:alpha val="60000"/>
            </a:srgbClr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3" name="Google Shape;423;g3e6a01a83d9_0_169"/>
          <p:cNvSpPr/>
          <p:nvPr/>
        </p:nvSpPr>
        <p:spPr>
          <a:xfrm>
            <a:off x="627833" y="5739573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.ENABLE_DIV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e6a01a83d9_0_169"/>
          <p:cNvSpPr/>
          <p:nvPr/>
        </p:nvSpPr>
        <p:spPr>
          <a:xfrm>
            <a:off x="4643318" y="5739573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(0)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e6a01a83d9_0_169"/>
          <p:cNvSpPr/>
          <p:nvPr/>
        </p:nvSpPr>
        <p:spPr>
          <a:xfrm>
            <a:off x="6876143" y="5739573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NO divide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6a01a83d9_0_169"/>
          <p:cNvSpPr/>
          <p:nvPr/>
        </p:nvSpPr>
        <p:spPr>
          <a:xfrm>
            <a:off x="537800" y="6380371"/>
            <a:ext cx="10083900" cy="604200"/>
          </a:xfrm>
          <a:prstGeom prst="rect">
            <a:avLst/>
          </a:prstGeom>
          <a:noFill/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7" name="Google Shape;427;g3e6a01a83d9_0_169"/>
          <p:cNvSpPr/>
          <p:nvPr/>
        </p:nvSpPr>
        <p:spPr>
          <a:xfrm>
            <a:off x="627833" y="6380371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.COMPRESSED_ISA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6a01a83d9_0_169"/>
          <p:cNvSpPr/>
          <p:nvPr/>
        </p:nvSpPr>
        <p:spPr>
          <a:xfrm>
            <a:off x="4643318" y="6380371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(0)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6a01a83d9_0_169"/>
          <p:cNvSpPr/>
          <p:nvPr/>
        </p:nvSpPr>
        <p:spPr>
          <a:xfrm>
            <a:off x="6876143" y="6380371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NO 16-bit instructions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6a01a83d9_0_169"/>
          <p:cNvSpPr/>
          <p:nvPr/>
        </p:nvSpPr>
        <p:spPr>
          <a:xfrm>
            <a:off x="537800" y="7021168"/>
            <a:ext cx="10083900" cy="604200"/>
          </a:xfrm>
          <a:prstGeom prst="rect">
            <a:avLst/>
          </a:prstGeom>
          <a:solidFill>
            <a:srgbClr val="E8F0FE">
              <a:alpha val="60000"/>
            </a:srgbClr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1" name="Google Shape;431;g3e6a01a83d9_0_169"/>
          <p:cNvSpPr/>
          <p:nvPr/>
        </p:nvSpPr>
        <p:spPr>
          <a:xfrm>
            <a:off x="627833" y="7021168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.CATCH_ILLINSN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e6a01a83d9_0_169"/>
          <p:cNvSpPr/>
          <p:nvPr/>
        </p:nvSpPr>
        <p:spPr>
          <a:xfrm>
            <a:off x="4643318" y="7021168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(1)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6a01a83d9_0_169"/>
          <p:cNvSpPr/>
          <p:nvPr/>
        </p:nvSpPr>
        <p:spPr>
          <a:xfrm>
            <a:off x="6876143" y="7021168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trap on illegal instruction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6a01a83d9_0_169"/>
          <p:cNvSpPr/>
          <p:nvPr/>
        </p:nvSpPr>
        <p:spPr>
          <a:xfrm>
            <a:off x="537800" y="7661965"/>
            <a:ext cx="10083900" cy="604200"/>
          </a:xfrm>
          <a:prstGeom prst="rect">
            <a:avLst/>
          </a:prstGeom>
          <a:noFill/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5" name="Google Shape;435;g3e6a01a83d9_0_169"/>
          <p:cNvSpPr/>
          <p:nvPr/>
        </p:nvSpPr>
        <p:spPr>
          <a:xfrm>
            <a:off x="627833" y="7661965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.CATCH_MISALIGN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6a01a83d9_0_169"/>
          <p:cNvSpPr/>
          <p:nvPr/>
        </p:nvSpPr>
        <p:spPr>
          <a:xfrm>
            <a:off x="4643318" y="7661965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(1)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e6a01a83d9_0_169"/>
          <p:cNvSpPr/>
          <p:nvPr/>
        </p:nvSpPr>
        <p:spPr>
          <a:xfrm>
            <a:off x="6876143" y="7661965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trap on misaligned access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e6a01a83d9_0_169"/>
          <p:cNvSpPr/>
          <p:nvPr/>
        </p:nvSpPr>
        <p:spPr>
          <a:xfrm>
            <a:off x="537800" y="8302763"/>
            <a:ext cx="10083900" cy="604200"/>
          </a:xfrm>
          <a:prstGeom prst="rect">
            <a:avLst/>
          </a:prstGeom>
          <a:solidFill>
            <a:srgbClr val="E8F0FE">
              <a:alpha val="60000"/>
            </a:srgbClr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9" name="Google Shape;439;g3e6a01a83d9_0_169"/>
          <p:cNvSpPr/>
          <p:nvPr/>
        </p:nvSpPr>
        <p:spPr>
          <a:xfrm>
            <a:off x="627833" y="8302763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.PROGADDR_RESET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e6a01a83d9_0_169"/>
          <p:cNvSpPr/>
          <p:nvPr/>
        </p:nvSpPr>
        <p:spPr>
          <a:xfrm>
            <a:off x="4643318" y="8302763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(0x0000_0000)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e6a01a83d9_0_169"/>
          <p:cNvSpPr/>
          <p:nvPr/>
        </p:nvSpPr>
        <p:spPr>
          <a:xfrm>
            <a:off x="6876143" y="8302763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boot addr = ROM[0]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6a01a83d9_0_169"/>
          <p:cNvSpPr/>
          <p:nvPr/>
        </p:nvSpPr>
        <p:spPr>
          <a:xfrm>
            <a:off x="537800" y="8943560"/>
            <a:ext cx="10083900" cy="604200"/>
          </a:xfrm>
          <a:prstGeom prst="rect">
            <a:avLst/>
          </a:prstGeom>
          <a:solidFill>
            <a:srgbClr val="FFFFFF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3" name="Google Shape;443;g3e6a01a83d9_0_169"/>
          <p:cNvSpPr/>
          <p:nvPr/>
        </p:nvSpPr>
        <p:spPr>
          <a:xfrm>
            <a:off x="627833" y="8943560"/>
            <a:ext cx="396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.STACKADDR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e6a01a83d9_0_169"/>
          <p:cNvSpPr/>
          <p:nvPr/>
        </p:nvSpPr>
        <p:spPr>
          <a:xfrm>
            <a:off x="4643318" y="8943560"/>
            <a:ext cx="216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24"/>
              <a:buFont typeface="Consolas"/>
              <a:buNone/>
            </a:pPr>
            <a:r>
              <a:rPr lang="en-US" sz="1800" b="1" i="0" u="none" strike="noStrike" cap="none">
                <a:solidFill>
                  <a:srgbClr val="D32F2F"/>
                </a:solidFill>
                <a:latin typeface="Consolas"/>
                <a:ea typeface="Consolas"/>
                <a:cs typeface="Consolas"/>
                <a:sym typeface="Consolas"/>
              </a:rPr>
              <a:t>(0x0001_00FC)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e6a01a83d9_0_169"/>
          <p:cNvSpPr/>
          <p:nvPr/>
        </p:nvSpPr>
        <p:spPr>
          <a:xfrm>
            <a:off x="6876143" y="8943560"/>
            <a:ext cx="36015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51"/>
              <a:buFont typeface="Calibri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stack top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e6a01a83d9_0_169"/>
          <p:cNvSpPr/>
          <p:nvPr/>
        </p:nvSpPr>
        <p:spPr>
          <a:xfrm>
            <a:off x="11161728" y="3158075"/>
            <a:ext cx="3601500" cy="512100"/>
          </a:xfrm>
          <a:prstGeom prst="roundRect">
            <a:avLst>
              <a:gd name="adj" fmla="val 35714"/>
            </a:avLst>
          </a:prstGeom>
          <a:solidFill>
            <a:srgbClr val="7DD3FC"/>
          </a:solidFill>
          <a:ln>
            <a:noFill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7" name="Google Shape;447;g3e6a01a83d9_0_169"/>
          <p:cNvSpPr/>
          <p:nvPr/>
        </p:nvSpPr>
        <p:spPr>
          <a:xfrm>
            <a:off x="11161728" y="3817181"/>
            <a:ext cx="6302400" cy="604200"/>
          </a:xfrm>
          <a:prstGeom prst="rect">
            <a:avLst/>
          </a:prstGeom>
          <a:solidFill>
            <a:srgbClr val="FFFFFF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48" name="Google Shape;448;g3e6a01a83d9_0_169"/>
          <p:cNvSpPr/>
          <p:nvPr/>
        </p:nvSpPr>
        <p:spPr>
          <a:xfrm>
            <a:off x="11197741" y="3817181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3"/>
              <a:buFont typeface="Consolas"/>
              <a:buNone/>
            </a:pPr>
            <a:r>
              <a:rPr lang="en-US" sz="1600" b="1" i="0" u="none" strike="noStrike" cap="non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e6a01a83d9_0_169"/>
          <p:cNvSpPr/>
          <p:nvPr/>
        </p:nvSpPr>
        <p:spPr>
          <a:xfrm>
            <a:off x="12692294" y="3817181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mem_valid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e6a01a83d9_0_169"/>
          <p:cNvSpPr/>
          <p:nvPr/>
        </p:nvSpPr>
        <p:spPr>
          <a:xfrm>
            <a:off x="15949598" y="3877508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Request pending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6a01a83d9_0_169"/>
          <p:cNvSpPr/>
          <p:nvPr/>
        </p:nvSpPr>
        <p:spPr>
          <a:xfrm>
            <a:off x="11161728" y="4457979"/>
            <a:ext cx="6302400" cy="604200"/>
          </a:xfrm>
          <a:prstGeom prst="rect">
            <a:avLst/>
          </a:prstGeom>
          <a:solidFill>
            <a:srgbClr val="E8F0FE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52" name="Google Shape;452;g3e6a01a83d9_0_169"/>
          <p:cNvSpPr/>
          <p:nvPr/>
        </p:nvSpPr>
        <p:spPr>
          <a:xfrm>
            <a:off x="11197741" y="4457979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3"/>
              <a:buFont typeface="Consolas"/>
              <a:buNone/>
            </a:pPr>
            <a:r>
              <a:rPr lang="en-US" sz="1600" b="1" i="0" u="none" strike="noStrike" cap="none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e6a01a83d9_0_169"/>
          <p:cNvSpPr/>
          <p:nvPr/>
        </p:nvSpPr>
        <p:spPr>
          <a:xfrm>
            <a:off x="12692294" y="4457979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mem_instr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6a01a83d9_0_169"/>
          <p:cNvSpPr/>
          <p:nvPr/>
        </p:nvSpPr>
        <p:spPr>
          <a:xfrm>
            <a:off x="15949598" y="4518305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1=fetch 0=data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6a01a83d9_0_169"/>
          <p:cNvSpPr/>
          <p:nvPr/>
        </p:nvSpPr>
        <p:spPr>
          <a:xfrm>
            <a:off x="11161728" y="5098776"/>
            <a:ext cx="6302400" cy="604200"/>
          </a:xfrm>
          <a:prstGeom prst="rect">
            <a:avLst/>
          </a:prstGeom>
          <a:solidFill>
            <a:srgbClr val="FFFFFF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56" name="Google Shape;456;g3e6a01a83d9_0_169"/>
          <p:cNvSpPr/>
          <p:nvPr/>
        </p:nvSpPr>
        <p:spPr>
          <a:xfrm>
            <a:off x="11197741" y="5098776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3"/>
              <a:buFont typeface="Consolas"/>
              <a:buNone/>
            </a:pPr>
            <a:r>
              <a:rPr lang="en-US" sz="1600" b="1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1">
              <a:solidFill>
                <a:srgbClr val="1565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g3e6a01a83d9_0_169"/>
          <p:cNvSpPr/>
          <p:nvPr/>
        </p:nvSpPr>
        <p:spPr>
          <a:xfrm>
            <a:off x="12692294" y="5098776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mem_addr[31:0]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6a01a83d9_0_169"/>
          <p:cNvSpPr/>
          <p:nvPr/>
        </p:nvSpPr>
        <p:spPr>
          <a:xfrm>
            <a:off x="15949598" y="5159103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Target address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e6a01a83d9_0_169"/>
          <p:cNvSpPr/>
          <p:nvPr/>
        </p:nvSpPr>
        <p:spPr>
          <a:xfrm>
            <a:off x="11161728" y="5739573"/>
            <a:ext cx="6302400" cy="604200"/>
          </a:xfrm>
          <a:prstGeom prst="rect">
            <a:avLst/>
          </a:prstGeom>
          <a:solidFill>
            <a:srgbClr val="E8F0FE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0" name="Google Shape;460;g3e6a01a83d9_0_169"/>
          <p:cNvSpPr/>
          <p:nvPr/>
        </p:nvSpPr>
        <p:spPr>
          <a:xfrm>
            <a:off x="11197741" y="5739573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3"/>
              <a:buFont typeface="Consolas"/>
              <a:buNone/>
            </a:pPr>
            <a:r>
              <a:rPr lang="en-US" sz="1600" b="1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1">
              <a:solidFill>
                <a:srgbClr val="1565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g3e6a01a83d9_0_169"/>
          <p:cNvSpPr/>
          <p:nvPr/>
        </p:nvSpPr>
        <p:spPr>
          <a:xfrm>
            <a:off x="12692294" y="5739573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mem_wdata[31:0]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e6a01a83d9_0_169"/>
          <p:cNvSpPr/>
          <p:nvPr/>
        </p:nvSpPr>
        <p:spPr>
          <a:xfrm>
            <a:off x="15949598" y="5799900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Write data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e6a01a83d9_0_169"/>
          <p:cNvSpPr/>
          <p:nvPr/>
        </p:nvSpPr>
        <p:spPr>
          <a:xfrm>
            <a:off x="11161728" y="6380371"/>
            <a:ext cx="6302400" cy="604200"/>
          </a:xfrm>
          <a:prstGeom prst="rect">
            <a:avLst/>
          </a:prstGeom>
          <a:solidFill>
            <a:srgbClr val="FFFFFF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4" name="Google Shape;464;g3e6a01a83d9_0_169"/>
          <p:cNvSpPr/>
          <p:nvPr/>
        </p:nvSpPr>
        <p:spPr>
          <a:xfrm>
            <a:off x="11197741" y="6380371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3"/>
              <a:buFont typeface="Consolas"/>
              <a:buNone/>
            </a:pPr>
            <a:r>
              <a:rPr lang="en-US" sz="1600" b="1">
                <a:solidFill>
                  <a:srgbClr val="1565C0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1">
              <a:solidFill>
                <a:srgbClr val="1565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g3e6a01a83d9_0_169"/>
          <p:cNvSpPr/>
          <p:nvPr/>
        </p:nvSpPr>
        <p:spPr>
          <a:xfrm>
            <a:off x="12692294" y="6380371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mem_wstrb[3:0]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6a01a83d9_0_169"/>
          <p:cNvSpPr/>
          <p:nvPr/>
        </p:nvSpPr>
        <p:spPr>
          <a:xfrm>
            <a:off x="15949598" y="6440697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Byte enable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e6a01a83d9_0_169"/>
          <p:cNvSpPr/>
          <p:nvPr/>
        </p:nvSpPr>
        <p:spPr>
          <a:xfrm>
            <a:off x="11161728" y="7021168"/>
            <a:ext cx="6302400" cy="604200"/>
          </a:xfrm>
          <a:prstGeom prst="rect">
            <a:avLst/>
          </a:prstGeom>
          <a:solidFill>
            <a:srgbClr val="E8F0FE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8" name="Google Shape;468;g3e6a01a83d9_0_169"/>
          <p:cNvSpPr/>
          <p:nvPr/>
        </p:nvSpPr>
        <p:spPr>
          <a:xfrm>
            <a:off x="11197741" y="7021168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3"/>
              <a:buFont typeface="Consolas"/>
              <a:buNone/>
            </a:pPr>
            <a:r>
              <a:rPr lang="en-US" sz="1600" b="1" i="0" u="none" strike="noStrike" cap="none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e6a01a83d9_0_169"/>
          <p:cNvSpPr/>
          <p:nvPr/>
        </p:nvSpPr>
        <p:spPr>
          <a:xfrm>
            <a:off x="12692294" y="7021168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mem_ready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e6a01a83d9_0_169"/>
          <p:cNvSpPr/>
          <p:nvPr/>
        </p:nvSpPr>
        <p:spPr>
          <a:xfrm>
            <a:off x="15949598" y="7081495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Transaction OK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e6a01a83d9_0_169"/>
          <p:cNvSpPr/>
          <p:nvPr/>
        </p:nvSpPr>
        <p:spPr>
          <a:xfrm>
            <a:off x="11161728" y="7661965"/>
            <a:ext cx="6302400" cy="604200"/>
          </a:xfrm>
          <a:prstGeom prst="rect">
            <a:avLst/>
          </a:prstGeom>
          <a:solidFill>
            <a:srgbClr val="FFFFFF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72" name="Google Shape;472;g3e6a01a83d9_0_169"/>
          <p:cNvSpPr/>
          <p:nvPr/>
        </p:nvSpPr>
        <p:spPr>
          <a:xfrm>
            <a:off x="11197741" y="7661965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3"/>
              <a:buFont typeface="Consolas"/>
              <a:buNone/>
            </a:pPr>
            <a:r>
              <a:rPr lang="en-US" sz="1600" b="1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e6a01a83d9_0_169"/>
          <p:cNvSpPr/>
          <p:nvPr/>
        </p:nvSpPr>
        <p:spPr>
          <a:xfrm>
            <a:off x="12692294" y="7661965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mem_rdata[31:0]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e6a01a83d9_0_169"/>
          <p:cNvSpPr/>
          <p:nvPr/>
        </p:nvSpPr>
        <p:spPr>
          <a:xfrm>
            <a:off x="15949598" y="7722292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Read data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e6a01a83d9_0_169"/>
          <p:cNvSpPr/>
          <p:nvPr/>
        </p:nvSpPr>
        <p:spPr>
          <a:xfrm>
            <a:off x="11161728" y="8302763"/>
            <a:ext cx="6302400" cy="604200"/>
          </a:xfrm>
          <a:prstGeom prst="rect">
            <a:avLst/>
          </a:prstGeom>
          <a:solidFill>
            <a:srgbClr val="E8F0FE"/>
          </a:solidFill>
          <a:ln w="140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4525" tIns="134525" rIns="134525" bIns="134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76" name="Google Shape;476;g3e6a01a83d9_0_169"/>
          <p:cNvSpPr/>
          <p:nvPr/>
        </p:nvSpPr>
        <p:spPr>
          <a:xfrm>
            <a:off x="11197741" y="8302763"/>
            <a:ext cx="14043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3"/>
              <a:buFont typeface="Consolas"/>
              <a:buNone/>
            </a:pPr>
            <a:r>
              <a:rPr lang="en-US" sz="1600" b="1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6a01a83d9_0_169"/>
          <p:cNvSpPr/>
          <p:nvPr/>
        </p:nvSpPr>
        <p:spPr>
          <a:xfrm>
            <a:off x="12692294" y="8302763"/>
            <a:ext cx="28812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51"/>
              <a:buFont typeface="Consolas"/>
              <a:buNone/>
            </a:pPr>
            <a:r>
              <a:rPr lang="en-US" sz="1600" b="0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resetn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6a01a83d9_0_169"/>
          <p:cNvSpPr/>
          <p:nvPr/>
        </p:nvSpPr>
        <p:spPr>
          <a:xfrm>
            <a:off x="15949598" y="8363090"/>
            <a:ext cx="18006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3"/>
              <a:buFont typeface="Calibri"/>
              <a:buNone/>
            </a:pPr>
            <a:r>
              <a:rPr lang="en-US" sz="16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Active-low reset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e6a01a83d9_0_169"/>
          <p:cNvSpPr/>
          <p:nvPr/>
        </p:nvSpPr>
        <p:spPr>
          <a:xfrm>
            <a:off x="537800" y="3158075"/>
            <a:ext cx="36015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Configuration Parameters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e6a01a83d9_0_169"/>
          <p:cNvSpPr/>
          <p:nvPr/>
        </p:nvSpPr>
        <p:spPr>
          <a:xfrm>
            <a:off x="11161728" y="3158075"/>
            <a:ext cx="36015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🔌  Key I/O Ports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6"/>
          <p:cNvGrpSpPr/>
          <p:nvPr/>
        </p:nvGrpSpPr>
        <p:grpSpPr>
          <a:xfrm>
            <a:off x="914371" y="869761"/>
            <a:ext cx="16471897" cy="1444304"/>
            <a:chOff x="-16929" y="-19050"/>
            <a:chExt cx="21962529" cy="1925739"/>
          </a:xfrm>
        </p:grpSpPr>
        <p:sp>
          <p:nvSpPr>
            <p:cNvPr id="490" name="Google Shape;490;p6"/>
            <p:cNvSpPr/>
            <p:nvPr/>
          </p:nvSpPr>
          <p:spPr>
            <a:xfrm>
              <a:off x="-16929" y="565569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8837" b="-26883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6"/>
            <p:cNvSpPr txBox="1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RISC-V Registers</a:t>
              </a:r>
              <a:r>
                <a:rPr lang="en-US" sz="4800" b="1"/>
                <a:t> (x0-x31)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6"/>
          <p:cNvSpPr/>
          <p:nvPr/>
        </p:nvSpPr>
        <p:spPr>
          <a:xfrm>
            <a:off x="914400" y="1828795"/>
            <a:ext cx="16459200" cy="1188720"/>
          </a:xfrm>
          <a:custGeom>
            <a:avLst/>
            <a:gdLst/>
            <a:ahLst/>
            <a:cxnLst/>
            <a:rect l="l" t="t" r="r" b="b"/>
            <a:pathLst>
              <a:path w="21945600" h="1584960" extrusionOk="0">
                <a:moveTo>
                  <a:pt x="0" y="0"/>
                </a:moveTo>
                <a:lnTo>
                  <a:pt x="21945600" y="0"/>
                </a:lnTo>
                <a:lnTo>
                  <a:pt x="21945600" y="1584960"/>
                </a:lnTo>
                <a:lnTo>
                  <a:pt x="0" y="1584960"/>
                </a:lnTo>
                <a:close/>
              </a:path>
            </a:pathLst>
          </a:custGeom>
          <a:solidFill>
            <a:srgbClr val="DAEA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6"/>
          <p:cNvSpPr txBox="1"/>
          <p:nvPr/>
        </p:nvSpPr>
        <p:spPr>
          <a:xfrm>
            <a:off x="1371600" y="1948105"/>
            <a:ext cx="15544800" cy="95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1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Analogy: Registers are like your desk. RAM is the filing cabinet. Disk is the warehouse. You work with what's on your desk — fast access, but limited space (only 32 slots!).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p6"/>
          <p:cNvGrpSpPr/>
          <p:nvPr/>
        </p:nvGrpSpPr>
        <p:grpSpPr>
          <a:xfrm>
            <a:off x="901703" y="3096263"/>
            <a:ext cx="8346376" cy="1031176"/>
            <a:chOff x="0" y="0"/>
            <a:chExt cx="11128501" cy="1374902"/>
          </a:xfrm>
        </p:grpSpPr>
        <p:sp>
          <p:nvSpPr>
            <p:cNvPr id="495" name="Google Shape;495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6"/>
          <p:cNvGrpSpPr/>
          <p:nvPr/>
        </p:nvGrpSpPr>
        <p:grpSpPr>
          <a:xfrm>
            <a:off x="1133856" y="3073241"/>
            <a:ext cx="2834640" cy="1041559"/>
            <a:chOff x="0" y="-47625"/>
            <a:chExt cx="3779520" cy="1388745"/>
          </a:xfrm>
        </p:grpSpPr>
        <p:sp>
          <p:nvSpPr>
            <p:cNvPr id="498" name="Google Shape;498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x0 (zero)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6"/>
          <p:cNvGrpSpPr/>
          <p:nvPr/>
        </p:nvGrpSpPr>
        <p:grpSpPr>
          <a:xfrm>
            <a:off x="4023360" y="3080385"/>
            <a:ext cx="4937760" cy="1034415"/>
            <a:chOff x="0" y="-38100"/>
            <a:chExt cx="6583680" cy="1379220"/>
          </a:xfrm>
        </p:grpSpPr>
        <p:sp>
          <p:nvSpPr>
            <p:cNvPr id="501" name="Google Shape;501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Always reads as 0. Writes are ignored.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" name="Google Shape;503;p6"/>
          <p:cNvGrpSpPr/>
          <p:nvPr/>
        </p:nvGrpSpPr>
        <p:grpSpPr>
          <a:xfrm>
            <a:off x="901703" y="4193543"/>
            <a:ext cx="8346376" cy="1031176"/>
            <a:chOff x="0" y="0"/>
            <a:chExt cx="11128501" cy="1374902"/>
          </a:xfrm>
        </p:grpSpPr>
        <p:sp>
          <p:nvSpPr>
            <p:cNvPr id="504" name="Google Shape;504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6"/>
          <p:cNvGrpSpPr/>
          <p:nvPr/>
        </p:nvGrpSpPr>
        <p:grpSpPr>
          <a:xfrm>
            <a:off x="1133856" y="4170521"/>
            <a:ext cx="2834640" cy="1041559"/>
            <a:chOff x="0" y="-47625"/>
            <a:chExt cx="3779520" cy="1388745"/>
          </a:xfrm>
        </p:grpSpPr>
        <p:sp>
          <p:nvSpPr>
            <p:cNvPr id="507" name="Google Shape;507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x1 (ra)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6"/>
          <p:cNvGrpSpPr/>
          <p:nvPr/>
        </p:nvGrpSpPr>
        <p:grpSpPr>
          <a:xfrm>
            <a:off x="4023360" y="4177665"/>
            <a:ext cx="4937760" cy="1034415"/>
            <a:chOff x="0" y="-38100"/>
            <a:chExt cx="6583680" cy="1379220"/>
          </a:xfrm>
        </p:grpSpPr>
        <p:sp>
          <p:nvSpPr>
            <p:cNvPr id="510" name="Google Shape;510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Return address — where to go back after a function call.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6"/>
          <p:cNvGrpSpPr/>
          <p:nvPr/>
        </p:nvGrpSpPr>
        <p:grpSpPr>
          <a:xfrm>
            <a:off x="901703" y="5290823"/>
            <a:ext cx="8346376" cy="1031176"/>
            <a:chOff x="0" y="0"/>
            <a:chExt cx="11128501" cy="1374902"/>
          </a:xfrm>
        </p:grpSpPr>
        <p:sp>
          <p:nvSpPr>
            <p:cNvPr id="513" name="Google Shape;513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5" name="Google Shape;515;p6"/>
          <p:cNvGrpSpPr/>
          <p:nvPr/>
        </p:nvGrpSpPr>
        <p:grpSpPr>
          <a:xfrm>
            <a:off x="1133856" y="5267801"/>
            <a:ext cx="2834640" cy="1041559"/>
            <a:chOff x="0" y="-47625"/>
            <a:chExt cx="3779520" cy="1388745"/>
          </a:xfrm>
        </p:grpSpPr>
        <p:sp>
          <p:nvSpPr>
            <p:cNvPr id="516" name="Google Shape;516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x2 (sp)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6"/>
          <p:cNvGrpSpPr/>
          <p:nvPr/>
        </p:nvGrpSpPr>
        <p:grpSpPr>
          <a:xfrm>
            <a:off x="4023360" y="5274945"/>
            <a:ext cx="4937760" cy="1034415"/>
            <a:chOff x="0" y="-38100"/>
            <a:chExt cx="6583680" cy="1379220"/>
          </a:xfrm>
        </p:grpSpPr>
        <p:sp>
          <p:nvSpPr>
            <p:cNvPr id="519" name="Google Shape;519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Stack pointer — tracks the top of the call stack.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6"/>
          <p:cNvGrpSpPr/>
          <p:nvPr/>
        </p:nvGrpSpPr>
        <p:grpSpPr>
          <a:xfrm>
            <a:off x="901703" y="6388103"/>
            <a:ext cx="8346376" cy="1031176"/>
            <a:chOff x="0" y="0"/>
            <a:chExt cx="11128501" cy="1374902"/>
          </a:xfrm>
        </p:grpSpPr>
        <p:sp>
          <p:nvSpPr>
            <p:cNvPr id="522" name="Google Shape;522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6"/>
          <p:cNvGrpSpPr/>
          <p:nvPr/>
        </p:nvGrpSpPr>
        <p:grpSpPr>
          <a:xfrm>
            <a:off x="1133856" y="6365081"/>
            <a:ext cx="2834640" cy="1041559"/>
            <a:chOff x="0" y="-47625"/>
            <a:chExt cx="3779520" cy="1388745"/>
          </a:xfrm>
        </p:grpSpPr>
        <p:sp>
          <p:nvSpPr>
            <p:cNvPr id="525" name="Google Shape;525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x3 (gp)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6"/>
          <p:cNvGrpSpPr/>
          <p:nvPr/>
        </p:nvGrpSpPr>
        <p:grpSpPr>
          <a:xfrm>
            <a:off x="4023360" y="6372225"/>
            <a:ext cx="4937760" cy="1034415"/>
            <a:chOff x="0" y="-38100"/>
            <a:chExt cx="6583680" cy="1379220"/>
          </a:xfrm>
        </p:grpSpPr>
        <p:sp>
          <p:nvSpPr>
            <p:cNvPr id="528" name="Google Shape;528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Global pointer — base address of global variables.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0" name="Google Shape;530;p6"/>
          <p:cNvGrpSpPr/>
          <p:nvPr/>
        </p:nvGrpSpPr>
        <p:grpSpPr>
          <a:xfrm>
            <a:off x="901703" y="7485383"/>
            <a:ext cx="8346376" cy="1031176"/>
            <a:chOff x="0" y="0"/>
            <a:chExt cx="11128501" cy="1374902"/>
          </a:xfrm>
        </p:grpSpPr>
        <p:sp>
          <p:nvSpPr>
            <p:cNvPr id="531" name="Google Shape;531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" name="Google Shape;533;p6"/>
          <p:cNvGrpSpPr/>
          <p:nvPr/>
        </p:nvGrpSpPr>
        <p:grpSpPr>
          <a:xfrm>
            <a:off x="1133856" y="7462361"/>
            <a:ext cx="2834640" cy="1041559"/>
            <a:chOff x="0" y="-47625"/>
            <a:chExt cx="3779520" cy="1388745"/>
          </a:xfrm>
        </p:grpSpPr>
        <p:sp>
          <p:nvSpPr>
            <p:cNvPr id="534" name="Google Shape;534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x4 (tp)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6" name="Google Shape;536;p6"/>
          <p:cNvGrpSpPr/>
          <p:nvPr/>
        </p:nvGrpSpPr>
        <p:grpSpPr>
          <a:xfrm>
            <a:off x="4023360" y="7469505"/>
            <a:ext cx="4937760" cy="1034415"/>
            <a:chOff x="0" y="-38100"/>
            <a:chExt cx="6583680" cy="1379220"/>
          </a:xfrm>
        </p:grpSpPr>
        <p:sp>
          <p:nvSpPr>
            <p:cNvPr id="537" name="Google Shape;537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Thread pointer — used in multi-threaded programs.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6"/>
          <p:cNvGrpSpPr/>
          <p:nvPr/>
        </p:nvGrpSpPr>
        <p:grpSpPr>
          <a:xfrm>
            <a:off x="901703" y="8582663"/>
            <a:ext cx="8346376" cy="1031176"/>
            <a:chOff x="0" y="0"/>
            <a:chExt cx="11128501" cy="1374902"/>
          </a:xfrm>
        </p:grpSpPr>
        <p:sp>
          <p:nvSpPr>
            <p:cNvPr id="540" name="Google Shape;540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2" name="Google Shape;542;p6"/>
          <p:cNvGrpSpPr/>
          <p:nvPr/>
        </p:nvGrpSpPr>
        <p:grpSpPr>
          <a:xfrm>
            <a:off x="1133856" y="8559641"/>
            <a:ext cx="2834640" cy="1041559"/>
            <a:chOff x="0" y="-47625"/>
            <a:chExt cx="3779520" cy="1388745"/>
          </a:xfrm>
        </p:grpSpPr>
        <p:sp>
          <p:nvSpPr>
            <p:cNvPr id="543" name="Google Shape;543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x5–x7 (t0–t2)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5" name="Google Shape;545;p6"/>
          <p:cNvGrpSpPr/>
          <p:nvPr/>
        </p:nvGrpSpPr>
        <p:grpSpPr>
          <a:xfrm>
            <a:off x="4023360" y="8566785"/>
            <a:ext cx="4937760" cy="1034415"/>
            <a:chOff x="0" y="-38100"/>
            <a:chExt cx="6583680" cy="1379220"/>
          </a:xfrm>
        </p:grpSpPr>
        <p:sp>
          <p:nvSpPr>
            <p:cNvPr id="546" name="Google Shape;546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Temporaries — scratch registers, not preserved across calls.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" name="Google Shape;548;p6"/>
          <p:cNvGrpSpPr/>
          <p:nvPr/>
        </p:nvGrpSpPr>
        <p:grpSpPr>
          <a:xfrm>
            <a:off x="9588503" y="3096263"/>
            <a:ext cx="8346376" cy="1031176"/>
            <a:chOff x="0" y="0"/>
            <a:chExt cx="11128501" cy="1374902"/>
          </a:xfrm>
        </p:grpSpPr>
        <p:sp>
          <p:nvSpPr>
            <p:cNvPr id="549" name="Google Shape;549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6"/>
          <p:cNvGrpSpPr/>
          <p:nvPr/>
        </p:nvGrpSpPr>
        <p:grpSpPr>
          <a:xfrm>
            <a:off x="9820656" y="3073241"/>
            <a:ext cx="2834640" cy="1041559"/>
            <a:chOff x="0" y="-47625"/>
            <a:chExt cx="3779520" cy="1388745"/>
          </a:xfrm>
        </p:grpSpPr>
        <p:sp>
          <p:nvSpPr>
            <p:cNvPr id="552" name="Google Shape;552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x8 (s0/fp)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6"/>
          <p:cNvGrpSpPr/>
          <p:nvPr/>
        </p:nvGrpSpPr>
        <p:grpSpPr>
          <a:xfrm>
            <a:off x="12710160" y="3080385"/>
            <a:ext cx="4937760" cy="1034415"/>
            <a:chOff x="0" y="-38100"/>
            <a:chExt cx="6583680" cy="1379220"/>
          </a:xfrm>
        </p:grpSpPr>
        <p:sp>
          <p:nvSpPr>
            <p:cNvPr id="555" name="Google Shape;555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Saved register / frame pointer.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p6"/>
          <p:cNvGrpSpPr/>
          <p:nvPr/>
        </p:nvGrpSpPr>
        <p:grpSpPr>
          <a:xfrm>
            <a:off x="9588503" y="4193543"/>
            <a:ext cx="8346376" cy="1031176"/>
            <a:chOff x="0" y="0"/>
            <a:chExt cx="11128501" cy="1374902"/>
          </a:xfrm>
        </p:grpSpPr>
        <p:sp>
          <p:nvSpPr>
            <p:cNvPr id="558" name="Google Shape;558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6"/>
          <p:cNvGrpSpPr/>
          <p:nvPr/>
        </p:nvGrpSpPr>
        <p:grpSpPr>
          <a:xfrm>
            <a:off x="9820656" y="4170521"/>
            <a:ext cx="2834640" cy="1041559"/>
            <a:chOff x="0" y="-47625"/>
            <a:chExt cx="3779520" cy="1388745"/>
          </a:xfrm>
        </p:grpSpPr>
        <p:sp>
          <p:nvSpPr>
            <p:cNvPr id="561" name="Google Shape;561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x9 (s1)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12710160" y="4177665"/>
            <a:ext cx="4937760" cy="1034415"/>
            <a:chOff x="0" y="-38100"/>
            <a:chExt cx="6583680" cy="1379220"/>
          </a:xfrm>
        </p:grpSpPr>
        <p:sp>
          <p:nvSpPr>
            <p:cNvPr id="564" name="Google Shape;564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Saved register, preserved across function calls.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6"/>
          <p:cNvGrpSpPr/>
          <p:nvPr/>
        </p:nvGrpSpPr>
        <p:grpSpPr>
          <a:xfrm>
            <a:off x="9588503" y="5290823"/>
            <a:ext cx="8346376" cy="1031176"/>
            <a:chOff x="0" y="0"/>
            <a:chExt cx="11128501" cy="1374902"/>
          </a:xfrm>
        </p:grpSpPr>
        <p:sp>
          <p:nvSpPr>
            <p:cNvPr id="567" name="Google Shape;567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6"/>
          <p:cNvGrpSpPr/>
          <p:nvPr/>
        </p:nvGrpSpPr>
        <p:grpSpPr>
          <a:xfrm>
            <a:off x="9820656" y="5267801"/>
            <a:ext cx="2834640" cy="1041559"/>
            <a:chOff x="0" y="-47625"/>
            <a:chExt cx="3779520" cy="1388745"/>
          </a:xfrm>
        </p:grpSpPr>
        <p:sp>
          <p:nvSpPr>
            <p:cNvPr id="570" name="Google Shape;570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x10–x11 (a0–a1)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6"/>
          <p:cNvGrpSpPr/>
          <p:nvPr/>
        </p:nvGrpSpPr>
        <p:grpSpPr>
          <a:xfrm>
            <a:off x="12710160" y="5274945"/>
            <a:ext cx="4937760" cy="1034415"/>
            <a:chOff x="0" y="-38100"/>
            <a:chExt cx="6583680" cy="1379220"/>
          </a:xfrm>
        </p:grpSpPr>
        <p:sp>
          <p:nvSpPr>
            <p:cNvPr id="573" name="Google Shape;573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Function arguments 1 &amp; 2, also return values.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6"/>
          <p:cNvGrpSpPr/>
          <p:nvPr/>
        </p:nvGrpSpPr>
        <p:grpSpPr>
          <a:xfrm>
            <a:off x="9588503" y="6388103"/>
            <a:ext cx="8346376" cy="1031176"/>
            <a:chOff x="0" y="0"/>
            <a:chExt cx="11128501" cy="1374902"/>
          </a:xfrm>
        </p:grpSpPr>
        <p:sp>
          <p:nvSpPr>
            <p:cNvPr id="576" name="Google Shape;576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6"/>
          <p:cNvGrpSpPr/>
          <p:nvPr/>
        </p:nvGrpSpPr>
        <p:grpSpPr>
          <a:xfrm>
            <a:off x="9820656" y="6365081"/>
            <a:ext cx="2834640" cy="1041559"/>
            <a:chOff x="0" y="-47625"/>
            <a:chExt cx="3779520" cy="1388745"/>
          </a:xfrm>
        </p:grpSpPr>
        <p:sp>
          <p:nvSpPr>
            <p:cNvPr id="579" name="Google Shape;579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x12–x17 (a2–a7)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6"/>
          <p:cNvGrpSpPr/>
          <p:nvPr/>
        </p:nvGrpSpPr>
        <p:grpSpPr>
          <a:xfrm>
            <a:off x="12710160" y="6372225"/>
            <a:ext cx="4937760" cy="1034415"/>
            <a:chOff x="0" y="-38100"/>
            <a:chExt cx="6583680" cy="1379220"/>
          </a:xfrm>
        </p:grpSpPr>
        <p:sp>
          <p:nvSpPr>
            <p:cNvPr id="582" name="Google Shape;582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Additional function arguments (up to 8 total).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6"/>
          <p:cNvGrpSpPr/>
          <p:nvPr/>
        </p:nvGrpSpPr>
        <p:grpSpPr>
          <a:xfrm>
            <a:off x="9588503" y="7485383"/>
            <a:ext cx="8346376" cy="1031176"/>
            <a:chOff x="0" y="0"/>
            <a:chExt cx="11128501" cy="1374902"/>
          </a:xfrm>
        </p:grpSpPr>
        <p:sp>
          <p:nvSpPr>
            <p:cNvPr id="585" name="Google Shape;585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DEDE9">
                <a:alpha val="74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6"/>
          <p:cNvGrpSpPr/>
          <p:nvPr/>
        </p:nvGrpSpPr>
        <p:grpSpPr>
          <a:xfrm>
            <a:off x="9820656" y="7462361"/>
            <a:ext cx="2834640" cy="1041559"/>
            <a:chOff x="0" y="-47625"/>
            <a:chExt cx="3779520" cy="1388745"/>
          </a:xfrm>
        </p:grpSpPr>
        <p:sp>
          <p:nvSpPr>
            <p:cNvPr id="588" name="Google Shape;588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x18–x27 (s2–s11)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p6"/>
          <p:cNvGrpSpPr/>
          <p:nvPr/>
        </p:nvGrpSpPr>
        <p:grpSpPr>
          <a:xfrm>
            <a:off x="12710160" y="7469505"/>
            <a:ext cx="4937760" cy="1034415"/>
            <a:chOff x="0" y="-38100"/>
            <a:chExt cx="6583680" cy="1379220"/>
          </a:xfrm>
        </p:grpSpPr>
        <p:sp>
          <p:nvSpPr>
            <p:cNvPr id="591" name="Google Shape;591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Saved registers — callee must restore if used.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6"/>
          <p:cNvGrpSpPr/>
          <p:nvPr/>
        </p:nvGrpSpPr>
        <p:grpSpPr>
          <a:xfrm>
            <a:off x="9588503" y="8582663"/>
            <a:ext cx="8346376" cy="1031176"/>
            <a:chOff x="0" y="0"/>
            <a:chExt cx="11128501" cy="1374902"/>
          </a:xfrm>
        </p:grpSpPr>
        <p:sp>
          <p:nvSpPr>
            <p:cNvPr id="594" name="Google Shape;594;p6"/>
            <p:cNvSpPr/>
            <p:nvPr/>
          </p:nvSpPr>
          <p:spPr>
            <a:xfrm>
              <a:off x="16891" y="16891"/>
              <a:ext cx="11094720" cy="1341120"/>
            </a:xfrm>
            <a:custGeom>
              <a:avLst/>
              <a:gdLst/>
              <a:ahLst/>
              <a:cxnLst/>
              <a:rect l="l" t="t" r="r" b="b"/>
              <a:pathLst>
                <a:path w="11094720" h="1341120" extrusionOk="0">
                  <a:moveTo>
                    <a:pt x="0" y="0"/>
                  </a:moveTo>
                  <a:lnTo>
                    <a:pt x="11094720" y="0"/>
                  </a:lnTo>
                  <a:lnTo>
                    <a:pt x="110947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0" y="0"/>
              <a:ext cx="11128501" cy="1374902"/>
            </a:xfrm>
            <a:custGeom>
              <a:avLst/>
              <a:gdLst/>
              <a:ahLst/>
              <a:cxnLst/>
              <a:rect l="l" t="t" r="r" b="b"/>
              <a:pathLst>
                <a:path w="11128501" h="1374902" extrusionOk="0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358011"/>
                  </a:lnTo>
                  <a:cubicBezTo>
                    <a:pt x="11128501" y="1367409"/>
                    <a:pt x="11120882" y="1374902"/>
                    <a:pt x="111116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1111611" y="1341120"/>
                  </a:lnTo>
                  <a:lnTo>
                    <a:pt x="11111611" y="1358011"/>
                  </a:lnTo>
                  <a:lnTo>
                    <a:pt x="11094720" y="13580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4E4DC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6" name="Google Shape;596;p6"/>
          <p:cNvGrpSpPr/>
          <p:nvPr/>
        </p:nvGrpSpPr>
        <p:grpSpPr>
          <a:xfrm>
            <a:off x="9820656" y="8559641"/>
            <a:ext cx="2834640" cy="1041559"/>
            <a:chOff x="0" y="-47625"/>
            <a:chExt cx="3779520" cy="1388745"/>
          </a:xfrm>
        </p:grpSpPr>
        <p:sp>
          <p:nvSpPr>
            <p:cNvPr id="597" name="Google Shape;597;p6"/>
            <p:cNvSpPr/>
            <p:nvPr/>
          </p:nvSpPr>
          <p:spPr>
            <a:xfrm>
              <a:off x="0" y="0"/>
              <a:ext cx="3779520" cy="1341120"/>
            </a:xfrm>
            <a:custGeom>
              <a:avLst/>
              <a:gdLst/>
              <a:ahLst/>
              <a:cxnLst/>
              <a:rect l="l" t="t" r="r" b="b"/>
              <a:pathLst>
                <a:path w="3779520" h="1341120" extrusionOk="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912" b="-49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6"/>
            <p:cNvSpPr txBox="1"/>
            <p:nvPr/>
          </p:nvSpPr>
          <p:spPr>
            <a:xfrm>
              <a:off x="0" y="-47625"/>
              <a:ext cx="37795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x28–x31 (t3–t6)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6"/>
          <p:cNvGrpSpPr/>
          <p:nvPr/>
        </p:nvGrpSpPr>
        <p:grpSpPr>
          <a:xfrm>
            <a:off x="12710160" y="8566785"/>
            <a:ext cx="4937760" cy="1034415"/>
            <a:chOff x="0" y="-38100"/>
            <a:chExt cx="6583680" cy="1379220"/>
          </a:xfrm>
        </p:grpSpPr>
        <p:sp>
          <p:nvSpPr>
            <p:cNvPr id="600" name="Google Shape;600;p6"/>
            <p:cNvSpPr/>
            <p:nvPr/>
          </p:nvSpPr>
          <p:spPr>
            <a:xfrm>
              <a:off x="0" y="0"/>
              <a:ext cx="6583680" cy="1341120"/>
            </a:xfrm>
            <a:custGeom>
              <a:avLst/>
              <a:gdLst/>
              <a:ahLst/>
              <a:cxnLst/>
              <a:rect l="l" t="t" r="r" b="b"/>
              <a:pathLst>
                <a:path w="6583680" h="134112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654" b="-4565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"/>
            <p:cNvSpPr txBox="1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More temporaries — fast scratch space.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7"/>
          <p:cNvGrpSpPr/>
          <p:nvPr/>
        </p:nvGrpSpPr>
        <p:grpSpPr>
          <a:xfrm>
            <a:off x="871223" y="457200"/>
            <a:ext cx="16502377" cy="1478376"/>
            <a:chOff x="-57569" y="0"/>
            <a:chExt cx="22003169" cy="1971168"/>
          </a:xfrm>
        </p:grpSpPr>
        <p:sp>
          <p:nvSpPr>
            <p:cNvPr id="611" name="Google Shape;611;p7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8837" b="-26883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7"/>
            <p:cNvSpPr txBox="1"/>
            <p:nvPr/>
          </p:nvSpPr>
          <p:spPr>
            <a:xfrm>
              <a:off x="-57569" y="610997"/>
              <a:ext cx="21945600" cy="1360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RISC-V Instruction Formats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7"/>
          <p:cNvGrpSpPr/>
          <p:nvPr/>
        </p:nvGrpSpPr>
        <p:grpSpPr>
          <a:xfrm>
            <a:off x="914371" y="1744934"/>
            <a:ext cx="16459200" cy="760095"/>
            <a:chOff x="0" y="-38100"/>
            <a:chExt cx="21945600" cy="1013460"/>
          </a:xfrm>
        </p:grpSpPr>
        <p:sp>
          <p:nvSpPr>
            <p:cNvPr id="614" name="Google Shape;614;p7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88443" b="-38844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7"/>
            <p:cNvSpPr txBox="1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All instructions are exactly 32 bits wide. The bits are arranged in 6 different patterns (formats) depending on the instruction type.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7"/>
          <p:cNvGrpSpPr/>
          <p:nvPr/>
        </p:nvGrpSpPr>
        <p:grpSpPr>
          <a:xfrm>
            <a:off x="901703" y="2456183"/>
            <a:ext cx="1488376" cy="1049464"/>
            <a:chOff x="0" y="0"/>
            <a:chExt cx="1984502" cy="1399286"/>
          </a:xfrm>
        </p:grpSpPr>
        <p:sp>
          <p:nvSpPr>
            <p:cNvPr id="617" name="Google Shape;617;p7"/>
            <p:cNvSpPr/>
            <p:nvPr/>
          </p:nvSpPr>
          <p:spPr>
            <a:xfrm>
              <a:off x="16891" y="16891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0" y="0"/>
              <a:ext cx="1984502" cy="1399286"/>
            </a:xfrm>
            <a:custGeom>
              <a:avLst/>
              <a:gdLst/>
              <a:ahLst/>
              <a:cxnLst/>
              <a:rect l="l" t="t" r="r" b="b"/>
              <a:pathLst>
                <a:path w="1984502" h="1399286" extrusionOk="0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82395"/>
                  </a:lnTo>
                  <a:cubicBezTo>
                    <a:pt x="1984502" y="1391793"/>
                    <a:pt x="1976882" y="1399286"/>
                    <a:pt x="1967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67611" y="1365504"/>
                  </a:lnTo>
                  <a:lnTo>
                    <a:pt x="1967611" y="1382395"/>
                  </a:lnTo>
                  <a:lnTo>
                    <a:pt x="1950720" y="13823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9" name="Google Shape;619;p7"/>
          <p:cNvGrpSpPr/>
          <p:nvPr/>
        </p:nvGrpSpPr>
        <p:grpSpPr>
          <a:xfrm>
            <a:off x="914400" y="2440305"/>
            <a:ext cx="1463040" cy="1052703"/>
            <a:chOff x="0" y="-38100"/>
            <a:chExt cx="1950720" cy="1403604"/>
          </a:xfrm>
        </p:grpSpPr>
        <p:sp>
          <p:nvSpPr>
            <p:cNvPr id="620" name="Google Shape;620;p7"/>
            <p:cNvSpPr/>
            <p:nvPr/>
          </p:nvSpPr>
          <p:spPr>
            <a:xfrm>
              <a:off x="0" y="0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7"/>
            <p:cNvSpPr txBox="1"/>
            <p:nvPr/>
          </p:nvSpPr>
          <p:spPr>
            <a:xfrm>
              <a:off x="0" y="-38100"/>
              <a:ext cx="1950720" cy="140360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R-type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2" name="Google Shape;622;p7"/>
          <p:cNvGrpSpPr/>
          <p:nvPr/>
        </p:nvGrpSpPr>
        <p:grpSpPr>
          <a:xfrm>
            <a:off x="2584199" y="2456183"/>
            <a:ext cx="14802040" cy="1049464"/>
            <a:chOff x="0" y="0"/>
            <a:chExt cx="19736053" cy="1399286"/>
          </a:xfrm>
        </p:grpSpPr>
        <p:sp>
          <p:nvSpPr>
            <p:cNvPr id="623" name="Google Shape;623;p7"/>
            <p:cNvSpPr/>
            <p:nvPr/>
          </p:nvSpPr>
          <p:spPr>
            <a:xfrm>
              <a:off x="16891" y="16891"/>
              <a:ext cx="19702271" cy="1365504"/>
            </a:xfrm>
            <a:custGeom>
              <a:avLst/>
              <a:gdLst/>
              <a:ahLst/>
              <a:cxnLst/>
              <a:rect l="l" t="t" r="r" b="b"/>
              <a:pathLst>
                <a:path w="19702271" h="1365504" extrusionOk="0">
                  <a:moveTo>
                    <a:pt x="0" y="0"/>
                  </a:moveTo>
                  <a:lnTo>
                    <a:pt x="19702271" y="0"/>
                  </a:lnTo>
                  <a:lnTo>
                    <a:pt x="19702271" y="1365504"/>
                  </a:lnTo>
                  <a:lnTo>
                    <a:pt x="0" y="136550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0" y="0"/>
              <a:ext cx="19736053" cy="1399286"/>
            </a:xfrm>
            <a:custGeom>
              <a:avLst/>
              <a:gdLst/>
              <a:ahLst/>
              <a:cxnLst/>
              <a:rect l="l" t="t" r="r" b="b"/>
              <a:pathLst>
                <a:path w="19736053" h="1399286" extrusionOk="0">
                  <a:moveTo>
                    <a:pt x="16891" y="0"/>
                  </a:moveTo>
                  <a:lnTo>
                    <a:pt x="19719162" y="0"/>
                  </a:lnTo>
                  <a:cubicBezTo>
                    <a:pt x="19728560" y="0"/>
                    <a:pt x="19736053" y="7620"/>
                    <a:pt x="19736053" y="16891"/>
                  </a:cubicBezTo>
                  <a:lnTo>
                    <a:pt x="19736053" y="1382395"/>
                  </a:lnTo>
                  <a:cubicBezTo>
                    <a:pt x="19736053" y="1391793"/>
                    <a:pt x="19728433" y="1399286"/>
                    <a:pt x="19719162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719162" y="1365504"/>
                  </a:lnTo>
                  <a:lnTo>
                    <a:pt x="19719162" y="1382395"/>
                  </a:lnTo>
                  <a:lnTo>
                    <a:pt x="19702272" y="1382395"/>
                  </a:lnTo>
                  <a:lnTo>
                    <a:pt x="19702272" y="16891"/>
                  </a:lnTo>
                  <a:lnTo>
                    <a:pt x="19719162" y="16891"/>
                  </a:lnTo>
                  <a:lnTo>
                    <a:pt x="19719162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" name="Google Shape;625;p7"/>
          <p:cNvGrpSpPr/>
          <p:nvPr/>
        </p:nvGrpSpPr>
        <p:grpSpPr>
          <a:xfrm>
            <a:off x="2834640" y="2506313"/>
            <a:ext cx="14630400" cy="511207"/>
            <a:chOff x="0" y="-47625"/>
            <a:chExt cx="19507200" cy="681609"/>
          </a:xfrm>
        </p:grpSpPr>
        <p:sp>
          <p:nvSpPr>
            <p:cNvPr id="626" name="Google Shape;626;p7"/>
            <p:cNvSpPr/>
            <p:nvPr/>
          </p:nvSpPr>
          <p:spPr>
            <a:xfrm>
              <a:off x="0" y="0"/>
              <a:ext cx="19507200" cy="633984"/>
            </a:xfrm>
            <a:custGeom>
              <a:avLst/>
              <a:gdLst/>
              <a:ahLst/>
              <a:cxnLst/>
              <a:rect l="l" t="t" r="r" b="b"/>
              <a:pathLst>
                <a:path w="19507200" h="633984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633984"/>
                  </a:lnTo>
                  <a:lnTo>
                    <a:pt x="0" y="6339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49521" b="-5495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7"/>
            <p:cNvSpPr txBox="1"/>
            <p:nvPr/>
          </p:nvSpPr>
          <p:spPr>
            <a:xfrm>
              <a:off x="0" y="-47625"/>
              <a:ext cx="19507200" cy="681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Register-to-register ops (ADD, SUB, AND…)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7"/>
          <p:cNvGrpSpPr/>
          <p:nvPr/>
        </p:nvGrpSpPr>
        <p:grpSpPr>
          <a:xfrm>
            <a:off x="2834640" y="2988945"/>
            <a:ext cx="14630400" cy="430911"/>
            <a:chOff x="0" y="-38100"/>
            <a:chExt cx="19507200" cy="574548"/>
          </a:xfrm>
        </p:grpSpPr>
        <p:sp>
          <p:nvSpPr>
            <p:cNvPr id="629" name="Google Shape;629;p7"/>
            <p:cNvSpPr/>
            <p:nvPr/>
          </p:nvSpPr>
          <p:spPr>
            <a:xfrm>
              <a:off x="0" y="0"/>
              <a:ext cx="19507200" cy="536448"/>
            </a:xfrm>
            <a:custGeom>
              <a:avLst/>
              <a:gdLst/>
              <a:ahLst/>
              <a:cxnLst/>
              <a:rect l="l" t="t" r="r" b="b"/>
              <a:pathLst>
                <a:path w="19507200" h="536448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536448"/>
                  </a:lnTo>
                  <a:lnTo>
                    <a:pt x="0" y="53644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7"/>
            <p:cNvSpPr txBox="1"/>
            <p:nvPr/>
          </p:nvSpPr>
          <p:spPr>
            <a:xfrm>
              <a:off x="0" y="-38100"/>
              <a:ext cx="19507200" cy="574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2E74B5"/>
                  </a:solidFill>
                  <a:latin typeface="Consolas"/>
                  <a:ea typeface="Consolas"/>
                  <a:cs typeface="Consolas"/>
                  <a:sym typeface="Consolas"/>
                </a:rPr>
                <a:t>funct7 | rs2 | rs1 | funct3 | rd | opcode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1" name="Google Shape;631;p7"/>
          <p:cNvGrpSpPr/>
          <p:nvPr/>
        </p:nvGrpSpPr>
        <p:grpSpPr>
          <a:xfrm>
            <a:off x="901703" y="3699767"/>
            <a:ext cx="1488376" cy="1049464"/>
            <a:chOff x="0" y="0"/>
            <a:chExt cx="1984502" cy="1399286"/>
          </a:xfrm>
        </p:grpSpPr>
        <p:sp>
          <p:nvSpPr>
            <p:cNvPr id="632" name="Google Shape;632;p7"/>
            <p:cNvSpPr/>
            <p:nvPr/>
          </p:nvSpPr>
          <p:spPr>
            <a:xfrm>
              <a:off x="16891" y="16891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5B8D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0" y="0"/>
              <a:ext cx="1984502" cy="1399286"/>
            </a:xfrm>
            <a:custGeom>
              <a:avLst/>
              <a:gdLst/>
              <a:ahLst/>
              <a:cxnLst/>
              <a:rect l="l" t="t" r="r" b="b"/>
              <a:pathLst>
                <a:path w="1984502" h="1399286" extrusionOk="0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82395"/>
                  </a:lnTo>
                  <a:cubicBezTo>
                    <a:pt x="1984502" y="1391793"/>
                    <a:pt x="1976882" y="1399286"/>
                    <a:pt x="1967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67611" y="1365504"/>
                  </a:lnTo>
                  <a:lnTo>
                    <a:pt x="1967611" y="1382395"/>
                  </a:lnTo>
                  <a:lnTo>
                    <a:pt x="1950720" y="13823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B8D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4" name="Google Shape;634;p7"/>
          <p:cNvGrpSpPr/>
          <p:nvPr/>
        </p:nvGrpSpPr>
        <p:grpSpPr>
          <a:xfrm>
            <a:off x="914400" y="3683889"/>
            <a:ext cx="1463040" cy="1052703"/>
            <a:chOff x="0" y="-38100"/>
            <a:chExt cx="1950720" cy="1403604"/>
          </a:xfrm>
        </p:grpSpPr>
        <p:sp>
          <p:nvSpPr>
            <p:cNvPr id="635" name="Google Shape;635;p7"/>
            <p:cNvSpPr/>
            <p:nvPr/>
          </p:nvSpPr>
          <p:spPr>
            <a:xfrm>
              <a:off x="0" y="0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7"/>
            <p:cNvSpPr txBox="1"/>
            <p:nvPr/>
          </p:nvSpPr>
          <p:spPr>
            <a:xfrm>
              <a:off x="0" y="-38100"/>
              <a:ext cx="1950720" cy="140360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I-type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7" name="Google Shape;637;p7"/>
          <p:cNvGrpSpPr/>
          <p:nvPr/>
        </p:nvGrpSpPr>
        <p:grpSpPr>
          <a:xfrm>
            <a:off x="2584199" y="3699767"/>
            <a:ext cx="14802040" cy="1049464"/>
            <a:chOff x="0" y="0"/>
            <a:chExt cx="19736053" cy="1399286"/>
          </a:xfrm>
        </p:grpSpPr>
        <p:sp>
          <p:nvSpPr>
            <p:cNvPr id="638" name="Google Shape;638;p7"/>
            <p:cNvSpPr/>
            <p:nvPr/>
          </p:nvSpPr>
          <p:spPr>
            <a:xfrm>
              <a:off x="16891" y="16891"/>
              <a:ext cx="19702271" cy="1365504"/>
            </a:xfrm>
            <a:custGeom>
              <a:avLst/>
              <a:gdLst/>
              <a:ahLst/>
              <a:cxnLst/>
              <a:rect l="l" t="t" r="r" b="b"/>
              <a:pathLst>
                <a:path w="19702271" h="1365504" extrusionOk="0">
                  <a:moveTo>
                    <a:pt x="0" y="0"/>
                  </a:moveTo>
                  <a:lnTo>
                    <a:pt x="19702271" y="0"/>
                  </a:lnTo>
                  <a:lnTo>
                    <a:pt x="19702271" y="1365504"/>
                  </a:lnTo>
                  <a:lnTo>
                    <a:pt x="0" y="136550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0" y="0"/>
              <a:ext cx="19736053" cy="1399286"/>
            </a:xfrm>
            <a:custGeom>
              <a:avLst/>
              <a:gdLst/>
              <a:ahLst/>
              <a:cxnLst/>
              <a:rect l="l" t="t" r="r" b="b"/>
              <a:pathLst>
                <a:path w="19736053" h="1399286" extrusionOk="0">
                  <a:moveTo>
                    <a:pt x="16891" y="0"/>
                  </a:moveTo>
                  <a:lnTo>
                    <a:pt x="19719162" y="0"/>
                  </a:lnTo>
                  <a:cubicBezTo>
                    <a:pt x="19728560" y="0"/>
                    <a:pt x="19736053" y="7620"/>
                    <a:pt x="19736053" y="16891"/>
                  </a:cubicBezTo>
                  <a:lnTo>
                    <a:pt x="19736053" y="1382395"/>
                  </a:lnTo>
                  <a:cubicBezTo>
                    <a:pt x="19736053" y="1391793"/>
                    <a:pt x="19728433" y="1399286"/>
                    <a:pt x="19719162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719162" y="1365504"/>
                  </a:lnTo>
                  <a:lnTo>
                    <a:pt x="19719162" y="1382395"/>
                  </a:lnTo>
                  <a:lnTo>
                    <a:pt x="19702272" y="1382395"/>
                  </a:lnTo>
                  <a:lnTo>
                    <a:pt x="19702272" y="16891"/>
                  </a:lnTo>
                  <a:lnTo>
                    <a:pt x="19719162" y="16891"/>
                  </a:lnTo>
                  <a:lnTo>
                    <a:pt x="19719162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p7"/>
          <p:cNvGrpSpPr/>
          <p:nvPr/>
        </p:nvGrpSpPr>
        <p:grpSpPr>
          <a:xfrm>
            <a:off x="2834640" y="3749897"/>
            <a:ext cx="14630400" cy="511207"/>
            <a:chOff x="0" y="-47625"/>
            <a:chExt cx="19507200" cy="681609"/>
          </a:xfrm>
        </p:grpSpPr>
        <p:sp>
          <p:nvSpPr>
            <p:cNvPr id="641" name="Google Shape;641;p7"/>
            <p:cNvSpPr/>
            <p:nvPr/>
          </p:nvSpPr>
          <p:spPr>
            <a:xfrm>
              <a:off x="0" y="0"/>
              <a:ext cx="19507200" cy="633984"/>
            </a:xfrm>
            <a:custGeom>
              <a:avLst/>
              <a:gdLst/>
              <a:ahLst/>
              <a:cxnLst/>
              <a:rect l="l" t="t" r="r" b="b"/>
              <a:pathLst>
                <a:path w="19507200" h="633984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633984"/>
                  </a:lnTo>
                  <a:lnTo>
                    <a:pt x="0" y="63398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7"/>
            <p:cNvSpPr txBox="1"/>
            <p:nvPr/>
          </p:nvSpPr>
          <p:spPr>
            <a:xfrm>
              <a:off x="0" y="-47625"/>
              <a:ext cx="19507200" cy="681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Immediate arithmetic &amp; loads (ADDI, LW…)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p7"/>
          <p:cNvGrpSpPr/>
          <p:nvPr/>
        </p:nvGrpSpPr>
        <p:grpSpPr>
          <a:xfrm>
            <a:off x="2834640" y="4232529"/>
            <a:ext cx="14630400" cy="430911"/>
            <a:chOff x="0" y="-38100"/>
            <a:chExt cx="19507200" cy="574548"/>
          </a:xfrm>
        </p:grpSpPr>
        <p:sp>
          <p:nvSpPr>
            <p:cNvPr id="644" name="Google Shape;644;p7"/>
            <p:cNvSpPr/>
            <p:nvPr/>
          </p:nvSpPr>
          <p:spPr>
            <a:xfrm>
              <a:off x="0" y="0"/>
              <a:ext cx="19507200" cy="536448"/>
            </a:xfrm>
            <a:custGeom>
              <a:avLst/>
              <a:gdLst/>
              <a:ahLst/>
              <a:cxnLst/>
              <a:rect l="l" t="t" r="r" b="b"/>
              <a:pathLst>
                <a:path w="19507200" h="536448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536448"/>
                  </a:lnTo>
                  <a:lnTo>
                    <a:pt x="0" y="53644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7"/>
            <p:cNvSpPr txBox="1"/>
            <p:nvPr/>
          </p:nvSpPr>
          <p:spPr>
            <a:xfrm>
              <a:off x="0" y="-38100"/>
              <a:ext cx="19507200" cy="574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5B8DD9"/>
                  </a:solidFill>
                  <a:latin typeface="Consolas"/>
                  <a:ea typeface="Consolas"/>
                  <a:cs typeface="Consolas"/>
                  <a:sym typeface="Consolas"/>
                </a:rPr>
                <a:t>imm[11:0] | rs1 | funct3 | rd | opcode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7"/>
          <p:cNvGrpSpPr/>
          <p:nvPr/>
        </p:nvGrpSpPr>
        <p:grpSpPr>
          <a:xfrm>
            <a:off x="901703" y="4943351"/>
            <a:ext cx="1488376" cy="1049464"/>
            <a:chOff x="0" y="0"/>
            <a:chExt cx="1984502" cy="1399286"/>
          </a:xfrm>
        </p:grpSpPr>
        <p:sp>
          <p:nvSpPr>
            <p:cNvPr id="647" name="Google Shape;647;p7"/>
            <p:cNvSpPr/>
            <p:nvPr/>
          </p:nvSpPr>
          <p:spPr>
            <a:xfrm>
              <a:off x="16891" y="16891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E07B3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0" y="0"/>
              <a:ext cx="1984502" cy="1399286"/>
            </a:xfrm>
            <a:custGeom>
              <a:avLst/>
              <a:gdLst/>
              <a:ahLst/>
              <a:cxnLst/>
              <a:rect l="l" t="t" r="r" b="b"/>
              <a:pathLst>
                <a:path w="1984502" h="1399286" extrusionOk="0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82395"/>
                  </a:lnTo>
                  <a:cubicBezTo>
                    <a:pt x="1984502" y="1391793"/>
                    <a:pt x="1976882" y="1399286"/>
                    <a:pt x="1967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67611" y="1365504"/>
                  </a:lnTo>
                  <a:lnTo>
                    <a:pt x="1967611" y="1382395"/>
                  </a:lnTo>
                  <a:lnTo>
                    <a:pt x="1950720" y="13823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9" name="Google Shape;649;p7"/>
          <p:cNvGrpSpPr/>
          <p:nvPr/>
        </p:nvGrpSpPr>
        <p:grpSpPr>
          <a:xfrm>
            <a:off x="914400" y="4927473"/>
            <a:ext cx="1463040" cy="1052703"/>
            <a:chOff x="0" y="-38100"/>
            <a:chExt cx="1950720" cy="1403604"/>
          </a:xfrm>
        </p:grpSpPr>
        <p:sp>
          <p:nvSpPr>
            <p:cNvPr id="650" name="Google Shape;650;p7"/>
            <p:cNvSpPr/>
            <p:nvPr/>
          </p:nvSpPr>
          <p:spPr>
            <a:xfrm>
              <a:off x="0" y="0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7"/>
            <p:cNvSpPr txBox="1"/>
            <p:nvPr/>
          </p:nvSpPr>
          <p:spPr>
            <a:xfrm>
              <a:off x="0" y="-38100"/>
              <a:ext cx="1950720" cy="140360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S-type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2" name="Google Shape;652;p7"/>
          <p:cNvGrpSpPr/>
          <p:nvPr/>
        </p:nvGrpSpPr>
        <p:grpSpPr>
          <a:xfrm>
            <a:off x="2584199" y="4943351"/>
            <a:ext cx="14802040" cy="1049464"/>
            <a:chOff x="0" y="0"/>
            <a:chExt cx="19736053" cy="1399286"/>
          </a:xfrm>
        </p:grpSpPr>
        <p:sp>
          <p:nvSpPr>
            <p:cNvPr id="653" name="Google Shape;653;p7"/>
            <p:cNvSpPr/>
            <p:nvPr/>
          </p:nvSpPr>
          <p:spPr>
            <a:xfrm>
              <a:off x="16891" y="16891"/>
              <a:ext cx="19702271" cy="1365504"/>
            </a:xfrm>
            <a:custGeom>
              <a:avLst/>
              <a:gdLst/>
              <a:ahLst/>
              <a:cxnLst/>
              <a:rect l="l" t="t" r="r" b="b"/>
              <a:pathLst>
                <a:path w="19702271" h="1365504" extrusionOk="0">
                  <a:moveTo>
                    <a:pt x="0" y="0"/>
                  </a:moveTo>
                  <a:lnTo>
                    <a:pt x="19702271" y="0"/>
                  </a:lnTo>
                  <a:lnTo>
                    <a:pt x="19702271" y="1365504"/>
                  </a:lnTo>
                  <a:lnTo>
                    <a:pt x="0" y="136550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0" y="0"/>
              <a:ext cx="19736053" cy="1399286"/>
            </a:xfrm>
            <a:custGeom>
              <a:avLst/>
              <a:gdLst/>
              <a:ahLst/>
              <a:cxnLst/>
              <a:rect l="l" t="t" r="r" b="b"/>
              <a:pathLst>
                <a:path w="19736053" h="1399286" extrusionOk="0">
                  <a:moveTo>
                    <a:pt x="16891" y="0"/>
                  </a:moveTo>
                  <a:lnTo>
                    <a:pt x="19719162" y="0"/>
                  </a:lnTo>
                  <a:cubicBezTo>
                    <a:pt x="19728560" y="0"/>
                    <a:pt x="19736053" y="7620"/>
                    <a:pt x="19736053" y="16891"/>
                  </a:cubicBezTo>
                  <a:lnTo>
                    <a:pt x="19736053" y="1382395"/>
                  </a:lnTo>
                  <a:cubicBezTo>
                    <a:pt x="19736053" y="1391793"/>
                    <a:pt x="19728433" y="1399286"/>
                    <a:pt x="19719162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719162" y="1365504"/>
                  </a:lnTo>
                  <a:lnTo>
                    <a:pt x="19719162" y="1382395"/>
                  </a:lnTo>
                  <a:lnTo>
                    <a:pt x="19702272" y="1382395"/>
                  </a:lnTo>
                  <a:lnTo>
                    <a:pt x="19702272" y="16891"/>
                  </a:lnTo>
                  <a:lnTo>
                    <a:pt x="19719162" y="16891"/>
                  </a:lnTo>
                  <a:lnTo>
                    <a:pt x="19719162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5" name="Google Shape;655;p7"/>
          <p:cNvGrpSpPr/>
          <p:nvPr/>
        </p:nvGrpSpPr>
        <p:grpSpPr>
          <a:xfrm>
            <a:off x="2834640" y="4993481"/>
            <a:ext cx="14630400" cy="511207"/>
            <a:chOff x="0" y="-47625"/>
            <a:chExt cx="19507200" cy="681609"/>
          </a:xfrm>
        </p:grpSpPr>
        <p:sp>
          <p:nvSpPr>
            <p:cNvPr id="656" name="Google Shape;656;p7"/>
            <p:cNvSpPr/>
            <p:nvPr/>
          </p:nvSpPr>
          <p:spPr>
            <a:xfrm>
              <a:off x="0" y="0"/>
              <a:ext cx="19507200" cy="633984"/>
            </a:xfrm>
            <a:custGeom>
              <a:avLst/>
              <a:gdLst/>
              <a:ahLst/>
              <a:cxnLst/>
              <a:rect l="l" t="t" r="r" b="b"/>
              <a:pathLst>
                <a:path w="19507200" h="633984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633984"/>
                  </a:lnTo>
                  <a:lnTo>
                    <a:pt x="0" y="63398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7"/>
            <p:cNvSpPr txBox="1"/>
            <p:nvPr/>
          </p:nvSpPr>
          <p:spPr>
            <a:xfrm>
              <a:off x="0" y="-47625"/>
              <a:ext cx="19507200" cy="681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Store to memory (SW, SB, SH…)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8" name="Google Shape;658;p7"/>
          <p:cNvGrpSpPr/>
          <p:nvPr/>
        </p:nvGrpSpPr>
        <p:grpSpPr>
          <a:xfrm>
            <a:off x="2834640" y="5476113"/>
            <a:ext cx="14630400" cy="430911"/>
            <a:chOff x="0" y="-38100"/>
            <a:chExt cx="19507200" cy="574548"/>
          </a:xfrm>
        </p:grpSpPr>
        <p:sp>
          <p:nvSpPr>
            <p:cNvPr id="659" name="Google Shape;659;p7"/>
            <p:cNvSpPr/>
            <p:nvPr/>
          </p:nvSpPr>
          <p:spPr>
            <a:xfrm>
              <a:off x="0" y="0"/>
              <a:ext cx="19507200" cy="536448"/>
            </a:xfrm>
            <a:custGeom>
              <a:avLst/>
              <a:gdLst/>
              <a:ahLst/>
              <a:cxnLst/>
              <a:rect l="l" t="t" r="r" b="b"/>
              <a:pathLst>
                <a:path w="19507200" h="536448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536448"/>
                  </a:lnTo>
                  <a:lnTo>
                    <a:pt x="0" y="53644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7"/>
            <p:cNvSpPr txBox="1"/>
            <p:nvPr/>
          </p:nvSpPr>
          <p:spPr>
            <a:xfrm>
              <a:off x="0" y="-38100"/>
              <a:ext cx="19507200" cy="574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E07B39"/>
                  </a:solidFill>
                  <a:latin typeface="Consolas"/>
                  <a:ea typeface="Consolas"/>
                  <a:cs typeface="Consolas"/>
                  <a:sym typeface="Consolas"/>
                </a:rPr>
                <a:t>imm[11:5] | rs2 | rs1 | funct3 | imm[4:0] | opcode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1" name="Google Shape;661;p7"/>
          <p:cNvGrpSpPr/>
          <p:nvPr/>
        </p:nvGrpSpPr>
        <p:grpSpPr>
          <a:xfrm>
            <a:off x="901703" y="6186935"/>
            <a:ext cx="1488376" cy="1049464"/>
            <a:chOff x="0" y="0"/>
            <a:chExt cx="1984502" cy="1399286"/>
          </a:xfrm>
        </p:grpSpPr>
        <p:sp>
          <p:nvSpPr>
            <p:cNvPr id="662" name="Google Shape;662;p7"/>
            <p:cNvSpPr/>
            <p:nvPr/>
          </p:nvSpPr>
          <p:spPr>
            <a:xfrm>
              <a:off x="16891" y="16891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0" y="0"/>
              <a:ext cx="1984502" cy="1399286"/>
            </a:xfrm>
            <a:custGeom>
              <a:avLst/>
              <a:gdLst/>
              <a:ahLst/>
              <a:cxnLst/>
              <a:rect l="l" t="t" r="r" b="b"/>
              <a:pathLst>
                <a:path w="1984502" h="1399286" extrusionOk="0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82395"/>
                  </a:lnTo>
                  <a:cubicBezTo>
                    <a:pt x="1984502" y="1391793"/>
                    <a:pt x="1976882" y="1399286"/>
                    <a:pt x="1967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67611" y="1365504"/>
                  </a:lnTo>
                  <a:lnTo>
                    <a:pt x="1967611" y="1382395"/>
                  </a:lnTo>
                  <a:lnTo>
                    <a:pt x="1950720" y="13823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0522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4" name="Google Shape;664;p7"/>
          <p:cNvGrpSpPr/>
          <p:nvPr/>
        </p:nvGrpSpPr>
        <p:grpSpPr>
          <a:xfrm>
            <a:off x="914400" y="6171057"/>
            <a:ext cx="1463040" cy="1052703"/>
            <a:chOff x="0" y="-38100"/>
            <a:chExt cx="1950720" cy="1403604"/>
          </a:xfrm>
        </p:grpSpPr>
        <p:sp>
          <p:nvSpPr>
            <p:cNvPr id="665" name="Google Shape;665;p7"/>
            <p:cNvSpPr/>
            <p:nvPr/>
          </p:nvSpPr>
          <p:spPr>
            <a:xfrm>
              <a:off x="0" y="0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7"/>
            <p:cNvSpPr txBox="1"/>
            <p:nvPr/>
          </p:nvSpPr>
          <p:spPr>
            <a:xfrm>
              <a:off x="0" y="-38100"/>
              <a:ext cx="1950720" cy="140360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B-type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7" name="Google Shape;667;p7"/>
          <p:cNvGrpSpPr/>
          <p:nvPr/>
        </p:nvGrpSpPr>
        <p:grpSpPr>
          <a:xfrm>
            <a:off x="2584199" y="6186935"/>
            <a:ext cx="14802040" cy="1049464"/>
            <a:chOff x="0" y="0"/>
            <a:chExt cx="19736053" cy="1399286"/>
          </a:xfrm>
        </p:grpSpPr>
        <p:sp>
          <p:nvSpPr>
            <p:cNvPr id="668" name="Google Shape;668;p7"/>
            <p:cNvSpPr/>
            <p:nvPr/>
          </p:nvSpPr>
          <p:spPr>
            <a:xfrm>
              <a:off x="16891" y="16891"/>
              <a:ext cx="19702271" cy="1365504"/>
            </a:xfrm>
            <a:custGeom>
              <a:avLst/>
              <a:gdLst/>
              <a:ahLst/>
              <a:cxnLst/>
              <a:rect l="l" t="t" r="r" b="b"/>
              <a:pathLst>
                <a:path w="19702271" h="1365504" extrusionOk="0">
                  <a:moveTo>
                    <a:pt x="0" y="0"/>
                  </a:moveTo>
                  <a:lnTo>
                    <a:pt x="19702271" y="0"/>
                  </a:lnTo>
                  <a:lnTo>
                    <a:pt x="19702271" y="1365504"/>
                  </a:lnTo>
                  <a:lnTo>
                    <a:pt x="0" y="136550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0" y="0"/>
              <a:ext cx="19736053" cy="1399286"/>
            </a:xfrm>
            <a:custGeom>
              <a:avLst/>
              <a:gdLst/>
              <a:ahLst/>
              <a:cxnLst/>
              <a:rect l="l" t="t" r="r" b="b"/>
              <a:pathLst>
                <a:path w="19736053" h="1399286" extrusionOk="0">
                  <a:moveTo>
                    <a:pt x="16891" y="0"/>
                  </a:moveTo>
                  <a:lnTo>
                    <a:pt x="19719162" y="0"/>
                  </a:lnTo>
                  <a:cubicBezTo>
                    <a:pt x="19728560" y="0"/>
                    <a:pt x="19736053" y="7620"/>
                    <a:pt x="19736053" y="16891"/>
                  </a:cubicBezTo>
                  <a:lnTo>
                    <a:pt x="19736053" y="1382395"/>
                  </a:lnTo>
                  <a:cubicBezTo>
                    <a:pt x="19736053" y="1391793"/>
                    <a:pt x="19728433" y="1399286"/>
                    <a:pt x="19719162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719162" y="1365504"/>
                  </a:lnTo>
                  <a:lnTo>
                    <a:pt x="19719162" y="1382395"/>
                  </a:lnTo>
                  <a:lnTo>
                    <a:pt x="19702272" y="1382395"/>
                  </a:lnTo>
                  <a:lnTo>
                    <a:pt x="19702272" y="16891"/>
                  </a:lnTo>
                  <a:lnTo>
                    <a:pt x="19719162" y="16891"/>
                  </a:lnTo>
                  <a:lnTo>
                    <a:pt x="19719162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p7"/>
          <p:cNvGrpSpPr/>
          <p:nvPr/>
        </p:nvGrpSpPr>
        <p:grpSpPr>
          <a:xfrm>
            <a:off x="2834640" y="6237065"/>
            <a:ext cx="14630400" cy="511207"/>
            <a:chOff x="0" y="-47625"/>
            <a:chExt cx="19507200" cy="681609"/>
          </a:xfrm>
        </p:grpSpPr>
        <p:sp>
          <p:nvSpPr>
            <p:cNvPr id="671" name="Google Shape;671;p7"/>
            <p:cNvSpPr/>
            <p:nvPr/>
          </p:nvSpPr>
          <p:spPr>
            <a:xfrm>
              <a:off x="0" y="0"/>
              <a:ext cx="19507200" cy="633984"/>
            </a:xfrm>
            <a:custGeom>
              <a:avLst/>
              <a:gdLst/>
              <a:ahLst/>
              <a:cxnLst/>
              <a:rect l="l" t="t" r="r" b="b"/>
              <a:pathLst>
                <a:path w="19507200" h="633984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633984"/>
                  </a:lnTo>
                  <a:lnTo>
                    <a:pt x="0" y="63398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7"/>
            <p:cNvSpPr txBox="1"/>
            <p:nvPr/>
          </p:nvSpPr>
          <p:spPr>
            <a:xfrm>
              <a:off x="0" y="-47625"/>
              <a:ext cx="19507200" cy="681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Conditional branches (BEQ, BNE, BLT…)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3" name="Google Shape;673;p7"/>
          <p:cNvGrpSpPr/>
          <p:nvPr/>
        </p:nvGrpSpPr>
        <p:grpSpPr>
          <a:xfrm>
            <a:off x="2834640" y="6719697"/>
            <a:ext cx="14630400" cy="430911"/>
            <a:chOff x="0" y="-38100"/>
            <a:chExt cx="19507200" cy="574548"/>
          </a:xfrm>
        </p:grpSpPr>
        <p:sp>
          <p:nvSpPr>
            <p:cNvPr id="674" name="Google Shape;674;p7"/>
            <p:cNvSpPr/>
            <p:nvPr/>
          </p:nvSpPr>
          <p:spPr>
            <a:xfrm>
              <a:off x="0" y="0"/>
              <a:ext cx="19507200" cy="536448"/>
            </a:xfrm>
            <a:custGeom>
              <a:avLst/>
              <a:gdLst/>
              <a:ahLst/>
              <a:cxnLst/>
              <a:rect l="l" t="t" r="r" b="b"/>
              <a:pathLst>
                <a:path w="19507200" h="536448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536448"/>
                  </a:lnTo>
                  <a:lnTo>
                    <a:pt x="0" y="53644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7"/>
            <p:cNvSpPr txBox="1"/>
            <p:nvPr/>
          </p:nvSpPr>
          <p:spPr>
            <a:xfrm>
              <a:off x="0" y="-38100"/>
              <a:ext cx="19507200" cy="574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A0522D"/>
                  </a:solidFill>
                  <a:latin typeface="Consolas"/>
                  <a:ea typeface="Consolas"/>
                  <a:cs typeface="Consolas"/>
                  <a:sym typeface="Consolas"/>
                </a:rPr>
                <a:t>imm[12|10:5] | rs2 | rs1 | funct3 | imm[4:1|11] | opcode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7"/>
          <p:cNvGrpSpPr/>
          <p:nvPr/>
        </p:nvGrpSpPr>
        <p:grpSpPr>
          <a:xfrm>
            <a:off x="901703" y="7430519"/>
            <a:ext cx="1488376" cy="1049464"/>
            <a:chOff x="0" y="0"/>
            <a:chExt cx="1984502" cy="1399286"/>
          </a:xfrm>
        </p:grpSpPr>
        <p:sp>
          <p:nvSpPr>
            <p:cNvPr id="677" name="Google Shape;677;p7"/>
            <p:cNvSpPr/>
            <p:nvPr/>
          </p:nvSpPr>
          <p:spPr>
            <a:xfrm>
              <a:off x="16891" y="16891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6D5AB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0" y="0"/>
              <a:ext cx="1984502" cy="1399286"/>
            </a:xfrm>
            <a:custGeom>
              <a:avLst/>
              <a:gdLst/>
              <a:ahLst/>
              <a:cxnLst/>
              <a:rect l="l" t="t" r="r" b="b"/>
              <a:pathLst>
                <a:path w="1984502" h="1399286" extrusionOk="0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82395"/>
                  </a:lnTo>
                  <a:cubicBezTo>
                    <a:pt x="1984502" y="1391793"/>
                    <a:pt x="1976882" y="1399286"/>
                    <a:pt x="1967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67611" y="1365504"/>
                  </a:lnTo>
                  <a:lnTo>
                    <a:pt x="1967611" y="1382395"/>
                  </a:lnTo>
                  <a:lnTo>
                    <a:pt x="1950720" y="13823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D5AB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p7"/>
          <p:cNvGrpSpPr/>
          <p:nvPr/>
        </p:nvGrpSpPr>
        <p:grpSpPr>
          <a:xfrm>
            <a:off x="914400" y="7414641"/>
            <a:ext cx="1463040" cy="1052703"/>
            <a:chOff x="0" y="-38100"/>
            <a:chExt cx="1950720" cy="1403604"/>
          </a:xfrm>
        </p:grpSpPr>
        <p:sp>
          <p:nvSpPr>
            <p:cNvPr id="680" name="Google Shape;680;p7"/>
            <p:cNvSpPr/>
            <p:nvPr/>
          </p:nvSpPr>
          <p:spPr>
            <a:xfrm>
              <a:off x="0" y="0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7"/>
            <p:cNvSpPr txBox="1"/>
            <p:nvPr/>
          </p:nvSpPr>
          <p:spPr>
            <a:xfrm>
              <a:off x="0" y="-38100"/>
              <a:ext cx="1950720" cy="140360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U-type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2" name="Google Shape;682;p7"/>
          <p:cNvGrpSpPr/>
          <p:nvPr/>
        </p:nvGrpSpPr>
        <p:grpSpPr>
          <a:xfrm>
            <a:off x="2584199" y="7430519"/>
            <a:ext cx="14802040" cy="1049464"/>
            <a:chOff x="0" y="0"/>
            <a:chExt cx="19736053" cy="1399286"/>
          </a:xfrm>
        </p:grpSpPr>
        <p:sp>
          <p:nvSpPr>
            <p:cNvPr id="683" name="Google Shape;683;p7"/>
            <p:cNvSpPr/>
            <p:nvPr/>
          </p:nvSpPr>
          <p:spPr>
            <a:xfrm>
              <a:off x="16891" y="16891"/>
              <a:ext cx="19702271" cy="1365504"/>
            </a:xfrm>
            <a:custGeom>
              <a:avLst/>
              <a:gdLst/>
              <a:ahLst/>
              <a:cxnLst/>
              <a:rect l="l" t="t" r="r" b="b"/>
              <a:pathLst>
                <a:path w="19702271" h="1365504" extrusionOk="0">
                  <a:moveTo>
                    <a:pt x="0" y="0"/>
                  </a:moveTo>
                  <a:lnTo>
                    <a:pt x="19702271" y="0"/>
                  </a:lnTo>
                  <a:lnTo>
                    <a:pt x="19702271" y="1365504"/>
                  </a:lnTo>
                  <a:lnTo>
                    <a:pt x="0" y="136550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0" y="0"/>
              <a:ext cx="19736053" cy="1399286"/>
            </a:xfrm>
            <a:custGeom>
              <a:avLst/>
              <a:gdLst/>
              <a:ahLst/>
              <a:cxnLst/>
              <a:rect l="l" t="t" r="r" b="b"/>
              <a:pathLst>
                <a:path w="19736053" h="1399286" extrusionOk="0">
                  <a:moveTo>
                    <a:pt x="16891" y="0"/>
                  </a:moveTo>
                  <a:lnTo>
                    <a:pt x="19719162" y="0"/>
                  </a:lnTo>
                  <a:cubicBezTo>
                    <a:pt x="19728560" y="0"/>
                    <a:pt x="19736053" y="7620"/>
                    <a:pt x="19736053" y="16891"/>
                  </a:cubicBezTo>
                  <a:lnTo>
                    <a:pt x="19736053" y="1382395"/>
                  </a:lnTo>
                  <a:cubicBezTo>
                    <a:pt x="19736053" y="1391793"/>
                    <a:pt x="19728433" y="1399286"/>
                    <a:pt x="19719162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719162" y="1365504"/>
                  </a:lnTo>
                  <a:lnTo>
                    <a:pt x="19719162" y="1382395"/>
                  </a:lnTo>
                  <a:lnTo>
                    <a:pt x="19702272" y="1382395"/>
                  </a:lnTo>
                  <a:lnTo>
                    <a:pt x="19702272" y="16891"/>
                  </a:lnTo>
                  <a:lnTo>
                    <a:pt x="19719162" y="16891"/>
                  </a:lnTo>
                  <a:lnTo>
                    <a:pt x="19719162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5" name="Google Shape;685;p7"/>
          <p:cNvGrpSpPr/>
          <p:nvPr/>
        </p:nvGrpSpPr>
        <p:grpSpPr>
          <a:xfrm>
            <a:off x="2834640" y="7480649"/>
            <a:ext cx="14630400" cy="511207"/>
            <a:chOff x="0" y="-47625"/>
            <a:chExt cx="19507200" cy="681609"/>
          </a:xfrm>
        </p:grpSpPr>
        <p:sp>
          <p:nvSpPr>
            <p:cNvPr id="686" name="Google Shape;686;p7"/>
            <p:cNvSpPr/>
            <p:nvPr/>
          </p:nvSpPr>
          <p:spPr>
            <a:xfrm>
              <a:off x="0" y="0"/>
              <a:ext cx="19507200" cy="633984"/>
            </a:xfrm>
            <a:custGeom>
              <a:avLst/>
              <a:gdLst/>
              <a:ahLst/>
              <a:cxnLst/>
              <a:rect l="l" t="t" r="r" b="b"/>
              <a:pathLst>
                <a:path w="19507200" h="633984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633984"/>
                  </a:lnTo>
                  <a:lnTo>
                    <a:pt x="0" y="63398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7"/>
            <p:cNvSpPr txBox="1"/>
            <p:nvPr/>
          </p:nvSpPr>
          <p:spPr>
            <a:xfrm>
              <a:off x="0" y="-47625"/>
              <a:ext cx="19507200" cy="681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Upper immediate (LUI, AUIPC)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p7"/>
          <p:cNvGrpSpPr/>
          <p:nvPr/>
        </p:nvGrpSpPr>
        <p:grpSpPr>
          <a:xfrm>
            <a:off x="2834640" y="7963281"/>
            <a:ext cx="14630400" cy="430911"/>
            <a:chOff x="0" y="-38100"/>
            <a:chExt cx="19507200" cy="574548"/>
          </a:xfrm>
        </p:grpSpPr>
        <p:sp>
          <p:nvSpPr>
            <p:cNvPr id="689" name="Google Shape;689;p7"/>
            <p:cNvSpPr/>
            <p:nvPr/>
          </p:nvSpPr>
          <p:spPr>
            <a:xfrm>
              <a:off x="0" y="0"/>
              <a:ext cx="19507200" cy="536448"/>
            </a:xfrm>
            <a:custGeom>
              <a:avLst/>
              <a:gdLst/>
              <a:ahLst/>
              <a:cxnLst/>
              <a:rect l="l" t="t" r="r" b="b"/>
              <a:pathLst>
                <a:path w="19507200" h="536448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658617" b="-65861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7"/>
            <p:cNvSpPr txBox="1"/>
            <p:nvPr/>
          </p:nvSpPr>
          <p:spPr>
            <a:xfrm>
              <a:off x="0" y="-38100"/>
              <a:ext cx="19507200" cy="574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6D5AB8"/>
                  </a:solidFill>
                  <a:latin typeface="Consolas"/>
                  <a:ea typeface="Consolas"/>
                  <a:cs typeface="Consolas"/>
                  <a:sym typeface="Consolas"/>
                </a:rPr>
                <a:t>imm[31:12] | rd | opcode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1" name="Google Shape;691;p7"/>
          <p:cNvGrpSpPr/>
          <p:nvPr/>
        </p:nvGrpSpPr>
        <p:grpSpPr>
          <a:xfrm>
            <a:off x="901703" y="8674103"/>
            <a:ext cx="1488376" cy="1049464"/>
            <a:chOff x="0" y="0"/>
            <a:chExt cx="1984502" cy="1399286"/>
          </a:xfrm>
        </p:grpSpPr>
        <p:sp>
          <p:nvSpPr>
            <p:cNvPr id="692" name="Google Shape;692;p7"/>
            <p:cNvSpPr/>
            <p:nvPr/>
          </p:nvSpPr>
          <p:spPr>
            <a:xfrm>
              <a:off x="16891" y="16891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2E7D6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0" y="0"/>
              <a:ext cx="1984502" cy="1399286"/>
            </a:xfrm>
            <a:custGeom>
              <a:avLst/>
              <a:gdLst/>
              <a:ahLst/>
              <a:cxnLst/>
              <a:rect l="l" t="t" r="r" b="b"/>
              <a:pathLst>
                <a:path w="1984502" h="1399286" extrusionOk="0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382395"/>
                  </a:lnTo>
                  <a:cubicBezTo>
                    <a:pt x="1984502" y="1391793"/>
                    <a:pt x="1976882" y="1399286"/>
                    <a:pt x="1967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67611" y="1365504"/>
                  </a:lnTo>
                  <a:lnTo>
                    <a:pt x="1967611" y="1382395"/>
                  </a:lnTo>
                  <a:lnTo>
                    <a:pt x="1950720" y="13823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6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4" name="Google Shape;694;p7"/>
          <p:cNvGrpSpPr/>
          <p:nvPr/>
        </p:nvGrpSpPr>
        <p:grpSpPr>
          <a:xfrm>
            <a:off x="914400" y="8658225"/>
            <a:ext cx="1463040" cy="1052703"/>
            <a:chOff x="0" y="-38100"/>
            <a:chExt cx="1950720" cy="1403604"/>
          </a:xfrm>
        </p:grpSpPr>
        <p:sp>
          <p:nvSpPr>
            <p:cNvPr id="695" name="Google Shape;695;p7"/>
            <p:cNvSpPr/>
            <p:nvPr/>
          </p:nvSpPr>
          <p:spPr>
            <a:xfrm>
              <a:off x="0" y="0"/>
              <a:ext cx="1950720" cy="1365504"/>
            </a:xfrm>
            <a:custGeom>
              <a:avLst/>
              <a:gdLst/>
              <a:ahLst/>
              <a:cxnLst/>
              <a:rect l="l" t="t" r="r" b="b"/>
              <a:pathLst>
                <a:path w="1950720" h="1365504" extrusionOk="0">
                  <a:moveTo>
                    <a:pt x="0" y="0"/>
                  </a:moveTo>
                  <a:lnTo>
                    <a:pt x="1950720" y="0"/>
                  </a:lnTo>
                  <a:lnTo>
                    <a:pt x="1950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7"/>
            <p:cNvSpPr txBox="1"/>
            <p:nvPr/>
          </p:nvSpPr>
          <p:spPr>
            <a:xfrm>
              <a:off x="0" y="-38100"/>
              <a:ext cx="1950720" cy="140360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J-type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" name="Google Shape;697;p7"/>
          <p:cNvGrpSpPr/>
          <p:nvPr/>
        </p:nvGrpSpPr>
        <p:grpSpPr>
          <a:xfrm>
            <a:off x="2584199" y="8674103"/>
            <a:ext cx="14802040" cy="1049464"/>
            <a:chOff x="0" y="0"/>
            <a:chExt cx="19736053" cy="1399286"/>
          </a:xfrm>
        </p:grpSpPr>
        <p:sp>
          <p:nvSpPr>
            <p:cNvPr id="698" name="Google Shape;698;p7"/>
            <p:cNvSpPr/>
            <p:nvPr/>
          </p:nvSpPr>
          <p:spPr>
            <a:xfrm>
              <a:off x="16891" y="16891"/>
              <a:ext cx="19702271" cy="1365504"/>
            </a:xfrm>
            <a:custGeom>
              <a:avLst/>
              <a:gdLst/>
              <a:ahLst/>
              <a:cxnLst/>
              <a:rect l="l" t="t" r="r" b="b"/>
              <a:pathLst>
                <a:path w="19702271" h="1365504" extrusionOk="0">
                  <a:moveTo>
                    <a:pt x="0" y="0"/>
                  </a:moveTo>
                  <a:lnTo>
                    <a:pt x="19702271" y="0"/>
                  </a:lnTo>
                  <a:lnTo>
                    <a:pt x="19702271" y="1365504"/>
                  </a:lnTo>
                  <a:lnTo>
                    <a:pt x="0" y="136550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0" y="0"/>
              <a:ext cx="19736053" cy="1399286"/>
            </a:xfrm>
            <a:custGeom>
              <a:avLst/>
              <a:gdLst/>
              <a:ahLst/>
              <a:cxnLst/>
              <a:rect l="l" t="t" r="r" b="b"/>
              <a:pathLst>
                <a:path w="19736053" h="1399286" extrusionOk="0">
                  <a:moveTo>
                    <a:pt x="16891" y="0"/>
                  </a:moveTo>
                  <a:lnTo>
                    <a:pt x="19719162" y="0"/>
                  </a:lnTo>
                  <a:cubicBezTo>
                    <a:pt x="19728560" y="0"/>
                    <a:pt x="19736053" y="7620"/>
                    <a:pt x="19736053" y="16891"/>
                  </a:cubicBezTo>
                  <a:lnTo>
                    <a:pt x="19736053" y="1382395"/>
                  </a:lnTo>
                  <a:cubicBezTo>
                    <a:pt x="19736053" y="1391793"/>
                    <a:pt x="19728433" y="1399286"/>
                    <a:pt x="19719162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9719162" y="1365504"/>
                  </a:lnTo>
                  <a:lnTo>
                    <a:pt x="19719162" y="1382395"/>
                  </a:lnTo>
                  <a:lnTo>
                    <a:pt x="19702272" y="1382395"/>
                  </a:lnTo>
                  <a:lnTo>
                    <a:pt x="19702272" y="16891"/>
                  </a:lnTo>
                  <a:lnTo>
                    <a:pt x="19719162" y="16891"/>
                  </a:lnTo>
                  <a:lnTo>
                    <a:pt x="19719162" y="33909"/>
                  </a:lnTo>
                  <a:lnTo>
                    <a:pt x="16891" y="33909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0" name="Google Shape;700;p7"/>
          <p:cNvGrpSpPr/>
          <p:nvPr/>
        </p:nvGrpSpPr>
        <p:grpSpPr>
          <a:xfrm>
            <a:off x="2834640" y="8724233"/>
            <a:ext cx="14630400" cy="511207"/>
            <a:chOff x="0" y="-47625"/>
            <a:chExt cx="19507200" cy="681609"/>
          </a:xfrm>
        </p:grpSpPr>
        <p:sp>
          <p:nvSpPr>
            <p:cNvPr id="701" name="Google Shape;701;p7"/>
            <p:cNvSpPr/>
            <p:nvPr/>
          </p:nvSpPr>
          <p:spPr>
            <a:xfrm>
              <a:off x="0" y="0"/>
              <a:ext cx="19507200" cy="633984"/>
            </a:xfrm>
            <a:custGeom>
              <a:avLst/>
              <a:gdLst/>
              <a:ahLst/>
              <a:cxnLst/>
              <a:rect l="l" t="t" r="r" b="b"/>
              <a:pathLst>
                <a:path w="19507200" h="633984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633984"/>
                  </a:lnTo>
                  <a:lnTo>
                    <a:pt x="0" y="63398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7"/>
            <p:cNvSpPr txBox="1"/>
            <p:nvPr/>
          </p:nvSpPr>
          <p:spPr>
            <a:xfrm>
              <a:off x="0" y="-47625"/>
              <a:ext cx="19507200" cy="681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Jump and link (JAL)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p7"/>
          <p:cNvGrpSpPr/>
          <p:nvPr/>
        </p:nvGrpSpPr>
        <p:grpSpPr>
          <a:xfrm>
            <a:off x="2834640" y="9206865"/>
            <a:ext cx="14630400" cy="430911"/>
            <a:chOff x="0" y="-38100"/>
            <a:chExt cx="19507200" cy="574548"/>
          </a:xfrm>
        </p:grpSpPr>
        <p:sp>
          <p:nvSpPr>
            <p:cNvPr id="704" name="Google Shape;704;p7"/>
            <p:cNvSpPr/>
            <p:nvPr/>
          </p:nvSpPr>
          <p:spPr>
            <a:xfrm>
              <a:off x="0" y="0"/>
              <a:ext cx="19507200" cy="536448"/>
            </a:xfrm>
            <a:custGeom>
              <a:avLst/>
              <a:gdLst/>
              <a:ahLst/>
              <a:cxnLst/>
              <a:rect l="l" t="t" r="r" b="b"/>
              <a:pathLst>
                <a:path w="19507200" h="536448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658617" b="-65861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7"/>
            <p:cNvSpPr txBox="1"/>
            <p:nvPr/>
          </p:nvSpPr>
          <p:spPr>
            <a:xfrm>
              <a:off x="0" y="-38100"/>
              <a:ext cx="19507200" cy="574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rgbClr val="2E7D6A"/>
                  </a:solidFill>
                  <a:latin typeface="Consolas"/>
                  <a:ea typeface="Consolas"/>
                  <a:cs typeface="Consolas"/>
                  <a:sym typeface="Consolas"/>
                </a:rPr>
                <a:t>imm[20|10:1|11|19:12] | rd | opcode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"/>
          <p:cNvSpPr/>
          <p:nvPr/>
        </p:nvSpPr>
        <p:spPr>
          <a:xfrm>
            <a:off x="706225" y="835750"/>
            <a:ext cx="16519500" cy="12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30"/>
              <a:buFont typeface="Calibri"/>
              <a:buNone/>
            </a:pPr>
            <a:r>
              <a:rPr lang="en-US" sz="4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Types &amp; PicoRV32 Config Flags</a:t>
            </a:r>
            <a:endParaRPr sz="4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8"/>
          <p:cNvSpPr/>
          <p:nvPr/>
        </p:nvSpPr>
        <p:spPr>
          <a:xfrm>
            <a:off x="795546" y="2055548"/>
            <a:ext cx="3552300" cy="474000"/>
          </a:xfrm>
          <a:prstGeom prst="roundRect">
            <a:avLst>
              <a:gd name="adj" fmla="val 35714"/>
            </a:avLst>
          </a:prstGeom>
          <a:solidFill>
            <a:srgbClr val="7DD3FC"/>
          </a:solidFill>
          <a:ln>
            <a:noFill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6" name="Google Shape;716;p8"/>
          <p:cNvSpPr/>
          <p:nvPr/>
        </p:nvSpPr>
        <p:spPr>
          <a:xfrm>
            <a:off x="795546" y="2665730"/>
            <a:ext cx="9769800" cy="644100"/>
          </a:xfrm>
          <a:prstGeom prst="rect">
            <a:avLst/>
          </a:prstGeom>
          <a:noFill/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7" name="Google Shape;717;p8"/>
          <p:cNvSpPr/>
          <p:nvPr/>
        </p:nvSpPr>
        <p:spPr>
          <a:xfrm>
            <a:off x="831072" y="2665730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8"/>
          <p:cNvSpPr/>
          <p:nvPr/>
        </p:nvSpPr>
        <p:spPr>
          <a:xfrm>
            <a:off x="1594872" y="2665730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Integer Arithmetic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8"/>
          <p:cNvSpPr/>
          <p:nvPr/>
        </p:nvSpPr>
        <p:spPr>
          <a:xfrm>
            <a:off x="5200718" y="2665730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ADD, SUB, ADDI, LUI, AUIPC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8"/>
          <p:cNvSpPr/>
          <p:nvPr/>
        </p:nvSpPr>
        <p:spPr>
          <a:xfrm>
            <a:off x="795546" y="3377608"/>
            <a:ext cx="9769800" cy="644100"/>
          </a:xfrm>
          <a:prstGeom prst="rect">
            <a:avLst/>
          </a:prstGeom>
          <a:solidFill>
            <a:srgbClr val="E8F0FE">
              <a:alpha val="60000"/>
            </a:srgbClr>
          </a:solidFill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1" name="Google Shape;721;p8"/>
          <p:cNvSpPr/>
          <p:nvPr/>
        </p:nvSpPr>
        <p:spPr>
          <a:xfrm>
            <a:off x="831072" y="3377608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8"/>
          <p:cNvSpPr/>
          <p:nvPr/>
        </p:nvSpPr>
        <p:spPr>
          <a:xfrm>
            <a:off x="1594872" y="3377608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Logic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8"/>
          <p:cNvSpPr/>
          <p:nvPr/>
        </p:nvSpPr>
        <p:spPr>
          <a:xfrm>
            <a:off x="5200718" y="3377608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AND, OR, XOR, ANDI, ORI, XORI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8"/>
          <p:cNvSpPr/>
          <p:nvPr/>
        </p:nvSpPr>
        <p:spPr>
          <a:xfrm>
            <a:off x="795546" y="4089487"/>
            <a:ext cx="9769800" cy="644100"/>
          </a:xfrm>
          <a:prstGeom prst="rect">
            <a:avLst/>
          </a:prstGeom>
          <a:noFill/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5" name="Google Shape;725;p8"/>
          <p:cNvSpPr/>
          <p:nvPr/>
        </p:nvSpPr>
        <p:spPr>
          <a:xfrm>
            <a:off x="831072" y="4089487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8"/>
          <p:cNvSpPr/>
          <p:nvPr/>
        </p:nvSpPr>
        <p:spPr>
          <a:xfrm>
            <a:off x="1594872" y="4089487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Shift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8"/>
          <p:cNvSpPr/>
          <p:nvPr/>
        </p:nvSpPr>
        <p:spPr>
          <a:xfrm>
            <a:off x="5200718" y="4089487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SLL, SRL, SRA, SLLI, SRLI, SRAI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8"/>
          <p:cNvSpPr/>
          <p:nvPr/>
        </p:nvSpPr>
        <p:spPr>
          <a:xfrm>
            <a:off x="795546" y="4801365"/>
            <a:ext cx="9769800" cy="644100"/>
          </a:xfrm>
          <a:prstGeom prst="rect">
            <a:avLst/>
          </a:prstGeom>
          <a:solidFill>
            <a:srgbClr val="E8F0FE">
              <a:alpha val="60000"/>
            </a:srgbClr>
          </a:solidFill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9" name="Google Shape;729;p8"/>
          <p:cNvSpPr/>
          <p:nvPr/>
        </p:nvSpPr>
        <p:spPr>
          <a:xfrm>
            <a:off x="831072" y="4801365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8"/>
          <p:cNvSpPr/>
          <p:nvPr/>
        </p:nvSpPr>
        <p:spPr>
          <a:xfrm>
            <a:off x="1594872" y="4801365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8"/>
          <p:cNvSpPr/>
          <p:nvPr/>
        </p:nvSpPr>
        <p:spPr>
          <a:xfrm>
            <a:off x="5200718" y="4801365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SLT, SLTU, SLTI, SLTIU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8"/>
          <p:cNvSpPr/>
          <p:nvPr/>
        </p:nvSpPr>
        <p:spPr>
          <a:xfrm>
            <a:off x="795546" y="5513243"/>
            <a:ext cx="9769800" cy="644100"/>
          </a:xfrm>
          <a:prstGeom prst="rect">
            <a:avLst/>
          </a:prstGeom>
          <a:noFill/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3" name="Google Shape;733;p8"/>
          <p:cNvSpPr/>
          <p:nvPr/>
        </p:nvSpPr>
        <p:spPr>
          <a:xfrm>
            <a:off x="831072" y="5513243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8"/>
          <p:cNvSpPr/>
          <p:nvPr/>
        </p:nvSpPr>
        <p:spPr>
          <a:xfrm>
            <a:off x="1594872" y="5513243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Loads / Stores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8"/>
          <p:cNvSpPr/>
          <p:nvPr/>
        </p:nvSpPr>
        <p:spPr>
          <a:xfrm>
            <a:off x="5200718" y="5513243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LW, LH, LB, SW, SH, SB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8"/>
          <p:cNvSpPr/>
          <p:nvPr/>
        </p:nvSpPr>
        <p:spPr>
          <a:xfrm>
            <a:off x="795546" y="6225122"/>
            <a:ext cx="9769800" cy="644100"/>
          </a:xfrm>
          <a:prstGeom prst="rect">
            <a:avLst/>
          </a:prstGeom>
          <a:solidFill>
            <a:srgbClr val="E8F0FE">
              <a:alpha val="60000"/>
            </a:srgbClr>
          </a:solidFill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7" name="Google Shape;737;p8"/>
          <p:cNvSpPr/>
          <p:nvPr/>
        </p:nvSpPr>
        <p:spPr>
          <a:xfrm>
            <a:off x="831072" y="6225122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8"/>
          <p:cNvSpPr/>
          <p:nvPr/>
        </p:nvSpPr>
        <p:spPr>
          <a:xfrm>
            <a:off x="1594872" y="6225122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Branches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8"/>
          <p:cNvSpPr/>
          <p:nvPr/>
        </p:nvSpPr>
        <p:spPr>
          <a:xfrm>
            <a:off x="5200718" y="6225122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BEQ, BNE, BLT, BGE, BLTU, BGEU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8"/>
          <p:cNvSpPr/>
          <p:nvPr/>
        </p:nvSpPr>
        <p:spPr>
          <a:xfrm>
            <a:off x="795546" y="6937000"/>
            <a:ext cx="9769800" cy="644100"/>
          </a:xfrm>
          <a:prstGeom prst="rect">
            <a:avLst/>
          </a:prstGeom>
          <a:noFill/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41" name="Google Shape;741;p8"/>
          <p:cNvSpPr/>
          <p:nvPr/>
        </p:nvSpPr>
        <p:spPr>
          <a:xfrm>
            <a:off x="831072" y="6937000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8"/>
          <p:cNvSpPr/>
          <p:nvPr/>
        </p:nvSpPr>
        <p:spPr>
          <a:xfrm>
            <a:off x="1594872" y="6937000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Jumps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8"/>
          <p:cNvSpPr/>
          <p:nvPr/>
        </p:nvSpPr>
        <p:spPr>
          <a:xfrm>
            <a:off x="5200718" y="6937000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JAL, JALR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8"/>
          <p:cNvSpPr/>
          <p:nvPr/>
        </p:nvSpPr>
        <p:spPr>
          <a:xfrm>
            <a:off x="795546" y="7648878"/>
            <a:ext cx="9769800" cy="644100"/>
          </a:xfrm>
          <a:prstGeom prst="rect">
            <a:avLst/>
          </a:prstGeom>
          <a:solidFill>
            <a:srgbClr val="E8F0FE">
              <a:alpha val="60000"/>
            </a:srgbClr>
          </a:solidFill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45" name="Google Shape;745;p8"/>
          <p:cNvSpPr/>
          <p:nvPr/>
        </p:nvSpPr>
        <p:spPr>
          <a:xfrm>
            <a:off x="831072" y="7648878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✘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8"/>
          <p:cNvSpPr/>
          <p:nvPr/>
        </p:nvSpPr>
        <p:spPr>
          <a:xfrm>
            <a:off x="1594872" y="7648878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Multiply (M ext.)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8"/>
          <p:cNvSpPr/>
          <p:nvPr/>
        </p:nvSpPr>
        <p:spPr>
          <a:xfrm>
            <a:off x="5200718" y="7648878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MUL, MULH, DIV, REM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8"/>
          <p:cNvSpPr/>
          <p:nvPr/>
        </p:nvSpPr>
        <p:spPr>
          <a:xfrm>
            <a:off x="795546" y="8360757"/>
            <a:ext cx="9769800" cy="644100"/>
          </a:xfrm>
          <a:prstGeom prst="rect">
            <a:avLst/>
          </a:prstGeom>
          <a:noFill/>
          <a:ln w="1530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49" name="Google Shape;749;p8"/>
          <p:cNvSpPr/>
          <p:nvPr/>
        </p:nvSpPr>
        <p:spPr>
          <a:xfrm>
            <a:off x="831072" y="8360757"/>
            <a:ext cx="7101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926"/>
              <a:buFont typeface="Calibri"/>
              <a:buNone/>
            </a:pPr>
            <a:r>
              <a:rPr lang="en-US" sz="18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✘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8"/>
          <p:cNvSpPr/>
          <p:nvPr/>
        </p:nvSpPr>
        <p:spPr>
          <a:xfrm>
            <a:off x="1594872" y="8360757"/>
            <a:ext cx="35523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Compressed (C ext.)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8"/>
          <p:cNvSpPr/>
          <p:nvPr/>
        </p:nvSpPr>
        <p:spPr>
          <a:xfrm>
            <a:off x="5200718" y="8360757"/>
            <a:ext cx="5328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455A64"/>
                </a:solidFill>
                <a:latin typeface="Consolas"/>
                <a:ea typeface="Consolas"/>
                <a:cs typeface="Consolas"/>
                <a:sym typeface="Consolas"/>
              </a:rPr>
              <a:t>16-bit encodings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8"/>
          <p:cNvSpPr/>
          <p:nvPr/>
        </p:nvSpPr>
        <p:spPr>
          <a:xfrm>
            <a:off x="11097963" y="2055548"/>
            <a:ext cx="3552300" cy="474000"/>
          </a:xfrm>
          <a:prstGeom prst="roundRect">
            <a:avLst>
              <a:gd name="adj" fmla="val 35714"/>
            </a:avLst>
          </a:prstGeom>
          <a:solidFill>
            <a:srgbClr val="7DD3FC"/>
          </a:solidFill>
          <a:ln>
            <a:noFill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3" name="Google Shape;753;p8"/>
          <p:cNvSpPr/>
          <p:nvPr/>
        </p:nvSpPr>
        <p:spPr>
          <a:xfrm>
            <a:off x="11097963" y="2665730"/>
            <a:ext cx="6394500" cy="1491300"/>
          </a:xfrm>
          <a:prstGeom prst="rect">
            <a:avLst/>
          </a:prstGeom>
          <a:noFill/>
          <a:ln w="2037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101900" dist="4076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4" name="Google Shape;754;p8"/>
          <p:cNvSpPr/>
          <p:nvPr/>
        </p:nvSpPr>
        <p:spPr>
          <a:xfrm>
            <a:off x="11097963" y="2665730"/>
            <a:ext cx="106500" cy="1491300"/>
          </a:xfrm>
          <a:prstGeom prst="rect">
            <a:avLst/>
          </a:prstGeom>
          <a:solidFill>
            <a:srgbClr val="6FA8DC"/>
          </a:solidFill>
          <a:ln w="20375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5" name="Google Shape;755;p8"/>
          <p:cNvSpPr/>
          <p:nvPr/>
        </p:nvSpPr>
        <p:spPr>
          <a:xfrm>
            <a:off x="11364405" y="2733528"/>
            <a:ext cx="5861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Config Flags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8"/>
          <p:cNvSpPr/>
          <p:nvPr/>
        </p:nvSpPr>
        <p:spPr>
          <a:xfrm>
            <a:off x="11364405" y="3208113"/>
            <a:ext cx="58614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ENABLE_MUL=0, ENABLE_DIV=0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COMPRESSED_ISA=0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BARREL_SHIFTER=0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8"/>
          <p:cNvSpPr/>
          <p:nvPr/>
        </p:nvSpPr>
        <p:spPr>
          <a:xfrm>
            <a:off x="11097963" y="4360678"/>
            <a:ext cx="6394500" cy="1491300"/>
          </a:xfrm>
          <a:prstGeom prst="rect">
            <a:avLst/>
          </a:prstGeom>
          <a:solidFill>
            <a:srgbClr val="FFFFFF"/>
          </a:solidFill>
          <a:ln w="2037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101900" dist="4076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8" name="Google Shape;758;p8"/>
          <p:cNvSpPr/>
          <p:nvPr/>
        </p:nvSpPr>
        <p:spPr>
          <a:xfrm>
            <a:off x="11097963" y="4360678"/>
            <a:ext cx="106500" cy="1491300"/>
          </a:xfrm>
          <a:prstGeom prst="rect">
            <a:avLst/>
          </a:prstGeom>
          <a:solidFill>
            <a:srgbClr val="6FA8DC"/>
          </a:solidFill>
          <a:ln w="20375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9" name="Google Shape;759;p8"/>
          <p:cNvSpPr/>
          <p:nvPr/>
        </p:nvSpPr>
        <p:spPr>
          <a:xfrm>
            <a:off x="11364405" y="4428476"/>
            <a:ext cx="5861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First Instruction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8"/>
          <p:cNvSpPr/>
          <p:nvPr/>
        </p:nvSpPr>
        <p:spPr>
          <a:xfrm>
            <a:off x="11364405" y="4903062"/>
            <a:ext cx="58614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0x00020137 = LUI x2, 0x20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→ Sets up stack pointer at boot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8"/>
          <p:cNvSpPr/>
          <p:nvPr/>
        </p:nvSpPr>
        <p:spPr>
          <a:xfrm>
            <a:off x="11097963" y="6055627"/>
            <a:ext cx="6394500" cy="1491300"/>
          </a:xfrm>
          <a:prstGeom prst="rect">
            <a:avLst/>
          </a:prstGeom>
          <a:solidFill>
            <a:srgbClr val="FFFFFF"/>
          </a:solidFill>
          <a:ln w="2037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101900" dist="4076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62" name="Google Shape;762;p8"/>
          <p:cNvSpPr/>
          <p:nvPr/>
        </p:nvSpPr>
        <p:spPr>
          <a:xfrm>
            <a:off x="11097963" y="6055627"/>
            <a:ext cx="106500" cy="1491300"/>
          </a:xfrm>
          <a:prstGeom prst="rect">
            <a:avLst/>
          </a:prstGeom>
          <a:solidFill>
            <a:srgbClr val="6FA8DC"/>
          </a:solidFill>
          <a:ln w="20375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63" name="Google Shape;763;p8"/>
          <p:cNvSpPr/>
          <p:nvPr/>
        </p:nvSpPr>
        <p:spPr>
          <a:xfrm>
            <a:off x="11364405" y="6123425"/>
            <a:ext cx="5861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Compiler Flag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8"/>
          <p:cNvSpPr/>
          <p:nvPr/>
        </p:nvSpPr>
        <p:spPr>
          <a:xfrm>
            <a:off x="11364405" y="6598010"/>
            <a:ext cx="58614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-march=rv32i -mabi=ilp32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Matches ENABLE_MUL=0 exactly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8"/>
          <p:cNvSpPr/>
          <p:nvPr/>
        </p:nvSpPr>
        <p:spPr>
          <a:xfrm>
            <a:off x="11097963" y="7750575"/>
            <a:ext cx="6394500" cy="1491300"/>
          </a:xfrm>
          <a:prstGeom prst="rect">
            <a:avLst/>
          </a:prstGeom>
          <a:solidFill>
            <a:srgbClr val="FFFFFF"/>
          </a:solidFill>
          <a:ln w="20375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101900" dist="4076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66" name="Google Shape;766;p8"/>
          <p:cNvSpPr/>
          <p:nvPr/>
        </p:nvSpPr>
        <p:spPr>
          <a:xfrm>
            <a:off x="11097963" y="7750575"/>
            <a:ext cx="106500" cy="1491300"/>
          </a:xfrm>
          <a:prstGeom prst="rect">
            <a:avLst/>
          </a:prstGeom>
          <a:solidFill>
            <a:srgbClr val="6FA8DC"/>
          </a:solidFill>
          <a:ln w="20375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725" tIns="146725" rIns="146725" bIns="1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67" name="Google Shape;767;p8"/>
          <p:cNvSpPr/>
          <p:nvPr/>
        </p:nvSpPr>
        <p:spPr>
          <a:xfrm>
            <a:off x="11364405" y="7818373"/>
            <a:ext cx="5861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5"/>
              <a:buFont typeface="Calibri"/>
              <a:buNone/>
            </a:pPr>
            <a:r>
              <a:rPr lang="en-US" sz="18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mem_instr Signal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8"/>
          <p:cNvSpPr/>
          <p:nvPr/>
        </p:nvSpPr>
        <p:spPr>
          <a:xfrm>
            <a:off x="11364405" y="8292959"/>
            <a:ext cx="58614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=1 → instruction fetch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44"/>
              <a:buFont typeface="Consolas"/>
              <a:buNone/>
            </a:pPr>
            <a:r>
              <a:rPr lang="en-US" sz="18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=0 → data access (LW/SW)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8"/>
          <p:cNvSpPr/>
          <p:nvPr/>
        </p:nvSpPr>
        <p:spPr>
          <a:xfrm>
            <a:off x="795546" y="2055548"/>
            <a:ext cx="3552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4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Instruction Support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8"/>
          <p:cNvSpPr/>
          <p:nvPr/>
        </p:nvSpPr>
        <p:spPr>
          <a:xfrm>
            <a:off x="11097963" y="2055548"/>
            <a:ext cx="3552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4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 Project-Specific Notes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" name="Google Shape;779;p9"/>
          <p:cNvGrpSpPr/>
          <p:nvPr/>
        </p:nvGrpSpPr>
        <p:grpSpPr>
          <a:xfrm>
            <a:off x="914400" y="457200"/>
            <a:ext cx="16459200" cy="1404989"/>
            <a:chOff x="0" y="0"/>
            <a:chExt cx="21945600" cy="1873319"/>
          </a:xfrm>
        </p:grpSpPr>
        <p:sp>
          <p:nvSpPr>
            <p:cNvPr id="780" name="Google Shape;780;p9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8837" b="-26883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9"/>
            <p:cNvSpPr txBox="1"/>
            <p:nvPr/>
          </p:nvSpPr>
          <p:spPr>
            <a:xfrm>
              <a:off x="0" y="513148"/>
              <a:ext cx="21945600" cy="1360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CPU Pipeline: IF / ID / EX / MEM / WB</a:t>
              </a:r>
              <a:endParaRPr sz="4800" b="1"/>
            </a:p>
          </p:txBody>
        </p:sp>
      </p:grpSp>
      <p:grpSp>
        <p:nvGrpSpPr>
          <p:cNvPr id="782" name="Google Shape;782;p9"/>
          <p:cNvGrpSpPr/>
          <p:nvPr/>
        </p:nvGrpSpPr>
        <p:grpSpPr>
          <a:xfrm>
            <a:off x="914400" y="1499616"/>
            <a:ext cx="16459200" cy="900142"/>
            <a:chOff x="0" y="0"/>
            <a:chExt cx="21945600" cy="1200189"/>
          </a:xfrm>
        </p:grpSpPr>
        <p:sp>
          <p:nvSpPr>
            <p:cNvPr id="783" name="Google Shape;783;p9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51002" b="-45100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9"/>
            <p:cNvSpPr txBox="1"/>
            <p:nvPr/>
          </p:nvSpPr>
          <p:spPr>
            <a:xfrm>
              <a:off x="0" y="308649"/>
              <a:ext cx="21945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Pipelining lets the CPU work on multiple instructions at the same time — like an assembly line.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5" name="Google Shape;785;p9"/>
          <p:cNvGrpSpPr/>
          <p:nvPr/>
        </p:nvGrpSpPr>
        <p:grpSpPr>
          <a:xfrm>
            <a:off x="901703" y="2456183"/>
            <a:ext cx="3042856" cy="2585656"/>
            <a:chOff x="0" y="0"/>
            <a:chExt cx="4057142" cy="3447542"/>
          </a:xfrm>
        </p:grpSpPr>
        <p:sp>
          <p:nvSpPr>
            <p:cNvPr id="786" name="Google Shape;786;p9"/>
            <p:cNvSpPr/>
            <p:nvPr/>
          </p:nvSpPr>
          <p:spPr>
            <a:xfrm>
              <a:off x="16891" y="16891"/>
              <a:ext cx="4023360" cy="3413760"/>
            </a:xfrm>
            <a:custGeom>
              <a:avLst/>
              <a:gdLst/>
              <a:ahLst/>
              <a:cxnLst/>
              <a:rect l="l" t="t" r="r" b="b"/>
              <a:pathLst>
                <a:path w="4023360" h="34137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9"/>
            <p:cNvSpPr/>
            <p:nvPr/>
          </p:nvSpPr>
          <p:spPr>
            <a:xfrm>
              <a:off x="0" y="0"/>
              <a:ext cx="4057142" cy="3447542"/>
            </a:xfrm>
            <a:custGeom>
              <a:avLst/>
              <a:gdLst/>
              <a:ahLst/>
              <a:cxnLst/>
              <a:rect l="l" t="t" r="r" b="b"/>
              <a:pathLst>
                <a:path w="4057142" h="34475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430651"/>
                  </a:lnTo>
                  <a:cubicBezTo>
                    <a:pt x="4057142" y="3440049"/>
                    <a:pt x="4049522" y="3447542"/>
                    <a:pt x="404025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4040251" y="3413760"/>
                  </a:lnTo>
                  <a:lnTo>
                    <a:pt x="4040251" y="3430651"/>
                  </a:lnTo>
                  <a:lnTo>
                    <a:pt x="4023360" y="34306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8" name="Google Shape;788;p9"/>
          <p:cNvGrpSpPr/>
          <p:nvPr/>
        </p:nvGrpSpPr>
        <p:grpSpPr>
          <a:xfrm>
            <a:off x="914400" y="2546033"/>
            <a:ext cx="3017520" cy="1020127"/>
            <a:chOff x="0" y="-19050"/>
            <a:chExt cx="4023360" cy="1360170"/>
          </a:xfrm>
        </p:grpSpPr>
        <p:sp>
          <p:nvSpPr>
            <p:cNvPr id="789" name="Google Shape;789;p9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9"/>
            <p:cNvSpPr txBox="1"/>
            <p:nvPr/>
          </p:nvSpPr>
          <p:spPr>
            <a:xfrm>
              <a:off x="0" y="-19050"/>
              <a:ext cx="4023360" cy="136017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9"/>
          <p:cNvGrpSpPr/>
          <p:nvPr/>
        </p:nvGrpSpPr>
        <p:grpSpPr>
          <a:xfrm>
            <a:off x="914400" y="3530441"/>
            <a:ext cx="3017520" cy="1407319"/>
            <a:chOff x="0" y="-47625"/>
            <a:chExt cx="4023360" cy="1876425"/>
          </a:xfrm>
        </p:grpSpPr>
        <p:sp>
          <p:nvSpPr>
            <p:cNvPr id="792" name="Google Shape;792;p9"/>
            <p:cNvSpPr/>
            <p:nvPr/>
          </p:nvSpPr>
          <p:spPr>
            <a:xfrm>
              <a:off x="0" y="0"/>
              <a:ext cx="4023360" cy="1828800"/>
            </a:xfrm>
            <a:custGeom>
              <a:avLst/>
              <a:gdLst/>
              <a:ahLst/>
              <a:cxnLst/>
              <a:rect l="l" t="t" r="r" b="b"/>
              <a:pathLst>
                <a:path w="4023360" h="182880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9"/>
            <p:cNvSpPr txBox="1"/>
            <p:nvPr/>
          </p:nvSpPr>
          <p:spPr>
            <a:xfrm>
              <a:off x="0" y="-47625"/>
              <a:ext cx="4023360" cy="18764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Instruction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Fetch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4" name="Google Shape;794;p9"/>
          <p:cNvSpPr/>
          <p:nvPr/>
        </p:nvSpPr>
        <p:spPr>
          <a:xfrm>
            <a:off x="3931949" y="3723637"/>
            <a:ext cx="329184" cy="50768"/>
          </a:xfrm>
          <a:custGeom>
            <a:avLst/>
            <a:gdLst/>
            <a:ahLst/>
            <a:cxnLst/>
            <a:rect l="l" t="t" r="r" b="b"/>
            <a:pathLst>
              <a:path w="438912" h="67691" extrusionOk="0">
                <a:moveTo>
                  <a:pt x="0" y="0"/>
                </a:moveTo>
                <a:lnTo>
                  <a:pt x="438912" y="0"/>
                </a:lnTo>
                <a:lnTo>
                  <a:pt x="438912" y="67691"/>
                </a:lnTo>
                <a:lnTo>
                  <a:pt x="0" y="67691"/>
                </a:lnTo>
                <a:close/>
              </a:path>
            </a:pathLst>
          </a:custGeom>
          <a:solidFill>
            <a:srgbClr val="2E74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5" name="Google Shape;795;p9"/>
          <p:cNvGrpSpPr/>
          <p:nvPr/>
        </p:nvGrpSpPr>
        <p:grpSpPr>
          <a:xfrm>
            <a:off x="901703" y="5254247"/>
            <a:ext cx="3042856" cy="3042856"/>
            <a:chOff x="0" y="0"/>
            <a:chExt cx="4057142" cy="4057142"/>
          </a:xfrm>
        </p:grpSpPr>
        <p:sp>
          <p:nvSpPr>
            <p:cNvPr id="796" name="Google Shape;796;p9"/>
            <p:cNvSpPr/>
            <p:nvPr/>
          </p:nvSpPr>
          <p:spPr>
            <a:xfrm>
              <a:off x="16891" y="16891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9"/>
            <p:cNvSpPr/>
            <p:nvPr/>
          </p:nvSpPr>
          <p:spPr>
            <a:xfrm>
              <a:off x="0" y="0"/>
              <a:ext cx="4057142" cy="4057142"/>
            </a:xfrm>
            <a:custGeom>
              <a:avLst/>
              <a:gdLst/>
              <a:ahLst/>
              <a:cxnLst/>
              <a:rect l="l" t="t" r="r" b="b"/>
              <a:pathLst>
                <a:path w="4057142" h="40571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4040251"/>
                  </a:lnTo>
                  <a:cubicBezTo>
                    <a:pt x="4057142" y="4049649"/>
                    <a:pt x="4049522" y="4057142"/>
                    <a:pt x="4040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4040251" y="4023360"/>
                  </a:lnTo>
                  <a:lnTo>
                    <a:pt x="4040251" y="4040251"/>
                  </a:lnTo>
                  <a:lnTo>
                    <a:pt x="4023360" y="40402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8" name="Google Shape;798;p9"/>
          <p:cNvGrpSpPr/>
          <p:nvPr/>
        </p:nvGrpSpPr>
        <p:grpSpPr>
          <a:xfrm>
            <a:off x="901703" y="5254247"/>
            <a:ext cx="3042856" cy="153354"/>
            <a:chOff x="0" y="0"/>
            <a:chExt cx="4057142" cy="204472"/>
          </a:xfrm>
        </p:grpSpPr>
        <p:sp>
          <p:nvSpPr>
            <p:cNvPr id="799" name="Google Shape;799;p9"/>
            <p:cNvSpPr/>
            <p:nvPr/>
          </p:nvSpPr>
          <p:spPr>
            <a:xfrm>
              <a:off x="16891" y="16891"/>
              <a:ext cx="4023360" cy="170688"/>
            </a:xfrm>
            <a:custGeom>
              <a:avLst/>
              <a:gdLst/>
              <a:ahLst/>
              <a:cxnLst/>
              <a:rect l="l" t="t" r="r" b="b"/>
              <a:pathLst>
                <a:path w="4023360" h="170688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9"/>
            <p:cNvSpPr/>
            <p:nvPr/>
          </p:nvSpPr>
          <p:spPr>
            <a:xfrm>
              <a:off x="0" y="0"/>
              <a:ext cx="4057142" cy="204472"/>
            </a:xfrm>
            <a:custGeom>
              <a:avLst/>
              <a:gdLst/>
              <a:ahLst/>
              <a:cxnLst/>
              <a:rect l="l" t="t" r="r" b="b"/>
              <a:pathLst>
                <a:path w="4057142" h="20447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187579"/>
                  </a:lnTo>
                  <a:cubicBezTo>
                    <a:pt x="4057142" y="196977"/>
                    <a:pt x="4049522" y="204470"/>
                    <a:pt x="4040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040251" y="170688"/>
                  </a:lnTo>
                  <a:lnTo>
                    <a:pt x="4040251" y="187579"/>
                  </a:lnTo>
                  <a:lnTo>
                    <a:pt x="4023360" y="187579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1" name="Google Shape;801;p9"/>
          <p:cNvSpPr txBox="1"/>
          <p:nvPr/>
        </p:nvSpPr>
        <p:spPr>
          <a:xfrm>
            <a:off x="1097280" y="5448300"/>
            <a:ext cx="2706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Read next instruction from memory using the PC register.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2" name="Google Shape;802;p9"/>
          <p:cNvGrpSpPr/>
          <p:nvPr/>
        </p:nvGrpSpPr>
        <p:grpSpPr>
          <a:xfrm>
            <a:off x="4230119" y="2456183"/>
            <a:ext cx="3042856" cy="2585656"/>
            <a:chOff x="0" y="0"/>
            <a:chExt cx="4057142" cy="3447542"/>
          </a:xfrm>
        </p:grpSpPr>
        <p:sp>
          <p:nvSpPr>
            <p:cNvPr id="803" name="Google Shape;803;p9"/>
            <p:cNvSpPr/>
            <p:nvPr/>
          </p:nvSpPr>
          <p:spPr>
            <a:xfrm>
              <a:off x="16891" y="16891"/>
              <a:ext cx="4023360" cy="3413760"/>
            </a:xfrm>
            <a:custGeom>
              <a:avLst/>
              <a:gdLst/>
              <a:ahLst/>
              <a:cxnLst/>
              <a:rect l="l" t="t" r="r" b="b"/>
              <a:pathLst>
                <a:path w="4023360" h="34137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0" y="0"/>
              <a:ext cx="4057142" cy="3447542"/>
            </a:xfrm>
            <a:custGeom>
              <a:avLst/>
              <a:gdLst/>
              <a:ahLst/>
              <a:cxnLst/>
              <a:rect l="l" t="t" r="r" b="b"/>
              <a:pathLst>
                <a:path w="4057142" h="34475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430651"/>
                  </a:lnTo>
                  <a:cubicBezTo>
                    <a:pt x="4057142" y="3440049"/>
                    <a:pt x="4049522" y="3447542"/>
                    <a:pt x="404025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4040251" y="3413760"/>
                  </a:lnTo>
                  <a:lnTo>
                    <a:pt x="4040251" y="3430651"/>
                  </a:lnTo>
                  <a:lnTo>
                    <a:pt x="4023360" y="34306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5" name="Google Shape;805;p9"/>
          <p:cNvGrpSpPr/>
          <p:nvPr/>
        </p:nvGrpSpPr>
        <p:grpSpPr>
          <a:xfrm>
            <a:off x="4242816" y="2546033"/>
            <a:ext cx="3017520" cy="1020127"/>
            <a:chOff x="0" y="-19050"/>
            <a:chExt cx="4023360" cy="1360170"/>
          </a:xfrm>
        </p:grpSpPr>
        <p:sp>
          <p:nvSpPr>
            <p:cNvPr id="806" name="Google Shape;806;p9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9"/>
            <p:cNvSpPr txBox="1"/>
            <p:nvPr/>
          </p:nvSpPr>
          <p:spPr>
            <a:xfrm>
              <a:off x="0" y="-19050"/>
              <a:ext cx="4023360" cy="136017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p9"/>
          <p:cNvGrpSpPr/>
          <p:nvPr/>
        </p:nvGrpSpPr>
        <p:grpSpPr>
          <a:xfrm>
            <a:off x="4242816" y="3530441"/>
            <a:ext cx="3017520" cy="1407319"/>
            <a:chOff x="0" y="-47625"/>
            <a:chExt cx="4023360" cy="1876425"/>
          </a:xfrm>
        </p:grpSpPr>
        <p:sp>
          <p:nvSpPr>
            <p:cNvPr id="809" name="Google Shape;809;p9"/>
            <p:cNvSpPr/>
            <p:nvPr/>
          </p:nvSpPr>
          <p:spPr>
            <a:xfrm>
              <a:off x="0" y="0"/>
              <a:ext cx="4023360" cy="1828800"/>
            </a:xfrm>
            <a:custGeom>
              <a:avLst/>
              <a:gdLst/>
              <a:ahLst/>
              <a:cxnLst/>
              <a:rect l="l" t="t" r="r" b="b"/>
              <a:pathLst>
                <a:path w="4023360" h="182880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9"/>
            <p:cNvSpPr txBox="1"/>
            <p:nvPr/>
          </p:nvSpPr>
          <p:spPr>
            <a:xfrm>
              <a:off x="0" y="-47625"/>
              <a:ext cx="4023360" cy="18764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Instruction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Decode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p9"/>
          <p:cNvSpPr/>
          <p:nvPr/>
        </p:nvSpPr>
        <p:spPr>
          <a:xfrm>
            <a:off x="7260365" y="3723637"/>
            <a:ext cx="329184" cy="50768"/>
          </a:xfrm>
          <a:custGeom>
            <a:avLst/>
            <a:gdLst/>
            <a:ahLst/>
            <a:cxnLst/>
            <a:rect l="l" t="t" r="r" b="b"/>
            <a:pathLst>
              <a:path w="438912" h="67691" extrusionOk="0">
                <a:moveTo>
                  <a:pt x="0" y="0"/>
                </a:moveTo>
                <a:lnTo>
                  <a:pt x="438912" y="0"/>
                </a:lnTo>
                <a:lnTo>
                  <a:pt x="438912" y="67691"/>
                </a:lnTo>
                <a:lnTo>
                  <a:pt x="0" y="67691"/>
                </a:lnTo>
                <a:close/>
              </a:path>
            </a:pathLst>
          </a:custGeom>
          <a:solidFill>
            <a:srgbClr val="2E74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2" name="Google Shape;812;p9"/>
          <p:cNvGrpSpPr/>
          <p:nvPr/>
        </p:nvGrpSpPr>
        <p:grpSpPr>
          <a:xfrm>
            <a:off x="4230119" y="5254247"/>
            <a:ext cx="3042856" cy="3042856"/>
            <a:chOff x="0" y="0"/>
            <a:chExt cx="4057142" cy="4057142"/>
          </a:xfrm>
        </p:grpSpPr>
        <p:sp>
          <p:nvSpPr>
            <p:cNvPr id="813" name="Google Shape;813;p9"/>
            <p:cNvSpPr/>
            <p:nvPr/>
          </p:nvSpPr>
          <p:spPr>
            <a:xfrm>
              <a:off x="16891" y="16891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0" y="0"/>
              <a:ext cx="4057142" cy="4057142"/>
            </a:xfrm>
            <a:custGeom>
              <a:avLst/>
              <a:gdLst/>
              <a:ahLst/>
              <a:cxnLst/>
              <a:rect l="l" t="t" r="r" b="b"/>
              <a:pathLst>
                <a:path w="4057142" h="40571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4040251"/>
                  </a:lnTo>
                  <a:cubicBezTo>
                    <a:pt x="4057142" y="4049649"/>
                    <a:pt x="4049522" y="4057142"/>
                    <a:pt x="4040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4040251" y="4023360"/>
                  </a:lnTo>
                  <a:lnTo>
                    <a:pt x="4040251" y="4040251"/>
                  </a:lnTo>
                  <a:lnTo>
                    <a:pt x="4023360" y="40402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5" name="Google Shape;815;p9"/>
          <p:cNvGrpSpPr/>
          <p:nvPr/>
        </p:nvGrpSpPr>
        <p:grpSpPr>
          <a:xfrm>
            <a:off x="4230119" y="5254247"/>
            <a:ext cx="3042856" cy="153354"/>
            <a:chOff x="0" y="0"/>
            <a:chExt cx="4057142" cy="204472"/>
          </a:xfrm>
        </p:grpSpPr>
        <p:sp>
          <p:nvSpPr>
            <p:cNvPr id="816" name="Google Shape;816;p9"/>
            <p:cNvSpPr/>
            <p:nvPr/>
          </p:nvSpPr>
          <p:spPr>
            <a:xfrm>
              <a:off x="16891" y="16891"/>
              <a:ext cx="4023360" cy="170688"/>
            </a:xfrm>
            <a:custGeom>
              <a:avLst/>
              <a:gdLst/>
              <a:ahLst/>
              <a:cxnLst/>
              <a:rect l="l" t="t" r="r" b="b"/>
              <a:pathLst>
                <a:path w="4023360" h="170688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9"/>
            <p:cNvSpPr/>
            <p:nvPr/>
          </p:nvSpPr>
          <p:spPr>
            <a:xfrm>
              <a:off x="0" y="0"/>
              <a:ext cx="4057142" cy="204472"/>
            </a:xfrm>
            <a:custGeom>
              <a:avLst/>
              <a:gdLst/>
              <a:ahLst/>
              <a:cxnLst/>
              <a:rect l="l" t="t" r="r" b="b"/>
              <a:pathLst>
                <a:path w="4057142" h="20447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187579"/>
                  </a:lnTo>
                  <a:cubicBezTo>
                    <a:pt x="4057142" y="196977"/>
                    <a:pt x="4049522" y="204470"/>
                    <a:pt x="4040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040251" y="170688"/>
                  </a:lnTo>
                  <a:lnTo>
                    <a:pt x="4040251" y="187579"/>
                  </a:lnTo>
                  <a:lnTo>
                    <a:pt x="4023360" y="187579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8" name="Google Shape;818;p9"/>
          <p:cNvSpPr txBox="1"/>
          <p:nvPr/>
        </p:nvSpPr>
        <p:spPr>
          <a:xfrm>
            <a:off x="4425696" y="5448300"/>
            <a:ext cx="2706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Decode the opcode, read source registers, generate control signals.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9" name="Google Shape;819;p9"/>
          <p:cNvGrpSpPr/>
          <p:nvPr/>
        </p:nvGrpSpPr>
        <p:grpSpPr>
          <a:xfrm>
            <a:off x="7558535" y="2456183"/>
            <a:ext cx="3042856" cy="2585656"/>
            <a:chOff x="0" y="0"/>
            <a:chExt cx="4057142" cy="3447542"/>
          </a:xfrm>
        </p:grpSpPr>
        <p:sp>
          <p:nvSpPr>
            <p:cNvPr id="820" name="Google Shape;820;p9"/>
            <p:cNvSpPr/>
            <p:nvPr/>
          </p:nvSpPr>
          <p:spPr>
            <a:xfrm>
              <a:off x="16891" y="16891"/>
              <a:ext cx="4023360" cy="3413760"/>
            </a:xfrm>
            <a:custGeom>
              <a:avLst/>
              <a:gdLst/>
              <a:ahLst/>
              <a:cxnLst/>
              <a:rect l="l" t="t" r="r" b="b"/>
              <a:pathLst>
                <a:path w="4023360" h="34137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0" y="0"/>
              <a:ext cx="4057142" cy="3447542"/>
            </a:xfrm>
            <a:custGeom>
              <a:avLst/>
              <a:gdLst/>
              <a:ahLst/>
              <a:cxnLst/>
              <a:rect l="l" t="t" r="r" b="b"/>
              <a:pathLst>
                <a:path w="4057142" h="34475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430651"/>
                  </a:lnTo>
                  <a:cubicBezTo>
                    <a:pt x="4057142" y="3440049"/>
                    <a:pt x="4049522" y="3447542"/>
                    <a:pt x="404025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4040251" y="3413760"/>
                  </a:lnTo>
                  <a:lnTo>
                    <a:pt x="4040251" y="3430651"/>
                  </a:lnTo>
                  <a:lnTo>
                    <a:pt x="4023360" y="34306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2" name="Google Shape;822;p9"/>
          <p:cNvGrpSpPr/>
          <p:nvPr/>
        </p:nvGrpSpPr>
        <p:grpSpPr>
          <a:xfrm>
            <a:off x="7571232" y="2546033"/>
            <a:ext cx="3017520" cy="1020127"/>
            <a:chOff x="0" y="-19050"/>
            <a:chExt cx="4023360" cy="1360170"/>
          </a:xfrm>
        </p:grpSpPr>
        <p:sp>
          <p:nvSpPr>
            <p:cNvPr id="823" name="Google Shape;823;p9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9"/>
            <p:cNvSpPr txBox="1"/>
            <p:nvPr/>
          </p:nvSpPr>
          <p:spPr>
            <a:xfrm>
              <a:off x="0" y="-19050"/>
              <a:ext cx="4023360" cy="136017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5" name="Google Shape;825;p9"/>
          <p:cNvGrpSpPr/>
          <p:nvPr/>
        </p:nvGrpSpPr>
        <p:grpSpPr>
          <a:xfrm>
            <a:off x="7571232" y="3530441"/>
            <a:ext cx="3017520" cy="1407319"/>
            <a:chOff x="0" y="-47625"/>
            <a:chExt cx="4023360" cy="1876425"/>
          </a:xfrm>
        </p:grpSpPr>
        <p:sp>
          <p:nvSpPr>
            <p:cNvPr id="826" name="Google Shape;826;p9"/>
            <p:cNvSpPr/>
            <p:nvPr/>
          </p:nvSpPr>
          <p:spPr>
            <a:xfrm>
              <a:off x="0" y="0"/>
              <a:ext cx="4023360" cy="1828800"/>
            </a:xfrm>
            <a:custGeom>
              <a:avLst/>
              <a:gdLst/>
              <a:ahLst/>
              <a:cxnLst/>
              <a:rect l="l" t="t" r="r" b="b"/>
              <a:pathLst>
                <a:path w="4023360" h="182880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9"/>
            <p:cNvSpPr txBox="1"/>
            <p:nvPr/>
          </p:nvSpPr>
          <p:spPr>
            <a:xfrm>
              <a:off x="0" y="-47625"/>
              <a:ext cx="4023360" cy="18764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Execute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8" name="Google Shape;828;p9"/>
          <p:cNvSpPr/>
          <p:nvPr/>
        </p:nvSpPr>
        <p:spPr>
          <a:xfrm>
            <a:off x="10588781" y="3723637"/>
            <a:ext cx="329184" cy="50768"/>
          </a:xfrm>
          <a:custGeom>
            <a:avLst/>
            <a:gdLst/>
            <a:ahLst/>
            <a:cxnLst/>
            <a:rect l="l" t="t" r="r" b="b"/>
            <a:pathLst>
              <a:path w="438912" h="67691" extrusionOk="0">
                <a:moveTo>
                  <a:pt x="0" y="0"/>
                </a:moveTo>
                <a:lnTo>
                  <a:pt x="438912" y="0"/>
                </a:lnTo>
                <a:lnTo>
                  <a:pt x="438912" y="67691"/>
                </a:lnTo>
                <a:lnTo>
                  <a:pt x="0" y="67691"/>
                </a:lnTo>
                <a:close/>
              </a:path>
            </a:pathLst>
          </a:custGeom>
          <a:solidFill>
            <a:srgbClr val="2E74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9" name="Google Shape;829;p9"/>
          <p:cNvGrpSpPr/>
          <p:nvPr/>
        </p:nvGrpSpPr>
        <p:grpSpPr>
          <a:xfrm>
            <a:off x="7558535" y="5254247"/>
            <a:ext cx="3042856" cy="3042856"/>
            <a:chOff x="0" y="0"/>
            <a:chExt cx="4057142" cy="4057142"/>
          </a:xfrm>
        </p:grpSpPr>
        <p:sp>
          <p:nvSpPr>
            <p:cNvPr id="830" name="Google Shape;830;p9"/>
            <p:cNvSpPr/>
            <p:nvPr/>
          </p:nvSpPr>
          <p:spPr>
            <a:xfrm>
              <a:off x="16891" y="16891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9"/>
            <p:cNvSpPr/>
            <p:nvPr/>
          </p:nvSpPr>
          <p:spPr>
            <a:xfrm>
              <a:off x="0" y="0"/>
              <a:ext cx="4057142" cy="4057142"/>
            </a:xfrm>
            <a:custGeom>
              <a:avLst/>
              <a:gdLst/>
              <a:ahLst/>
              <a:cxnLst/>
              <a:rect l="l" t="t" r="r" b="b"/>
              <a:pathLst>
                <a:path w="4057142" h="40571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4040251"/>
                  </a:lnTo>
                  <a:cubicBezTo>
                    <a:pt x="4057142" y="4049649"/>
                    <a:pt x="4049522" y="4057142"/>
                    <a:pt x="4040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4040251" y="4023360"/>
                  </a:lnTo>
                  <a:lnTo>
                    <a:pt x="4040251" y="4040251"/>
                  </a:lnTo>
                  <a:lnTo>
                    <a:pt x="4023360" y="40402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2" name="Google Shape;832;p9"/>
          <p:cNvGrpSpPr/>
          <p:nvPr/>
        </p:nvGrpSpPr>
        <p:grpSpPr>
          <a:xfrm>
            <a:off x="7558535" y="5254247"/>
            <a:ext cx="3042856" cy="153354"/>
            <a:chOff x="0" y="0"/>
            <a:chExt cx="4057142" cy="204472"/>
          </a:xfrm>
        </p:grpSpPr>
        <p:sp>
          <p:nvSpPr>
            <p:cNvPr id="833" name="Google Shape;833;p9"/>
            <p:cNvSpPr/>
            <p:nvPr/>
          </p:nvSpPr>
          <p:spPr>
            <a:xfrm>
              <a:off x="16891" y="16891"/>
              <a:ext cx="4023360" cy="170688"/>
            </a:xfrm>
            <a:custGeom>
              <a:avLst/>
              <a:gdLst/>
              <a:ahLst/>
              <a:cxnLst/>
              <a:rect l="l" t="t" r="r" b="b"/>
              <a:pathLst>
                <a:path w="4023360" h="170688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0" y="0"/>
              <a:ext cx="4057142" cy="204472"/>
            </a:xfrm>
            <a:custGeom>
              <a:avLst/>
              <a:gdLst/>
              <a:ahLst/>
              <a:cxnLst/>
              <a:rect l="l" t="t" r="r" b="b"/>
              <a:pathLst>
                <a:path w="4057142" h="20447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187579"/>
                  </a:lnTo>
                  <a:cubicBezTo>
                    <a:pt x="4057142" y="196977"/>
                    <a:pt x="4049522" y="204470"/>
                    <a:pt x="4040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040251" y="170688"/>
                  </a:lnTo>
                  <a:lnTo>
                    <a:pt x="4040251" y="187579"/>
                  </a:lnTo>
                  <a:lnTo>
                    <a:pt x="4023360" y="187579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4B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5" name="Google Shape;835;p9"/>
          <p:cNvSpPr txBox="1"/>
          <p:nvPr/>
        </p:nvSpPr>
        <p:spPr>
          <a:xfrm>
            <a:off x="7754112" y="5448300"/>
            <a:ext cx="2706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ALU performs computation: add, subtract, compare, shift, etc.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6" name="Google Shape;836;p9"/>
          <p:cNvGrpSpPr/>
          <p:nvPr/>
        </p:nvGrpSpPr>
        <p:grpSpPr>
          <a:xfrm>
            <a:off x="10886951" y="2456183"/>
            <a:ext cx="3042856" cy="2585656"/>
            <a:chOff x="0" y="0"/>
            <a:chExt cx="4057142" cy="3447542"/>
          </a:xfrm>
        </p:grpSpPr>
        <p:sp>
          <p:nvSpPr>
            <p:cNvPr id="837" name="Google Shape;837;p9"/>
            <p:cNvSpPr/>
            <p:nvPr/>
          </p:nvSpPr>
          <p:spPr>
            <a:xfrm>
              <a:off x="16891" y="16891"/>
              <a:ext cx="4023360" cy="3413760"/>
            </a:xfrm>
            <a:custGeom>
              <a:avLst/>
              <a:gdLst/>
              <a:ahLst/>
              <a:cxnLst/>
              <a:rect l="l" t="t" r="r" b="b"/>
              <a:pathLst>
                <a:path w="4023360" h="34137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F787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0" y="0"/>
              <a:ext cx="4057142" cy="3447542"/>
            </a:xfrm>
            <a:custGeom>
              <a:avLst/>
              <a:gdLst/>
              <a:ahLst/>
              <a:cxnLst/>
              <a:rect l="l" t="t" r="r" b="b"/>
              <a:pathLst>
                <a:path w="4057142" h="34475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430651"/>
                  </a:lnTo>
                  <a:cubicBezTo>
                    <a:pt x="4057142" y="3440049"/>
                    <a:pt x="4049522" y="3447542"/>
                    <a:pt x="404025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4040251" y="3413760"/>
                  </a:lnTo>
                  <a:lnTo>
                    <a:pt x="4040251" y="3430651"/>
                  </a:lnTo>
                  <a:lnTo>
                    <a:pt x="4023360" y="34306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787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9" name="Google Shape;839;p9"/>
          <p:cNvGrpSpPr/>
          <p:nvPr/>
        </p:nvGrpSpPr>
        <p:grpSpPr>
          <a:xfrm>
            <a:off x="10899648" y="2546032"/>
            <a:ext cx="3017520" cy="1020128"/>
            <a:chOff x="0" y="-19050"/>
            <a:chExt cx="4023360" cy="1360170"/>
          </a:xfrm>
        </p:grpSpPr>
        <p:sp>
          <p:nvSpPr>
            <p:cNvPr id="840" name="Google Shape;840;p9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9"/>
            <p:cNvSpPr txBox="1"/>
            <p:nvPr/>
          </p:nvSpPr>
          <p:spPr>
            <a:xfrm>
              <a:off x="0" y="-19050"/>
              <a:ext cx="4023360" cy="136017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9"/>
          <p:cNvGrpSpPr/>
          <p:nvPr/>
        </p:nvGrpSpPr>
        <p:grpSpPr>
          <a:xfrm>
            <a:off x="10899648" y="3530441"/>
            <a:ext cx="3017520" cy="1407319"/>
            <a:chOff x="0" y="-47625"/>
            <a:chExt cx="4023360" cy="1876425"/>
          </a:xfrm>
        </p:grpSpPr>
        <p:sp>
          <p:nvSpPr>
            <p:cNvPr id="843" name="Google Shape;843;p9"/>
            <p:cNvSpPr/>
            <p:nvPr/>
          </p:nvSpPr>
          <p:spPr>
            <a:xfrm>
              <a:off x="0" y="0"/>
              <a:ext cx="4023360" cy="1828800"/>
            </a:xfrm>
            <a:custGeom>
              <a:avLst/>
              <a:gdLst/>
              <a:ahLst/>
              <a:cxnLst/>
              <a:rect l="l" t="t" r="r" b="b"/>
              <a:pathLst>
                <a:path w="4023360" h="182880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9"/>
            <p:cNvSpPr txBox="1"/>
            <p:nvPr/>
          </p:nvSpPr>
          <p:spPr>
            <a:xfrm>
              <a:off x="0" y="-47625"/>
              <a:ext cx="4023360" cy="18764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5" name="Google Shape;845;p9"/>
          <p:cNvSpPr/>
          <p:nvPr/>
        </p:nvSpPr>
        <p:spPr>
          <a:xfrm>
            <a:off x="13917197" y="3723637"/>
            <a:ext cx="329184" cy="50768"/>
          </a:xfrm>
          <a:custGeom>
            <a:avLst/>
            <a:gdLst/>
            <a:ahLst/>
            <a:cxnLst/>
            <a:rect l="l" t="t" r="r" b="b"/>
            <a:pathLst>
              <a:path w="438912" h="67691" extrusionOk="0">
                <a:moveTo>
                  <a:pt x="0" y="0"/>
                </a:moveTo>
                <a:lnTo>
                  <a:pt x="438912" y="0"/>
                </a:lnTo>
                <a:lnTo>
                  <a:pt x="438912" y="67691"/>
                </a:lnTo>
                <a:lnTo>
                  <a:pt x="0" y="67691"/>
                </a:lnTo>
                <a:close/>
              </a:path>
            </a:pathLst>
          </a:custGeom>
          <a:solidFill>
            <a:srgbClr val="2E74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6" name="Google Shape;846;p9"/>
          <p:cNvGrpSpPr/>
          <p:nvPr/>
        </p:nvGrpSpPr>
        <p:grpSpPr>
          <a:xfrm>
            <a:off x="10886951" y="5254247"/>
            <a:ext cx="3042856" cy="3042856"/>
            <a:chOff x="0" y="0"/>
            <a:chExt cx="4057142" cy="4057142"/>
          </a:xfrm>
        </p:grpSpPr>
        <p:sp>
          <p:nvSpPr>
            <p:cNvPr id="847" name="Google Shape;847;p9"/>
            <p:cNvSpPr/>
            <p:nvPr/>
          </p:nvSpPr>
          <p:spPr>
            <a:xfrm>
              <a:off x="16891" y="16891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0" y="0"/>
              <a:ext cx="4057142" cy="4057142"/>
            </a:xfrm>
            <a:custGeom>
              <a:avLst/>
              <a:gdLst/>
              <a:ahLst/>
              <a:cxnLst/>
              <a:rect l="l" t="t" r="r" b="b"/>
              <a:pathLst>
                <a:path w="4057142" h="40571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4040251"/>
                  </a:lnTo>
                  <a:cubicBezTo>
                    <a:pt x="4057142" y="4049649"/>
                    <a:pt x="4049522" y="4057142"/>
                    <a:pt x="4040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4040251" y="4023360"/>
                  </a:lnTo>
                  <a:lnTo>
                    <a:pt x="4040251" y="4040251"/>
                  </a:lnTo>
                  <a:lnTo>
                    <a:pt x="4023360" y="40402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9" name="Google Shape;849;p9"/>
          <p:cNvGrpSpPr/>
          <p:nvPr/>
        </p:nvGrpSpPr>
        <p:grpSpPr>
          <a:xfrm>
            <a:off x="10886951" y="5254247"/>
            <a:ext cx="3042856" cy="153354"/>
            <a:chOff x="0" y="0"/>
            <a:chExt cx="4057142" cy="204472"/>
          </a:xfrm>
        </p:grpSpPr>
        <p:sp>
          <p:nvSpPr>
            <p:cNvPr id="850" name="Google Shape;850;p9"/>
            <p:cNvSpPr/>
            <p:nvPr/>
          </p:nvSpPr>
          <p:spPr>
            <a:xfrm>
              <a:off x="16891" y="16891"/>
              <a:ext cx="4023360" cy="170688"/>
            </a:xfrm>
            <a:custGeom>
              <a:avLst/>
              <a:gdLst/>
              <a:ahLst/>
              <a:cxnLst/>
              <a:rect l="l" t="t" r="r" b="b"/>
              <a:pathLst>
                <a:path w="4023360" h="170688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F787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0" y="0"/>
              <a:ext cx="4057142" cy="204472"/>
            </a:xfrm>
            <a:custGeom>
              <a:avLst/>
              <a:gdLst/>
              <a:ahLst/>
              <a:cxnLst/>
              <a:rect l="l" t="t" r="r" b="b"/>
              <a:pathLst>
                <a:path w="4057142" h="20447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187579"/>
                  </a:lnTo>
                  <a:cubicBezTo>
                    <a:pt x="4057142" y="196977"/>
                    <a:pt x="4049522" y="204470"/>
                    <a:pt x="4040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040251" y="170688"/>
                  </a:lnTo>
                  <a:lnTo>
                    <a:pt x="4040251" y="187579"/>
                  </a:lnTo>
                  <a:lnTo>
                    <a:pt x="4023360" y="187579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787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2" name="Google Shape;852;p9"/>
          <p:cNvSpPr txBox="1"/>
          <p:nvPr/>
        </p:nvSpPr>
        <p:spPr>
          <a:xfrm>
            <a:off x="11082528" y="5448300"/>
            <a:ext cx="2706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Load from or store to data memory (only LW/SW instructions).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3" name="Google Shape;853;p9"/>
          <p:cNvGrpSpPr/>
          <p:nvPr/>
        </p:nvGrpSpPr>
        <p:grpSpPr>
          <a:xfrm>
            <a:off x="14215367" y="2456183"/>
            <a:ext cx="3042857" cy="2585657"/>
            <a:chOff x="0" y="0"/>
            <a:chExt cx="4057142" cy="3447542"/>
          </a:xfrm>
        </p:grpSpPr>
        <p:sp>
          <p:nvSpPr>
            <p:cNvPr id="854" name="Google Shape;854;p9"/>
            <p:cNvSpPr/>
            <p:nvPr/>
          </p:nvSpPr>
          <p:spPr>
            <a:xfrm>
              <a:off x="16891" y="16891"/>
              <a:ext cx="4023360" cy="3413760"/>
            </a:xfrm>
            <a:custGeom>
              <a:avLst/>
              <a:gdLst/>
              <a:ahLst/>
              <a:cxnLst/>
              <a:rect l="l" t="t" r="r" b="b"/>
              <a:pathLst>
                <a:path w="4023360" h="34137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2A08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0" y="0"/>
              <a:ext cx="4057142" cy="3447542"/>
            </a:xfrm>
            <a:custGeom>
              <a:avLst/>
              <a:gdLst/>
              <a:ahLst/>
              <a:cxnLst/>
              <a:rect l="l" t="t" r="r" b="b"/>
              <a:pathLst>
                <a:path w="4057142" h="34475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430651"/>
                  </a:lnTo>
                  <a:cubicBezTo>
                    <a:pt x="4057142" y="3440049"/>
                    <a:pt x="4049522" y="3447542"/>
                    <a:pt x="404025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4040251" y="3413760"/>
                  </a:lnTo>
                  <a:lnTo>
                    <a:pt x="4040251" y="3430651"/>
                  </a:lnTo>
                  <a:lnTo>
                    <a:pt x="4023360" y="34306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2A08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6" name="Google Shape;856;p9"/>
          <p:cNvGrpSpPr/>
          <p:nvPr/>
        </p:nvGrpSpPr>
        <p:grpSpPr>
          <a:xfrm>
            <a:off x="14228064" y="2546033"/>
            <a:ext cx="3017520" cy="1020127"/>
            <a:chOff x="0" y="-19050"/>
            <a:chExt cx="4023360" cy="1360170"/>
          </a:xfrm>
        </p:grpSpPr>
        <p:sp>
          <p:nvSpPr>
            <p:cNvPr id="857" name="Google Shape;857;p9"/>
            <p:cNvSpPr/>
            <p:nvPr/>
          </p:nvSpPr>
          <p:spPr>
            <a:xfrm>
              <a:off x="0" y="0"/>
              <a:ext cx="4023360" cy="1341120"/>
            </a:xfrm>
            <a:custGeom>
              <a:avLst/>
              <a:gdLst/>
              <a:ahLst/>
              <a:cxnLst/>
              <a:rect l="l" t="t" r="r" b="b"/>
              <a:pathLst>
                <a:path w="4023360" h="134112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9"/>
            <p:cNvSpPr txBox="1"/>
            <p:nvPr/>
          </p:nvSpPr>
          <p:spPr>
            <a:xfrm>
              <a:off x="0" y="-19050"/>
              <a:ext cx="4023360" cy="136017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9"/>
          <p:cNvGrpSpPr/>
          <p:nvPr/>
        </p:nvGrpSpPr>
        <p:grpSpPr>
          <a:xfrm>
            <a:off x="14228064" y="3530441"/>
            <a:ext cx="3017520" cy="1407319"/>
            <a:chOff x="0" y="-47625"/>
            <a:chExt cx="4023360" cy="1876425"/>
          </a:xfrm>
        </p:grpSpPr>
        <p:sp>
          <p:nvSpPr>
            <p:cNvPr id="860" name="Google Shape;860;p9"/>
            <p:cNvSpPr/>
            <p:nvPr/>
          </p:nvSpPr>
          <p:spPr>
            <a:xfrm>
              <a:off x="0" y="0"/>
              <a:ext cx="4023360" cy="1828800"/>
            </a:xfrm>
            <a:custGeom>
              <a:avLst/>
              <a:gdLst/>
              <a:ahLst/>
              <a:cxnLst/>
              <a:rect l="l" t="t" r="r" b="b"/>
              <a:pathLst>
                <a:path w="4023360" h="182880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9"/>
            <p:cNvSpPr txBox="1"/>
            <p:nvPr/>
          </p:nvSpPr>
          <p:spPr>
            <a:xfrm>
              <a:off x="0" y="-47625"/>
              <a:ext cx="4023360" cy="18764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Write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D1F5F0"/>
                  </a:solidFill>
                  <a:latin typeface="Calibri"/>
                  <a:ea typeface="Calibri"/>
                  <a:cs typeface="Calibri"/>
                  <a:sym typeface="Calibri"/>
                </a:rPr>
                <a:t>Back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9"/>
          <p:cNvGrpSpPr/>
          <p:nvPr/>
        </p:nvGrpSpPr>
        <p:grpSpPr>
          <a:xfrm>
            <a:off x="14215367" y="5254247"/>
            <a:ext cx="3042856" cy="3042856"/>
            <a:chOff x="0" y="0"/>
            <a:chExt cx="4057142" cy="4057142"/>
          </a:xfrm>
        </p:grpSpPr>
        <p:sp>
          <p:nvSpPr>
            <p:cNvPr id="863" name="Google Shape;863;p9"/>
            <p:cNvSpPr/>
            <p:nvPr/>
          </p:nvSpPr>
          <p:spPr>
            <a:xfrm>
              <a:off x="16891" y="16891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0" y="0"/>
              <a:ext cx="4057142" cy="4057142"/>
            </a:xfrm>
            <a:custGeom>
              <a:avLst/>
              <a:gdLst/>
              <a:ahLst/>
              <a:cxnLst/>
              <a:rect l="l" t="t" r="r" b="b"/>
              <a:pathLst>
                <a:path w="4057142" h="405714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4040251"/>
                  </a:lnTo>
                  <a:cubicBezTo>
                    <a:pt x="4057142" y="4049649"/>
                    <a:pt x="4049522" y="4057142"/>
                    <a:pt x="40402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4040251" y="4023360"/>
                  </a:lnTo>
                  <a:lnTo>
                    <a:pt x="4040251" y="4040251"/>
                  </a:lnTo>
                  <a:lnTo>
                    <a:pt x="4023360" y="404025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" name="Google Shape;865;p9"/>
          <p:cNvGrpSpPr/>
          <p:nvPr/>
        </p:nvGrpSpPr>
        <p:grpSpPr>
          <a:xfrm>
            <a:off x="14215367" y="5254247"/>
            <a:ext cx="3042856" cy="153354"/>
            <a:chOff x="0" y="0"/>
            <a:chExt cx="4057142" cy="204472"/>
          </a:xfrm>
        </p:grpSpPr>
        <p:sp>
          <p:nvSpPr>
            <p:cNvPr id="866" name="Google Shape;866;p9"/>
            <p:cNvSpPr/>
            <p:nvPr/>
          </p:nvSpPr>
          <p:spPr>
            <a:xfrm>
              <a:off x="16891" y="16891"/>
              <a:ext cx="4023360" cy="170688"/>
            </a:xfrm>
            <a:custGeom>
              <a:avLst/>
              <a:gdLst/>
              <a:ahLst/>
              <a:cxnLst/>
              <a:rect l="l" t="t" r="r" b="b"/>
              <a:pathLst>
                <a:path w="4023360" h="170688" extrusionOk="0">
                  <a:moveTo>
                    <a:pt x="0" y="0"/>
                  </a:moveTo>
                  <a:lnTo>
                    <a:pt x="4023360" y="0"/>
                  </a:lnTo>
                  <a:lnTo>
                    <a:pt x="40233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2A08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0" y="0"/>
              <a:ext cx="4057142" cy="204472"/>
            </a:xfrm>
            <a:custGeom>
              <a:avLst/>
              <a:gdLst/>
              <a:ahLst/>
              <a:cxnLst/>
              <a:rect l="l" t="t" r="r" b="b"/>
              <a:pathLst>
                <a:path w="4057142" h="204472" extrusionOk="0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187579"/>
                  </a:lnTo>
                  <a:cubicBezTo>
                    <a:pt x="4057142" y="196977"/>
                    <a:pt x="4049522" y="204470"/>
                    <a:pt x="40402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040251" y="170688"/>
                  </a:lnTo>
                  <a:lnTo>
                    <a:pt x="4040251" y="187579"/>
                  </a:lnTo>
                  <a:lnTo>
                    <a:pt x="4023360" y="187579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2A08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8" name="Google Shape;868;p9"/>
          <p:cNvSpPr txBox="1"/>
          <p:nvPr/>
        </p:nvSpPr>
        <p:spPr>
          <a:xfrm>
            <a:off x="14410944" y="5448300"/>
            <a:ext cx="27066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Write the result back to the destination register.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9"/>
          <p:cNvSpPr/>
          <p:nvPr/>
        </p:nvSpPr>
        <p:spPr>
          <a:xfrm>
            <a:off x="914400" y="10282485"/>
            <a:ext cx="1737360" cy="379419"/>
          </a:xfrm>
          <a:custGeom>
            <a:avLst/>
            <a:gdLst/>
            <a:ahLst/>
            <a:cxnLst/>
            <a:rect l="l" t="t" r="r" b="b"/>
            <a:pathLst>
              <a:path w="2316480" h="505892" extrusionOk="0">
                <a:moveTo>
                  <a:pt x="0" y="0"/>
                </a:moveTo>
                <a:lnTo>
                  <a:pt x="2316480" y="0"/>
                </a:lnTo>
                <a:lnTo>
                  <a:pt x="2316480" y="505892"/>
                </a:lnTo>
                <a:lnTo>
                  <a:pt x="0" y="505892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t="-21742" b="-5670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9"/>
          <p:cNvSpPr/>
          <p:nvPr/>
        </p:nvSpPr>
        <p:spPr>
          <a:xfrm>
            <a:off x="901699" y="9442150"/>
            <a:ext cx="16110000" cy="640200"/>
          </a:xfrm>
          <a:prstGeom prst="rect">
            <a:avLst/>
          </a:prstGeom>
          <a:solidFill>
            <a:srgbClr val="FFF8E1"/>
          </a:solidFill>
          <a:ln w="19050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9"/>
          <p:cNvSpPr/>
          <p:nvPr/>
        </p:nvSpPr>
        <p:spPr>
          <a:xfrm>
            <a:off x="1140617" y="9469582"/>
            <a:ext cx="155298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050"/>
              <a:buFont typeface="Calibri"/>
              <a:buNone/>
            </a:pPr>
            <a:r>
              <a:rPr lang="en-US" sz="2000" b="0" i="0" u="none" strike="noStrike" cap="non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⚠  PicoRV32 Stall Rule: CPU holds mem_valid=1 and freezes ALL signals until peripheral asserts mem_ready=1 (one cycle pulse). Only ONE outstanding transaction at a time — no out-of-order execution.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9"/>
          <p:cNvSpPr/>
          <p:nvPr/>
        </p:nvSpPr>
        <p:spPr>
          <a:xfrm>
            <a:off x="1097275" y="6641550"/>
            <a:ext cx="2706600" cy="15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mem_valid=1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mem_instr=1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PC → mem_addr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9"/>
          <p:cNvSpPr/>
          <p:nvPr/>
        </p:nvSpPr>
        <p:spPr>
          <a:xfrm>
            <a:off x="4398238" y="6658888"/>
            <a:ext cx="2706600" cy="15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Decode opcode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Read rs1, rs2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Sign-extend imm</a:t>
            </a:r>
            <a:endParaRPr sz="2000">
              <a:solidFill>
                <a:srgbClr val="0D1B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4" name="Google Shape;874;p9"/>
          <p:cNvSpPr/>
          <p:nvPr/>
        </p:nvSpPr>
        <p:spPr>
          <a:xfrm>
            <a:off x="7726663" y="6905000"/>
            <a:ext cx="2706600" cy="15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ALU operation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Branch compare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Address calc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endParaRPr sz="2000">
              <a:solidFill>
                <a:srgbClr val="0D1B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5" name="Google Shape;875;p9"/>
          <p:cNvSpPr/>
          <p:nvPr/>
        </p:nvSpPr>
        <p:spPr>
          <a:xfrm>
            <a:off x="11055075" y="6645175"/>
            <a:ext cx="2706600" cy="15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mem_valid=1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Stall until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mem_ready=1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endParaRPr sz="2000">
              <a:solidFill>
                <a:srgbClr val="0D1B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6" name="Google Shape;876;p9"/>
          <p:cNvSpPr/>
          <p:nvPr/>
        </p:nvSpPr>
        <p:spPr>
          <a:xfrm>
            <a:off x="14383475" y="6645175"/>
            <a:ext cx="2706600" cy="15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mem_rdata 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register file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r>
              <a:rPr lang="en-US" sz="2000">
                <a:solidFill>
                  <a:srgbClr val="0D1B2E"/>
                </a:solidFill>
                <a:latin typeface="Consolas"/>
                <a:ea typeface="Consolas"/>
                <a:cs typeface="Consolas"/>
                <a:sym typeface="Consolas"/>
              </a:rPr>
              <a:t>Update rd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00"/>
              <a:buFont typeface="Consolas"/>
              <a:buNone/>
            </a:pPr>
            <a:endParaRPr sz="2000">
              <a:solidFill>
                <a:srgbClr val="0D1B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2" name="Google Shape;882;g3e6a01a83d9_0_321"/>
          <p:cNvGraphicFramePr/>
          <p:nvPr/>
        </p:nvGraphicFramePr>
        <p:xfrm>
          <a:off x="895970" y="2682113"/>
          <a:ext cx="14089825" cy="4443650"/>
        </p:xfrm>
        <a:graphic>
          <a:graphicData uri="http://schemas.openxmlformats.org/drawingml/2006/table">
            <a:tbl>
              <a:tblPr>
                <a:noFill/>
                <a:tableStyleId>{82C5BE33-1F8A-4EB3-BEDC-1FB9BAF27BD4}</a:tableStyleId>
              </a:tblPr>
              <a:tblGrid>
                <a:gridCol w="254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Width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D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5C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D2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mem_valid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CPU→MEM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D1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 pending — hold HIGH until mem_ready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5C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D2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mem_instr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CPU→MEM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D1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= instruction fetch,  0 = data access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5C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D2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mem_addr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CPU→MEM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D1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address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5C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D2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mem_wdata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CPU→MEM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D1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data (stores only)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5C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D2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mem_wstrb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CPU→MEM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D1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 write enable: 0=read, 0xF=32-bit write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5C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D2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mem_ready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MEM→CPU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D1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Transaction accepted (one-cycle pulse)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2B5C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D2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mem_rdata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MEM→CPU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D1B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 data — valid same cycle as mem_ready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BDEF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83" name="Google Shape;883;g3e6a01a83d9_0_321"/>
          <p:cNvSpPr/>
          <p:nvPr/>
        </p:nvSpPr>
        <p:spPr>
          <a:xfrm>
            <a:off x="895975" y="7517125"/>
            <a:ext cx="3322200" cy="474300"/>
          </a:xfrm>
          <a:prstGeom prst="roundRect">
            <a:avLst>
              <a:gd name="adj" fmla="val 35714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g3e6a01a83d9_0_321"/>
          <p:cNvSpPr/>
          <p:nvPr/>
        </p:nvSpPr>
        <p:spPr>
          <a:xfrm>
            <a:off x="895975" y="8093376"/>
            <a:ext cx="3654600" cy="1864500"/>
          </a:xfrm>
          <a:prstGeom prst="rect">
            <a:avLst/>
          </a:prstGeom>
          <a:solidFill>
            <a:srgbClr val="E8F0FE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g3e6a01a83d9_0_321"/>
          <p:cNvSpPr/>
          <p:nvPr/>
        </p:nvSpPr>
        <p:spPr>
          <a:xfrm>
            <a:off x="895975" y="8093376"/>
            <a:ext cx="5817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g3e6a01a83d9_0_321"/>
          <p:cNvSpPr/>
          <p:nvPr/>
        </p:nvSpPr>
        <p:spPr>
          <a:xfrm>
            <a:off x="995639" y="8161170"/>
            <a:ext cx="431700" cy="440400"/>
          </a:xfrm>
          <a:prstGeom prst="ellipse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g3e6a01a83d9_0_321"/>
          <p:cNvSpPr/>
          <p:nvPr/>
        </p:nvSpPr>
        <p:spPr>
          <a:xfrm>
            <a:off x="995639" y="8161170"/>
            <a:ext cx="4317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e6a01a83d9_0_321"/>
          <p:cNvSpPr/>
          <p:nvPr/>
        </p:nvSpPr>
        <p:spPr>
          <a:xfrm>
            <a:off x="1062081" y="8635730"/>
            <a:ext cx="34047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50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CPU drives mem_valid=1 and holds ALL signals stable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9" name="Google Shape;889;g3e6a01a83d9_0_321"/>
          <p:cNvCxnSpPr/>
          <p:nvPr/>
        </p:nvCxnSpPr>
        <p:spPr>
          <a:xfrm>
            <a:off x="4583530" y="9008598"/>
            <a:ext cx="232500" cy="0"/>
          </a:xfrm>
          <a:prstGeom prst="straightConnector1">
            <a:avLst/>
          </a:prstGeom>
          <a:noFill/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0" name="Google Shape;890;g3e6a01a83d9_0_321"/>
          <p:cNvSpPr/>
          <p:nvPr/>
        </p:nvSpPr>
        <p:spPr>
          <a:xfrm>
            <a:off x="4849300" y="8093376"/>
            <a:ext cx="3654600" cy="18645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g3e6a01a83d9_0_321"/>
          <p:cNvSpPr/>
          <p:nvPr/>
        </p:nvSpPr>
        <p:spPr>
          <a:xfrm>
            <a:off x="4849300" y="8093376"/>
            <a:ext cx="5817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e6a01a83d9_0_321"/>
          <p:cNvSpPr/>
          <p:nvPr/>
        </p:nvSpPr>
        <p:spPr>
          <a:xfrm>
            <a:off x="4948964" y="8161170"/>
            <a:ext cx="431700" cy="440400"/>
          </a:xfrm>
          <a:prstGeom prst="ellipse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g3e6a01a83d9_0_321"/>
          <p:cNvSpPr/>
          <p:nvPr/>
        </p:nvSpPr>
        <p:spPr>
          <a:xfrm>
            <a:off x="4948964" y="8161170"/>
            <a:ext cx="4317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e6a01a83d9_0_321"/>
          <p:cNvSpPr/>
          <p:nvPr/>
        </p:nvSpPr>
        <p:spPr>
          <a:xfrm>
            <a:off x="5015406" y="8635730"/>
            <a:ext cx="34047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50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Memory / Peripheral asserts mem_ready=1 when ready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g3e6a01a83d9_0_321"/>
          <p:cNvCxnSpPr/>
          <p:nvPr/>
        </p:nvCxnSpPr>
        <p:spPr>
          <a:xfrm>
            <a:off x="8536855" y="9008598"/>
            <a:ext cx="232500" cy="0"/>
          </a:xfrm>
          <a:prstGeom prst="straightConnector1">
            <a:avLst/>
          </a:prstGeom>
          <a:noFill/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6" name="Google Shape;896;g3e6a01a83d9_0_321"/>
          <p:cNvSpPr/>
          <p:nvPr/>
        </p:nvSpPr>
        <p:spPr>
          <a:xfrm>
            <a:off x="8802625" y="8093376"/>
            <a:ext cx="3654600" cy="1864500"/>
          </a:xfrm>
          <a:prstGeom prst="rect">
            <a:avLst/>
          </a:prstGeom>
          <a:solidFill>
            <a:srgbClr val="E8F0FE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g3e6a01a83d9_0_321"/>
          <p:cNvSpPr/>
          <p:nvPr/>
        </p:nvSpPr>
        <p:spPr>
          <a:xfrm>
            <a:off x="8802625" y="8093376"/>
            <a:ext cx="5817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3e6a01a83d9_0_321"/>
          <p:cNvSpPr/>
          <p:nvPr/>
        </p:nvSpPr>
        <p:spPr>
          <a:xfrm>
            <a:off x="8902289" y="8161170"/>
            <a:ext cx="431700" cy="440400"/>
          </a:xfrm>
          <a:prstGeom prst="ellipse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g3e6a01a83d9_0_321"/>
          <p:cNvSpPr/>
          <p:nvPr/>
        </p:nvSpPr>
        <p:spPr>
          <a:xfrm>
            <a:off x="8902289" y="8161170"/>
            <a:ext cx="4317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3e6a01a83d9_0_321"/>
          <p:cNvSpPr/>
          <p:nvPr/>
        </p:nvSpPr>
        <p:spPr>
          <a:xfrm>
            <a:off x="8968731" y="8635730"/>
            <a:ext cx="34047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50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Transfer occurs at the clock edge when BOTH are HIGH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1" name="Google Shape;901;g3e6a01a83d9_0_321"/>
          <p:cNvCxnSpPr/>
          <p:nvPr/>
        </p:nvCxnSpPr>
        <p:spPr>
          <a:xfrm>
            <a:off x="12490180" y="9008598"/>
            <a:ext cx="232500" cy="0"/>
          </a:xfrm>
          <a:prstGeom prst="straightConnector1">
            <a:avLst/>
          </a:prstGeom>
          <a:noFill/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2" name="Google Shape;902;g3e6a01a83d9_0_321"/>
          <p:cNvSpPr/>
          <p:nvPr/>
        </p:nvSpPr>
        <p:spPr>
          <a:xfrm>
            <a:off x="12755950" y="8093376"/>
            <a:ext cx="3654600" cy="186450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g3e6a01a83d9_0_321"/>
          <p:cNvSpPr/>
          <p:nvPr/>
        </p:nvSpPr>
        <p:spPr>
          <a:xfrm>
            <a:off x="12755950" y="8093376"/>
            <a:ext cx="5817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e6a01a83d9_0_321"/>
          <p:cNvSpPr/>
          <p:nvPr/>
        </p:nvSpPr>
        <p:spPr>
          <a:xfrm>
            <a:off x="12855613" y="8161170"/>
            <a:ext cx="431700" cy="440400"/>
          </a:xfrm>
          <a:prstGeom prst="ellipse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g3e6a01a83d9_0_321"/>
          <p:cNvSpPr/>
          <p:nvPr/>
        </p:nvSpPr>
        <p:spPr>
          <a:xfrm>
            <a:off x="12855613" y="8161170"/>
            <a:ext cx="4317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g3e6a01a83d9_0_321"/>
          <p:cNvSpPr/>
          <p:nvPr/>
        </p:nvSpPr>
        <p:spPr>
          <a:xfrm>
            <a:off x="12922056" y="8635730"/>
            <a:ext cx="34047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950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Only ONE outstanding transaction (CPU stalls pipeline)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3e6a01a83d9_0_321"/>
          <p:cNvSpPr/>
          <p:nvPr/>
        </p:nvSpPr>
        <p:spPr>
          <a:xfrm>
            <a:off x="676850" y="1259450"/>
            <a:ext cx="1215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PicoRV32 Native Memory Interface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e6a01a83d9_0_321"/>
          <p:cNvSpPr/>
          <p:nvPr/>
        </p:nvSpPr>
        <p:spPr>
          <a:xfrm>
            <a:off x="895975" y="7517125"/>
            <a:ext cx="33222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⟳  Handshake Rule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0"/>
          <p:cNvSpPr/>
          <p:nvPr/>
        </p:nvSpPr>
        <p:spPr>
          <a:xfrm>
            <a:off x="900956" y="1239800"/>
            <a:ext cx="136992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Hazards &amp; PicoRV32 Trap Behavior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0"/>
          <p:cNvSpPr/>
          <p:nvPr/>
        </p:nvSpPr>
        <p:spPr>
          <a:xfrm>
            <a:off x="900944" y="2098575"/>
            <a:ext cx="15636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428"/>
              <a:buFont typeface="Calibri"/>
              <a:buNone/>
            </a:pPr>
            <a:r>
              <a:rPr lang="en-US" sz="180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TWO_STAGE_SHIFT · CATCH_ILLINSN · trap Signal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0"/>
          <p:cNvSpPr/>
          <p:nvPr/>
        </p:nvSpPr>
        <p:spPr>
          <a:xfrm>
            <a:off x="900950" y="2682991"/>
            <a:ext cx="7566000" cy="6742200"/>
          </a:xfrm>
          <a:prstGeom prst="rect">
            <a:avLst/>
          </a:prstGeom>
          <a:noFill/>
          <a:ln w="1815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  <a:effectLst>
            <a:outerShdw blurRad="90700" dist="3628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30575" tIns="130575" rIns="130575" bIns="13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0"/>
          <p:cNvSpPr/>
          <p:nvPr/>
        </p:nvSpPr>
        <p:spPr>
          <a:xfrm>
            <a:off x="1153150" y="2770138"/>
            <a:ext cx="3802200" cy="4719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3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🔀  Branch Hazards (General)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0"/>
          <p:cNvSpPr/>
          <p:nvPr/>
        </p:nvSpPr>
        <p:spPr>
          <a:xfrm>
            <a:off x="1153157" y="3323522"/>
            <a:ext cx="7062000" cy="4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9779" marR="0" lvl="0" indent="-512474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Branch outcome not known until EX stage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9779" marR="0" lvl="0" indent="-512474" algn="l" rtl="0">
              <a:spcBef>
                <a:spcPts val="857"/>
              </a:spcBef>
              <a:spcAft>
                <a:spcPts val="0"/>
              </a:spcAft>
              <a:buClr>
                <a:srgbClr val="0D1B2E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Naïve pipeline fetches next sequential instruction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9779" marR="0" lvl="0" indent="-512474" algn="l" rtl="0">
              <a:spcBef>
                <a:spcPts val="857"/>
              </a:spcBef>
              <a:spcAft>
                <a:spcPts val="0"/>
              </a:spcAft>
              <a:buClr>
                <a:srgbClr val="0D1B2E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If branch taken → fetched instruction must be flushed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9779" marR="0" lvl="0" indent="-512474" algn="l" rtl="0">
              <a:spcBef>
                <a:spcPts val="857"/>
              </a:spcBef>
              <a:spcAft>
                <a:spcPts val="0"/>
              </a:spcAft>
              <a:buClr>
                <a:srgbClr val="0D1B2E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Flush = wasted cycle (1 pipeline bubble for PicoRV32)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9779" marR="0" lvl="0" indent="-512474" algn="l" rtl="0">
              <a:spcBef>
                <a:spcPts val="857"/>
              </a:spcBef>
              <a:spcAft>
                <a:spcPts val="0"/>
              </a:spcAft>
              <a:buClr>
                <a:srgbClr val="0D1B2E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PicoRV32 resolves branches in EX — simple stall, no speculation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0"/>
          <p:cNvSpPr/>
          <p:nvPr/>
        </p:nvSpPr>
        <p:spPr>
          <a:xfrm>
            <a:off x="8971575" y="2682991"/>
            <a:ext cx="7734600" cy="6742200"/>
          </a:xfrm>
          <a:prstGeom prst="rect">
            <a:avLst/>
          </a:prstGeom>
          <a:solidFill>
            <a:srgbClr val="E8F0FE">
              <a:alpha val="60000"/>
            </a:srgbClr>
          </a:solidFill>
          <a:ln w="1815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  <a:effectLst>
            <a:outerShdw blurRad="90700" dist="36280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30575" tIns="130575" rIns="130575" bIns="130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10"/>
          <p:cNvSpPr/>
          <p:nvPr/>
        </p:nvSpPr>
        <p:spPr>
          <a:xfrm>
            <a:off x="9173350" y="2770138"/>
            <a:ext cx="3681300" cy="47190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3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PicoRV32-Specific Behavior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0"/>
          <p:cNvSpPr/>
          <p:nvPr/>
        </p:nvSpPr>
        <p:spPr>
          <a:xfrm>
            <a:off x="9173341" y="3323522"/>
            <a:ext cx="72297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428"/>
              <a:buFont typeface="Consolas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TWO_STAGE_SHIFT=1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0"/>
          <p:cNvSpPr/>
          <p:nvPr/>
        </p:nvSpPr>
        <p:spPr>
          <a:xfrm>
            <a:off x="9173341" y="3795492"/>
            <a:ext cx="72297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28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Area optimization: shift ops take 2 cycles instead of 1. Saves LUTs in FPGA/ASIC implementation.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0"/>
          <p:cNvSpPr/>
          <p:nvPr/>
        </p:nvSpPr>
        <p:spPr>
          <a:xfrm>
            <a:off x="9173341" y="4806856"/>
            <a:ext cx="72297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428"/>
              <a:buFont typeface="Consolas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CATCH_ILLINSN=1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0"/>
          <p:cNvSpPr/>
          <p:nvPr/>
        </p:nvSpPr>
        <p:spPr>
          <a:xfrm>
            <a:off x="9173341" y="5278825"/>
            <a:ext cx="72297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28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Any undefined opcode raises the trap signal. Firmware can detect and handle CPU halt.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0"/>
          <p:cNvSpPr/>
          <p:nvPr/>
        </p:nvSpPr>
        <p:spPr>
          <a:xfrm>
            <a:off x="9173341" y="6290189"/>
            <a:ext cx="72297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428"/>
              <a:buFont typeface="Consolas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CATCH_MISALIGN=1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0"/>
          <p:cNvSpPr/>
          <p:nvPr/>
        </p:nvSpPr>
        <p:spPr>
          <a:xfrm>
            <a:off x="9173341" y="6762159"/>
            <a:ext cx="72297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28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Unaligned LW/SW (addr not multiple of 4) raises trap — important for AXI peripheral access.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0"/>
          <p:cNvSpPr/>
          <p:nvPr/>
        </p:nvSpPr>
        <p:spPr>
          <a:xfrm>
            <a:off x="9173341" y="7773523"/>
            <a:ext cx="72297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428"/>
              <a:buFont typeface="Consolas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onsolas"/>
                <a:ea typeface="Consolas"/>
                <a:cs typeface="Consolas"/>
                <a:sym typeface="Consolas"/>
              </a:rPr>
              <a:t>trap Signal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0"/>
          <p:cNvSpPr/>
          <p:nvPr/>
        </p:nvSpPr>
        <p:spPr>
          <a:xfrm>
            <a:off x="9173341" y="8245493"/>
            <a:ext cx="72297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E"/>
              </a:buClr>
              <a:buSzPts val="1428"/>
              <a:buFont typeface="Calibri"/>
              <a:buNone/>
            </a:pPr>
            <a:r>
              <a:rPr lang="en-US" sz="2000" b="0" i="0" u="none" strike="noStrike" cap="none">
                <a:solidFill>
                  <a:srgbClr val="0D1B2E"/>
                </a:solidFill>
                <a:latin typeface="Calibri"/>
                <a:ea typeface="Calibri"/>
                <a:cs typeface="Calibri"/>
                <a:sym typeface="Calibri"/>
              </a:rPr>
              <a:t>Goes HIGH when CPU hits illegal instruction or misaligned access. Not exposed at top-level in current design but observable in testbench.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e6a01a83d9_0_373"/>
          <p:cNvSpPr/>
          <p:nvPr/>
        </p:nvSpPr>
        <p:spPr>
          <a:xfrm>
            <a:off x="683157" y="1335050"/>
            <a:ext cx="141591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Lab: make pico — Run PicoRV32 Simulation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3e6a01a83d9_0_373"/>
          <p:cNvSpPr/>
          <p:nvPr/>
        </p:nvSpPr>
        <p:spPr>
          <a:xfrm>
            <a:off x="786463" y="2422580"/>
            <a:ext cx="754500" cy="687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 spcFirstLastPara="1" wrap="square" lIns="150625" tIns="150625" rIns="150625" bIns="150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39" name="Google Shape;939;g3e6a01a83d9_0_373"/>
          <p:cNvSpPr/>
          <p:nvPr/>
        </p:nvSpPr>
        <p:spPr>
          <a:xfrm>
            <a:off x="1746835" y="2344500"/>
            <a:ext cx="150915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2141"/>
              <a:buFont typeface="Calibri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Navigate to project root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3e6a01a83d9_0_373"/>
          <p:cNvSpPr/>
          <p:nvPr/>
        </p:nvSpPr>
        <p:spPr>
          <a:xfrm>
            <a:off x="1746835" y="2937904"/>
            <a:ext cx="15091500" cy="702900"/>
          </a:xfrm>
          <a:prstGeom prst="rect">
            <a:avLst/>
          </a:prstGeom>
          <a:solidFill>
            <a:srgbClr val="1A2B3C"/>
          </a:solidFill>
          <a:ln w="20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625" tIns="150625" rIns="150625" bIns="150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41" name="Google Shape;941;g3e6a01a83d9_0_373"/>
          <p:cNvSpPr/>
          <p:nvPr/>
        </p:nvSpPr>
        <p:spPr>
          <a:xfrm>
            <a:off x="1901180" y="2937904"/>
            <a:ext cx="14834100" cy="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12"/>
              <a:buFont typeface="Consolas"/>
              <a:buNone/>
            </a:pPr>
            <a:r>
              <a:rPr lang="en-US" sz="2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$ cd /path/to/picorv32_soc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e6a01a83d9_0_373"/>
          <p:cNvSpPr/>
          <p:nvPr/>
        </p:nvSpPr>
        <p:spPr>
          <a:xfrm>
            <a:off x="1746835" y="3703084"/>
            <a:ext cx="15091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647"/>
              <a:buFont typeface="Calibri"/>
              <a:buNone/>
            </a:pPr>
            <a:r>
              <a:rPr lang="en-US" sz="200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Ensure Makefile is present in this directory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e6a01a83d9_0_373"/>
          <p:cNvSpPr/>
          <p:nvPr/>
        </p:nvSpPr>
        <p:spPr>
          <a:xfrm>
            <a:off x="786463" y="4640038"/>
            <a:ext cx="754500" cy="687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 spcFirstLastPara="1" wrap="square" lIns="150625" tIns="150625" rIns="150625" bIns="150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44" name="Google Shape;944;g3e6a01a83d9_0_373"/>
          <p:cNvSpPr/>
          <p:nvPr/>
        </p:nvSpPr>
        <p:spPr>
          <a:xfrm>
            <a:off x="1746835" y="4561958"/>
            <a:ext cx="150915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2141"/>
              <a:buFont typeface="Calibri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Run standalone PicoRV32 simulation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g3e6a01a83d9_0_373"/>
          <p:cNvSpPr/>
          <p:nvPr/>
        </p:nvSpPr>
        <p:spPr>
          <a:xfrm>
            <a:off x="1746835" y="5155363"/>
            <a:ext cx="15091500" cy="702900"/>
          </a:xfrm>
          <a:prstGeom prst="rect">
            <a:avLst/>
          </a:prstGeom>
          <a:solidFill>
            <a:srgbClr val="1A2B3C"/>
          </a:solidFill>
          <a:ln w="20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625" tIns="150625" rIns="150625" bIns="150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46" name="Google Shape;946;g3e6a01a83d9_0_373"/>
          <p:cNvSpPr/>
          <p:nvPr/>
        </p:nvSpPr>
        <p:spPr>
          <a:xfrm>
            <a:off x="1901180" y="5155363"/>
            <a:ext cx="14834100" cy="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12"/>
              <a:buFont typeface="Consolas"/>
              <a:buNone/>
            </a:pPr>
            <a:r>
              <a:rPr lang="en-US" sz="2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$ make pico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g3e6a01a83d9_0_373"/>
          <p:cNvSpPr/>
          <p:nvPr/>
        </p:nvSpPr>
        <p:spPr>
          <a:xfrm>
            <a:off x="1746835" y="5920542"/>
            <a:ext cx="15091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647"/>
              <a:buFont typeface="Calibri"/>
              <a:buNone/>
            </a:pPr>
            <a:r>
              <a:rPr lang="en-US" sz="200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Builds firmware → Verilator compiles RTL → runs ./obj_pico/sim_pico → produces tb_picorv32.vcd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g3e6a01a83d9_0_373"/>
          <p:cNvSpPr/>
          <p:nvPr/>
        </p:nvSpPr>
        <p:spPr>
          <a:xfrm>
            <a:off x="786463" y="6857496"/>
            <a:ext cx="754500" cy="687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 spcFirstLastPara="1" wrap="square" lIns="150625" tIns="150625" rIns="150625" bIns="150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49" name="Google Shape;949;g3e6a01a83d9_0_373"/>
          <p:cNvSpPr/>
          <p:nvPr/>
        </p:nvSpPr>
        <p:spPr>
          <a:xfrm>
            <a:off x="1746835" y="6779417"/>
            <a:ext cx="150915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2141"/>
              <a:buFont typeface="Calibri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Open waveform in GTKWave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e6a01a83d9_0_373"/>
          <p:cNvSpPr/>
          <p:nvPr/>
        </p:nvSpPr>
        <p:spPr>
          <a:xfrm>
            <a:off x="1746835" y="7372821"/>
            <a:ext cx="15091500" cy="702900"/>
          </a:xfrm>
          <a:prstGeom prst="rect">
            <a:avLst/>
          </a:prstGeom>
          <a:solidFill>
            <a:srgbClr val="1A2B3C"/>
          </a:solidFill>
          <a:ln w="209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625" tIns="150625" rIns="150625" bIns="150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51" name="Google Shape;951;g3e6a01a83d9_0_373"/>
          <p:cNvSpPr/>
          <p:nvPr/>
        </p:nvSpPr>
        <p:spPr>
          <a:xfrm>
            <a:off x="1901180" y="7372821"/>
            <a:ext cx="14834100" cy="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12"/>
              <a:buFont typeface="Consolas"/>
              <a:buNone/>
            </a:pPr>
            <a:r>
              <a:rPr lang="en-US" sz="2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$ gtkwave tb_picorv32.vcd &amp;   OR:   make wave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g3e6a01a83d9_0_373"/>
          <p:cNvSpPr/>
          <p:nvPr/>
        </p:nvSpPr>
        <p:spPr>
          <a:xfrm>
            <a:off x="1746835" y="8138000"/>
            <a:ext cx="15091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647"/>
              <a:buFont typeface="Calibri"/>
              <a:buNone/>
            </a:pPr>
            <a:r>
              <a:rPr lang="en-US" sz="200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Add signals manually or load saved .gtkw config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g3e6a01a83d9_0_373"/>
          <p:cNvSpPr/>
          <p:nvPr/>
        </p:nvSpPr>
        <p:spPr>
          <a:xfrm>
            <a:off x="803600" y="9088350"/>
            <a:ext cx="16120200" cy="530700"/>
          </a:xfrm>
          <a:prstGeom prst="rect">
            <a:avLst/>
          </a:prstGeom>
          <a:solidFill>
            <a:srgbClr val="E8F0FE"/>
          </a:solidFill>
          <a:ln w="20925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625" tIns="150625" rIns="150625" bIns="150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954" name="Google Shape;954;g3e6a01a83d9_0_373"/>
          <p:cNvSpPr/>
          <p:nvPr/>
        </p:nvSpPr>
        <p:spPr>
          <a:xfrm>
            <a:off x="1009394" y="9088350"/>
            <a:ext cx="156060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565"/>
              <a:buFont typeface="Calibri"/>
              <a:buNone/>
            </a:pPr>
            <a:r>
              <a:rPr lang="en-US" sz="2000" b="1" i="0" u="none" strike="noStrike" cap="none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Signals to ADD in GTKWave:  clk  ·  resetn  ·  mem_valid  ·  mem_instr  ·  mem_ready  ·  mem_addr[31:0]  ·  mem_rdata[31:0]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e6a01a83d9_0_373"/>
          <p:cNvSpPr/>
          <p:nvPr/>
        </p:nvSpPr>
        <p:spPr>
          <a:xfrm>
            <a:off x="786463" y="2422580"/>
            <a:ext cx="7545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6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e6a01a83d9_0_373"/>
          <p:cNvSpPr/>
          <p:nvPr/>
        </p:nvSpPr>
        <p:spPr>
          <a:xfrm>
            <a:off x="786463" y="4640038"/>
            <a:ext cx="7545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6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e6a01a83d9_0_373"/>
          <p:cNvSpPr/>
          <p:nvPr/>
        </p:nvSpPr>
        <p:spPr>
          <a:xfrm>
            <a:off x="786463" y="6857496"/>
            <a:ext cx="7545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6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e6a01a83d9_0_377"/>
          <p:cNvSpPr/>
          <p:nvPr/>
        </p:nvSpPr>
        <p:spPr>
          <a:xfrm>
            <a:off x="743958" y="1275675"/>
            <a:ext cx="15042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RISC-V Ecosystem → THIS Project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g3e6a01a83d9_0_377"/>
          <p:cNvSpPr/>
          <p:nvPr/>
        </p:nvSpPr>
        <p:spPr>
          <a:xfrm>
            <a:off x="876200" y="2405949"/>
            <a:ext cx="15853500" cy="2031900"/>
          </a:xfrm>
          <a:prstGeom prst="rect">
            <a:avLst/>
          </a:prstGeom>
          <a:noFill/>
          <a:ln w="1905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  <a:effectLst>
            <a:outerShdw blurRad="95282" dist="38113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g3e6a01a83d9_0_377"/>
          <p:cNvSpPr/>
          <p:nvPr/>
        </p:nvSpPr>
        <p:spPr>
          <a:xfrm>
            <a:off x="1213511" y="2439813"/>
            <a:ext cx="4216500" cy="8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651"/>
              <a:buFont typeface="Calibri"/>
              <a:buNone/>
            </a:pPr>
            <a:r>
              <a:rPr lang="en-US" sz="1651" b="1" i="0" u="none" strike="noStrike" cap="none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rPr>
              <a:t>THIS PROJECT</a:t>
            </a:r>
            <a:endParaRPr sz="1651" b="0" i="0" u="none" strike="noStrike" cap="none">
              <a:solidFill>
                <a:srgbClr val="6D9E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g3e6a01a83d9_0_377"/>
          <p:cNvSpPr/>
          <p:nvPr/>
        </p:nvSpPr>
        <p:spPr>
          <a:xfrm>
            <a:off x="1213511" y="3184820"/>
            <a:ext cx="92760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1"/>
              <a:buFont typeface="Calibri"/>
              <a:buNone/>
            </a:pPr>
            <a:r>
              <a:rPr lang="en-US" sz="2701" b="1" i="0" u="none" strike="noStrike" cap="none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PicoRV32 + AXI-Lite + UART SoC on SkyWater 130nm</a:t>
            </a:r>
            <a:endParaRPr sz="2701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g3e6a01a83d9_0_377"/>
          <p:cNvSpPr/>
          <p:nvPr/>
        </p:nvSpPr>
        <p:spPr>
          <a:xfrm>
            <a:off x="10658212" y="2507541"/>
            <a:ext cx="3035700" cy="507600"/>
          </a:xfrm>
          <a:prstGeom prst="roundRect">
            <a:avLst>
              <a:gd name="adj" fmla="val 40000"/>
            </a:avLst>
          </a:prstGeom>
          <a:solidFill>
            <a:srgbClr val="7DD3FC"/>
          </a:solidFill>
          <a:ln w="1905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g3e6a01a83d9_0_377"/>
          <p:cNvSpPr/>
          <p:nvPr/>
        </p:nvSpPr>
        <p:spPr>
          <a:xfrm>
            <a:off x="10658212" y="3150956"/>
            <a:ext cx="3035700" cy="507600"/>
          </a:xfrm>
          <a:prstGeom prst="roundRect">
            <a:avLst>
              <a:gd name="adj" fmla="val 40000"/>
            </a:avLst>
          </a:prstGeom>
          <a:solidFill>
            <a:srgbClr val="7DD3FC"/>
          </a:solidFill>
          <a:ln w="1905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g3e6a01a83d9_0_377"/>
          <p:cNvSpPr/>
          <p:nvPr/>
        </p:nvSpPr>
        <p:spPr>
          <a:xfrm>
            <a:off x="13842581" y="2507541"/>
            <a:ext cx="2782800" cy="507600"/>
          </a:xfrm>
          <a:prstGeom prst="roundRect">
            <a:avLst>
              <a:gd name="adj" fmla="val 40000"/>
            </a:avLst>
          </a:prstGeom>
          <a:solidFill>
            <a:srgbClr val="7DD3FC"/>
          </a:solidFill>
          <a:ln w="1905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0" name="Google Shape;970;g3e6a01a83d9_0_377"/>
          <p:cNvSpPr/>
          <p:nvPr/>
        </p:nvSpPr>
        <p:spPr>
          <a:xfrm>
            <a:off x="13828933" y="3150956"/>
            <a:ext cx="2782800" cy="507600"/>
          </a:xfrm>
          <a:prstGeom prst="roundRect">
            <a:avLst>
              <a:gd name="adj" fmla="val 40000"/>
            </a:avLst>
          </a:prstGeom>
          <a:solidFill>
            <a:srgbClr val="7DD3FC"/>
          </a:solidFill>
          <a:ln w="1905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g3e6a01a83d9_0_377"/>
          <p:cNvSpPr/>
          <p:nvPr/>
        </p:nvSpPr>
        <p:spPr>
          <a:xfrm>
            <a:off x="876200" y="5444384"/>
            <a:ext cx="15853500" cy="931200"/>
          </a:xfrm>
          <a:prstGeom prst="rect">
            <a:avLst/>
          </a:prstGeom>
          <a:solidFill>
            <a:schemeClr val="tx1"/>
          </a:solidFill>
          <a:ln w="143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2" name="Google Shape;972;g3e6a01a83d9_0_377"/>
          <p:cNvSpPr/>
          <p:nvPr/>
        </p:nvSpPr>
        <p:spPr>
          <a:xfrm>
            <a:off x="1112318" y="5444384"/>
            <a:ext cx="33732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51"/>
              <a:buFont typeface="Consolas"/>
              <a:buNone/>
            </a:pPr>
            <a:r>
              <a:rPr lang="en-US" sz="1651" b="1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$ make pico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g3e6a01a83d9_0_377"/>
          <p:cNvSpPr/>
          <p:nvPr/>
        </p:nvSpPr>
        <p:spPr>
          <a:xfrm>
            <a:off x="4552887" y="5444384"/>
            <a:ext cx="5055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51"/>
              <a:buFont typeface="Calibri"/>
              <a:buNone/>
            </a:pPr>
            <a:r>
              <a:rPr lang="en-US" sz="1651" b="0" i="0" u="none" strike="noStrike" cap="non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3e6a01a83d9_0_377"/>
          <p:cNvSpPr/>
          <p:nvPr/>
        </p:nvSpPr>
        <p:spPr>
          <a:xfrm>
            <a:off x="5126315" y="5444384"/>
            <a:ext cx="113676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1"/>
              <a:buFont typeface="Calibri"/>
              <a:buNone/>
            </a:pPr>
            <a:r>
              <a:rPr lang="en-US" sz="1651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PicoRV32 standalone simulation → tb_picorv32.vcd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g3e6a01a83d9_0_377"/>
          <p:cNvSpPr/>
          <p:nvPr/>
        </p:nvSpPr>
        <p:spPr>
          <a:xfrm>
            <a:off x="876200" y="6632728"/>
            <a:ext cx="15853500" cy="931200"/>
          </a:xfrm>
          <a:prstGeom prst="rect">
            <a:avLst/>
          </a:prstGeom>
          <a:solidFill>
            <a:schemeClr val="tx1"/>
          </a:solidFill>
          <a:ln w="143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6" name="Google Shape;976;g3e6a01a83d9_0_377"/>
          <p:cNvSpPr/>
          <p:nvPr/>
        </p:nvSpPr>
        <p:spPr>
          <a:xfrm>
            <a:off x="1112318" y="6632728"/>
            <a:ext cx="33732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51"/>
              <a:buFont typeface="Consolas"/>
              <a:buNone/>
            </a:pPr>
            <a:r>
              <a:rPr lang="en-US" sz="1651" b="1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$ make synth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e6a01a83d9_0_377"/>
          <p:cNvSpPr/>
          <p:nvPr/>
        </p:nvSpPr>
        <p:spPr>
          <a:xfrm>
            <a:off x="4552887" y="6632728"/>
            <a:ext cx="5055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51"/>
              <a:buFont typeface="Calibri"/>
              <a:buNone/>
            </a:pPr>
            <a:r>
              <a:rPr lang="en-US" sz="1651" b="0" i="0" u="none" strike="noStrike" cap="non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e6a01a83d9_0_377"/>
          <p:cNvSpPr/>
          <p:nvPr/>
        </p:nvSpPr>
        <p:spPr>
          <a:xfrm>
            <a:off x="5126315" y="6632728"/>
            <a:ext cx="113676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1"/>
              <a:buFont typeface="Calibri"/>
              <a:buNone/>
            </a:pPr>
            <a:r>
              <a:rPr lang="en-US" sz="1651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Synthesize SoC with Yosys → gate-level netlist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g3e6a01a83d9_0_377"/>
          <p:cNvSpPr/>
          <p:nvPr/>
        </p:nvSpPr>
        <p:spPr>
          <a:xfrm>
            <a:off x="5126315" y="6808261"/>
            <a:ext cx="113676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1"/>
              <a:buFont typeface="Calibri"/>
              <a:buNone/>
            </a:pPr>
            <a:r>
              <a:rPr lang="en-US" sz="1651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physical design: floorplan → routing → GDS-II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g3e6a01a83d9_0_377"/>
          <p:cNvSpPr/>
          <p:nvPr/>
        </p:nvSpPr>
        <p:spPr>
          <a:xfrm>
            <a:off x="876200" y="7821072"/>
            <a:ext cx="15853500" cy="931200"/>
          </a:xfrm>
          <a:prstGeom prst="rect">
            <a:avLst/>
          </a:prstGeom>
          <a:solidFill>
            <a:schemeClr val="tx1"/>
          </a:solidFill>
          <a:ln w="143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4" name="Google Shape;984;g3e6a01a83d9_0_377"/>
          <p:cNvSpPr/>
          <p:nvPr/>
        </p:nvSpPr>
        <p:spPr>
          <a:xfrm>
            <a:off x="1112318" y="7858043"/>
            <a:ext cx="33732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51"/>
              <a:buFont typeface="Consolas"/>
              <a:buNone/>
            </a:pPr>
            <a:r>
              <a:rPr lang="en-US" sz="1651" b="1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$ make wave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3e6a01a83d9_0_377"/>
          <p:cNvSpPr/>
          <p:nvPr/>
        </p:nvSpPr>
        <p:spPr>
          <a:xfrm>
            <a:off x="4552887" y="7858043"/>
            <a:ext cx="5055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51"/>
              <a:buFont typeface="Calibri"/>
              <a:buNone/>
            </a:pPr>
            <a:r>
              <a:rPr lang="en-US" sz="1651" b="0" i="0" u="none" strike="noStrike" cap="non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3e6a01a83d9_0_377"/>
          <p:cNvSpPr/>
          <p:nvPr/>
        </p:nvSpPr>
        <p:spPr>
          <a:xfrm>
            <a:off x="5126315" y="7858043"/>
            <a:ext cx="113676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1"/>
              <a:buFont typeface="Calibri"/>
              <a:buNone/>
            </a:pPr>
            <a:r>
              <a:rPr lang="en-US" sz="1651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waveform: gtkwave tb_picorv32.vcd</a:t>
            </a:r>
            <a:endParaRPr sz="165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g3e6a01a83d9_0_377"/>
          <p:cNvSpPr/>
          <p:nvPr/>
        </p:nvSpPr>
        <p:spPr>
          <a:xfrm>
            <a:off x="876200" y="9009416"/>
            <a:ext cx="15853500" cy="779100"/>
          </a:xfrm>
          <a:prstGeom prst="rect">
            <a:avLst/>
          </a:prstGeom>
          <a:solidFill>
            <a:srgbClr val="E8F0FE"/>
          </a:solidFill>
          <a:ln w="19050" cap="flat" cmpd="sng">
            <a:solidFill>
              <a:srgbClr val="BBD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75" tIns="137175" rIns="137175" bIns="13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g3e6a01a83d9_0_377"/>
          <p:cNvSpPr/>
          <p:nvPr/>
        </p:nvSpPr>
        <p:spPr>
          <a:xfrm>
            <a:off x="1112318" y="9043280"/>
            <a:ext cx="153477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501"/>
              <a:buFont typeface="Calibri"/>
              <a:buNone/>
            </a:pPr>
            <a:r>
              <a:rPr lang="en-US" sz="1501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Broader RISC-V domains: IoT, AI Edge, Linux servers, automotive, space — our SoC is the hands-on proof-of-concept for this course.</a:t>
            </a:r>
            <a:endParaRPr sz="150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g3e6a01a83d9_0_377"/>
          <p:cNvSpPr/>
          <p:nvPr/>
        </p:nvSpPr>
        <p:spPr>
          <a:xfrm>
            <a:off x="10658212" y="2507541"/>
            <a:ext cx="30357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00"/>
              <a:buFont typeface="Calibri"/>
              <a:buNone/>
            </a:pPr>
            <a:r>
              <a:rPr lang="en-US" sz="1500" b="1" i="0" u="none" strike="noStrike" cap="none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Simulated: Verilator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e6a01a83d9_0_377"/>
          <p:cNvSpPr/>
          <p:nvPr/>
        </p:nvSpPr>
        <p:spPr>
          <a:xfrm>
            <a:off x="10658212" y="3150956"/>
            <a:ext cx="30357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00"/>
              <a:buFont typeface="Calibri"/>
              <a:buNone/>
            </a:pPr>
            <a:r>
              <a:rPr lang="en-US" sz="1500" b="1" i="0" u="none" strike="noStrike" cap="none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Synthesized: Yosys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g3e6a01a83d9_0_377"/>
          <p:cNvSpPr/>
          <p:nvPr/>
        </p:nvSpPr>
        <p:spPr>
          <a:xfrm>
            <a:off x="13828933" y="2507541"/>
            <a:ext cx="27828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PnR</a:t>
            </a:r>
            <a:r>
              <a:rPr lang="en-US" sz="1500" b="1" i="0" u="none" strike="noStrike" cap="none" dirty="0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500" b="1" i="0" u="none" strike="noStrike" cap="none" dirty="0" err="1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OpenLane</a:t>
            </a:r>
            <a:endParaRPr sz="1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g3e6a01a83d9_0_377"/>
          <p:cNvSpPr/>
          <p:nvPr/>
        </p:nvSpPr>
        <p:spPr>
          <a:xfrm>
            <a:off x="13828933" y="3150956"/>
            <a:ext cx="27828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C"/>
              </a:buClr>
              <a:buSzPts val="1200"/>
              <a:buFont typeface="Calibri"/>
              <a:buNone/>
            </a:pPr>
            <a:r>
              <a:rPr lang="en-US" sz="1500" b="1" i="0" u="none" strike="noStrike" cap="none">
                <a:solidFill>
                  <a:srgbClr val="0D2B5C"/>
                </a:solidFill>
                <a:latin typeface="Calibri"/>
                <a:ea typeface="Calibri"/>
                <a:cs typeface="Calibri"/>
                <a:sym typeface="Calibri"/>
              </a:rPr>
              <a:t>SkyWater 130nm PDK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" name="Google Shape;998;g3e6a5a3777d_0_0"/>
          <p:cNvGrpSpPr/>
          <p:nvPr/>
        </p:nvGrpSpPr>
        <p:grpSpPr>
          <a:xfrm>
            <a:off x="838200" y="1062038"/>
            <a:ext cx="15727725" cy="1231650"/>
            <a:chOff x="0" y="-57150"/>
            <a:chExt cx="20970300" cy="1642200"/>
          </a:xfrm>
        </p:grpSpPr>
        <p:sp>
          <p:nvSpPr>
            <p:cNvPr id="999" name="Google Shape;999;g3e6a5a3777d_0_0"/>
            <p:cNvSpPr/>
            <p:nvPr/>
          </p:nvSpPr>
          <p:spPr>
            <a:xfrm>
              <a:off x="0" y="0"/>
              <a:ext cx="20970239" cy="1584960"/>
            </a:xfrm>
            <a:custGeom>
              <a:avLst/>
              <a:gdLst/>
              <a:ahLst/>
              <a:cxnLst/>
              <a:rect l="l" t="t" r="r" b="b"/>
              <a:pathLst>
                <a:path w="20970239" h="1584960" extrusionOk="0">
                  <a:moveTo>
                    <a:pt x="0" y="0"/>
                  </a:moveTo>
                  <a:lnTo>
                    <a:pt x="20970239" y="0"/>
                  </a:lnTo>
                  <a:lnTo>
                    <a:pt x="20970239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07812" b="-20781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g3e6a5a3777d_0_0"/>
            <p:cNvSpPr txBox="1"/>
            <p:nvPr/>
          </p:nvSpPr>
          <p:spPr>
            <a:xfrm>
              <a:off x="0" y="-57150"/>
              <a:ext cx="20970300" cy="16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lang="en-US" sz="4800" b="1" dirty="0">
                  <a:latin typeface="Poppins"/>
                  <a:ea typeface="Poppins"/>
                  <a:cs typeface="Poppins"/>
                  <a:sym typeface="Poppins"/>
                </a:rPr>
                <a:t>Sub-module 1 - </a:t>
              </a:r>
              <a:r>
                <a:rPr lang="en-US" sz="4800" b="1" i="0" u="none" strike="noStrike" cap="none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Key Takeaways</a:t>
              </a:r>
              <a:endParaRPr sz="4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g3e6a5a3777d_0_0"/>
          <p:cNvSpPr/>
          <p:nvPr/>
        </p:nvSpPr>
        <p:spPr>
          <a:xfrm>
            <a:off x="991169" y="2712150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02" name="Google Shape;1002;g3e6a5a3777d_0_0"/>
          <p:cNvSpPr/>
          <p:nvPr/>
        </p:nvSpPr>
        <p:spPr>
          <a:xfrm>
            <a:off x="991169" y="2712150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03" name="Google Shape;1003;g3e6a5a3777d_0_0"/>
          <p:cNvSpPr/>
          <p:nvPr/>
        </p:nvSpPr>
        <p:spPr>
          <a:xfrm>
            <a:off x="1120430" y="2810926"/>
            <a:ext cx="38733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154"/>
              <a:buFont typeface="Calibri"/>
              <a:buNone/>
            </a:pPr>
            <a:r>
              <a:rPr lang="en-US" sz="2154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PicoRV32 is RV32I</a:t>
            </a:r>
            <a:endParaRPr sz="2079" b="1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e6a5a3777d_0_0"/>
          <p:cNvSpPr/>
          <p:nvPr/>
        </p:nvSpPr>
        <p:spPr>
          <a:xfrm>
            <a:off x="1120399" y="3403515"/>
            <a:ext cx="66513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885"/>
              <a:buFont typeface="Calibri"/>
              <a:buNone/>
            </a:pPr>
            <a:r>
              <a:rPr lang="en-US" sz="18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registers, fixed 32-bit instruction width, in-order execution. No mul/div/float in this project.</a:t>
            </a:r>
            <a:endParaRPr sz="18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3e6a5a3777d_0_0"/>
          <p:cNvSpPr/>
          <p:nvPr/>
        </p:nvSpPr>
        <p:spPr>
          <a:xfrm>
            <a:off x="9483743" y="2712150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06" name="Google Shape;1006;g3e6a5a3777d_0_0"/>
          <p:cNvSpPr/>
          <p:nvPr/>
        </p:nvSpPr>
        <p:spPr>
          <a:xfrm>
            <a:off x="9483743" y="2712150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07" name="Google Shape;1007;g3e6a5a3777d_0_0"/>
          <p:cNvSpPr/>
          <p:nvPr/>
        </p:nvSpPr>
        <p:spPr>
          <a:xfrm>
            <a:off x="9612944" y="2810926"/>
            <a:ext cx="36708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154"/>
              <a:buFont typeface="Calibri"/>
              <a:buNone/>
            </a:pPr>
            <a:r>
              <a:rPr lang="en-US" sz="2154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Native Bus Protocol</a:t>
            </a:r>
            <a:endParaRPr sz="2079" b="1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e6a5a3777d_0_0"/>
          <p:cNvSpPr/>
          <p:nvPr/>
        </p:nvSpPr>
        <p:spPr>
          <a:xfrm>
            <a:off x="9612972" y="3403515"/>
            <a:ext cx="66513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885"/>
              <a:buFont typeface="Calibri"/>
              <a:buNone/>
            </a:pPr>
            <a:r>
              <a:rPr lang="en-US" sz="18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mem_valid + mem_ready — simple stall protocol. CPU holds all signals until peripheral responds.</a:t>
            </a:r>
            <a:endParaRPr sz="18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g3e6a5a3777d_0_0"/>
          <p:cNvSpPr/>
          <p:nvPr/>
        </p:nvSpPr>
        <p:spPr>
          <a:xfrm>
            <a:off x="987310" y="4715072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10" name="Google Shape;1010;g3e6a5a3777d_0_0"/>
          <p:cNvSpPr/>
          <p:nvPr/>
        </p:nvSpPr>
        <p:spPr>
          <a:xfrm>
            <a:off x="987310" y="4715072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11" name="Google Shape;1011;g3e6a5a3777d_0_0"/>
          <p:cNvSpPr/>
          <p:nvPr/>
        </p:nvSpPr>
        <p:spPr>
          <a:xfrm>
            <a:off x="1116540" y="4813839"/>
            <a:ext cx="15963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154"/>
              <a:buFont typeface="Calibri"/>
              <a:buNone/>
            </a:pPr>
            <a:r>
              <a:rPr lang="en-US" sz="2154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Boot &amp; Stack</a:t>
            </a:r>
            <a:endParaRPr sz="2079" b="1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3e6a5a3777d_0_0"/>
          <p:cNvSpPr/>
          <p:nvPr/>
        </p:nvSpPr>
        <p:spPr>
          <a:xfrm>
            <a:off x="1116540" y="5406437"/>
            <a:ext cx="66513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885"/>
              <a:buFont typeface="Calibri"/>
              <a:buNone/>
            </a:pPr>
            <a:r>
              <a:rPr lang="en-US" sz="18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 starts at 0x0000_0000 → First instruction: LUI x2, 0x20 (stack init). Stack top: 0x0001_00FC.</a:t>
            </a:r>
            <a:endParaRPr sz="18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g3e6a5a3777d_0_0"/>
          <p:cNvSpPr/>
          <p:nvPr/>
        </p:nvSpPr>
        <p:spPr>
          <a:xfrm>
            <a:off x="9487628" y="4715101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14" name="Google Shape;1014;g3e6a5a3777d_0_0"/>
          <p:cNvSpPr/>
          <p:nvPr/>
        </p:nvSpPr>
        <p:spPr>
          <a:xfrm>
            <a:off x="9487628" y="4715101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15" name="Google Shape;1015;g3e6a5a3777d_0_0"/>
          <p:cNvSpPr/>
          <p:nvPr/>
        </p:nvSpPr>
        <p:spPr>
          <a:xfrm>
            <a:off x="9616826" y="4813877"/>
            <a:ext cx="40209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154"/>
              <a:buFont typeface="Calibri"/>
              <a:buNone/>
            </a:pPr>
            <a:r>
              <a:rPr lang="en-US" sz="2154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Config Matters</a:t>
            </a:r>
            <a:endParaRPr sz="2079" b="1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g3e6a5a3777d_0_0"/>
          <p:cNvSpPr/>
          <p:nvPr/>
        </p:nvSpPr>
        <p:spPr>
          <a:xfrm>
            <a:off x="9616857" y="5406466"/>
            <a:ext cx="66513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885"/>
              <a:buFont typeface="Calibri"/>
              <a:buNone/>
            </a:pPr>
            <a:r>
              <a:rPr lang="en-US" sz="18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ENABLE_MUL=0, ENABLE_DIV=0, COMPRESSED_ISA=0. Compiler must match: -march=rv32i -mabi=ilp32.</a:t>
            </a:r>
            <a:endParaRPr sz="18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3e6a5a3777d_0_0"/>
          <p:cNvSpPr/>
          <p:nvPr/>
        </p:nvSpPr>
        <p:spPr>
          <a:xfrm>
            <a:off x="983400" y="6619275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18" name="Google Shape;1018;g3e6a5a3777d_0_0"/>
          <p:cNvSpPr/>
          <p:nvPr/>
        </p:nvSpPr>
        <p:spPr>
          <a:xfrm>
            <a:off x="983400" y="6619275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19" name="Google Shape;1019;g3e6a5a3777d_0_0"/>
          <p:cNvSpPr/>
          <p:nvPr/>
        </p:nvSpPr>
        <p:spPr>
          <a:xfrm>
            <a:off x="1120412" y="6718023"/>
            <a:ext cx="38733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154"/>
              <a:buFont typeface="Calibri"/>
              <a:buNone/>
            </a:pPr>
            <a:r>
              <a:rPr lang="en-US" sz="2154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Run the Lab</a:t>
            </a:r>
            <a:endParaRPr sz="2079" b="1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g3e6a5a3777d_0_0"/>
          <p:cNvSpPr/>
          <p:nvPr/>
        </p:nvSpPr>
        <p:spPr>
          <a:xfrm>
            <a:off x="1112629" y="7310640"/>
            <a:ext cx="66513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885"/>
              <a:buFont typeface="Calibri"/>
              <a:buNone/>
            </a:pPr>
            <a:r>
              <a:rPr lang="en-US" sz="18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pico → Verilator simulation → tb_picorv32.vcd → GTKWave.</a:t>
            </a:r>
            <a:endParaRPr sz="18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g3e6a5a3777d_0_0"/>
          <p:cNvSpPr/>
          <p:nvPr/>
        </p:nvSpPr>
        <p:spPr>
          <a:xfrm>
            <a:off x="9491512" y="6619275"/>
            <a:ext cx="6917700" cy="1422900"/>
          </a:xfrm>
          <a:prstGeom prst="rect">
            <a:avLst/>
          </a:prstGeom>
          <a:noFill/>
          <a:ln w="18025" cap="flat" cmpd="sng">
            <a:solidFill>
              <a:srgbClr val="1E4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22" name="Google Shape;1022;g3e6a5a3777d_0_0"/>
          <p:cNvSpPr/>
          <p:nvPr/>
        </p:nvSpPr>
        <p:spPr>
          <a:xfrm>
            <a:off x="9491512" y="6619275"/>
            <a:ext cx="45600" cy="1422900"/>
          </a:xfrm>
          <a:prstGeom prst="rect">
            <a:avLst/>
          </a:prstGeom>
          <a:solidFill>
            <a:srgbClr val="1E88E5"/>
          </a:solidFill>
          <a:ln w="24025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2800" tIns="172800" rIns="172800" bIns="17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023" name="Google Shape;1023;g3e6a5a3777d_0_0"/>
          <p:cNvSpPr/>
          <p:nvPr/>
        </p:nvSpPr>
        <p:spPr>
          <a:xfrm>
            <a:off x="9620703" y="6718051"/>
            <a:ext cx="50070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154"/>
              <a:buFont typeface="Calibri"/>
              <a:buNone/>
            </a:pPr>
            <a:r>
              <a:rPr lang="en-US" sz="2154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Watch the Waveform</a:t>
            </a:r>
            <a:endParaRPr sz="2154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g3e6a5a3777d_0_0"/>
          <p:cNvSpPr/>
          <p:nvPr/>
        </p:nvSpPr>
        <p:spPr>
          <a:xfrm>
            <a:off x="9620742" y="7310640"/>
            <a:ext cx="66513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885"/>
              <a:buFont typeface="Calibri"/>
              <a:buNone/>
            </a:pPr>
            <a:r>
              <a:rPr lang="en-US" sz="18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mem_addr increments 0x0→0x4→0x8. mem_instr=1 on every fetch. First rdata=0x00020137.</a:t>
            </a:r>
            <a:endParaRPr sz="189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9AA7AA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2124</Words>
  <Application>Microsoft Office PowerPoint</Application>
  <PresentationFormat>Custom</PresentationFormat>
  <Paragraphs>395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Poppins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acer</cp:lastModifiedBy>
  <cp:revision>4</cp:revision>
  <dcterms:created xsi:type="dcterms:W3CDTF">2006-08-16T00:00:00Z</dcterms:created>
  <dcterms:modified xsi:type="dcterms:W3CDTF">2026-05-09T13:03:27Z</dcterms:modified>
</cp:coreProperties>
</file>