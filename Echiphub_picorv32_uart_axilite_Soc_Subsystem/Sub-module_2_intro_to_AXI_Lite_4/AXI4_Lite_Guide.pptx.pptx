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Consolas" panose="020B0609020204030204" pitchFamily="49" charset="0"/>
      <p:regular r:id="rId24"/>
      <p:bold r:id="rId25"/>
      <p:italic r:id="rId26"/>
      <p:boldItalic r:id="rId27"/>
    </p:embeddedFont>
    <p:embeddedFont>
      <p:font typeface="Poppins" panose="000005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hziBHoNvLQWN/hw51KmmHrE0FR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23E13C5-BB17-412C-A7E0-655E00E05CE3}">
  <a:tblStyle styleId="{523E13C5-BB17-412C-A7E0-655E00E05CE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84" y="2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56" name="Google Shape;56;p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7" name="Google Shape;57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59" name="Google Shape;59;p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60" name="Google Shape;60;p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72" name="Google Shape;72;p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73" name="Google Shape;73;p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75" name="Google Shape;75;p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76" name="Google Shape;76;p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211" name="Google Shape;211;p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2" name="Google Shape;212;p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214" name="Google Shape;214;p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215" name="Google Shape;215;p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b004d118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db004d1183_0_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g3db004d1183_0_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277" name="Google Shape;277;p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8" name="Google Shape;278;p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p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280" name="Google Shape;280;p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281" name="Google Shape;281;p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db004d1183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db004d1183_0_8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g3db004d1183_0_8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e6c48d04c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e6c48d04c6_0_0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g3e6c48d04c6_0_0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416" name="Google Shape;416;p6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17" name="Google Shape;417;p6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8" name="Google Shape;418;p6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419" name="Google Shape;419;p6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420" name="Google Shape;420;p6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e6c48d04c6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e6c48d04c6_0_6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g3e6c48d04c6_0_6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7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490" name="Google Shape;490;p7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91" name="Google Shape;491;p7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7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493" name="Google Shape;493;p7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494" name="Google Shape;494;p7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e6c48d04c6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e6c48d04c6_0_11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g3e6c48d04c6_0_11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8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551" name="Google Shape;551;p8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52" name="Google Shape;552;p8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3" name="Google Shape;553;p8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554" name="Google Shape;554;p8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555" name="Google Shape;555;p8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e6c48d04c6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e6c48d04c6_0_199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g3e6c48d04c6_0_199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0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619" name="Google Shape;619;p10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620" name="Google Shape;620;p10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1" name="Google Shape;621;p10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</a:t>
            </a:r>
            <a:endParaRPr/>
          </a:p>
        </p:txBody>
      </p:sp>
      <p:sp>
        <p:nvSpPr>
          <p:cNvPr id="622" name="Google Shape;622;p10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623" name="Google Shape;623;p10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665" name="Google Shape;665;p1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666" name="Google Shape;666;p1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7" name="Google Shape;667;p1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11</a:t>
            </a:r>
            <a:endParaRPr/>
          </a:p>
        </p:txBody>
      </p:sp>
      <p:sp>
        <p:nvSpPr>
          <p:cNvPr id="668" name="Google Shape;668;p1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669" name="Google Shape;669;p1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1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2" name="Google Shape;72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1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737" name="Google Shape;737;p1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738" name="Google Shape;738;p1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9" name="Google Shape;739;p1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13</a:t>
            </a:r>
            <a:endParaRPr/>
          </a:p>
        </p:txBody>
      </p:sp>
      <p:sp>
        <p:nvSpPr>
          <p:cNvPr id="740" name="Google Shape;740;p1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741" name="Google Shape;741;p1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e668e3e104_0_14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e668e3e104_0_105"/>
          <p:cNvSpPr txBox="1">
            <a:spLocks noGrp="1"/>
          </p:cNvSpPr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endParaRPr/>
          </a:p>
        </p:txBody>
      </p:sp>
      <p:sp>
        <p:nvSpPr>
          <p:cNvPr id="17" name="Google Shape;17;g3e668e3e104_0_105"/>
          <p:cNvSpPr txBox="1">
            <a:spLocks noGrp="1"/>
          </p:cNvSpPr>
          <p:nvPr>
            <p:ph type="subTitle" idx="1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8" name="Google Shape;18;g3e668e3e104_0_105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e668e3e104_0_109"/>
          <p:cNvSpPr txBox="1">
            <a:spLocks noGrp="1"/>
          </p:cNvSpPr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21" name="Google Shape;21;g3e668e3e104_0_109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e668e3e104_0_112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e668e3e104_0_112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g3e668e3e104_0_11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e668e3e104_0_116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3e668e3e104_0_116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29" name="Google Shape;29;g3e668e3e104_0_116"/>
          <p:cNvSpPr txBox="1">
            <a:spLocks noGrp="1"/>
          </p:cNvSpPr>
          <p:nvPr>
            <p:ph type="body" idx="2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0" name="Google Shape;30;g3e668e3e104_0_116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e668e3e104_0_121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e668e3e104_0_12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e668e3e104_0_124"/>
          <p:cNvSpPr txBox="1">
            <a:spLocks noGrp="1"/>
          </p:cNvSpPr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g3e668e3e104_0_124"/>
          <p:cNvSpPr txBox="1">
            <a:spLocks noGrp="1"/>
          </p:cNvSpPr>
          <p:nvPr>
            <p:ph type="body" idx="1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7" name="Google Shape;37;g3e668e3e104_0_12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e668e3e104_0_128"/>
          <p:cNvSpPr txBox="1">
            <a:spLocks noGrp="1"/>
          </p:cNvSpPr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40" name="Google Shape;40;g3e668e3e104_0_128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e668e3e104_0_131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e668e3e104_0_131"/>
          <p:cNvSpPr txBox="1">
            <a:spLocks noGrp="1"/>
          </p:cNvSpPr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>
            <a:endParaRPr/>
          </a:p>
        </p:txBody>
      </p:sp>
      <p:sp>
        <p:nvSpPr>
          <p:cNvPr id="44" name="Google Shape;44;g3e668e3e104_0_131"/>
          <p:cNvSpPr txBox="1">
            <a:spLocks noGrp="1"/>
          </p:cNvSpPr>
          <p:nvPr>
            <p:ph type="subTitle" idx="1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5" name="Google Shape;45;g3e668e3e104_0_131"/>
          <p:cNvSpPr txBox="1">
            <a:spLocks noGrp="1"/>
          </p:cNvSpPr>
          <p:nvPr>
            <p:ph type="body" idx="2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g3e668e3e104_0_13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e668e3e104_0_137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g3e668e3e104_0_13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668e3e104_0_140"/>
          <p:cNvSpPr txBox="1">
            <a:spLocks noGrp="1"/>
          </p:cNvSpPr>
          <p:nvPr>
            <p:ph type="title" hasCustomPrompt="1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52" name="Google Shape;52;g3e668e3e104_0_140"/>
          <p:cNvSpPr txBox="1">
            <a:spLocks noGrp="1"/>
          </p:cNvSpPr>
          <p:nvPr>
            <p:ph type="body" idx="1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g3e668e3e104_0_140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e668e3e104_0_101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e668e3e104_0_101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marR="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3e668e3e104_0_10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1"/>
          <p:cNvGrpSpPr/>
          <p:nvPr/>
        </p:nvGrpSpPr>
        <p:grpSpPr>
          <a:xfrm>
            <a:off x="914375" y="2057410"/>
            <a:ext cx="16677050" cy="857862"/>
            <a:chOff x="0" y="0"/>
            <a:chExt cx="22236067" cy="1143817"/>
          </a:xfrm>
        </p:grpSpPr>
        <p:sp>
          <p:nvSpPr>
            <p:cNvPr id="63" name="Google Shape;63;p1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51002" b="-451002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Google Shape;64;p1"/>
            <p:cNvSpPr txBox="1"/>
            <p:nvPr/>
          </p:nvSpPr>
          <p:spPr>
            <a:xfrm>
              <a:off x="290467" y="271417"/>
              <a:ext cx="21945600" cy="87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1" dirty="0">
                  <a:solidFill>
                    <a:schemeClr val="dk1"/>
                  </a:solidFill>
                </a:rPr>
                <a:t>Sub-module 2</a:t>
              </a:r>
              <a:endParaRPr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" name="Google Shape;65;p1"/>
          <p:cNvSpPr txBox="1"/>
          <p:nvPr/>
        </p:nvSpPr>
        <p:spPr>
          <a:xfrm>
            <a:off x="1005865" y="3653550"/>
            <a:ext cx="162762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AXI4-Lit</a:t>
            </a:r>
            <a:r>
              <a:rPr lang="en-US" sz="8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8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Protocol</a:t>
            </a:r>
            <a:endParaRPr sz="140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" name="Google Shape;66;p1"/>
          <p:cNvSpPr txBox="1"/>
          <p:nvPr/>
        </p:nvSpPr>
        <p:spPr>
          <a:xfrm>
            <a:off x="1005875" y="6661738"/>
            <a:ext cx="16459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i="1" dirty="0">
                <a:solidFill>
                  <a:srgbClr val="5DADE2"/>
                </a:solidFill>
                <a:latin typeface="Calibri"/>
                <a:ea typeface="Calibri"/>
                <a:cs typeface="Calibri"/>
                <a:sym typeface="Calibri"/>
              </a:rPr>
              <a:t>Introduction &amp; Architecture for PicoRV32 SoC Subsystem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" name="Google Shape;67;p1"/>
          <p:cNvGrpSpPr/>
          <p:nvPr/>
        </p:nvGrpSpPr>
        <p:grpSpPr>
          <a:xfrm>
            <a:off x="914400" y="9009698"/>
            <a:ext cx="16459200" cy="1048702"/>
            <a:chOff x="0" y="-57150"/>
            <a:chExt cx="21945600" cy="1398270"/>
          </a:xfrm>
        </p:grpSpPr>
        <p:sp>
          <p:nvSpPr>
            <p:cNvPr id="68" name="Google Shape;68;p1"/>
            <p:cNvSpPr/>
            <p:nvPr/>
          </p:nvSpPr>
          <p:spPr>
            <a:xfrm>
              <a:off x="0" y="0"/>
              <a:ext cx="21945600" cy="1341120"/>
            </a:xfrm>
            <a:custGeom>
              <a:avLst/>
              <a:gdLst/>
              <a:ahLst/>
              <a:cxnLst/>
              <a:rect l="l" t="t" r="r" b="b"/>
              <a:pathLst>
                <a:path w="21945600" h="1341120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68837" b="-268837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9" name="Google Shape;69;p1"/>
            <p:cNvSpPr txBox="1"/>
            <p:nvPr/>
          </p:nvSpPr>
          <p:spPr>
            <a:xfrm>
              <a:off x="0" y="-57150"/>
              <a:ext cx="21945600" cy="13982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en-US" sz="2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From master-slave channels to handshake protocol</a:t>
              </a: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2"/>
          <p:cNvGrpSpPr/>
          <p:nvPr/>
        </p:nvGrpSpPr>
        <p:grpSpPr>
          <a:xfrm>
            <a:off x="685823" y="1080061"/>
            <a:ext cx="16779263" cy="1353188"/>
            <a:chOff x="0" y="0"/>
            <a:chExt cx="22372350" cy="1804250"/>
          </a:xfrm>
        </p:grpSpPr>
        <p:sp>
          <p:nvSpPr>
            <p:cNvPr id="79" name="Google Shape;79;p2"/>
            <p:cNvSpPr/>
            <p:nvPr/>
          </p:nvSpPr>
          <p:spPr>
            <a:xfrm>
              <a:off x="0" y="0"/>
              <a:ext cx="22189439" cy="1584960"/>
            </a:xfrm>
            <a:custGeom>
              <a:avLst/>
              <a:gdLst/>
              <a:ahLst/>
              <a:cxnLst/>
              <a:rect l="l" t="t" r="r" b="b"/>
              <a:pathLst>
                <a:path w="22189439" h="1584960" extrusionOk="0">
                  <a:moveTo>
                    <a:pt x="0" y="0"/>
                  </a:moveTo>
                  <a:lnTo>
                    <a:pt x="22189439" y="0"/>
                  </a:lnTo>
                  <a:lnTo>
                    <a:pt x="22189439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" name="Google Shape;80;p2"/>
            <p:cNvSpPr txBox="1"/>
            <p:nvPr/>
          </p:nvSpPr>
          <p:spPr>
            <a:xfrm>
              <a:off x="182850" y="200150"/>
              <a:ext cx="22189500" cy="160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200"/>
                <a:buFont typeface="Arial"/>
                <a:buNone/>
              </a:pPr>
              <a:r>
                <a:rPr lang="en-US" sz="5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What We’ll Cover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673125" y="2585268"/>
            <a:ext cx="8254937" cy="1214057"/>
            <a:chOff x="0" y="0"/>
            <a:chExt cx="11006582" cy="1618742"/>
          </a:xfrm>
        </p:grpSpPr>
        <p:sp>
          <p:nvSpPr>
            <p:cNvPr id="82" name="Google Shape;82;p2"/>
            <p:cNvSpPr/>
            <p:nvPr/>
          </p:nvSpPr>
          <p:spPr>
            <a:xfrm>
              <a:off x="16891" y="16891"/>
              <a:ext cx="10972800" cy="1584960"/>
            </a:xfrm>
            <a:custGeom>
              <a:avLst/>
              <a:gdLst/>
              <a:ahLst/>
              <a:cxnLst/>
              <a:rect l="l" t="t" r="r" b="b"/>
              <a:pathLst>
                <a:path w="10972800" h="1584960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0" y="0"/>
              <a:ext cx="11006582" cy="1618742"/>
            </a:xfrm>
            <a:custGeom>
              <a:avLst/>
              <a:gdLst/>
              <a:ahLst/>
              <a:cxnLst/>
              <a:rect l="l" t="t" r="r" b="b"/>
              <a:pathLst>
                <a:path w="11006582" h="1618742" extrusionOk="0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601851"/>
                  </a:lnTo>
                  <a:cubicBezTo>
                    <a:pt x="11006582" y="1611249"/>
                    <a:pt x="10998962" y="1618742"/>
                    <a:pt x="1098969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0989691" y="1584960"/>
                  </a:lnTo>
                  <a:lnTo>
                    <a:pt x="10989691" y="1601851"/>
                  </a:lnTo>
                  <a:lnTo>
                    <a:pt x="10972800" y="160185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" name="Google Shape;84;p2"/>
          <p:cNvGrpSpPr/>
          <p:nvPr/>
        </p:nvGrpSpPr>
        <p:grpSpPr>
          <a:xfrm>
            <a:off x="673126" y="2585268"/>
            <a:ext cx="1122617" cy="1214057"/>
            <a:chOff x="0" y="0"/>
            <a:chExt cx="1496822" cy="1618742"/>
          </a:xfrm>
        </p:grpSpPr>
        <p:sp>
          <p:nvSpPr>
            <p:cNvPr id="85" name="Google Shape;85;p2"/>
            <p:cNvSpPr/>
            <p:nvPr/>
          </p:nvSpPr>
          <p:spPr>
            <a:xfrm>
              <a:off x="16891" y="16891"/>
              <a:ext cx="1463040" cy="1584960"/>
            </a:xfrm>
            <a:custGeom>
              <a:avLst/>
              <a:gdLst/>
              <a:ahLst/>
              <a:cxnLst/>
              <a:rect l="l" t="t" r="r" b="b"/>
              <a:pathLst>
                <a:path w="1463040" h="1584960" extrusionOk="0">
                  <a:moveTo>
                    <a:pt x="0" y="0"/>
                  </a:moveTo>
                  <a:lnTo>
                    <a:pt x="1463040" y="0"/>
                  </a:lnTo>
                  <a:lnTo>
                    <a:pt x="1463040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0" y="0"/>
              <a:ext cx="1496822" cy="1618742"/>
            </a:xfrm>
            <a:custGeom>
              <a:avLst/>
              <a:gdLst/>
              <a:ahLst/>
              <a:cxnLst/>
              <a:rect l="l" t="t" r="r" b="b"/>
              <a:pathLst>
                <a:path w="1496822" h="1618742" extrusionOk="0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601851"/>
                  </a:lnTo>
                  <a:cubicBezTo>
                    <a:pt x="1496822" y="1611249"/>
                    <a:pt x="1489202" y="1618742"/>
                    <a:pt x="147993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479931" y="1584960"/>
                  </a:lnTo>
                  <a:lnTo>
                    <a:pt x="1479931" y="1601851"/>
                  </a:lnTo>
                  <a:lnTo>
                    <a:pt x="1463040" y="160185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" name="Google Shape;87;p2"/>
          <p:cNvGrpSpPr/>
          <p:nvPr/>
        </p:nvGrpSpPr>
        <p:grpSpPr>
          <a:xfrm>
            <a:off x="2002559" y="2555103"/>
            <a:ext cx="6766560" cy="1231582"/>
            <a:chOff x="0" y="-57150"/>
            <a:chExt cx="9022080" cy="1642110"/>
          </a:xfrm>
        </p:grpSpPr>
        <p:sp>
          <p:nvSpPr>
            <p:cNvPr id="88" name="Google Shape;88;p2"/>
            <p:cNvSpPr/>
            <p:nvPr/>
          </p:nvSpPr>
          <p:spPr>
            <a:xfrm>
              <a:off x="0" y="0"/>
              <a:ext cx="9022080" cy="1584960"/>
            </a:xfrm>
            <a:custGeom>
              <a:avLst/>
              <a:gdLst/>
              <a:ahLst/>
              <a:cxnLst/>
              <a:rect l="l" t="t" r="r" b="b"/>
              <a:pathLst>
                <a:path w="9022080" h="1584960" extrusionOk="0">
                  <a:moveTo>
                    <a:pt x="0" y="0"/>
                  </a:moveTo>
                  <a:lnTo>
                    <a:pt x="9022080" y="0"/>
                  </a:lnTo>
                  <a:lnTo>
                    <a:pt x="9022080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9" name="Google Shape;89;p2"/>
            <p:cNvSpPr txBox="1"/>
            <p:nvPr/>
          </p:nvSpPr>
          <p:spPr>
            <a:xfrm>
              <a:off x="0" y="-57150"/>
              <a:ext cx="9022080" cy="1642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180"/>
                </a:spcBef>
                <a:spcAft>
                  <a:spcPts val="18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400">
                  <a:solidFill>
                    <a:srgbClr val="073763"/>
                  </a:solidFill>
                  <a:latin typeface="Cambria"/>
                  <a:ea typeface="Cambria"/>
                  <a:cs typeface="Cambria"/>
                  <a:sym typeface="Cambria"/>
                </a:rPr>
                <a:t>What is AXI4-Lite?</a:t>
              </a:r>
              <a:endParaRPr sz="2400" b="0" i="0" u="none" strike="noStrike" cap="non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" name="Google Shape;90;p2"/>
          <p:cNvGrpSpPr/>
          <p:nvPr/>
        </p:nvGrpSpPr>
        <p:grpSpPr>
          <a:xfrm>
            <a:off x="673126" y="4084884"/>
            <a:ext cx="1122617" cy="1214057"/>
            <a:chOff x="0" y="0"/>
            <a:chExt cx="1496822" cy="1618742"/>
          </a:xfrm>
        </p:grpSpPr>
        <p:sp>
          <p:nvSpPr>
            <p:cNvPr id="91" name="Google Shape;91;p2"/>
            <p:cNvSpPr/>
            <p:nvPr/>
          </p:nvSpPr>
          <p:spPr>
            <a:xfrm>
              <a:off x="16891" y="16891"/>
              <a:ext cx="1463040" cy="1584960"/>
            </a:xfrm>
            <a:custGeom>
              <a:avLst/>
              <a:gdLst/>
              <a:ahLst/>
              <a:cxnLst/>
              <a:rect l="l" t="t" r="r" b="b"/>
              <a:pathLst>
                <a:path w="1463040" h="1584960" extrusionOk="0">
                  <a:moveTo>
                    <a:pt x="0" y="0"/>
                  </a:moveTo>
                  <a:lnTo>
                    <a:pt x="1463040" y="0"/>
                  </a:lnTo>
                  <a:lnTo>
                    <a:pt x="146304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0" y="0"/>
              <a:ext cx="1496822" cy="1618742"/>
            </a:xfrm>
            <a:custGeom>
              <a:avLst/>
              <a:gdLst/>
              <a:ahLst/>
              <a:cxnLst/>
              <a:rect l="l" t="t" r="r" b="b"/>
              <a:pathLst>
                <a:path w="1496822" h="1618742" extrusionOk="0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601851"/>
                  </a:lnTo>
                  <a:cubicBezTo>
                    <a:pt x="1496822" y="1611249"/>
                    <a:pt x="1489202" y="1618742"/>
                    <a:pt x="147993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479931" y="1584960"/>
                  </a:lnTo>
                  <a:lnTo>
                    <a:pt x="1479931" y="1601851"/>
                  </a:lnTo>
                  <a:lnTo>
                    <a:pt x="1463040" y="160185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p2"/>
          <p:cNvSpPr txBox="1"/>
          <p:nvPr/>
        </p:nvSpPr>
        <p:spPr>
          <a:xfrm>
            <a:off x="685810" y="4090369"/>
            <a:ext cx="1097400" cy="120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2E74B5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400" b="0" i="0" u="none" strike="noStrike" cap="none">
              <a:solidFill>
                <a:srgbClr val="2E74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2"/>
          <p:cNvGrpSpPr/>
          <p:nvPr/>
        </p:nvGrpSpPr>
        <p:grpSpPr>
          <a:xfrm>
            <a:off x="2002557" y="4054725"/>
            <a:ext cx="6925130" cy="1231650"/>
            <a:chOff x="-285891" y="-57150"/>
            <a:chExt cx="9307971" cy="1642200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9022080" cy="1584960"/>
            </a:xfrm>
            <a:custGeom>
              <a:avLst/>
              <a:gdLst/>
              <a:ahLst/>
              <a:cxnLst/>
              <a:rect l="l" t="t" r="r" b="b"/>
              <a:pathLst>
                <a:path w="9022080" h="1584960" extrusionOk="0">
                  <a:moveTo>
                    <a:pt x="0" y="0"/>
                  </a:moveTo>
                  <a:lnTo>
                    <a:pt x="9022080" y="0"/>
                  </a:lnTo>
                  <a:lnTo>
                    <a:pt x="9022080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-285891" y="-57150"/>
              <a:ext cx="9307800" cy="16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180"/>
                </a:spcBef>
                <a:spcAft>
                  <a:spcPts val="18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400">
                  <a:solidFill>
                    <a:srgbClr val="073763"/>
                  </a:solidFill>
                  <a:latin typeface="Calibri"/>
                  <a:ea typeface="Calibri"/>
                  <a:cs typeface="Calibri"/>
                  <a:sym typeface="Calibri"/>
                </a:rPr>
                <a:t>AXI4-Lite vs AXI4-Full</a:t>
              </a:r>
              <a:endParaRPr sz="24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2"/>
          <p:cNvGrpSpPr/>
          <p:nvPr/>
        </p:nvGrpSpPr>
        <p:grpSpPr>
          <a:xfrm>
            <a:off x="673125" y="5584500"/>
            <a:ext cx="8254937" cy="1214057"/>
            <a:chOff x="0" y="0"/>
            <a:chExt cx="11006582" cy="1618742"/>
          </a:xfrm>
        </p:grpSpPr>
        <p:sp>
          <p:nvSpPr>
            <p:cNvPr id="98" name="Google Shape;98;p2"/>
            <p:cNvSpPr/>
            <p:nvPr/>
          </p:nvSpPr>
          <p:spPr>
            <a:xfrm>
              <a:off x="16891" y="16891"/>
              <a:ext cx="10972800" cy="1584960"/>
            </a:xfrm>
            <a:custGeom>
              <a:avLst/>
              <a:gdLst/>
              <a:ahLst/>
              <a:cxnLst/>
              <a:rect l="l" t="t" r="r" b="b"/>
              <a:pathLst>
                <a:path w="10972800" h="1584960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0" y="0"/>
              <a:ext cx="11006582" cy="1618742"/>
            </a:xfrm>
            <a:custGeom>
              <a:avLst/>
              <a:gdLst/>
              <a:ahLst/>
              <a:cxnLst/>
              <a:rect l="l" t="t" r="r" b="b"/>
              <a:pathLst>
                <a:path w="11006582" h="1618742" extrusionOk="0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601851"/>
                  </a:lnTo>
                  <a:cubicBezTo>
                    <a:pt x="11006582" y="1611249"/>
                    <a:pt x="10998962" y="1618742"/>
                    <a:pt x="1098969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0989691" y="1584960"/>
                  </a:lnTo>
                  <a:lnTo>
                    <a:pt x="10989691" y="1601851"/>
                  </a:lnTo>
                  <a:lnTo>
                    <a:pt x="10972800" y="160185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" name="Google Shape;100;p2"/>
          <p:cNvGrpSpPr/>
          <p:nvPr/>
        </p:nvGrpSpPr>
        <p:grpSpPr>
          <a:xfrm>
            <a:off x="673126" y="5584500"/>
            <a:ext cx="1122617" cy="1214057"/>
            <a:chOff x="0" y="0"/>
            <a:chExt cx="1496822" cy="1618742"/>
          </a:xfrm>
        </p:grpSpPr>
        <p:sp>
          <p:nvSpPr>
            <p:cNvPr id="101" name="Google Shape;101;p2"/>
            <p:cNvSpPr/>
            <p:nvPr/>
          </p:nvSpPr>
          <p:spPr>
            <a:xfrm>
              <a:off x="16891" y="16891"/>
              <a:ext cx="1463040" cy="1584960"/>
            </a:xfrm>
            <a:custGeom>
              <a:avLst/>
              <a:gdLst/>
              <a:ahLst/>
              <a:cxnLst/>
              <a:rect l="l" t="t" r="r" b="b"/>
              <a:pathLst>
                <a:path w="1463040" h="1584960" extrusionOk="0">
                  <a:moveTo>
                    <a:pt x="0" y="0"/>
                  </a:moveTo>
                  <a:lnTo>
                    <a:pt x="1463040" y="0"/>
                  </a:lnTo>
                  <a:lnTo>
                    <a:pt x="1463040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0" y="0"/>
              <a:ext cx="1496822" cy="1618742"/>
            </a:xfrm>
            <a:custGeom>
              <a:avLst/>
              <a:gdLst/>
              <a:ahLst/>
              <a:cxnLst/>
              <a:rect l="l" t="t" r="r" b="b"/>
              <a:pathLst>
                <a:path w="1496822" h="1618742" extrusionOk="0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601851"/>
                  </a:lnTo>
                  <a:cubicBezTo>
                    <a:pt x="1496822" y="1611249"/>
                    <a:pt x="1489202" y="1618742"/>
                    <a:pt x="147993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479931" y="1584960"/>
                  </a:lnTo>
                  <a:lnTo>
                    <a:pt x="1479931" y="1601851"/>
                  </a:lnTo>
                  <a:lnTo>
                    <a:pt x="1463040" y="160185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" name="Google Shape;103;p2"/>
          <p:cNvGrpSpPr/>
          <p:nvPr/>
        </p:nvGrpSpPr>
        <p:grpSpPr>
          <a:xfrm>
            <a:off x="685822" y="5582910"/>
            <a:ext cx="1097280" cy="1203007"/>
            <a:chOff x="0" y="-19050"/>
            <a:chExt cx="1463040" cy="1604010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1463040" cy="1584960"/>
            </a:xfrm>
            <a:custGeom>
              <a:avLst/>
              <a:gdLst/>
              <a:ahLst/>
              <a:cxnLst/>
              <a:rect l="l" t="t" r="r" b="b"/>
              <a:pathLst>
                <a:path w="1463040" h="1584960" extrusionOk="0">
                  <a:moveTo>
                    <a:pt x="0" y="0"/>
                  </a:moveTo>
                  <a:lnTo>
                    <a:pt x="1463040" y="0"/>
                  </a:lnTo>
                  <a:lnTo>
                    <a:pt x="1463040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0" y="-19050"/>
              <a:ext cx="1463040" cy="16040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Arial"/>
                <a:buNone/>
              </a:pPr>
              <a:r>
                <a:rPr lang="en-US" sz="2600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2"/>
          <p:cNvGrpSpPr/>
          <p:nvPr/>
        </p:nvGrpSpPr>
        <p:grpSpPr>
          <a:xfrm>
            <a:off x="2002559" y="5554335"/>
            <a:ext cx="6766560" cy="1231582"/>
            <a:chOff x="0" y="-57150"/>
            <a:chExt cx="9022080" cy="1642110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9022080" cy="1584960"/>
            </a:xfrm>
            <a:custGeom>
              <a:avLst/>
              <a:gdLst/>
              <a:ahLst/>
              <a:cxnLst/>
              <a:rect l="l" t="t" r="r" b="b"/>
              <a:pathLst>
                <a:path w="9022080" h="1584960" extrusionOk="0">
                  <a:moveTo>
                    <a:pt x="0" y="0"/>
                  </a:moveTo>
                  <a:lnTo>
                    <a:pt x="9022080" y="0"/>
                  </a:lnTo>
                  <a:lnTo>
                    <a:pt x="9022080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-57150"/>
              <a:ext cx="9022080" cy="1642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180"/>
                </a:spcBef>
                <a:spcAft>
                  <a:spcPts val="180"/>
                </a:spcAft>
                <a:buNone/>
              </a:pPr>
              <a:r>
                <a:rPr lang="en-US" sz="2400">
                  <a:solidFill>
                    <a:srgbClr val="073763"/>
                  </a:solidFill>
                  <a:latin typeface="Calibri"/>
                  <a:ea typeface="Calibri"/>
                  <a:cs typeface="Calibri"/>
                  <a:sym typeface="Calibri"/>
                </a:rPr>
                <a:t>5 Channels Overview Table</a:t>
              </a:r>
              <a:endParaRPr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2"/>
          <p:cNvGrpSpPr/>
          <p:nvPr/>
        </p:nvGrpSpPr>
        <p:grpSpPr>
          <a:xfrm>
            <a:off x="673125" y="7084116"/>
            <a:ext cx="8254937" cy="1214057"/>
            <a:chOff x="0" y="0"/>
            <a:chExt cx="11006582" cy="1618742"/>
          </a:xfrm>
        </p:grpSpPr>
        <p:sp>
          <p:nvSpPr>
            <p:cNvPr id="110" name="Google Shape;110;p2"/>
            <p:cNvSpPr/>
            <p:nvPr/>
          </p:nvSpPr>
          <p:spPr>
            <a:xfrm>
              <a:off x="16891" y="16891"/>
              <a:ext cx="10972800" cy="1584960"/>
            </a:xfrm>
            <a:custGeom>
              <a:avLst/>
              <a:gdLst/>
              <a:ahLst/>
              <a:cxnLst/>
              <a:rect l="l" t="t" r="r" b="b"/>
              <a:pathLst>
                <a:path w="10972800" h="1584960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0" y="0"/>
              <a:ext cx="11006582" cy="1618742"/>
            </a:xfrm>
            <a:custGeom>
              <a:avLst/>
              <a:gdLst/>
              <a:ahLst/>
              <a:cxnLst/>
              <a:rect l="l" t="t" r="r" b="b"/>
              <a:pathLst>
                <a:path w="11006582" h="1618742" extrusionOk="0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601851"/>
                  </a:lnTo>
                  <a:cubicBezTo>
                    <a:pt x="11006582" y="1611249"/>
                    <a:pt x="10998962" y="1618742"/>
                    <a:pt x="1098969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0989691" y="1584960"/>
                  </a:lnTo>
                  <a:lnTo>
                    <a:pt x="10989691" y="1601851"/>
                  </a:lnTo>
                  <a:lnTo>
                    <a:pt x="10972800" y="160185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" name="Google Shape;112;p2"/>
          <p:cNvGrpSpPr/>
          <p:nvPr/>
        </p:nvGrpSpPr>
        <p:grpSpPr>
          <a:xfrm>
            <a:off x="673126" y="7084116"/>
            <a:ext cx="1122617" cy="1214057"/>
            <a:chOff x="0" y="0"/>
            <a:chExt cx="1496822" cy="1618742"/>
          </a:xfrm>
        </p:grpSpPr>
        <p:sp>
          <p:nvSpPr>
            <p:cNvPr id="113" name="Google Shape;113;p2"/>
            <p:cNvSpPr/>
            <p:nvPr/>
          </p:nvSpPr>
          <p:spPr>
            <a:xfrm>
              <a:off x="16891" y="16891"/>
              <a:ext cx="1463040" cy="1584960"/>
            </a:xfrm>
            <a:custGeom>
              <a:avLst/>
              <a:gdLst/>
              <a:ahLst/>
              <a:cxnLst/>
              <a:rect l="l" t="t" r="r" b="b"/>
              <a:pathLst>
                <a:path w="1463040" h="1584960" extrusionOk="0">
                  <a:moveTo>
                    <a:pt x="0" y="0"/>
                  </a:moveTo>
                  <a:lnTo>
                    <a:pt x="1463040" y="0"/>
                  </a:lnTo>
                  <a:lnTo>
                    <a:pt x="1463040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0" y="0"/>
              <a:ext cx="1496822" cy="1618742"/>
            </a:xfrm>
            <a:custGeom>
              <a:avLst/>
              <a:gdLst/>
              <a:ahLst/>
              <a:cxnLst/>
              <a:rect l="l" t="t" r="r" b="b"/>
              <a:pathLst>
                <a:path w="1496822" h="1618742" extrusionOk="0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601851"/>
                  </a:lnTo>
                  <a:cubicBezTo>
                    <a:pt x="1496822" y="1611249"/>
                    <a:pt x="1489202" y="1618742"/>
                    <a:pt x="147993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479931" y="1584960"/>
                  </a:lnTo>
                  <a:lnTo>
                    <a:pt x="1479931" y="1601851"/>
                  </a:lnTo>
                  <a:lnTo>
                    <a:pt x="1463040" y="160185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" name="Google Shape;115;p2"/>
          <p:cNvGrpSpPr/>
          <p:nvPr/>
        </p:nvGrpSpPr>
        <p:grpSpPr>
          <a:xfrm>
            <a:off x="685822" y="7082526"/>
            <a:ext cx="1097280" cy="1203007"/>
            <a:chOff x="0" y="-19050"/>
            <a:chExt cx="1463040" cy="1604010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1463040" cy="1584960"/>
            </a:xfrm>
            <a:custGeom>
              <a:avLst/>
              <a:gdLst/>
              <a:ahLst/>
              <a:cxnLst/>
              <a:rect l="l" t="t" r="r" b="b"/>
              <a:pathLst>
                <a:path w="1463040" h="1584960" extrusionOk="0">
                  <a:moveTo>
                    <a:pt x="0" y="0"/>
                  </a:moveTo>
                  <a:lnTo>
                    <a:pt x="1463040" y="0"/>
                  </a:lnTo>
                  <a:lnTo>
                    <a:pt x="1463040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0" y="-19050"/>
              <a:ext cx="1463040" cy="16040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Arial"/>
                <a:buNone/>
              </a:pPr>
              <a:r>
                <a:rPr lang="en-US" sz="2600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2"/>
          <p:cNvGrpSpPr/>
          <p:nvPr/>
        </p:nvGrpSpPr>
        <p:grpSpPr>
          <a:xfrm>
            <a:off x="2002559" y="7053951"/>
            <a:ext cx="6766560" cy="1231582"/>
            <a:chOff x="0" y="-57150"/>
            <a:chExt cx="9022080" cy="1642110"/>
          </a:xfrm>
        </p:grpSpPr>
        <p:sp>
          <p:nvSpPr>
            <p:cNvPr id="119" name="Google Shape;119;p2"/>
            <p:cNvSpPr/>
            <p:nvPr/>
          </p:nvSpPr>
          <p:spPr>
            <a:xfrm>
              <a:off x="0" y="0"/>
              <a:ext cx="9022080" cy="1584960"/>
            </a:xfrm>
            <a:custGeom>
              <a:avLst/>
              <a:gdLst/>
              <a:ahLst/>
              <a:cxnLst/>
              <a:rect l="l" t="t" r="r" b="b"/>
              <a:pathLst>
                <a:path w="9022080" h="1584960" extrusionOk="0">
                  <a:moveTo>
                    <a:pt x="0" y="0"/>
                  </a:moveTo>
                  <a:lnTo>
                    <a:pt x="9022080" y="0"/>
                  </a:lnTo>
                  <a:lnTo>
                    <a:pt x="9022080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0" y="-57150"/>
              <a:ext cx="9022080" cy="1642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180"/>
                </a:spcBef>
                <a:spcAft>
                  <a:spcPts val="180"/>
                </a:spcAft>
                <a:buNone/>
              </a:pPr>
              <a:r>
                <a:rPr lang="en-US" sz="2400">
                  <a:solidFill>
                    <a:srgbClr val="073763"/>
                  </a:solidFill>
                  <a:latin typeface="Calibri"/>
                  <a:ea typeface="Calibri"/>
                  <a:cs typeface="Calibri"/>
                  <a:sym typeface="Calibri"/>
                </a:rPr>
                <a:t>Channel Signal Diagram</a:t>
              </a:r>
              <a:endParaRPr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673125" y="8583732"/>
            <a:ext cx="8254937" cy="1214057"/>
            <a:chOff x="0" y="0"/>
            <a:chExt cx="11006582" cy="1618742"/>
          </a:xfrm>
        </p:grpSpPr>
        <p:sp>
          <p:nvSpPr>
            <p:cNvPr id="122" name="Google Shape;122;p2"/>
            <p:cNvSpPr/>
            <p:nvPr/>
          </p:nvSpPr>
          <p:spPr>
            <a:xfrm>
              <a:off x="16891" y="16891"/>
              <a:ext cx="10972800" cy="1584960"/>
            </a:xfrm>
            <a:custGeom>
              <a:avLst/>
              <a:gdLst/>
              <a:ahLst/>
              <a:cxnLst/>
              <a:rect l="l" t="t" r="r" b="b"/>
              <a:pathLst>
                <a:path w="10972800" h="1584960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0" y="0"/>
              <a:ext cx="11006582" cy="1618742"/>
            </a:xfrm>
            <a:custGeom>
              <a:avLst/>
              <a:gdLst/>
              <a:ahLst/>
              <a:cxnLst/>
              <a:rect l="l" t="t" r="r" b="b"/>
              <a:pathLst>
                <a:path w="11006582" h="1618742" extrusionOk="0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601851"/>
                  </a:lnTo>
                  <a:cubicBezTo>
                    <a:pt x="11006582" y="1611249"/>
                    <a:pt x="10998962" y="1618742"/>
                    <a:pt x="1098969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0989691" y="1584960"/>
                  </a:lnTo>
                  <a:lnTo>
                    <a:pt x="10989691" y="1601851"/>
                  </a:lnTo>
                  <a:lnTo>
                    <a:pt x="10972800" y="160185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673126" y="8583732"/>
            <a:ext cx="1122617" cy="1214057"/>
            <a:chOff x="0" y="0"/>
            <a:chExt cx="1496822" cy="1618742"/>
          </a:xfrm>
        </p:grpSpPr>
        <p:sp>
          <p:nvSpPr>
            <p:cNvPr id="125" name="Google Shape;125;p2"/>
            <p:cNvSpPr/>
            <p:nvPr/>
          </p:nvSpPr>
          <p:spPr>
            <a:xfrm>
              <a:off x="16891" y="16891"/>
              <a:ext cx="1463040" cy="1584960"/>
            </a:xfrm>
            <a:custGeom>
              <a:avLst/>
              <a:gdLst/>
              <a:ahLst/>
              <a:cxnLst/>
              <a:rect l="l" t="t" r="r" b="b"/>
              <a:pathLst>
                <a:path w="1463040" h="1584960" extrusionOk="0">
                  <a:moveTo>
                    <a:pt x="0" y="0"/>
                  </a:moveTo>
                  <a:lnTo>
                    <a:pt x="1463040" y="0"/>
                  </a:lnTo>
                  <a:lnTo>
                    <a:pt x="1463040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0" y="0"/>
              <a:ext cx="1496822" cy="1618742"/>
            </a:xfrm>
            <a:custGeom>
              <a:avLst/>
              <a:gdLst/>
              <a:ahLst/>
              <a:cxnLst/>
              <a:rect l="l" t="t" r="r" b="b"/>
              <a:pathLst>
                <a:path w="1496822" h="1618742" extrusionOk="0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601851"/>
                  </a:lnTo>
                  <a:cubicBezTo>
                    <a:pt x="1496822" y="1611249"/>
                    <a:pt x="1489202" y="1618742"/>
                    <a:pt x="147993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479931" y="1584960"/>
                  </a:lnTo>
                  <a:lnTo>
                    <a:pt x="1479931" y="1601851"/>
                  </a:lnTo>
                  <a:lnTo>
                    <a:pt x="1463040" y="160185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685822" y="8582142"/>
            <a:ext cx="1097280" cy="1203007"/>
            <a:chOff x="0" y="-19050"/>
            <a:chExt cx="1463040" cy="1604010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1463040" cy="1584960"/>
            </a:xfrm>
            <a:custGeom>
              <a:avLst/>
              <a:gdLst/>
              <a:ahLst/>
              <a:cxnLst/>
              <a:rect l="l" t="t" r="r" b="b"/>
              <a:pathLst>
                <a:path w="1463040" h="1584960" extrusionOk="0">
                  <a:moveTo>
                    <a:pt x="0" y="0"/>
                  </a:moveTo>
                  <a:lnTo>
                    <a:pt x="1463040" y="0"/>
                  </a:lnTo>
                  <a:lnTo>
                    <a:pt x="1463040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9" name="Google Shape;129;p2"/>
            <p:cNvSpPr txBox="1"/>
            <p:nvPr/>
          </p:nvSpPr>
          <p:spPr>
            <a:xfrm>
              <a:off x="0" y="-19050"/>
              <a:ext cx="1463040" cy="16040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Arial"/>
                <a:buNone/>
              </a:pPr>
              <a:r>
                <a:rPr lang="en-US" sz="2600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05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2002559" y="8583742"/>
            <a:ext cx="6766560" cy="1231582"/>
            <a:chOff x="0" y="-57150"/>
            <a:chExt cx="9022080" cy="1642110"/>
          </a:xfrm>
        </p:grpSpPr>
        <p:sp>
          <p:nvSpPr>
            <p:cNvPr id="131" name="Google Shape;131;p2"/>
            <p:cNvSpPr/>
            <p:nvPr/>
          </p:nvSpPr>
          <p:spPr>
            <a:xfrm>
              <a:off x="0" y="0"/>
              <a:ext cx="9022080" cy="1584960"/>
            </a:xfrm>
            <a:custGeom>
              <a:avLst/>
              <a:gdLst/>
              <a:ahLst/>
              <a:cxnLst/>
              <a:rect l="l" t="t" r="r" b="b"/>
              <a:pathLst>
                <a:path w="9022080" h="1584960" extrusionOk="0">
                  <a:moveTo>
                    <a:pt x="0" y="0"/>
                  </a:moveTo>
                  <a:lnTo>
                    <a:pt x="9022080" y="0"/>
                  </a:lnTo>
                  <a:lnTo>
                    <a:pt x="9022080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2" name="Google Shape;132;p2"/>
            <p:cNvSpPr txBox="1"/>
            <p:nvPr/>
          </p:nvSpPr>
          <p:spPr>
            <a:xfrm>
              <a:off x="0" y="-57150"/>
              <a:ext cx="9022080" cy="1642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180"/>
                </a:spcBef>
                <a:spcAft>
                  <a:spcPts val="18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400">
                  <a:solidFill>
                    <a:srgbClr val="073763"/>
                  </a:solidFill>
                  <a:latin typeface="Calibri"/>
                  <a:ea typeface="Calibri"/>
                  <a:cs typeface="Calibri"/>
                  <a:sym typeface="Calibri"/>
                </a:rPr>
                <a:t>Write Transaction Flow (AW→W→B)</a:t>
              </a:r>
              <a:endParaRPr sz="24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" name="Google Shape;133;p2"/>
          <p:cNvGrpSpPr/>
          <p:nvPr/>
        </p:nvGrpSpPr>
        <p:grpSpPr>
          <a:xfrm>
            <a:off x="9359926" y="2585268"/>
            <a:ext cx="8254936" cy="1214057"/>
            <a:chOff x="0" y="0"/>
            <a:chExt cx="11006582" cy="1618742"/>
          </a:xfrm>
        </p:grpSpPr>
        <p:sp>
          <p:nvSpPr>
            <p:cNvPr id="134" name="Google Shape;134;p2"/>
            <p:cNvSpPr/>
            <p:nvPr/>
          </p:nvSpPr>
          <p:spPr>
            <a:xfrm>
              <a:off x="16891" y="16891"/>
              <a:ext cx="10972800" cy="1584960"/>
            </a:xfrm>
            <a:custGeom>
              <a:avLst/>
              <a:gdLst/>
              <a:ahLst/>
              <a:cxnLst/>
              <a:rect l="l" t="t" r="r" b="b"/>
              <a:pathLst>
                <a:path w="10972800" h="1584960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0" y="0"/>
              <a:ext cx="11006582" cy="1618742"/>
            </a:xfrm>
            <a:custGeom>
              <a:avLst/>
              <a:gdLst/>
              <a:ahLst/>
              <a:cxnLst/>
              <a:rect l="l" t="t" r="r" b="b"/>
              <a:pathLst>
                <a:path w="11006582" h="1618742" extrusionOk="0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601851"/>
                  </a:lnTo>
                  <a:cubicBezTo>
                    <a:pt x="11006582" y="1611249"/>
                    <a:pt x="10998962" y="1618742"/>
                    <a:pt x="1098969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0989691" y="1584960"/>
                  </a:lnTo>
                  <a:lnTo>
                    <a:pt x="10989691" y="1601851"/>
                  </a:lnTo>
                  <a:lnTo>
                    <a:pt x="10972800" y="160185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" name="Google Shape;136;p2"/>
          <p:cNvGrpSpPr/>
          <p:nvPr/>
        </p:nvGrpSpPr>
        <p:grpSpPr>
          <a:xfrm>
            <a:off x="9359926" y="2585268"/>
            <a:ext cx="1122617" cy="1214057"/>
            <a:chOff x="0" y="0"/>
            <a:chExt cx="1496822" cy="1618742"/>
          </a:xfrm>
        </p:grpSpPr>
        <p:sp>
          <p:nvSpPr>
            <p:cNvPr id="137" name="Google Shape;137;p2"/>
            <p:cNvSpPr/>
            <p:nvPr/>
          </p:nvSpPr>
          <p:spPr>
            <a:xfrm>
              <a:off x="16891" y="16891"/>
              <a:ext cx="1463040" cy="1584960"/>
            </a:xfrm>
            <a:custGeom>
              <a:avLst/>
              <a:gdLst/>
              <a:ahLst/>
              <a:cxnLst/>
              <a:rect l="l" t="t" r="r" b="b"/>
              <a:pathLst>
                <a:path w="1463040" h="1584960" extrusionOk="0">
                  <a:moveTo>
                    <a:pt x="0" y="0"/>
                  </a:moveTo>
                  <a:lnTo>
                    <a:pt x="1463040" y="0"/>
                  </a:lnTo>
                  <a:lnTo>
                    <a:pt x="1463040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0" y="0"/>
              <a:ext cx="1496822" cy="1618742"/>
            </a:xfrm>
            <a:custGeom>
              <a:avLst/>
              <a:gdLst/>
              <a:ahLst/>
              <a:cxnLst/>
              <a:rect l="l" t="t" r="r" b="b"/>
              <a:pathLst>
                <a:path w="1496822" h="1618742" extrusionOk="0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601851"/>
                  </a:lnTo>
                  <a:cubicBezTo>
                    <a:pt x="1496822" y="1611249"/>
                    <a:pt x="1489202" y="1618742"/>
                    <a:pt x="147993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479931" y="1584960"/>
                  </a:lnTo>
                  <a:lnTo>
                    <a:pt x="1479931" y="1601851"/>
                  </a:lnTo>
                  <a:lnTo>
                    <a:pt x="1463040" y="160185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9" name="Google Shape;139;p2"/>
          <p:cNvGrpSpPr/>
          <p:nvPr/>
        </p:nvGrpSpPr>
        <p:grpSpPr>
          <a:xfrm>
            <a:off x="9372623" y="2583677"/>
            <a:ext cx="1097280" cy="1203008"/>
            <a:chOff x="0" y="-19050"/>
            <a:chExt cx="1463040" cy="1604010"/>
          </a:xfrm>
        </p:grpSpPr>
        <p:sp>
          <p:nvSpPr>
            <p:cNvPr id="140" name="Google Shape;140;p2"/>
            <p:cNvSpPr/>
            <p:nvPr/>
          </p:nvSpPr>
          <p:spPr>
            <a:xfrm>
              <a:off x="0" y="0"/>
              <a:ext cx="1463040" cy="1584960"/>
            </a:xfrm>
            <a:custGeom>
              <a:avLst/>
              <a:gdLst/>
              <a:ahLst/>
              <a:cxnLst/>
              <a:rect l="l" t="t" r="r" b="b"/>
              <a:pathLst>
                <a:path w="1463040" h="1584960" extrusionOk="0">
                  <a:moveTo>
                    <a:pt x="0" y="0"/>
                  </a:moveTo>
                  <a:lnTo>
                    <a:pt x="1463040" y="0"/>
                  </a:lnTo>
                  <a:lnTo>
                    <a:pt x="1463040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1" name="Google Shape;141;p2"/>
            <p:cNvSpPr txBox="1"/>
            <p:nvPr/>
          </p:nvSpPr>
          <p:spPr>
            <a:xfrm>
              <a:off x="0" y="-19050"/>
              <a:ext cx="1463040" cy="16040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Arial"/>
                <a:buNone/>
              </a:pPr>
              <a:r>
                <a:rPr lang="en-US" sz="2600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06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2"/>
          <p:cNvGrpSpPr/>
          <p:nvPr/>
        </p:nvGrpSpPr>
        <p:grpSpPr>
          <a:xfrm>
            <a:off x="10689359" y="2555103"/>
            <a:ext cx="6766560" cy="1231582"/>
            <a:chOff x="0" y="-57150"/>
            <a:chExt cx="9022080" cy="1642110"/>
          </a:xfrm>
        </p:grpSpPr>
        <p:sp>
          <p:nvSpPr>
            <p:cNvPr id="143" name="Google Shape;143;p2"/>
            <p:cNvSpPr/>
            <p:nvPr/>
          </p:nvSpPr>
          <p:spPr>
            <a:xfrm>
              <a:off x="0" y="0"/>
              <a:ext cx="9022080" cy="1584960"/>
            </a:xfrm>
            <a:custGeom>
              <a:avLst/>
              <a:gdLst/>
              <a:ahLst/>
              <a:cxnLst/>
              <a:rect l="l" t="t" r="r" b="b"/>
              <a:pathLst>
                <a:path w="9022080" h="1584960" extrusionOk="0">
                  <a:moveTo>
                    <a:pt x="0" y="0"/>
                  </a:moveTo>
                  <a:lnTo>
                    <a:pt x="9022080" y="0"/>
                  </a:lnTo>
                  <a:lnTo>
                    <a:pt x="9022080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4" name="Google Shape;144;p2"/>
            <p:cNvSpPr txBox="1"/>
            <p:nvPr/>
          </p:nvSpPr>
          <p:spPr>
            <a:xfrm>
              <a:off x="0" y="-57150"/>
              <a:ext cx="9022080" cy="1642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180"/>
                </a:spcBef>
                <a:spcAft>
                  <a:spcPts val="180"/>
                </a:spcAft>
                <a:buNone/>
              </a:pPr>
              <a:r>
                <a:rPr lang="en-US" sz="2400">
                  <a:solidFill>
                    <a:srgbClr val="073763"/>
                  </a:solidFill>
                  <a:latin typeface="Calibri"/>
                  <a:ea typeface="Calibri"/>
                  <a:cs typeface="Calibri"/>
                  <a:sym typeface="Calibri"/>
                </a:rPr>
                <a:t>Read Transaction Flow (AR→R)</a:t>
              </a:r>
              <a:endParaRPr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" name="Google Shape;145;p2"/>
          <p:cNvGrpSpPr/>
          <p:nvPr/>
        </p:nvGrpSpPr>
        <p:grpSpPr>
          <a:xfrm>
            <a:off x="9359926" y="4084884"/>
            <a:ext cx="8254936" cy="1214057"/>
            <a:chOff x="0" y="0"/>
            <a:chExt cx="11006582" cy="1618742"/>
          </a:xfrm>
        </p:grpSpPr>
        <p:sp>
          <p:nvSpPr>
            <p:cNvPr id="146" name="Google Shape;146;p2"/>
            <p:cNvSpPr/>
            <p:nvPr/>
          </p:nvSpPr>
          <p:spPr>
            <a:xfrm>
              <a:off x="16891" y="16891"/>
              <a:ext cx="10972800" cy="1584960"/>
            </a:xfrm>
            <a:custGeom>
              <a:avLst/>
              <a:gdLst/>
              <a:ahLst/>
              <a:cxnLst/>
              <a:rect l="l" t="t" r="r" b="b"/>
              <a:pathLst>
                <a:path w="10972800" h="1584960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0" y="0"/>
              <a:ext cx="11006582" cy="1618742"/>
            </a:xfrm>
            <a:custGeom>
              <a:avLst/>
              <a:gdLst/>
              <a:ahLst/>
              <a:cxnLst/>
              <a:rect l="l" t="t" r="r" b="b"/>
              <a:pathLst>
                <a:path w="11006582" h="1618742" extrusionOk="0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601851"/>
                  </a:lnTo>
                  <a:cubicBezTo>
                    <a:pt x="11006582" y="1611249"/>
                    <a:pt x="10998962" y="1618742"/>
                    <a:pt x="1098969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0989691" y="1584960"/>
                  </a:lnTo>
                  <a:lnTo>
                    <a:pt x="10989691" y="1601851"/>
                  </a:lnTo>
                  <a:lnTo>
                    <a:pt x="10972800" y="160185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" name="Google Shape;148;p2"/>
          <p:cNvGrpSpPr/>
          <p:nvPr/>
        </p:nvGrpSpPr>
        <p:grpSpPr>
          <a:xfrm>
            <a:off x="9359926" y="4084884"/>
            <a:ext cx="1122617" cy="1214057"/>
            <a:chOff x="0" y="0"/>
            <a:chExt cx="1496822" cy="1618742"/>
          </a:xfrm>
        </p:grpSpPr>
        <p:sp>
          <p:nvSpPr>
            <p:cNvPr id="149" name="Google Shape;149;p2"/>
            <p:cNvSpPr/>
            <p:nvPr/>
          </p:nvSpPr>
          <p:spPr>
            <a:xfrm>
              <a:off x="16891" y="16891"/>
              <a:ext cx="1463040" cy="1584960"/>
            </a:xfrm>
            <a:custGeom>
              <a:avLst/>
              <a:gdLst/>
              <a:ahLst/>
              <a:cxnLst/>
              <a:rect l="l" t="t" r="r" b="b"/>
              <a:pathLst>
                <a:path w="1463040" h="1584960" extrusionOk="0">
                  <a:moveTo>
                    <a:pt x="0" y="0"/>
                  </a:moveTo>
                  <a:lnTo>
                    <a:pt x="1463040" y="0"/>
                  </a:lnTo>
                  <a:lnTo>
                    <a:pt x="1463040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0" y="0"/>
              <a:ext cx="1496822" cy="1618742"/>
            </a:xfrm>
            <a:custGeom>
              <a:avLst/>
              <a:gdLst/>
              <a:ahLst/>
              <a:cxnLst/>
              <a:rect l="l" t="t" r="r" b="b"/>
              <a:pathLst>
                <a:path w="1496822" h="1618742" extrusionOk="0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601851"/>
                  </a:lnTo>
                  <a:cubicBezTo>
                    <a:pt x="1496822" y="1611249"/>
                    <a:pt x="1489202" y="1618742"/>
                    <a:pt x="147993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479931" y="1584960"/>
                  </a:lnTo>
                  <a:lnTo>
                    <a:pt x="1479931" y="1601851"/>
                  </a:lnTo>
                  <a:lnTo>
                    <a:pt x="1463040" y="160185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" name="Google Shape;151;p2"/>
          <p:cNvGrpSpPr/>
          <p:nvPr/>
        </p:nvGrpSpPr>
        <p:grpSpPr>
          <a:xfrm>
            <a:off x="9372623" y="4083294"/>
            <a:ext cx="1097280" cy="1203007"/>
            <a:chOff x="0" y="-19050"/>
            <a:chExt cx="1463040" cy="1604010"/>
          </a:xfrm>
        </p:grpSpPr>
        <p:sp>
          <p:nvSpPr>
            <p:cNvPr id="152" name="Google Shape;152;p2"/>
            <p:cNvSpPr/>
            <p:nvPr/>
          </p:nvSpPr>
          <p:spPr>
            <a:xfrm>
              <a:off x="0" y="0"/>
              <a:ext cx="1463040" cy="1584960"/>
            </a:xfrm>
            <a:custGeom>
              <a:avLst/>
              <a:gdLst/>
              <a:ahLst/>
              <a:cxnLst/>
              <a:rect l="l" t="t" r="r" b="b"/>
              <a:pathLst>
                <a:path w="1463040" h="1584960" extrusionOk="0">
                  <a:moveTo>
                    <a:pt x="0" y="0"/>
                  </a:moveTo>
                  <a:lnTo>
                    <a:pt x="1463040" y="0"/>
                  </a:lnTo>
                  <a:lnTo>
                    <a:pt x="1463040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3" name="Google Shape;153;p2"/>
            <p:cNvSpPr txBox="1"/>
            <p:nvPr/>
          </p:nvSpPr>
          <p:spPr>
            <a:xfrm>
              <a:off x="0" y="-19050"/>
              <a:ext cx="1463040" cy="16040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Arial"/>
                <a:buNone/>
              </a:pPr>
              <a:r>
                <a:rPr lang="en-US" sz="2600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07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2"/>
          <p:cNvGrpSpPr/>
          <p:nvPr/>
        </p:nvGrpSpPr>
        <p:grpSpPr>
          <a:xfrm>
            <a:off x="10689359" y="4054719"/>
            <a:ext cx="6766560" cy="1231582"/>
            <a:chOff x="0" y="-57150"/>
            <a:chExt cx="9022080" cy="1642110"/>
          </a:xfrm>
        </p:grpSpPr>
        <p:sp>
          <p:nvSpPr>
            <p:cNvPr id="155" name="Google Shape;155;p2"/>
            <p:cNvSpPr/>
            <p:nvPr/>
          </p:nvSpPr>
          <p:spPr>
            <a:xfrm>
              <a:off x="0" y="0"/>
              <a:ext cx="9022080" cy="1584960"/>
            </a:xfrm>
            <a:custGeom>
              <a:avLst/>
              <a:gdLst/>
              <a:ahLst/>
              <a:cxnLst/>
              <a:rect l="l" t="t" r="r" b="b"/>
              <a:pathLst>
                <a:path w="9022080" h="1584960" extrusionOk="0">
                  <a:moveTo>
                    <a:pt x="0" y="0"/>
                  </a:moveTo>
                  <a:lnTo>
                    <a:pt x="9022080" y="0"/>
                  </a:lnTo>
                  <a:lnTo>
                    <a:pt x="9022080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6" name="Google Shape;156;p2"/>
            <p:cNvSpPr txBox="1"/>
            <p:nvPr/>
          </p:nvSpPr>
          <p:spPr>
            <a:xfrm>
              <a:off x="0" y="-57150"/>
              <a:ext cx="9022080" cy="1642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180"/>
                </a:spcBef>
                <a:spcAft>
                  <a:spcPts val="18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400">
                  <a:solidFill>
                    <a:srgbClr val="073763"/>
                  </a:solidFill>
                  <a:latin typeface="Calibri"/>
                  <a:ea typeface="Calibri"/>
                  <a:cs typeface="Calibri"/>
                  <a:sym typeface="Calibri"/>
                </a:rPr>
                <a:t>VALID/READY Rules</a:t>
              </a:r>
              <a:endParaRPr sz="24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2"/>
          <p:cNvGrpSpPr/>
          <p:nvPr/>
        </p:nvGrpSpPr>
        <p:grpSpPr>
          <a:xfrm>
            <a:off x="9359926" y="5584500"/>
            <a:ext cx="8254936" cy="1214057"/>
            <a:chOff x="0" y="0"/>
            <a:chExt cx="11006582" cy="1618742"/>
          </a:xfrm>
        </p:grpSpPr>
        <p:sp>
          <p:nvSpPr>
            <p:cNvPr id="158" name="Google Shape;158;p2"/>
            <p:cNvSpPr/>
            <p:nvPr/>
          </p:nvSpPr>
          <p:spPr>
            <a:xfrm>
              <a:off x="16891" y="16891"/>
              <a:ext cx="10972800" cy="1584960"/>
            </a:xfrm>
            <a:custGeom>
              <a:avLst/>
              <a:gdLst/>
              <a:ahLst/>
              <a:cxnLst/>
              <a:rect l="l" t="t" r="r" b="b"/>
              <a:pathLst>
                <a:path w="10972800" h="1584960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0" y="0"/>
              <a:ext cx="11006582" cy="1618742"/>
            </a:xfrm>
            <a:custGeom>
              <a:avLst/>
              <a:gdLst/>
              <a:ahLst/>
              <a:cxnLst/>
              <a:rect l="l" t="t" r="r" b="b"/>
              <a:pathLst>
                <a:path w="11006582" h="1618742" extrusionOk="0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601851"/>
                  </a:lnTo>
                  <a:cubicBezTo>
                    <a:pt x="11006582" y="1611249"/>
                    <a:pt x="10998962" y="1618742"/>
                    <a:pt x="1098969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0989691" y="1584960"/>
                  </a:lnTo>
                  <a:lnTo>
                    <a:pt x="10989691" y="1601851"/>
                  </a:lnTo>
                  <a:lnTo>
                    <a:pt x="10972800" y="160185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" name="Google Shape;160;p2"/>
          <p:cNvGrpSpPr/>
          <p:nvPr/>
        </p:nvGrpSpPr>
        <p:grpSpPr>
          <a:xfrm>
            <a:off x="9359926" y="5584500"/>
            <a:ext cx="1122617" cy="1214057"/>
            <a:chOff x="0" y="0"/>
            <a:chExt cx="1496822" cy="1618742"/>
          </a:xfrm>
        </p:grpSpPr>
        <p:sp>
          <p:nvSpPr>
            <p:cNvPr id="161" name="Google Shape;161;p2"/>
            <p:cNvSpPr/>
            <p:nvPr/>
          </p:nvSpPr>
          <p:spPr>
            <a:xfrm>
              <a:off x="16891" y="16891"/>
              <a:ext cx="1463040" cy="1584960"/>
            </a:xfrm>
            <a:custGeom>
              <a:avLst/>
              <a:gdLst/>
              <a:ahLst/>
              <a:cxnLst/>
              <a:rect l="l" t="t" r="r" b="b"/>
              <a:pathLst>
                <a:path w="1463040" h="1584960" extrusionOk="0">
                  <a:moveTo>
                    <a:pt x="0" y="0"/>
                  </a:moveTo>
                  <a:lnTo>
                    <a:pt x="1463040" y="0"/>
                  </a:lnTo>
                  <a:lnTo>
                    <a:pt x="1463040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0" y="0"/>
              <a:ext cx="1496822" cy="1618742"/>
            </a:xfrm>
            <a:custGeom>
              <a:avLst/>
              <a:gdLst/>
              <a:ahLst/>
              <a:cxnLst/>
              <a:rect l="l" t="t" r="r" b="b"/>
              <a:pathLst>
                <a:path w="1496822" h="1618742" extrusionOk="0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601851"/>
                  </a:lnTo>
                  <a:cubicBezTo>
                    <a:pt x="1496822" y="1611249"/>
                    <a:pt x="1489202" y="1618742"/>
                    <a:pt x="147993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479931" y="1584960"/>
                  </a:lnTo>
                  <a:lnTo>
                    <a:pt x="1479931" y="1601851"/>
                  </a:lnTo>
                  <a:lnTo>
                    <a:pt x="1463040" y="160185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3" name="Google Shape;163;p2"/>
          <p:cNvGrpSpPr/>
          <p:nvPr/>
        </p:nvGrpSpPr>
        <p:grpSpPr>
          <a:xfrm>
            <a:off x="9372623" y="5582910"/>
            <a:ext cx="1097280" cy="1203007"/>
            <a:chOff x="0" y="-19050"/>
            <a:chExt cx="1463040" cy="1604010"/>
          </a:xfrm>
        </p:grpSpPr>
        <p:sp>
          <p:nvSpPr>
            <p:cNvPr id="164" name="Google Shape;164;p2"/>
            <p:cNvSpPr/>
            <p:nvPr/>
          </p:nvSpPr>
          <p:spPr>
            <a:xfrm>
              <a:off x="0" y="0"/>
              <a:ext cx="1463040" cy="1584960"/>
            </a:xfrm>
            <a:custGeom>
              <a:avLst/>
              <a:gdLst/>
              <a:ahLst/>
              <a:cxnLst/>
              <a:rect l="l" t="t" r="r" b="b"/>
              <a:pathLst>
                <a:path w="1463040" h="1584960" extrusionOk="0">
                  <a:moveTo>
                    <a:pt x="0" y="0"/>
                  </a:moveTo>
                  <a:lnTo>
                    <a:pt x="1463040" y="0"/>
                  </a:lnTo>
                  <a:lnTo>
                    <a:pt x="1463040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5" name="Google Shape;165;p2"/>
            <p:cNvSpPr txBox="1"/>
            <p:nvPr/>
          </p:nvSpPr>
          <p:spPr>
            <a:xfrm>
              <a:off x="0" y="-19050"/>
              <a:ext cx="1463040" cy="16040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Arial"/>
                <a:buNone/>
              </a:pPr>
              <a:r>
                <a:rPr lang="en-US" sz="2600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08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" name="Google Shape;166;p2"/>
          <p:cNvGrpSpPr/>
          <p:nvPr/>
        </p:nvGrpSpPr>
        <p:grpSpPr>
          <a:xfrm>
            <a:off x="10689359" y="5554335"/>
            <a:ext cx="6766560" cy="1231582"/>
            <a:chOff x="0" y="-57150"/>
            <a:chExt cx="9022080" cy="1642110"/>
          </a:xfrm>
        </p:grpSpPr>
        <p:sp>
          <p:nvSpPr>
            <p:cNvPr id="167" name="Google Shape;167;p2"/>
            <p:cNvSpPr/>
            <p:nvPr/>
          </p:nvSpPr>
          <p:spPr>
            <a:xfrm>
              <a:off x="0" y="0"/>
              <a:ext cx="9022080" cy="1584960"/>
            </a:xfrm>
            <a:custGeom>
              <a:avLst/>
              <a:gdLst/>
              <a:ahLst/>
              <a:cxnLst/>
              <a:rect l="l" t="t" r="r" b="b"/>
              <a:pathLst>
                <a:path w="9022080" h="1584960" extrusionOk="0">
                  <a:moveTo>
                    <a:pt x="0" y="0"/>
                  </a:moveTo>
                  <a:lnTo>
                    <a:pt x="9022080" y="0"/>
                  </a:lnTo>
                  <a:lnTo>
                    <a:pt x="9022080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8" name="Google Shape;168;p2"/>
            <p:cNvSpPr txBox="1"/>
            <p:nvPr/>
          </p:nvSpPr>
          <p:spPr>
            <a:xfrm>
              <a:off x="0" y="-57150"/>
              <a:ext cx="9022080" cy="1642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180"/>
                </a:spcBef>
                <a:spcAft>
                  <a:spcPts val="180"/>
                </a:spcAft>
                <a:buNone/>
              </a:pPr>
              <a:r>
                <a:rPr lang="en-US" sz="2400">
                  <a:solidFill>
                    <a:srgbClr val="073763"/>
                  </a:solidFill>
                  <a:latin typeface="Calibri"/>
                  <a:ea typeface="Calibri"/>
                  <a:cs typeface="Calibri"/>
                  <a:sym typeface="Calibri"/>
                </a:rPr>
                <a:t>Lab: make axi_sa</a:t>
              </a:r>
              <a:endParaRPr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" name="Google Shape;169;p2"/>
          <p:cNvGrpSpPr/>
          <p:nvPr/>
        </p:nvGrpSpPr>
        <p:grpSpPr>
          <a:xfrm>
            <a:off x="9359926" y="7084116"/>
            <a:ext cx="8254936" cy="1214057"/>
            <a:chOff x="0" y="0"/>
            <a:chExt cx="11006582" cy="1618742"/>
          </a:xfrm>
        </p:grpSpPr>
        <p:sp>
          <p:nvSpPr>
            <p:cNvPr id="170" name="Google Shape;170;p2"/>
            <p:cNvSpPr/>
            <p:nvPr/>
          </p:nvSpPr>
          <p:spPr>
            <a:xfrm>
              <a:off x="16891" y="16891"/>
              <a:ext cx="10972800" cy="1584960"/>
            </a:xfrm>
            <a:custGeom>
              <a:avLst/>
              <a:gdLst/>
              <a:ahLst/>
              <a:cxnLst/>
              <a:rect l="l" t="t" r="r" b="b"/>
              <a:pathLst>
                <a:path w="10972800" h="1584960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0" y="0"/>
              <a:ext cx="11006582" cy="1618742"/>
            </a:xfrm>
            <a:custGeom>
              <a:avLst/>
              <a:gdLst/>
              <a:ahLst/>
              <a:cxnLst/>
              <a:rect l="l" t="t" r="r" b="b"/>
              <a:pathLst>
                <a:path w="11006582" h="1618742" extrusionOk="0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601851"/>
                  </a:lnTo>
                  <a:cubicBezTo>
                    <a:pt x="11006582" y="1611249"/>
                    <a:pt x="10998962" y="1618742"/>
                    <a:pt x="1098969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0989691" y="1584960"/>
                  </a:lnTo>
                  <a:lnTo>
                    <a:pt x="10989691" y="1601851"/>
                  </a:lnTo>
                  <a:lnTo>
                    <a:pt x="10972800" y="160185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" name="Google Shape;172;p2"/>
          <p:cNvGrpSpPr/>
          <p:nvPr/>
        </p:nvGrpSpPr>
        <p:grpSpPr>
          <a:xfrm>
            <a:off x="9359926" y="7084116"/>
            <a:ext cx="1122617" cy="1214057"/>
            <a:chOff x="0" y="0"/>
            <a:chExt cx="1496822" cy="1618742"/>
          </a:xfrm>
        </p:grpSpPr>
        <p:sp>
          <p:nvSpPr>
            <p:cNvPr id="173" name="Google Shape;173;p2"/>
            <p:cNvSpPr/>
            <p:nvPr/>
          </p:nvSpPr>
          <p:spPr>
            <a:xfrm>
              <a:off x="16891" y="16891"/>
              <a:ext cx="1463040" cy="1584960"/>
            </a:xfrm>
            <a:custGeom>
              <a:avLst/>
              <a:gdLst/>
              <a:ahLst/>
              <a:cxnLst/>
              <a:rect l="l" t="t" r="r" b="b"/>
              <a:pathLst>
                <a:path w="1463040" h="1584960" extrusionOk="0">
                  <a:moveTo>
                    <a:pt x="0" y="0"/>
                  </a:moveTo>
                  <a:lnTo>
                    <a:pt x="1463040" y="0"/>
                  </a:lnTo>
                  <a:lnTo>
                    <a:pt x="1463040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0" y="0"/>
              <a:ext cx="1496822" cy="1618742"/>
            </a:xfrm>
            <a:custGeom>
              <a:avLst/>
              <a:gdLst/>
              <a:ahLst/>
              <a:cxnLst/>
              <a:rect l="l" t="t" r="r" b="b"/>
              <a:pathLst>
                <a:path w="1496822" h="1618742" extrusionOk="0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601851"/>
                  </a:lnTo>
                  <a:cubicBezTo>
                    <a:pt x="1496822" y="1611249"/>
                    <a:pt x="1489202" y="1618742"/>
                    <a:pt x="147993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479931" y="1584960"/>
                  </a:lnTo>
                  <a:lnTo>
                    <a:pt x="1479931" y="1601851"/>
                  </a:lnTo>
                  <a:lnTo>
                    <a:pt x="1463040" y="160185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" name="Google Shape;175;p2"/>
          <p:cNvGrpSpPr/>
          <p:nvPr/>
        </p:nvGrpSpPr>
        <p:grpSpPr>
          <a:xfrm>
            <a:off x="9372623" y="7082526"/>
            <a:ext cx="1097280" cy="1203007"/>
            <a:chOff x="0" y="-19050"/>
            <a:chExt cx="1463040" cy="1604010"/>
          </a:xfrm>
        </p:grpSpPr>
        <p:sp>
          <p:nvSpPr>
            <p:cNvPr id="176" name="Google Shape;176;p2"/>
            <p:cNvSpPr/>
            <p:nvPr/>
          </p:nvSpPr>
          <p:spPr>
            <a:xfrm>
              <a:off x="0" y="0"/>
              <a:ext cx="1463040" cy="1584960"/>
            </a:xfrm>
            <a:custGeom>
              <a:avLst/>
              <a:gdLst/>
              <a:ahLst/>
              <a:cxnLst/>
              <a:rect l="l" t="t" r="r" b="b"/>
              <a:pathLst>
                <a:path w="1463040" h="1584960" extrusionOk="0">
                  <a:moveTo>
                    <a:pt x="0" y="0"/>
                  </a:moveTo>
                  <a:lnTo>
                    <a:pt x="1463040" y="0"/>
                  </a:lnTo>
                  <a:lnTo>
                    <a:pt x="1463040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7" name="Google Shape;177;p2"/>
            <p:cNvSpPr txBox="1"/>
            <p:nvPr/>
          </p:nvSpPr>
          <p:spPr>
            <a:xfrm>
              <a:off x="0" y="-19050"/>
              <a:ext cx="1463040" cy="16040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Arial"/>
                <a:buNone/>
              </a:pPr>
              <a:r>
                <a:rPr lang="en-US" sz="2600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09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2"/>
          <p:cNvGrpSpPr/>
          <p:nvPr/>
        </p:nvGrpSpPr>
        <p:grpSpPr>
          <a:xfrm>
            <a:off x="10689359" y="7053951"/>
            <a:ext cx="6766560" cy="1231582"/>
            <a:chOff x="0" y="-57150"/>
            <a:chExt cx="9022080" cy="1642110"/>
          </a:xfrm>
        </p:grpSpPr>
        <p:sp>
          <p:nvSpPr>
            <p:cNvPr id="179" name="Google Shape;179;p2"/>
            <p:cNvSpPr/>
            <p:nvPr/>
          </p:nvSpPr>
          <p:spPr>
            <a:xfrm>
              <a:off x="0" y="0"/>
              <a:ext cx="9022080" cy="1584960"/>
            </a:xfrm>
            <a:custGeom>
              <a:avLst/>
              <a:gdLst/>
              <a:ahLst/>
              <a:cxnLst/>
              <a:rect l="l" t="t" r="r" b="b"/>
              <a:pathLst>
                <a:path w="9022080" h="1584960" extrusionOk="0">
                  <a:moveTo>
                    <a:pt x="0" y="0"/>
                  </a:moveTo>
                  <a:lnTo>
                    <a:pt x="9022080" y="0"/>
                  </a:lnTo>
                  <a:lnTo>
                    <a:pt x="9022080" y="1584960"/>
                  </a:lnTo>
                  <a:lnTo>
                    <a:pt x="0" y="158496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0" name="Google Shape;180;p2"/>
            <p:cNvSpPr txBox="1"/>
            <p:nvPr/>
          </p:nvSpPr>
          <p:spPr>
            <a:xfrm>
              <a:off x="0" y="-57150"/>
              <a:ext cx="9022080" cy="1642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180"/>
                </a:spcBef>
                <a:spcAft>
                  <a:spcPts val="18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400">
                  <a:solidFill>
                    <a:srgbClr val="20124D"/>
                  </a:solidFill>
                  <a:latin typeface="Calibri"/>
                  <a:ea typeface="Calibri"/>
                  <a:cs typeface="Calibri"/>
                  <a:sym typeface="Calibri"/>
                </a:rPr>
                <a:t>Summary </a:t>
              </a:r>
              <a:endParaRPr sz="2400" i="0" u="none" strike="noStrike" cap="none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2"/>
          <p:cNvSpPr txBox="1"/>
          <p:nvPr/>
        </p:nvSpPr>
        <p:spPr>
          <a:xfrm>
            <a:off x="673138" y="2887075"/>
            <a:ext cx="1097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2E74B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400" b="0" i="0" u="none" strike="noStrike" cap="none">
              <a:solidFill>
                <a:srgbClr val="2E74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" name="Google Shape;182;p2"/>
          <p:cNvGrpSpPr/>
          <p:nvPr/>
        </p:nvGrpSpPr>
        <p:grpSpPr>
          <a:xfrm>
            <a:off x="1770545" y="2688673"/>
            <a:ext cx="61913" cy="976312"/>
            <a:chOff x="0" y="0"/>
            <a:chExt cx="82550" cy="1301750"/>
          </a:xfrm>
        </p:grpSpPr>
        <p:sp>
          <p:nvSpPr>
            <p:cNvPr id="183" name="Google Shape;183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2"/>
          <p:cNvGrpSpPr/>
          <p:nvPr/>
        </p:nvGrpSpPr>
        <p:grpSpPr>
          <a:xfrm>
            <a:off x="1770545" y="4203761"/>
            <a:ext cx="61913" cy="976313"/>
            <a:chOff x="0" y="0"/>
            <a:chExt cx="82550" cy="1301750"/>
          </a:xfrm>
        </p:grpSpPr>
        <p:sp>
          <p:nvSpPr>
            <p:cNvPr id="186" name="Google Shape;186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2"/>
          <p:cNvGrpSpPr/>
          <p:nvPr/>
        </p:nvGrpSpPr>
        <p:grpSpPr>
          <a:xfrm>
            <a:off x="1770545" y="5696296"/>
            <a:ext cx="61913" cy="976313"/>
            <a:chOff x="0" y="0"/>
            <a:chExt cx="82550" cy="1301750"/>
          </a:xfrm>
        </p:grpSpPr>
        <p:sp>
          <p:nvSpPr>
            <p:cNvPr id="189" name="Google Shape;189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" name="Google Shape;191;p2"/>
          <p:cNvGrpSpPr/>
          <p:nvPr/>
        </p:nvGrpSpPr>
        <p:grpSpPr>
          <a:xfrm>
            <a:off x="1770545" y="8702601"/>
            <a:ext cx="61913" cy="976313"/>
            <a:chOff x="0" y="0"/>
            <a:chExt cx="82550" cy="1301750"/>
          </a:xfrm>
        </p:grpSpPr>
        <p:sp>
          <p:nvSpPr>
            <p:cNvPr id="192" name="Google Shape;192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4" name="Google Shape;194;p2"/>
          <p:cNvGrpSpPr/>
          <p:nvPr/>
        </p:nvGrpSpPr>
        <p:grpSpPr>
          <a:xfrm>
            <a:off x="1770545" y="7202980"/>
            <a:ext cx="61913" cy="976313"/>
            <a:chOff x="0" y="0"/>
            <a:chExt cx="82550" cy="1301750"/>
          </a:xfrm>
        </p:grpSpPr>
        <p:sp>
          <p:nvSpPr>
            <p:cNvPr id="195" name="Google Shape;195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" name="Google Shape;197;p2"/>
          <p:cNvGrpSpPr/>
          <p:nvPr/>
        </p:nvGrpSpPr>
        <p:grpSpPr>
          <a:xfrm>
            <a:off x="10469897" y="2687886"/>
            <a:ext cx="61913" cy="976312"/>
            <a:chOff x="0" y="0"/>
            <a:chExt cx="82550" cy="1301750"/>
          </a:xfrm>
        </p:grpSpPr>
        <p:sp>
          <p:nvSpPr>
            <p:cNvPr id="198" name="Google Shape;198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" name="Google Shape;200;p2"/>
          <p:cNvGrpSpPr/>
          <p:nvPr/>
        </p:nvGrpSpPr>
        <p:grpSpPr>
          <a:xfrm flipH="1">
            <a:off x="10469911" y="4196625"/>
            <a:ext cx="61896" cy="976313"/>
            <a:chOff x="0" y="0"/>
            <a:chExt cx="82550" cy="1301750"/>
          </a:xfrm>
        </p:grpSpPr>
        <p:sp>
          <p:nvSpPr>
            <p:cNvPr id="201" name="Google Shape;201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3" name="Google Shape;203;p2"/>
          <p:cNvGrpSpPr/>
          <p:nvPr/>
        </p:nvGrpSpPr>
        <p:grpSpPr>
          <a:xfrm>
            <a:off x="10469897" y="5703375"/>
            <a:ext cx="61913" cy="976313"/>
            <a:chOff x="0" y="0"/>
            <a:chExt cx="82550" cy="1301750"/>
          </a:xfrm>
        </p:grpSpPr>
        <p:sp>
          <p:nvSpPr>
            <p:cNvPr id="204" name="Google Shape;204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2"/>
          <p:cNvGrpSpPr/>
          <p:nvPr/>
        </p:nvGrpSpPr>
        <p:grpSpPr>
          <a:xfrm>
            <a:off x="10469897" y="7210088"/>
            <a:ext cx="61913" cy="976313"/>
            <a:chOff x="0" y="0"/>
            <a:chExt cx="82550" cy="1301750"/>
          </a:xfrm>
        </p:grpSpPr>
        <p:sp>
          <p:nvSpPr>
            <p:cNvPr id="207" name="Google Shape;207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4"/>
          <p:cNvGrpSpPr/>
          <p:nvPr/>
        </p:nvGrpSpPr>
        <p:grpSpPr>
          <a:xfrm>
            <a:off x="822960" y="1283623"/>
            <a:ext cx="16642080" cy="1203008"/>
            <a:chOff x="0" y="-19050"/>
            <a:chExt cx="22189440" cy="1604010"/>
          </a:xfrm>
        </p:grpSpPr>
        <p:sp>
          <p:nvSpPr>
            <p:cNvPr id="218" name="Google Shape;218;p4"/>
            <p:cNvSpPr/>
            <p:nvPr/>
          </p:nvSpPr>
          <p:spPr>
            <a:xfrm>
              <a:off x="0" y="0"/>
              <a:ext cx="22189439" cy="1584960"/>
            </a:xfrm>
            <a:custGeom>
              <a:avLst/>
              <a:gdLst/>
              <a:ahLst/>
              <a:cxnLst/>
              <a:rect l="l" t="t" r="r" b="b"/>
              <a:pathLst>
                <a:path w="22189439" h="1584960" extrusionOk="0">
                  <a:moveTo>
                    <a:pt x="0" y="0"/>
                  </a:moveTo>
                  <a:lnTo>
                    <a:pt x="22189439" y="0"/>
                  </a:lnTo>
                  <a:lnTo>
                    <a:pt x="22189439" y="1584960"/>
                  </a:lnTo>
                  <a:lnTo>
                    <a:pt x="0" y="1584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22777" b="-222777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9" name="Google Shape;219;p4"/>
            <p:cNvSpPr txBox="1"/>
            <p:nvPr/>
          </p:nvSpPr>
          <p:spPr>
            <a:xfrm>
              <a:off x="0" y="-19050"/>
              <a:ext cx="22189440" cy="16040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200"/>
                <a:buFont typeface="Arial"/>
                <a:buNone/>
              </a:pPr>
              <a:r>
                <a:rPr lang="en-US" sz="5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What is AXI4-Lite?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" name="Google Shape;220;p4"/>
          <p:cNvGrpSpPr/>
          <p:nvPr/>
        </p:nvGrpSpPr>
        <p:grpSpPr>
          <a:xfrm>
            <a:off x="810288" y="2082353"/>
            <a:ext cx="16667417" cy="1762696"/>
            <a:chOff x="0" y="0"/>
            <a:chExt cx="22223222" cy="2350262"/>
          </a:xfrm>
        </p:grpSpPr>
        <p:sp>
          <p:nvSpPr>
            <p:cNvPr id="221" name="Google Shape;221;p4"/>
            <p:cNvSpPr/>
            <p:nvPr/>
          </p:nvSpPr>
          <p:spPr>
            <a:xfrm>
              <a:off x="16891" y="16891"/>
              <a:ext cx="22189439" cy="2316480"/>
            </a:xfrm>
            <a:custGeom>
              <a:avLst/>
              <a:gdLst/>
              <a:ahLst/>
              <a:cxnLst/>
              <a:rect l="l" t="t" r="r" b="b"/>
              <a:pathLst>
                <a:path w="22189439" h="2316480" extrusionOk="0">
                  <a:moveTo>
                    <a:pt x="0" y="0"/>
                  </a:moveTo>
                  <a:lnTo>
                    <a:pt x="22189439" y="0"/>
                  </a:lnTo>
                  <a:lnTo>
                    <a:pt x="22189439" y="2316480"/>
                  </a:lnTo>
                  <a:lnTo>
                    <a:pt x="0" y="231648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2" name="Google Shape;222;p4"/>
            <p:cNvSpPr/>
            <p:nvPr/>
          </p:nvSpPr>
          <p:spPr>
            <a:xfrm>
              <a:off x="0" y="0"/>
              <a:ext cx="22223222" cy="2350262"/>
            </a:xfrm>
            <a:custGeom>
              <a:avLst/>
              <a:gdLst/>
              <a:ahLst/>
              <a:cxnLst/>
              <a:rect l="l" t="t" r="r" b="b"/>
              <a:pathLst>
                <a:path w="22223222" h="2350262" extrusionOk="0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2333371"/>
                  </a:lnTo>
                  <a:cubicBezTo>
                    <a:pt x="22223222" y="2342769"/>
                    <a:pt x="22215602" y="2350262"/>
                    <a:pt x="22206330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22206330" y="2316480"/>
                  </a:lnTo>
                  <a:lnTo>
                    <a:pt x="22206330" y="2333371"/>
                  </a:lnTo>
                  <a:lnTo>
                    <a:pt x="22189439" y="2333371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3" name="Google Shape;223;p4"/>
          <p:cNvGrpSpPr/>
          <p:nvPr/>
        </p:nvGrpSpPr>
        <p:grpSpPr>
          <a:xfrm>
            <a:off x="946088" y="2165100"/>
            <a:ext cx="16244658" cy="1597275"/>
            <a:chOff x="-201623" y="-28520"/>
            <a:chExt cx="21659543" cy="2129700"/>
          </a:xfrm>
        </p:grpSpPr>
        <p:sp>
          <p:nvSpPr>
            <p:cNvPr id="224" name="Google Shape;224;p4"/>
            <p:cNvSpPr/>
            <p:nvPr/>
          </p:nvSpPr>
          <p:spPr>
            <a:xfrm>
              <a:off x="0" y="0"/>
              <a:ext cx="21457920" cy="2072640"/>
            </a:xfrm>
            <a:custGeom>
              <a:avLst/>
              <a:gdLst/>
              <a:ahLst/>
              <a:cxnLst/>
              <a:rect l="l" t="t" r="r" b="b"/>
              <a:pathLst>
                <a:path w="21457920" h="2072640" extrusionOk="0">
                  <a:moveTo>
                    <a:pt x="0" y="0"/>
                  </a:moveTo>
                  <a:lnTo>
                    <a:pt x="21457920" y="0"/>
                  </a:lnTo>
                  <a:lnTo>
                    <a:pt x="21457920" y="2072640"/>
                  </a:lnTo>
                  <a:lnTo>
                    <a:pt x="0" y="2072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51727" b="-151727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" name="Google Shape;225;p4"/>
            <p:cNvSpPr txBox="1"/>
            <p:nvPr/>
          </p:nvSpPr>
          <p:spPr>
            <a:xfrm>
              <a:off x="-201623" y="-28520"/>
              <a:ext cx="21457800" cy="212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en-US" sz="26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AXI4-Lite (Advanced eXtensible Interface 4-Lite) is a simplified subset of ARM's AMBA AXI4 bus protocol. Designed for low-throughput, register-mapped control interfaces where simplicity and low-area are priorities over raw bandwidth.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" name="Google Shape;226;p4"/>
          <p:cNvGrpSpPr/>
          <p:nvPr/>
        </p:nvGrpSpPr>
        <p:grpSpPr>
          <a:xfrm>
            <a:off x="810288" y="4185473"/>
            <a:ext cx="3957257" cy="5237417"/>
            <a:chOff x="0" y="0"/>
            <a:chExt cx="5276342" cy="6983222"/>
          </a:xfrm>
        </p:grpSpPr>
        <p:sp>
          <p:nvSpPr>
            <p:cNvPr id="227" name="Google Shape;227;p4"/>
            <p:cNvSpPr/>
            <p:nvPr/>
          </p:nvSpPr>
          <p:spPr>
            <a:xfrm>
              <a:off x="16891" y="16891"/>
              <a:ext cx="5242560" cy="6949440"/>
            </a:xfrm>
            <a:custGeom>
              <a:avLst/>
              <a:gdLst/>
              <a:ahLst/>
              <a:cxnLst/>
              <a:rect l="l" t="t" r="r" b="b"/>
              <a:pathLst>
                <a:path w="5242560" h="6949440" extrusionOk="0">
                  <a:moveTo>
                    <a:pt x="0" y="0"/>
                  </a:moveTo>
                  <a:lnTo>
                    <a:pt x="5242560" y="0"/>
                  </a:lnTo>
                  <a:lnTo>
                    <a:pt x="5242560" y="6949440"/>
                  </a:lnTo>
                  <a:lnTo>
                    <a:pt x="0" y="6949440"/>
                  </a:lnTo>
                  <a:close/>
                </a:path>
              </a:pathLst>
            </a:custGeom>
            <a:noFill/>
            <a:ln w="9525" cap="flat" cmpd="sng">
              <a:solidFill>
                <a:srgbClr val="A4C2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8" name="Google Shape;228;p4"/>
            <p:cNvSpPr/>
            <p:nvPr/>
          </p:nvSpPr>
          <p:spPr>
            <a:xfrm>
              <a:off x="0" y="0"/>
              <a:ext cx="5276342" cy="6983222"/>
            </a:xfrm>
            <a:custGeom>
              <a:avLst/>
              <a:gdLst/>
              <a:ahLst/>
              <a:cxnLst/>
              <a:rect l="l" t="t" r="r" b="b"/>
              <a:pathLst>
                <a:path w="5276342" h="6983222" extrusionOk="0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6966331"/>
                  </a:lnTo>
                  <a:cubicBezTo>
                    <a:pt x="5276342" y="6975729"/>
                    <a:pt x="5268722" y="6983222"/>
                    <a:pt x="5259451" y="6983222"/>
                  </a:cubicBezTo>
                  <a:lnTo>
                    <a:pt x="16891" y="6983222"/>
                  </a:lnTo>
                  <a:cubicBezTo>
                    <a:pt x="7493" y="6983222"/>
                    <a:pt x="0" y="6975602"/>
                    <a:pt x="0" y="6966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66331"/>
                  </a:lnTo>
                  <a:lnTo>
                    <a:pt x="16891" y="6966331"/>
                  </a:lnTo>
                  <a:lnTo>
                    <a:pt x="16891" y="6949440"/>
                  </a:lnTo>
                  <a:lnTo>
                    <a:pt x="5259451" y="6949440"/>
                  </a:lnTo>
                  <a:lnTo>
                    <a:pt x="5259451" y="6966331"/>
                  </a:lnTo>
                  <a:lnTo>
                    <a:pt x="5242560" y="696633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noFill/>
            <a:ln w="9525" cap="flat" cmpd="sng">
              <a:solidFill>
                <a:srgbClr val="A4C2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" name="Google Shape;229;p4"/>
          <p:cNvGrpSpPr/>
          <p:nvPr/>
        </p:nvGrpSpPr>
        <p:grpSpPr>
          <a:xfrm>
            <a:off x="810288" y="4185473"/>
            <a:ext cx="3957257" cy="756858"/>
            <a:chOff x="0" y="0"/>
            <a:chExt cx="5276342" cy="1009144"/>
          </a:xfrm>
        </p:grpSpPr>
        <p:sp>
          <p:nvSpPr>
            <p:cNvPr id="230" name="Google Shape;230;p4"/>
            <p:cNvSpPr/>
            <p:nvPr/>
          </p:nvSpPr>
          <p:spPr>
            <a:xfrm>
              <a:off x="16891" y="16891"/>
              <a:ext cx="5242560" cy="975360"/>
            </a:xfrm>
            <a:custGeom>
              <a:avLst/>
              <a:gdLst/>
              <a:ahLst/>
              <a:cxnLst/>
              <a:rect l="l" t="t" r="r" b="b"/>
              <a:pathLst>
                <a:path w="5242560" h="975360" extrusionOk="0">
                  <a:moveTo>
                    <a:pt x="0" y="0"/>
                  </a:moveTo>
                  <a:lnTo>
                    <a:pt x="5242560" y="0"/>
                  </a:lnTo>
                  <a:lnTo>
                    <a:pt x="52425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2E74B5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1" name="Google Shape;231;p4"/>
            <p:cNvSpPr/>
            <p:nvPr/>
          </p:nvSpPr>
          <p:spPr>
            <a:xfrm>
              <a:off x="0" y="0"/>
              <a:ext cx="5276342" cy="1009144"/>
            </a:xfrm>
            <a:custGeom>
              <a:avLst/>
              <a:gdLst/>
              <a:ahLst/>
              <a:cxnLst/>
              <a:rect l="l" t="t" r="r" b="b"/>
              <a:pathLst>
                <a:path w="5276342" h="1009144" extrusionOk="0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992251"/>
                  </a:lnTo>
                  <a:cubicBezTo>
                    <a:pt x="5276342" y="1001649"/>
                    <a:pt x="5268722" y="1009142"/>
                    <a:pt x="52594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5259451" y="975360"/>
                  </a:lnTo>
                  <a:lnTo>
                    <a:pt x="5259451" y="992251"/>
                  </a:lnTo>
                  <a:lnTo>
                    <a:pt x="5242560" y="99225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74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" name="Google Shape;232;p4"/>
          <p:cNvGrpSpPr/>
          <p:nvPr/>
        </p:nvGrpSpPr>
        <p:grpSpPr>
          <a:xfrm>
            <a:off x="822985" y="4183883"/>
            <a:ext cx="3931920" cy="745807"/>
            <a:chOff x="0" y="-19050"/>
            <a:chExt cx="5242560" cy="994410"/>
          </a:xfrm>
        </p:grpSpPr>
        <p:sp>
          <p:nvSpPr>
            <p:cNvPr id="233" name="Google Shape;233;p4"/>
            <p:cNvSpPr/>
            <p:nvPr/>
          </p:nvSpPr>
          <p:spPr>
            <a:xfrm>
              <a:off x="0" y="0"/>
              <a:ext cx="5242560" cy="975360"/>
            </a:xfrm>
            <a:custGeom>
              <a:avLst/>
              <a:gdLst/>
              <a:ahLst/>
              <a:cxnLst/>
              <a:rect l="l" t="t" r="r" b="b"/>
              <a:pathLst>
                <a:path w="5242560" h="975360" extrusionOk="0">
                  <a:moveTo>
                    <a:pt x="0" y="0"/>
                  </a:moveTo>
                  <a:lnTo>
                    <a:pt x="5242560" y="0"/>
                  </a:lnTo>
                  <a:lnTo>
                    <a:pt x="524256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54734" b="-54734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4" name="Google Shape;234;p4"/>
            <p:cNvSpPr txBox="1"/>
            <p:nvPr/>
          </p:nvSpPr>
          <p:spPr>
            <a:xfrm>
              <a:off x="0" y="-19050"/>
              <a:ext cx="5242560" cy="9944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Developed By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5" name="Google Shape;235;p4"/>
          <p:cNvSpPr txBox="1"/>
          <p:nvPr/>
        </p:nvSpPr>
        <p:spPr>
          <a:xfrm>
            <a:off x="1097305" y="5028750"/>
            <a:ext cx="3383400" cy="16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ARM Ltd. (now Arm Holdings)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Part of the AMBA 4 specification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6" name="Google Shape;236;p4"/>
          <p:cNvGrpSpPr/>
          <p:nvPr/>
        </p:nvGrpSpPr>
        <p:grpSpPr>
          <a:xfrm>
            <a:off x="5016528" y="4185473"/>
            <a:ext cx="3957257" cy="5237417"/>
            <a:chOff x="0" y="0"/>
            <a:chExt cx="5276342" cy="6983222"/>
          </a:xfrm>
        </p:grpSpPr>
        <p:sp>
          <p:nvSpPr>
            <p:cNvPr id="237" name="Google Shape;237;p4"/>
            <p:cNvSpPr/>
            <p:nvPr/>
          </p:nvSpPr>
          <p:spPr>
            <a:xfrm>
              <a:off x="16891" y="16891"/>
              <a:ext cx="5242560" cy="6949440"/>
            </a:xfrm>
            <a:custGeom>
              <a:avLst/>
              <a:gdLst/>
              <a:ahLst/>
              <a:cxnLst/>
              <a:rect l="l" t="t" r="r" b="b"/>
              <a:pathLst>
                <a:path w="5242560" h="6949440" extrusionOk="0">
                  <a:moveTo>
                    <a:pt x="0" y="0"/>
                  </a:moveTo>
                  <a:lnTo>
                    <a:pt x="5242560" y="0"/>
                  </a:lnTo>
                  <a:lnTo>
                    <a:pt x="5242560" y="6949440"/>
                  </a:lnTo>
                  <a:lnTo>
                    <a:pt x="0" y="6949440"/>
                  </a:lnTo>
                  <a:close/>
                </a:path>
              </a:pathLst>
            </a:custGeom>
            <a:noFill/>
            <a:ln w="9525" cap="flat" cmpd="sng">
              <a:solidFill>
                <a:srgbClr val="6FA8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0" y="0"/>
              <a:ext cx="5276342" cy="6983222"/>
            </a:xfrm>
            <a:custGeom>
              <a:avLst/>
              <a:gdLst/>
              <a:ahLst/>
              <a:cxnLst/>
              <a:rect l="l" t="t" r="r" b="b"/>
              <a:pathLst>
                <a:path w="5276342" h="6983222" extrusionOk="0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6966331"/>
                  </a:lnTo>
                  <a:cubicBezTo>
                    <a:pt x="5276342" y="6975729"/>
                    <a:pt x="5268722" y="6983222"/>
                    <a:pt x="5259451" y="6983222"/>
                  </a:cubicBezTo>
                  <a:lnTo>
                    <a:pt x="16891" y="6983222"/>
                  </a:lnTo>
                  <a:cubicBezTo>
                    <a:pt x="7493" y="6983222"/>
                    <a:pt x="0" y="6975602"/>
                    <a:pt x="0" y="6966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66331"/>
                  </a:lnTo>
                  <a:lnTo>
                    <a:pt x="16891" y="6966331"/>
                  </a:lnTo>
                  <a:lnTo>
                    <a:pt x="16891" y="6949440"/>
                  </a:lnTo>
                  <a:lnTo>
                    <a:pt x="5259451" y="6949440"/>
                  </a:lnTo>
                  <a:lnTo>
                    <a:pt x="5259451" y="6966331"/>
                  </a:lnTo>
                  <a:lnTo>
                    <a:pt x="5242560" y="696633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noFill/>
            <a:ln w="9525" cap="flat" cmpd="sng">
              <a:solidFill>
                <a:srgbClr val="6FA8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9" name="Google Shape;239;p4"/>
          <p:cNvGrpSpPr/>
          <p:nvPr/>
        </p:nvGrpSpPr>
        <p:grpSpPr>
          <a:xfrm>
            <a:off x="5016528" y="4185473"/>
            <a:ext cx="3957257" cy="756858"/>
            <a:chOff x="0" y="0"/>
            <a:chExt cx="5276342" cy="1009144"/>
          </a:xfrm>
        </p:grpSpPr>
        <p:sp>
          <p:nvSpPr>
            <p:cNvPr id="240" name="Google Shape;240;p4"/>
            <p:cNvSpPr/>
            <p:nvPr/>
          </p:nvSpPr>
          <p:spPr>
            <a:xfrm>
              <a:off x="16891" y="16891"/>
              <a:ext cx="5242560" cy="975360"/>
            </a:xfrm>
            <a:custGeom>
              <a:avLst/>
              <a:gdLst/>
              <a:ahLst/>
              <a:cxnLst/>
              <a:rect l="l" t="t" r="r" b="b"/>
              <a:pathLst>
                <a:path w="5242560" h="975360" extrusionOk="0">
                  <a:moveTo>
                    <a:pt x="0" y="0"/>
                  </a:moveTo>
                  <a:lnTo>
                    <a:pt x="5242560" y="0"/>
                  </a:lnTo>
                  <a:lnTo>
                    <a:pt x="52425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0" y="0"/>
              <a:ext cx="5276342" cy="1009144"/>
            </a:xfrm>
            <a:custGeom>
              <a:avLst/>
              <a:gdLst/>
              <a:ahLst/>
              <a:cxnLst/>
              <a:rect l="l" t="t" r="r" b="b"/>
              <a:pathLst>
                <a:path w="5276342" h="1009144" extrusionOk="0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992251"/>
                  </a:lnTo>
                  <a:cubicBezTo>
                    <a:pt x="5276342" y="1001649"/>
                    <a:pt x="5268722" y="1009142"/>
                    <a:pt x="52594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5259451" y="975360"/>
                  </a:lnTo>
                  <a:lnTo>
                    <a:pt x="5259451" y="992251"/>
                  </a:lnTo>
                  <a:lnTo>
                    <a:pt x="5242560" y="99225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2" name="Google Shape;242;p4"/>
          <p:cNvSpPr txBox="1"/>
          <p:nvPr/>
        </p:nvSpPr>
        <p:spPr>
          <a:xfrm>
            <a:off x="5303545" y="5028750"/>
            <a:ext cx="3383400" cy="12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 data-beat transfers only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burst support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3" name="Google Shape;243;p4"/>
          <p:cNvGrpSpPr/>
          <p:nvPr/>
        </p:nvGrpSpPr>
        <p:grpSpPr>
          <a:xfrm>
            <a:off x="9222768" y="4185473"/>
            <a:ext cx="3957257" cy="5237417"/>
            <a:chOff x="0" y="0"/>
            <a:chExt cx="5276342" cy="6983222"/>
          </a:xfrm>
        </p:grpSpPr>
        <p:sp>
          <p:nvSpPr>
            <p:cNvPr id="244" name="Google Shape;244;p4"/>
            <p:cNvSpPr/>
            <p:nvPr/>
          </p:nvSpPr>
          <p:spPr>
            <a:xfrm>
              <a:off x="16891" y="16891"/>
              <a:ext cx="5242560" cy="6949440"/>
            </a:xfrm>
            <a:custGeom>
              <a:avLst/>
              <a:gdLst/>
              <a:ahLst/>
              <a:cxnLst/>
              <a:rect l="l" t="t" r="r" b="b"/>
              <a:pathLst>
                <a:path w="5242560" h="6949440" extrusionOk="0">
                  <a:moveTo>
                    <a:pt x="0" y="0"/>
                  </a:moveTo>
                  <a:lnTo>
                    <a:pt x="5242560" y="0"/>
                  </a:lnTo>
                  <a:lnTo>
                    <a:pt x="5242560" y="6949440"/>
                  </a:lnTo>
                  <a:lnTo>
                    <a:pt x="0" y="6949440"/>
                  </a:lnTo>
                  <a:close/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0" y="0"/>
              <a:ext cx="5276342" cy="6983222"/>
            </a:xfrm>
            <a:custGeom>
              <a:avLst/>
              <a:gdLst/>
              <a:ahLst/>
              <a:cxnLst/>
              <a:rect l="l" t="t" r="r" b="b"/>
              <a:pathLst>
                <a:path w="5276342" h="6983222" extrusionOk="0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6966331"/>
                  </a:lnTo>
                  <a:cubicBezTo>
                    <a:pt x="5276342" y="6975729"/>
                    <a:pt x="5268722" y="6983222"/>
                    <a:pt x="5259451" y="6983222"/>
                  </a:cubicBezTo>
                  <a:lnTo>
                    <a:pt x="16891" y="6983222"/>
                  </a:lnTo>
                  <a:cubicBezTo>
                    <a:pt x="7493" y="6983222"/>
                    <a:pt x="0" y="6975602"/>
                    <a:pt x="0" y="6966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66331"/>
                  </a:lnTo>
                  <a:lnTo>
                    <a:pt x="16891" y="6966331"/>
                  </a:lnTo>
                  <a:lnTo>
                    <a:pt x="16891" y="6949440"/>
                  </a:lnTo>
                  <a:lnTo>
                    <a:pt x="5259451" y="6949440"/>
                  </a:lnTo>
                  <a:lnTo>
                    <a:pt x="5259451" y="6966331"/>
                  </a:lnTo>
                  <a:lnTo>
                    <a:pt x="5242560" y="696633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" name="Google Shape;246;p4"/>
          <p:cNvGrpSpPr/>
          <p:nvPr/>
        </p:nvGrpSpPr>
        <p:grpSpPr>
          <a:xfrm>
            <a:off x="9222768" y="4185473"/>
            <a:ext cx="3957257" cy="756858"/>
            <a:chOff x="0" y="0"/>
            <a:chExt cx="5276342" cy="1009144"/>
          </a:xfrm>
        </p:grpSpPr>
        <p:sp>
          <p:nvSpPr>
            <p:cNvPr id="247" name="Google Shape;247;p4"/>
            <p:cNvSpPr/>
            <p:nvPr/>
          </p:nvSpPr>
          <p:spPr>
            <a:xfrm>
              <a:off x="16891" y="16891"/>
              <a:ext cx="5242560" cy="975360"/>
            </a:xfrm>
            <a:custGeom>
              <a:avLst/>
              <a:gdLst/>
              <a:ahLst/>
              <a:cxnLst/>
              <a:rect l="l" t="t" r="r" b="b"/>
              <a:pathLst>
                <a:path w="5242560" h="975360" extrusionOk="0">
                  <a:moveTo>
                    <a:pt x="0" y="0"/>
                  </a:moveTo>
                  <a:lnTo>
                    <a:pt x="5242560" y="0"/>
                  </a:lnTo>
                  <a:lnTo>
                    <a:pt x="52425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4A86E8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0" y="0"/>
              <a:ext cx="5276342" cy="1009144"/>
            </a:xfrm>
            <a:custGeom>
              <a:avLst/>
              <a:gdLst/>
              <a:ahLst/>
              <a:cxnLst/>
              <a:rect l="l" t="t" r="r" b="b"/>
              <a:pathLst>
                <a:path w="5276342" h="1009144" extrusionOk="0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992251"/>
                  </a:lnTo>
                  <a:cubicBezTo>
                    <a:pt x="5276342" y="1001649"/>
                    <a:pt x="5268722" y="1009142"/>
                    <a:pt x="52594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5259451" y="975360"/>
                  </a:lnTo>
                  <a:lnTo>
                    <a:pt x="5259451" y="992251"/>
                  </a:lnTo>
                  <a:lnTo>
                    <a:pt x="5242560" y="99225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A86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9" name="Google Shape;249;p4"/>
          <p:cNvSpPr txBox="1"/>
          <p:nvPr/>
        </p:nvSpPr>
        <p:spPr>
          <a:xfrm>
            <a:off x="9509785" y="5028750"/>
            <a:ext cx="3383400" cy="12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32-bit or 64-bit address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32-bit data width (standard)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0" name="Google Shape;250;p4"/>
          <p:cNvGrpSpPr/>
          <p:nvPr/>
        </p:nvGrpSpPr>
        <p:grpSpPr>
          <a:xfrm>
            <a:off x="13429008" y="4185473"/>
            <a:ext cx="3957257" cy="5237417"/>
            <a:chOff x="0" y="0"/>
            <a:chExt cx="5276342" cy="6983222"/>
          </a:xfrm>
        </p:grpSpPr>
        <p:sp>
          <p:nvSpPr>
            <p:cNvPr id="251" name="Google Shape;251;p4"/>
            <p:cNvSpPr/>
            <p:nvPr/>
          </p:nvSpPr>
          <p:spPr>
            <a:xfrm>
              <a:off x="16891" y="16891"/>
              <a:ext cx="5242560" cy="6949440"/>
            </a:xfrm>
            <a:custGeom>
              <a:avLst/>
              <a:gdLst/>
              <a:ahLst/>
              <a:cxnLst/>
              <a:rect l="l" t="t" r="r" b="b"/>
              <a:pathLst>
                <a:path w="5242560" h="6949440" extrusionOk="0">
                  <a:moveTo>
                    <a:pt x="0" y="0"/>
                  </a:moveTo>
                  <a:lnTo>
                    <a:pt x="5242560" y="0"/>
                  </a:lnTo>
                  <a:lnTo>
                    <a:pt x="5242560" y="6949440"/>
                  </a:lnTo>
                  <a:lnTo>
                    <a:pt x="0" y="6949440"/>
                  </a:lnTo>
                  <a:close/>
                </a:path>
              </a:pathLst>
            </a:custGeom>
            <a:noFill/>
            <a:ln w="9525" cap="flat" cmpd="sng">
              <a:solidFill>
                <a:srgbClr val="6AA84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0" y="0"/>
              <a:ext cx="5276342" cy="6983222"/>
            </a:xfrm>
            <a:custGeom>
              <a:avLst/>
              <a:gdLst/>
              <a:ahLst/>
              <a:cxnLst/>
              <a:rect l="l" t="t" r="r" b="b"/>
              <a:pathLst>
                <a:path w="5276342" h="6983222" extrusionOk="0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6966331"/>
                  </a:lnTo>
                  <a:cubicBezTo>
                    <a:pt x="5276342" y="6975729"/>
                    <a:pt x="5268722" y="6983222"/>
                    <a:pt x="5259451" y="6983222"/>
                  </a:cubicBezTo>
                  <a:lnTo>
                    <a:pt x="16891" y="6983222"/>
                  </a:lnTo>
                  <a:cubicBezTo>
                    <a:pt x="7493" y="6983222"/>
                    <a:pt x="0" y="6975602"/>
                    <a:pt x="0" y="6966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66331"/>
                  </a:lnTo>
                  <a:lnTo>
                    <a:pt x="16891" y="6966331"/>
                  </a:lnTo>
                  <a:lnTo>
                    <a:pt x="16891" y="6949440"/>
                  </a:lnTo>
                  <a:lnTo>
                    <a:pt x="5259451" y="6949440"/>
                  </a:lnTo>
                  <a:lnTo>
                    <a:pt x="5259451" y="6966331"/>
                  </a:lnTo>
                  <a:lnTo>
                    <a:pt x="5242560" y="696633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noFill/>
            <a:ln w="9525" cap="flat" cmpd="sng">
              <a:solidFill>
                <a:srgbClr val="6AA84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3" name="Google Shape;253;p4"/>
          <p:cNvGrpSpPr/>
          <p:nvPr/>
        </p:nvGrpSpPr>
        <p:grpSpPr>
          <a:xfrm>
            <a:off x="13429008" y="4185473"/>
            <a:ext cx="3957257" cy="756858"/>
            <a:chOff x="0" y="0"/>
            <a:chExt cx="5276342" cy="1009144"/>
          </a:xfrm>
        </p:grpSpPr>
        <p:sp>
          <p:nvSpPr>
            <p:cNvPr id="254" name="Google Shape;254;p4"/>
            <p:cNvSpPr/>
            <p:nvPr/>
          </p:nvSpPr>
          <p:spPr>
            <a:xfrm>
              <a:off x="16891" y="16891"/>
              <a:ext cx="5242560" cy="975360"/>
            </a:xfrm>
            <a:custGeom>
              <a:avLst/>
              <a:gdLst/>
              <a:ahLst/>
              <a:cxnLst/>
              <a:rect l="l" t="t" r="r" b="b"/>
              <a:pathLst>
                <a:path w="5242560" h="975360" extrusionOk="0">
                  <a:moveTo>
                    <a:pt x="0" y="0"/>
                  </a:moveTo>
                  <a:lnTo>
                    <a:pt x="5242560" y="0"/>
                  </a:lnTo>
                  <a:lnTo>
                    <a:pt x="52425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D8C85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0" y="0"/>
              <a:ext cx="5276342" cy="1009144"/>
            </a:xfrm>
            <a:custGeom>
              <a:avLst/>
              <a:gdLst/>
              <a:ahLst/>
              <a:cxnLst/>
              <a:rect l="l" t="t" r="r" b="b"/>
              <a:pathLst>
                <a:path w="5276342" h="1009144" extrusionOk="0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992251"/>
                  </a:lnTo>
                  <a:cubicBezTo>
                    <a:pt x="5276342" y="1001649"/>
                    <a:pt x="5268722" y="1009142"/>
                    <a:pt x="52594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5259451" y="975360"/>
                  </a:lnTo>
                  <a:lnTo>
                    <a:pt x="5259451" y="992251"/>
                  </a:lnTo>
                  <a:lnTo>
                    <a:pt x="5242560" y="99225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8C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6" name="Google Shape;256;p4"/>
          <p:cNvGrpSpPr/>
          <p:nvPr/>
        </p:nvGrpSpPr>
        <p:grpSpPr>
          <a:xfrm>
            <a:off x="13441705" y="4183883"/>
            <a:ext cx="3931920" cy="745807"/>
            <a:chOff x="0" y="-19050"/>
            <a:chExt cx="5242560" cy="994410"/>
          </a:xfrm>
        </p:grpSpPr>
        <p:sp>
          <p:nvSpPr>
            <p:cNvPr id="257" name="Google Shape;257;p4"/>
            <p:cNvSpPr/>
            <p:nvPr/>
          </p:nvSpPr>
          <p:spPr>
            <a:xfrm>
              <a:off x="0" y="0"/>
              <a:ext cx="5242560" cy="975360"/>
            </a:xfrm>
            <a:custGeom>
              <a:avLst/>
              <a:gdLst/>
              <a:ahLst/>
              <a:cxnLst/>
              <a:rect l="l" t="t" r="r" b="b"/>
              <a:pathLst>
                <a:path w="5242560" h="975360" extrusionOk="0">
                  <a:moveTo>
                    <a:pt x="0" y="0"/>
                  </a:moveTo>
                  <a:lnTo>
                    <a:pt x="5242560" y="0"/>
                  </a:lnTo>
                  <a:lnTo>
                    <a:pt x="524256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54734" b="-54734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8" name="Google Shape;258;p4"/>
            <p:cNvSpPr txBox="1"/>
            <p:nvPr/>
          </p:nvSpPr>
          <p:spPr>
            <a:xfrm>
              <a:off x="0" y="-19050"/>
              <a:ext cx="5242560" cy="9944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Use Case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9" name="Google Shape;259;p4"/>
          <p:cNvSpPr txBox="1"/>
          <p:nvPr/>
        </p:nvSpPr>
        <p:spPr>
          <a:xfrm>
            <a:off x="13716025" y="5028750"/>
            <a:ext cx="3383400" cy="16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 registers &amp; status reads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Low-speed peripheral configuration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0" name="Google Shape;260;p4"/>
          <p:cNvGrpSpPr/>
          <p:nvPr/>
        </p:nvGrpSpPr>
        <p:grpSpPr>
          <a:xfrm>
            <a:off x="5029225" y="4183883"/>
            <a:ext cx="3931920" cy="745875"/>
            <a:chOff x="0" y="-19050"/>
            <a:chExt cx="5242560" cy="994500"/>
          </a:xfrm>
        </p:grpSpPr>
        <p:sp>
          <p:nvSpPr>
            <p:cNvPr id="261" name="Google Shape;261;p4"/>
            <p:cNvSpPr/>
            <p:nvPr/>
          </p:nvSpPr>
          <p:spPr>
            <a:xfrm>
              <a:off x="0" y="0"/>
              <a:ext cx="5242560" cy="975360"/>
            </a:xfrm>
            <a:custGeom>
              <a:avLst/>
              <a:gdLst/>
              <a:ahLst/>
              <a:cxnLst/>
              <a:rect l="l" t="t" r="r" b="b"/>
              <a:pathLst>
                <a:path w="5242560" h="975360" extrusionOk="0">
                  <a:moveTo>
                    <a:pt x="0" y="0"/>
                  </a:moveTo>
                  <a:lnTo>
                    <a:pt x="5242560" y="0"/>
                  </a:lnTo>
                  <a:lnTo>
                    <a:pt x="524256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54731" b="-54741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2" name="Google Shape;262;p4"/>
            <p:cNvSpPr txBox="1"/>
            <p:nvPr/>
          </p:nvSpPr>
          <p:spPr>
            <a:xfrm>
              <a:off x="0" y="-19050"/>
              <a:ext cx="5242500" cy="99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Transaction Type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3" name="Google Shape;263;p4"/>
          <p:cNvGrpSpPr/>
          <p:nvPr/>
        </p:nvGrpSpPr>
        <p:grpSpPr>
          <a:xfrm>
            <a:off x="9235465" y="4183883"/>
            <a:ext cx="3931920" cy="745875"/>
            <a:chOff x="0" y="-19050"/>
            <a:chExt cx="5242560" cy="994500"/>
          </a:xfrm>
        </p:grpSpPr>
        <p:sp>
          <p:nvSpPr>
            <p:cNvPr id="264" name="Google Shape;264;p4"/>
            <p:cNvSpPr/>
            <p:nvPr/>
          </p:nvSpPr>
          <p:spPr>
            <a:xfrm>
              <a:off x="0" y="0"/>
              <a:ext cx="5242560" cy="975360"/>
            </a:xfrm>
            <a:custGeom>
              <a:avLst/>
              <a:gdLst/>
              <a:ahLst/>
              <a:cxnLst/>
              <a:rect l="l" t="t" r="r" b="b"/>
              <a:pathLst>
                <a:path w="5242560" h="975360" extrusionOk="0">
                  <a:moveTo>
                    <a:pt x="0" y="0"/>
                  </a:moveTo>
                  <a:lnTo>
                    <a:pt x="5242560" y="0"/>
                  </a:lnTo>
                  <a:lnTo>
                    <a:pt x="524256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54731" b="-54741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5" name="Google Shape;265;p4"/>
            <p:cNvSpPr txBox="1"/>
            <p:nvPr/>
          </p:nvSpPr>
          <p:spPr>
            <a:xfrm>
              <a:off x="0" y="-19050"/>
              <a:ext cx="5242500" cy="99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Address Space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b004d1183_0_2"/>
          <p:cNvSpPr/>
          <p:nvPr/>
        </p:nvSpPr>
        <p:spPr>
          <a:xfrm>
            <a:off x="755175" y="1234450"/>
            <a:ext cx="8372700" cy="11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AXI4-Lite vs AXI4-Full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2" name="Google Shape;272;g3db004d1183_0_2"/>
          <p:cNvGraphicFramePr/>
          <p:nvPr/>
        </p:nvGraphicFramePr>
        <p:xfrm>
          <a:off x="868675" y="2920720"/>
          <a:ext cx="13433625" cy="5469975"/>
        </p:xfrm>
        <a:graphic>
          <a:graphicData uri="http://schemas.openxmlformats.org/drawingml/2006/table">
            <a:tbl>
              <a:tblPr>
                <a:noFill/>
                <a:tableStyleId>{523E13C5-BB17-412C-A7E0-655E00E05CE3}</a:tableStyleId>
              </a:tblPr>
              <a:tblGrid>
                <a:gridCol w="447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7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1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26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 sz="2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26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AXI4-Lite </a:t>
                      </a:r>
                      <a:endParaRPr sz="2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26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AXI4-Full</a:t>
                      </a:r>
                      <a:endParaRPr sz="2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980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4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2400" u="none" strike="noStrike" cap="none">
                          <a:solidFill>
                            <a:srgbClr val="1A2E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Burst Transfers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AF7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2400" u="none" strike="noStrike" cap="none">
                          <a:solidFill>
                            <a:srgbClr val="922B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  Not supported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AF7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7A65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2400" u="none" strike="noStrike" cap="none">
                          <a:solidFill>
                            <a:srgbClr val="117A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 Up to 256 beats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AF7">
                        <a:alpha val="498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4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2400" u="none" strike="noStrike" cap="none">
                          <a:solidFill>
                            <a:srgbClr val="1A2E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Transaction IDs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2400" u="none" strike="noStrike" cap="none">
                          <a:solidFill>
                            <a:srgbClr val="922B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  None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7A65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2400" u="none" strike="noStrike" cap="none">
                          <a:solidFill>
                            <a:srgbClr val="117A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 Multi-ID OoO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4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2400" u="none" strike="noStrike" cap="none">
                          <a:solidFill>
                            <a:srgbClr val="1A2E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Cache / Protect Signals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AF7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2400" u="none" strike="noStrike" cap="none">
                          <a:solidFill>
                            <a:srgbClr val="922B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  Not included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AF7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7A65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2400" u="none" strike="noStrike" cap="none">
                          <a:solidFill>
                            <a:srgbClr val="117A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 Full signaling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AF7">
                        <a:alpha val="498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1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4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2400" u="none" strike="noStrike" cap="none">
                          <a:solidFill>
                            <a:srgbClr val="1A2E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Register Access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7A65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2400" u="none" strike="noStrike" cap="none">
                          <a:solidFill>
                            <a:srgbClr val="117A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 Ideal (single TX)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7A65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2400" u="none" strike="noStrike" cap="none">
                          <a:solidFill>
                            <a:srgbClr val="117A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 Supported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1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4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2400" u="none" strike="noStrike" cap="none">
                          <a:solidFill>
                            <a:srgbClr val="1A2E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Implementation Area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AF7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7A65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2400" u="none" strike="noStrike" cap="none">
                          <a:solidFill>
                            <a:srgbClr val="117A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 Very small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AF7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2400" u="none" strike="noStrike" cap="none">
                          <a:solidFill>
                            <a:srgbClr val="922B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  Large (queues, IDs)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AF7">
                        <a:alpha val="498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1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4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2400" u="none" strike="noStrike" cap="none">
                          <a:solidFill>
                            <a:srgbClr val="1A2E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Interconnect Lines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7A65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2400" u="none" strike="noStrike" cap="none">
                          <a:solidFill>
                            <a:srgbClr val="117A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 ~35 signals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2B2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2400" u="none" strike="noStrike" cap="none">
                          <a:solidFill>
                            <a:srgbClr val="922B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  100+ signals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5D9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3" name="Google Shape;273;g3db004d1183_0_2"/>
          <p:cNvSpPr/>
          <p:nvPr/>
        </p:nvSpPr>
        <p:spPr>
          <a:xfrm>
            <a:off x="868675" y="9038025"/>
            <a:ext cx="14481900" cy="717000"/>
          </a:xfrm>
          <a:prstGeom prst="rect">
            <a:avLst/>
          </a:prstGeom>
          <a:solidFill>
            <a:srgbClr val="D6EAF8"/>
          </a:solidFill>
          <a:ln w="15225" cap="flat" cmpd="sng">
            <a:solidFill>
              <a:srgbClr val="5DAD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3db004d1183_0_2"/>
          <p:cNvSpPr/>
          <p:nvPr/>
        </p:nvSpPr>
        <p:spPr>
          <a:xfrm>
            <a:off x="1110041" y="9038025"/>
            <a:ext cx="13999200" cy="7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1150"/>
              <a:buFont typeface="Calibri"/>
              <a:buNone/>
            </a:pPr>
            <a:r>
              <a:rPr lang="en-US" sz="1700" b="1" i="0" u="none" strike="noStrike" cap="non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Why AXI4-Lite for THIS SoC?  </a:t>
            </a:r>
            <a:r>
              <a:rPr lang="en-US" sz="1700" b="0" i="0" u="none" strike="noStrike" cap="non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Single outstanding TX · Register-level peripheral access · No burst needed for UART/ROM · Minimal area (227-line interconnect)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"/>
          <p:cNvSpPr txBox="1"/>
          <p:nvPr/>
        </p:nvSpPr>
        <p:spPr>
          <a:xfrm>
            <a:off x="822923" y="910274"/>
            <a:ext cx="16642200" cy="12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lang="en-US" sz="5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5 AXI4‑Lite Channels Overv</a:t>
            </a:r>
            <a:r>
              <a:rPr lang="en-US" sz="5200" b="1"/>
              <a:t>iew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5"/>
          <p:cNvSpPr/>
          <p:nvPr/>
        </p:nvSpPr>
        <p:spPr>
          <a:xfrm>
            <a:off x="1238175" y="2524750"/>
            <a:ext cx="2995800" cy="5919600"/>
          </a:xfrm>
          <a:prstGeom prst="rect">
            <a:avLst/>
          </a:prstGeom>
          <a:solidFill>
            <a:srgbClr val="FFFFFF"/>
          </a:solidFill>
          <a:ln w="23450" cap="flat" cmpd="sng">
            <a:solidFill>
              <a:srgbClr val="1A5276"/>
            </a:solidFill>
            <a:prstDash val="solid"/>
            <a:round/>
            <a:headEnd type="none" w="sm" len="sm"/>
            <a:tailEnd type="none" w="sm" len="sm"/>
          </a:ln>
          <a:effectLst>
            <a:outerShdw blurRad="125125" dist="31281" dir="8100000" algn="bl" rotWithShape="0">
              <a:srgbClr val="000000">
                <a:alpha val="9020"/>
              </a:srgbClr>
            </a:outerShdw>
          </a:effectLst>
        </p:spPr>
        <p:txBody>
          <a:bodyPr spcFirstLastPara="1" wrap="square" lIns="112600" tIns="112600" rIns="112600" bIns="112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85" name="Google Shape;285;p5"/>
          <p:cNvSpPr/>
          <p:nvPr/>
        </p:nvSpPr>
        <p:spPr>
          <a:xfrm>
            <a:off x="1238175" y="2524750"/>
            <a:ext cx="2995800" cy="1306200"/>
          </a:xfrm>
          <a:prstGeom prst="rect">
            <a:avLst/>
          </a:prstGeom>
          <a:solidFill>
            <a:srgbClr val="1A5276"/>
          </a:solidFill>
          <a:ln w="15650" cap="flat" cmpd="sng">
            <a:solidFill>
              <a:srgbClr val="1A52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2600" tIns="112600" rIns="112600" bIns="112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5"/>
          <p:cNvSpPr/>
          <p:nvPr/>
        </p:nvSpPr>
        <p:spPr>
          <a:xfrm>
            <a:off x="1404615" y="2575000"/>
            <a:ext cx="1165200" cy="12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48"/>
              <a:buFont typeface="Calibri"/>
              <a:buNone/>
            </a:pPr>
            <a:r>
              <a:rPr lang="en-US" sz="3448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</a:t>
            </a:r>
            <a:endParaRPr sz="3448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5"/>
          <p:cNvSpPr/>
          <p:nvPr/>
        </p:nvSpPr>
        <p:spPr>
          <a:xfrm>
            <a:off x="2985797" y="2826248"/>
            <a:ext cx="1131900" cy="468900"/>
          </a:xfrm>
          <a:prstGeom prst="rect">
            <a:avLst/>
          </a:prstGeom>
          <a:solidFill>
            <a:srgbClr val="FFFFFF">
              <a:alpha val="25099"/>
            </a:srgbClr>
          </a:solidFill>
          <a:ln w="15650" cap="flat" cmpd="sng">
            <a:solidFill>
              <a:srgbClr val="FFFFFF">
                <a:alpha val="50199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2600" tIns="112600" rIns="112600" bIns="112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5"/>
          <p:cNvSpPr/>
          <p:nvPr/>
        </p:nvSpPr>
        <p:spPr>
          <a:xfrm>
            <a:off x="2985797" y="2826248"/>
            <a:ext cx="1131900" cy="4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8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 → 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5"/>
          <p:cNvSpPr/>
          <p:nvPr/>
        </p:nvSpPr>
        <p:spPr>
          <a:xfrm>
            <a:off x="1404615" y="3898240"/>
            <a:ext cx="2663400" cy="7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478"/>
              <a:buFont typeface="Calibri"/>
              <a:buNone/>
            </a:pPr>
            <a:r>
              <a:rPr lang="en-US" sz="1800" b="1" i="0" u="none" strike="noStrike" cap="none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Write Address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5"/>
          <p:cNvSpPr/>
          <p:nvPr/>
        </p:nvSpPr>
        <p:spPr>
          <a:xfrm>
            <a:off x="1437903" y="4668735"/>
            <a:ext cx="2596800" cy="36900"/>
          </a:xfrm>
          <a:prstGeom prst="rect">
            <a:avLst/>
          </a:prstGeom>
          <a:solidFill>
            <a:srgbClr val="1A5276">
              <a:alpha val="40000"/>
            </a:srgbClr>
          </a:solidFill>
          <a:ln w="15650" cap="flat" cmpd="sng">
            <a:solidFill>
              <a:srgbClr val="1A5276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2600" tIns="112600" rIns="112600" bIns="112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91" name="Google Shape;291;p5"/>
          <p:cNvSpPr/>
          <p:nvPr/>
        </p:nvSpPr>
        <p:spPr>
          <a:xfrm>
            <a:off x="1437903" y="4785984"/>
            <a:ext cx="25968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8DAE"/>
              </a:buClr>
              <a:buSzPts val="1108"/>
              <a:buFont typeface="Calibri"/>
              <a:buNone/>
            </a:pPr>
            <a:r>
              <a:rPr lang="en-US" sz="1800" b="1" i="0" u="none" strike="noStrike" cap="none">
                <a:solidFill>
                  <a:srgbClr val="6B8DAE"/>
                </a:solidFill>
                <a:latin typeface="Calibri"/>
                <a:ea typeface="Calibri"/>
                <a:cs typeface="Calibri"/>
                <a:sym typeface="Calibri"/>
              </a:rPr>
              <a:t>Signals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5"/>
          <p:cNvSpPr/>
          <p:nvPr/>
        </p:nvSpPr>
        <p:spPr>
          <a:xfrm>
            <a:off x="1437903" y="5171232"/>
            <a:ext cx="2596800" cy="13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170"/>
              <a:buFont typeface="Consolas"/>
              <a:buNone/>
            </a:pPr>
            <a:r>
              <a:rPr lang="en-US" sz="1800" b="0" i="0" u="none" strike="noStrike" cap="none">
                <a:solidFill>
                  <a:srgbClr val="1A2E4A"/>
                </a:solidFill>
                <a:latin typeface="Consolas"/>
                <a:ea typeface="Consolas"/>
                <a:cs typeface="Consolas"/>
                <a:sym typeface="Consolas"/>
              </a:rPr>
              <a:t>awaddr[31:0]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170"/>
              <a:buFont typeface="Consolas"/>
              <a:buNone/>
            </a:pPr>
            <a:r>
              <a:rPr lang="en-US" sz="1800" b="0" i="0" u="none" strike="noStrike" cap="none">
                <a:solidFill>
                  <a:srgbClr val="1A2E4A"/>
                </a:solidFill>
                <a:latin typeface="Consolas"/>
                <a:ea typeface="Consolas"/>
                <a:cs typeface="Consolas"/>
                <a:sym typeface="Consolas"/>
              </a:rPr>
              <a:t>awvalid · awready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5"/>
          <p:cNvSpPr/>
          <p:nvPr/>
        </p:nvSpPr>
        <p:spPr>
          <a:xfrm>
            <a:off x="1437903" y="6678721"/>
            <a:ext cx="2596800" cy="36900"/>
          </a:xfrm>
          <a:prstGeom prst="rect">
            <a:avLst/>
          </a:prstGeom>
          <a:solidFill>
            <a:srgbClr val="1A5276">
              <a:alpha val="40000"/>
            </a:srgbClr>
          </a:solidFill>
          <a:ln w="15650" cap="flat" cmpd="sng">
            <a:solidFill>
              <a:srgbClr val="1A5276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2600" tIns="112600" rIns="112600" bIns="112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94" name="Google Shape;294;p5"/>
          <p:cNvSpPr/>
          <p:nvPr/>
        </p:nvSpPr>
        <p:spPr>
          <a:xfrm>
            <a:off x="1437900" y="6795973"/>
            <a:ext cx="2596800" cy="15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600" tIns="56275" rIns="112600" bIns="56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293"/>
              <a:buFont typeface="Calibri"/>
              <a:buNone/>
            </a:pPr>
            <a:r>
              <a:rPr lang="en-US" sz="1800" b="0" i="0" u="none" strike="noStrike" cap="non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Master sends the destination write address to the slave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5"/>
          <p:cNvSpPr/>
          <p:nvPr/>
        </p:nvSpPr>
        <p:spPr>
          <a:xfrm>
            <a:off x="4442150" y="2524750"/>
            <a:ext cx="2995800" cy="5919600"/>
          </a:xfrm>
          <a:prstGeom prst="rect">
            <a:avLst/>
          </a:prstGeom>
          <a:solidFill>
            <a:srgbClr val="FFFFFF"/>
          </a:solidFill>
          <a:ln w="23450" cap="flat" cmpd="sng">
            <a:solidFill>
              <a:srgbClr val="1F618D"/>
            </a:solidFill>
            <a:prstDash val="solid"/>
            <a:round/>
            <a:headEnd type="none" w="sm" len="sm"/>
            <a:tailEnd type="none" w="sm" len="sm"/>
          </a:ln>
          <a:effectLst>
            <a:outerShdw blurRad="125125" dist="31281" dir="8100000" algn="bl" rotWithShape="0">
              <a:srgbClr val="000000">
                <a:alpha val="9020"/>
              </a:srgbClr>
            </a:outerShdw>
          </a:effectLst>
        </p:spPr>
        <p:txBody>
          <a:bodyPr spcFirstLastPara="1" wrap="square" lIns="112600" tIns="112600" rIns="112600" bIns="112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96" name="Google Shape;296;p5"/>
          <p:cNvSpPr/>
          <p:nvPr/>
        </p:nvSpPr>
        <p:spPr>
          <a:xfrm>
            <a:off x="4442148" y="2524750"/>
            <a:ext cx="2995800" cy="1306200"/>
          </a:xfrm>
          <a:prstGeom prst="rect">
            <a:avLst/>
          </a:prstGeom>
          <a:solidFill>
            <a:srgbClr val="1F618D"/>
          </a:solidFill>
          <a:ln w="15650" cap="flat" cmpd="sng">
            <a:solidFill>
              <a:srgbClr val="1F618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2600" tIns="112600" rIns="112600" bIns="112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5"/>
          <p:cNvSpPr/>
          <p:nvPr/>
        </p:nvSpPr>
        <p:spPr>
          <a:xfrm>
            <a:off x="4608588" y="2575000"/>
            <a:ext cx="1165200" cy="12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48"/>
              <a:buFont typeface="Calibri"/>
              <a:buNone/>
            </a:pPr>
            <a:r>
              <a:rPr lang="en-US" sz="3448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sz="3448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5"/>
          <p:cNvSpPr/>
          <p:nvPr/>
        </p:nvSpPr>
        <p:spPr>
          <a:xfrm>
            <a:off x="6189770" y="2826248"/>
            <a:ext cx="1131900" cy="468900"/>
          </a:xfrm>
          <a:prstGeom prst="rect">
            <a:avLst/>
          </a:prstGeom>
          <a:solidFill>
            <a:srgbClr val="FFFFFF">
              <a:alpha val="25099"/>
            </a:srgbClr>
          </a:solidFill>
          <a:ln w="15650" cap="flat" cmpd="sng">
            <a:solidFill>
              <a:srgbClr val="FFFFFF">
                <a:alpha val="50199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2600" tIns="112600" rIns="112600" bIns="112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5"/>
          <p:cNvSpPr/>
          <p:nvPr/>
        </p:nvSpPr>
        <p:spPr>
          <a:xfrm>
            <a:off x="6189770" y="2826248"/>
            <a:ext cx="1131900" cy="4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8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 </a:t>
            </a:r>
            <a:r>
              <a:rPr lang="en-US" sz="1108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S</a:t>
            </a:r>
            <a:endParaRPr sz="1108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5"/>
          <p:cNvSpPr/>
          <p:nvPr/>
        </p:nvSpPr>
        <p:spPr>
          <a:xfrm>
            <a:off x="4608588" y="3898240"/>
            <a:ext cx="2663400" cy="7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618D"/>
              </a:buClr>
              <a:buSzPts val="1478"/>
              <a:buFont typeface="Calibri"/>
              <a:buNone/>
            </a:pPr>
            <a:r>
              <a:rPr lang="en-US" sz="1800" b="1" i="0" u="none" strike="noStrike" cap="none">
                <a:solidFill>
                  <a:srgbClr val="1F618D"/>
                </a:solidFill>
                <a:latin typeface="Calibri"/>
                <a:ea typeface="Calibri"/>
                <a:cs typeface="Calibri"/>
                <a:sym typeface="Calibri"/>
              </a:rPr>
              <a:t>Write Data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5"/>
          <p:cNvSpPr/>
          <p:nvPr/>
        </p:nvSpPr>
        <p:spPr>
          <a:xfrm>
            <a:off x="4641876" y="4668735"/>
            <a:ext cx="2596800" cy="36900"/>
          </a:xfrm>
          <a:prstGeom prst="rect">
            <a:avLst/>
          </a:prstGeom>
          <a:solidFill>
            <a:srgbClr val="1F618D">
              <a:alpha val="40000"/>
            </a:srgbClr>
          </a:solidFill>
          <a:ln w="15650" cap="flat" cmpd="sng">
            <a:solidFill>
              <a:srgbClr val="1F618D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2600" tIns="112600" rIns="112600" bIns="112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02" name="Google Shape;302;p5"/>
          <p:cNvSpPr/>
          <p:nvPr/>
        </p:nvSpPr>
        <p:spPr>
          <a:xfrm>
            <a:off x="4641876" y="4785984"/>
            <a:ext cx="25968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8DAE"/>
              </a:buClr>
              <a:buSzPts val="1108"/>
              <a:buFont typeface="Calibri"/>
              <a:buNone/>
            </a:pPr>
            <a:r>
              <a:rPr lang="en-US" sz="1800" b="1" i="0" u="none" strike="noStrike" cap="none">
                <a:solidFill>
                  <a:srgbClr val="6B8DAE"/>
                </a:solidFill>
                <a:latin typeface="Calibri"/>
                <a:ea typeface="Calibri"/>
                <a:cs typeface="Calibri"/>
                <a:sym typeface="Calibri"/>
              </a:rPr>
              <a:t>Signals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5"/>
          <p:cNvSpPr/>
          <p:nvPr/>
        </p:nvSpPr>
        <p:spPr>
          <a:xfrm>
            <a:off x="4641876" y="5171232"/>
            <a:ext cx="2596800" cy="13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170"/>
              <a:buFont typeface="Consolas"/>
              <a:buNone/>
            </a:pPr>
            <a:r>
              <a:rPr lang="en-US" sz="1800" b="0" i="0" u="none" strike="noStrike" cap="none">
                <a:solidFill>
                  <a:srgbClr val="1A2E4A"/>
                </a:solidFill>
                <a:latin typeface="Consolas"/>
                <a:ea typeface="Consolas"/>
                <a:cs typeface="Consolas"/>
                <a:sym typeface="Consolas"/>
              </a:rPr>
              <a:t>wdata[31:0]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170"/>
              <a:buFont typeface="Consolas"/>
              <a:buNone/>
            </a:pPr>
            <a:r>
              <a:rPr lang="en-US" sz="1800" b="0" i="0" u="none" strike="noStrike" cap="none">
                <a:solidFill>
                  <a:srgbClr val="1A2E4A"/>
                </a:solidFill>
                <a:latin typeface="Consolas"/>
                <a:ea typeface="Consolas"/>
                <a:cs typeface="Consolas"/>
                <a:sym typeface="Consolas"/>
              </a:rPr>
              <a:t>wstrb[3:0] · wvalid · wready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5"/>
          <p:cNvSpPr/>
          <p:nvPr/>
        </p:nvSpPr>
        <p:spPr>
          <a:xfrm>
            <a:off x="4641876" y="6678721"/>
            <a:ext cx="2596800" cy="36900"/>
          </a:xfrm>
          <a:prstGeom prst="rect">
            <a:avLst/>
          </a:prstGeom>
          <a:solidFill>
            <a:srgbClr val="1F618D">
              <a:alpha val="40000"/>
            </a:srgbClr>
          </a:solidFill>
          <a:ln w="15650" cap="flat" cmpd="sng">
            <a:solidFill>
              <a:srgbClr val="1F618D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2600" tIns="112600" rIns="112600" bIns="112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05" name="Google Shape;305;p5"/>
          <p:cNvSpPr/>
          <p:nvPr/>
        </p:nvSpPr>
        <p:spPr>
          <a:xfrm>
            <a:off x="4641875" y="6795973"/>
            <a:ext cx="2596800" cy="15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600" tIns="56275" rIns="112600" bIns="56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293"/>
              <a:buFont typeface="Calibri"/>
              <a:buNone/>
            </a:pPr>
            <a:r>
              <a:rPr lang="en-US" sz="1800" b="0" i="0" u="none" strike="noStrike" cap="non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Master sends write data + byte-enable strobes to slave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5"/>
          <p:cNvSpPr/>
          <p:nvPr/>
        </p:nvSpPr>
        <p:spPr>
          <a:xfrm>
            <a:off x="7646125" y="2524750"/>
            <a:ext cx="2995800" cy="5919600"/>
          </a:xfrm>
          <a:prstGeom prst="rect">
            <a:avLst/>
          </a:prstGeom>
          <a:solidFill>
            <a:srgbClr val="FFFFFF"/>
          </a:solidFill>
          <a:ln w="2345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125125" dist="31281" dir="8100000" algn="bl" rotWithShape="0">
              <a:srgbClr val="000000">
                <a:alpha val="9020"/>
              </a:srgbClr>
            </a:outerShdw>
          </a:effectLst>
        </p:spPr>
        <p:txBody>
          <a:bodyPr spcFirstLastPara="1" wrap="square" lIns="112600" tIns="112600" rIns="112600" bIns="112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07" name="Google Shape;307;p5"/>
          <p:cNvSpPr/>
          <p:nvPr/>
        </p:nvSpPr>
        <p:spPr>
          <a:xfrm>
            <a:off x="7646121" y="2524750"/>
            <a:ext cx="2995800" cy="1306200"/>
          </a:xfrm>
          <a:prstGeom prst="rect">
            <a:avLst/>
          </a:prstGeom>
          <a:solidFill>
            <a:srgbClr val="2980B9"/>
          </a:solidFill>
          <a:ln w="1565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2600" tIns="112600" rIns="112600" bIns="112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5"/>
          <p:cNvSpPr/>
          <p:nvPr/>
        </p:nvSpPr>
        <p:spPr>
          <a:xfrm>
            <a:off x="7812561" y="2575000"/>
            <a:ext cx="1165200" cy="12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48"/>
              <a:buFont typeface="Calibri"/>
              <a:buNone/>
            </a:pPr>
            <a:r>
              <a:rPr lang="en-US" sz="3448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3448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5"/>
          <p:cNvSpPr/>
          <p:nvPr/>
        </p:nvSpPr>
        <p:spPr>
          <a:xfrm>
            <a:off x="9393742" y="2826248"/>
            <a:ext cx="1131900" cy="468900"/>
          </a:xfrm>
          <a:prstGeom prst="rect">
            <a:avLst/>
          </a:prstGeom>
          <a:solidFill>
            <a:srgbClr val="FFFFFF">
              <a:alpha val="25099"/>
            </a:srgbClr>
          </a:solidFill>
          <a:ln w="15650" cap="flat" cmpd="sng">
            <a:solidFill>
              <a:srgbClr val="FFFFFF">
                <a:alpha val="50199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2600" tIns="112600" rIns="112600" bIns="112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5"/>
          <p:cNvSpPr/>
          <p:nvPr/>
        </p:nvSpPr>
        <p:spPr>
          <a:xfrm>
            <a:off x="9393742" y="2826248"/>
            <a:ext cx="1131900" cy="4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8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 → M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5"/>
          <p:cNvSpPr/>
          <p:nvPr/>
        </p:nvSpPr>
        <p:spPr>
          <a:xfrm>
            <a:off x="7812561" y="3898240"/>
            <a:ext cx="2663400" cy="7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1478"/>
              <a:buFont typeface="Calibri"/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Write Response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5"/>
          <p:cNvSpPr/>
          <p:nvPr/>
        </p:nvSpPr>
        <p:spPr>
          <a:xfrm>
            <a:off x="7845849" y="4668735"/>
            <a:ext cx="2596800" cy="36900"/>
          </a:xfrm>
          <a:prstGeom prst="rect">
            <a:avLst/>
          </a:prstGeom>
          <a:solidFill>
            <a:srgbClr val="2980B9">
              <a:alpha val="40000"/>
            </a:srgbClr>
          </a:solidFill>
          <a:ln w="15650" cap="flat" cmpd="sng">
            <a:solidFill>
              <a:srgbClr val="2980B9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2600" tIns="112600" rIns="112600" bIns="112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13" name="Google Shape;313;p5"/>
          <p:cNvSpPr/>
          <p:nvPr/>
        </p:nvSpPr>
        <p:spPr>
          <a:xfrm>
            <a:off x="7845849" y="4785984"/>
            <a:ext cx="25968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8DAE"/>
              </a:buClr>
              <a:buSzPts val="1108"/>
              <a:buFont typeface="Calibri"/>
              <a:buNone/>
            </a:pPr>
            <a:r>
              <a:rPr lang="en-US" sz="1800" b="1" i="0" u="none" strike="noStrike" cap="none">
                <a:solidFill>
                  <a:srgbClr val="6B8DAE"/>
                </a:solidFill>
                <a:latin typeface="Calibri"/>
                <a:ea typeface="Calibri"/>
                <a:cs typeface="Calibri"/>
                <a:sym typeface="Calibri"/>
              </a:rPr>
              <a:t>Signals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5"/>
          <p:cNvSpPr/>
          <p:nvPr/>
        </p:nvSpPr>
        <p:spPr>
          <a:xfrm>
            <a:off x="7845849" y="5171232"/>
            <a:ext cx="2596800" cy="13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170"/>
              <a:buFont typeface="Consolas"/>
              <a:buNone/>
            </a:pPr>
            <a:r>
              <a:rPr lang="en-US" sz="1800" b="0" i="0" u="none" strike="noStrike" cap="none">
                <a:solidFill>
                  <a:srgbClr val="1A2E4A"/>
                </a:solidFill>
                <a:latin typeface="Consolas"/>
                <a:ea typeface="Consolas"/>
                <a:cs typeface="Consolas"/>
                <a:sym typeface="Consolas"/>
              </a:rPr>
              <a:t>bresp[1:0]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170"/>
              <a:buFont typeface="Consolas"/>
              <a:buNone/>
            </a:pPr>
            <a:r>
              <a:rPr lang="en-US" sz="1800" b="0" i="0" u="none" strike="noStrike" cap="none">
                <a:solidFill>
                  <a:srgbClr val="1A2E4A"/>
                </a:solidFill>
                <a:latin typeface="Consolas"/>
                <a:ea typeface="Consolas"/>
                <a:cs typeface="Consolas"/>
                <a:sym typeface="Consolas"/>
              </a:rPr>
              <a:t>bvalid · bready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5"/>
          <p:cNvSpPr/>
          <p:nvPr/>
        </p:nvSpPr>
        <p:spPr>
          <a:xfrm>
            <a:off x="7845849" y="6678721"/>
            <a:ext cx="2596800" cy="36900"/>
          </a:xfrm>
          <a:prstGeom prst="rect">
            <a:avLst/>
          </a:prstGeom>
          <a:solidFill>
            <a:srgbClr val="2980B9">
              <a:alpha val="40000"/>
            </a:srgbClr>
          </a:solidFill>
          <a:ln w="15650" cap="flat" cmpd="sng">
            <a:solidFill>
              <a:srgbClr val="2980B9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2600" tIns="112600" rIns="112600" bIns="112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16" name="Google Shape;316;p5"/>
          <p:cNvSpPr/>
          <p:nvPr/>
        </p:nvSpPr>
        <p:spPr>
          <a:xfrm>
            <a:off x="7845850" y="6795973"/>
            <a:ext cx="2596800" cy="15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600" tIns="56275" rIns="112600" bIns="56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293"/>
              <a:buFont typeface="Calibri"/>
              <a:buNone/>
            </a:pPr>
            <a:r>
              <a:rPr lang="en-US" sz="1800" b="0" i="0" u="none" strike="noStrike" cap="non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Slave acknowledges the write — OKAY (2'b00) in this project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5"/>
          <p:cNvSpPr/>
          <p:nvPr/>
        </p:nvSpPr>
        <p:spPr>
          <a:xfrm>
            <a:off x="10850100" y="2524750"/>
            <a:ext cx="2995800" cy="5919600"/>
          </a:xfrm>
          <a:prstGeom prst="rect">
            <a:avLst/>
          </a:prstGeom>
          <a:solidFill>
            <a:srgbClr val="FFFFFF"/>
          </a:solidFill>
          <a:ln w="23450" cap="flat" cmpd="sng">
            <a:solidFill>
              <a:srgbClr val="117A8F"/>
            </a:solidFill>
            <a:prstDash val="solid"/>
            <a:round/>
            <a:headEnd type="none" w="sm" len="sm"/>
            <a:tailEnd type="none" w="sm" len="sm"/>
          </a:ln>
          <a:effectLst>
            <a:outerShdw blurRad="125125" dist="31281" dir="8100000" algn="bl" rotWithShape="0">
              <a:srgbClr val="000000">
                <a:alpha val="9020"/>
              </a:srgbClr>
            </a:outerShdw>
          </a:effectLst>
        </p:spPr>
        <p:txBody>
          <a:bodyPr spcFirstLastPara="1" wrap="square" lIns="112600" tIns="112600" rIns="112600" bIns="112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18" name="Google Shape;318;p5"/>
          <p:cNvSpPr/>
          <p:nvPr/>
        </p:nvSpPr>
        <p:spPr>
          <a:xfrm>
            <a:off x="10850094" y="2524750"/>
            <a:ext cx="2995800" cy="1306200"/>
          </a:xfrm>
          <a:prstGeom prst="rect">
            <a:avLst/>
          </a:prstGeom>
          <a:solidFill>
            <a:srgbClr val="117A8F"/>
          </a:solidFill>
          <a:ln w="15650" cap="flat" cmpd="sng">
            <a:solidFill>
              <a:srgbClr val="117A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2600" tIns="112600" rIns="112600" bIns="112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5"/>
          <p:cNvSpPr/>
          <p:nvPr/>
        </p:nvSpPr>
        <p:spPr>
          <a:xfrm>
            <a:off x="11016534" y="2575000"/>
            <a:ext cx="1165200" cy="12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48"/>
              <a:buFont typeface="Calibri"/>
              <a:buNone/>
            </a:pPr>
            <a:r>
              <a:rPr lang="en-US" sz="3448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</a:t>
            </a:r>
            <a:endParaRPr sz="3448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5"/>
          <p:cNvSpPr/>
          <p:nvPr/>
        </p:nvSpPr>
        <p:spPr>
          <a:xfrm>
            <a:off x="12597715" y="2826248"/>
            <a:ext cx="1131900" cy="468900"/>
          </a:xfrm>
          <a:prstGeom prst="rect">
            <a:avLst/>
          </a:prstGeom>
          <a:solidFill>
            <a:srgbClr val="FFFFFF">
              <a:alpha val="25099"/>
            </a:srgbClr>
          </a:solidFill>
          <a:ln w="15650" cap="flat" cmpd="sng">
            <a:solidFill>
              <a:srgbClr val="FFFFFF">
                <a:alpha val="50199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2600" tIns="112600" rIns="112600" bIns="112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5"/>
          <p:cNvSpPr/>
          <p:nvPr/>
        </p:nvSpPr>
        <p:spPr>
          <a:xfrm>
            <a:off x="12597715" y="2826248"/>
            <a:ext cx="1131900" cy="4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8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 → 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5"/>
          <p:cNvSpPr/>
          <p:nvPr/>
        </p:nvSpPr>
        <p:spPr>
          <a:xfrm>
            <a:off x="11016534" y="3898240"/>
            <a:ext cx="2663400" cy="7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7A8F"/>
              </a:buClr>
              <a:buSzPts val="1478"/>
              <a:buFont typeface="Calibri"/>
              <a:buNone/>
            </a:pPr>
            <a:r>
              <a:rPr lang="en-US" sz="1800" b="1" i="0" u="none" strike="noStrike" cap="none">
                <a:solidFill>
                  <a:srgbClr val="117A8F"/>
                </a:solidFill>
                <a:latin typeface="Calibri"/>
                <a:ea typeface="Calibri"/>
                <a:cs typeface="Calibri"/>
                <a:sym typeface="Calibri"/>
              </a:rPr>
              <a:t>Read Address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5"/>
          <p:cNvSpPr/>
          <p:nvPr/>
        </p:nvSpPr>
        <p:spPr>
          <a:xfrm>
            <a:off x="11049822" y="4668735"/>
            <a:ext cx="2596800" cy="36900"/>
          </a:xfrm>
          <a:prstGeom prst="rect">
            <a:avLst/>
          </a:prstGeom>
          <a:solidFill>
            <a:srgbClr val="117A8F">
              <a:alpha val="40000"/>
            </a:srgbClr>
          </a:solidFill>
          <a:ln w="15650" cap="flat" cmpd="sng">
            <a:solidFill>
              <a:srgbClr val="117A8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2600" tIns="112600" rIns="112600" bIns="112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24" name="Google Shape;324;p5"/>
          <p:cNvSpPr/>
          <p:nvPr/>
        </p:nvSpPr>
        <p:spPr>
          <a:xfrm>
            <a:off x="11049822" y="4785984"/>
            <a:ext cx="25968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8DAE"/>
              </a:buClr>
              <a:buSzPts val="1108"/>
              <a:buFont typeface="Calibri"/>
              <a:buNone/>
            </a:pPr>
            <a:r>
              <a:rPr lang="en-US" sz="1800" b="1" i="0" u="none" strike="noStrike" cap="none">
                <a:solidFill>
                  <a:srgbClr val="6B8DAE"/>
                </a:solidFill>
                <a:latin typeface="Calibri"/>
                <a:ea typeface="Calibri"/>
                <a:cs typeface="Calibri"/>
                <a:sym typeface="Calibri"/>
              </a:rPr>
              <a:t>Signals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5"/>
          <p:cNvSpPr/>
          <p:nvPr/>
        </p:nvSpPr>
        <p:spPr>
          <a:xfrm>
            <a:off x="11049822" y="5171232"/>
            <a:ext cx="2596800" cy="13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170"/>
              <a:buFont typeface="Consolas"/>
              <a:buNone/>
            </a:pPr>
            <a:r>
              <a:rPr lang="en-US" sz="1800" b="0" i="0" u="none" strike="noStrike" cap="none">
                <a:solidFill>
                  <a:srgbClr val="1A2E4A"/>
                </a:solidFill>
                <a:latin typeface="Consolas"/>
                <a:ea typeface="Consolas"/>
                <a:cs typeface="Consolas"/>
                <a:sym typeface="Consolas"/>
              </a:rPr>
              <a:t>araddr[31:0]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170"/>
              <a:buFont typeface="Consolas"/>
              <a:buNone/>
            </a:pPr>
            <a:r>
              <a:rPr lang="en-US" sz="1800" b="0" i="0" u="none" strike="noStrike" cap="none">
                <a:solidFill>
                  <a:srgbClr val="1A2E4A"/>
                </a:solidFill>
                <a:latin typeface="Consolas"/>
                <a:ea typeface="Consolas"/>
                <a:cs typeface="Consolas"/>
                <a:sym typeface="Consolas"/>
              </a:rPr>
              <a:t>arvalid · arready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5"/>
          <p:cNvSpPr/>
          <p:nvPr/>
        </p:nvSpPr>
        <p:spPr>
          <a:xfrm>
            <a:off x="11049822" y="6678721"/>
            <a:ext cx="2596800" cy="36900"/>
          </a:xfrm>
          <a:prstGeom prst="rect">
            <a:avLst/>
          </a:prstGeom>
          <a:solidFill>
            <a:srgbClr val="117A8F">
              <a:alpha val="40000"/>
            </a:srgbClr>
          </a:solidFill>
          <a:ln w="15650" cap="flat" cmpd="sng">
            <a:solidFill>
              <a:srgbClr val="117A8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2600" tIns="112600" rIns="112600" bIns="112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27" name="Google Shape;327;p5"/>
          <p:cNvSpPr/>
          <p:nvPr/>
        </p:nvSpPr>
        <p:spPr>
          <a:xfrm>
            <a:off x="11049825" y="6795973"/>
            <a:ext cx="2596800" cy="15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600" tIns="56275" rIns="112600" bIns="56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293"/>
              <a:buFont typeface="Calibri"/>
              <a:buNone/>
            </a:pPr>
            <a:r>
              <a:rPr lang="en-US" sz="1800" b="0" i="0" u="none" strike="noStrike" cap="non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Master sends the source read address to the slave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5"/>
          <p:cNvSpPr/>
          <p:nvPr/>
        </p:nvSpPr>
        <p:spPr>
          <a:xfrm>
            <a:off x="14054075" y="2524750"/>
            <a:ext cx="2995800" cy="5919600"/>
          </a:xfrm>
          <a:prstGeom prst="rect">
            <a:avLst/>
          </a:prstGeom>
          <a:solidFill>
            <a:srgbClr val="FFFFFF"/>
          </a:solidFill>
          <a:ln w="23450" cap="flat" cmpd="sng">
            <a:solidFill>
              <a:srgbClr val="5DADE2"/>
            </a:solidFill>
            <a:prstDash val="solid"/>
            <a:round/>
            <a:headEnd type="none" w="sm" len="sm"/>
            <a:tailEnd type="none" w="sm" len="sm"/>
          </a:ln>
          <a:effectLst>
            <a:outerShdw blurRad="125125" dist="31281" dir="8100000" algn="bl" rotWithShape="0">
              <a:srgbClr val="000000">
                <a:alpha val="9020"/>
              </a:srgbClr>
            </a:outerShdw>
          </a:effectLst>
        </p:spPr>
        <p:txBody>
          <a:bodyPr spcFirstLastPara="1" wrap="square" lIns="112600" tIns="112600" rIns="112600" bIns="112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29" name="Google Shape;329;p5"/>
          <p:cNvSpPr/>
          <p:nvPr/>
        </p:nvSpPr>
        <p:spPr>
          <a:xfrm>
            <a:off x="14054067" y="2524750"/>
            <a:ext cx="2995800" cy="1306200"/>
          </a:xfrm>
          <a:prstGeom prst="rect">
            <a:avLst/>
          </a:prstGeom>
          <a:solidFill>
            <a:srgbClr val="5DADE2"/>
          </a:solidFill>
          <a:ln w="15650" cap="flat" cmpd="sng">
            <a:solidFill>
              <a:srgbClr val="5DAD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2600" tIns="112600" rIns="112600" bIns="112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5"/>
          <p:cNvSpPr/>
          <p:nvPr/>
        </p:nvSpPr>
        <p:spPr>
          <a:xfrm>
            <a:off x="14220507" y="2575000"/>
            <a:ext cx="1165200" cy="12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48"/>
              <a:buFont typeface="Calibri"/>
              <a:buNone/>
            </a:pPr>
            <a:r>
              <a:rPr lang="en-US" sz="3448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sz="3448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5"/>
          <p:cNvSpPr/>
          <p:nvPr/>
        </p:nvSpPr>
        <p:spPr>
          <a:xfrm>
            <a:off x="15801688" y="2826248"/>
            <a:ext cx="1131900" cy="468900"/>
          </a:xfrm>
          <a:prstGeom prst="rect">
            <a:avLst/>
          </a:prstGeom>
          <a:solidFill>
            <a:srgbClr val="FFFFFF">
              <a:alpha val="25099"/>
            </a:srgbClr>
          </a:solidFill>
          <a:ln w="15650" cap="flat" cmpd="sng">
            <a:solidFill>
              <a:srgbClr val="FFFFFF">
                <a:alpha val="50199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2600" tIns="112600" rIns="112600" bIns="112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5"/>
          <p:cNvSpPr/>
          <p:nvPr/>
        </p:nvSpPr>
        <p:spPr>
          <a:xfrm>
            <a:off x="15801688" y="2826248"/>
            <a:ext cx="1131900" cy="4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8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 → M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5"/>
          <p:cNvSpPr/>
          <p:nvPr/>
        </p:nvSpPr>
        <p:spPr>
          <a:xfrm>
            <a:off x="14220507" y="3898240"/>
            <a:ext cx="2663400" cy="7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ADE2"/>
              </a:buClr>
              <a:buSzPts val="1478"/>
              <a:buFont typeface="Calibri"/>
              <a:buNone/>
            </a:pPr>
            <a:r>
              <a:rPr lang="en-US" sz="1800" b="1" i="0" u="none" strike="noStrike" cap="none">
                <a:solidFill>
                  <a:srgbClr val="5DADE2"/>
                </a:solidFill>
                <a:latin typeface="Calibri"/>
                <a:ea typeface="Calibri"/>
                <a:cs typeface="Calibri"/>
                <a:sym typeface="Calibri"/>
              </a:rPr>
              <a:t>Read Data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5"/>
          <p:cNvSpPr/>
          <p:nvPr/>
        </p:nvSpPr>
        <p:spPr>
          <a:xfrm>
            <a:off x="14253795" y="4668735"/>
            <a:ext cx="2596800" cy="36900"/>
          </a:xfrm>
          <a:prstGeom prst="rect">
            <a:avLst/>
          </a:prstGeom>
          <a:solidFill>
            <a:srgbClr val="5DADE2">
              <a:alpha val="40000"/>
            </a:srgbClr>
          </a:solidFill>
          <a:ln w="15650" cap="flat" cmpd="sng">
            <a:solidFill>
              <a:srgbClr val="5DADE2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2600" tIns="112600" rIns="112600" bIns="112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35" name="Google Shape;335;p5"/>
          <p:cNvSpPr/>
          <p:nvPr/>
        </p:nvSpPr>
        <p:spPr>
          <a:xfrm>
            <a:off x="14253795" y="4785984"/>
            <a:ext cx="25968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8DAE"/>
              </a:buClr>
              <a:buSzPts val="1108"/>
              <a:buFont typeface="Calibri"/>
              <a:buNone/>
            </a:pPr>
            <a:r>
              <a:rPr lang="en-US" sz="1800" b="1" i="0" u="none" strike="noStrike" cap="none">
                <a:solidFill>
                  <a:srgbClr val="6B8DAE"/>
                </a:solidFill>
                <a:latin typeface="Calibri"/>
                <a:ea typeface="Calibri"/>
                <a:cs typeface="Calibri"/>
                <a:sym typeface="Calibri"/>
              </a:rPr>
              <a:t>Signals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5"/>
          <p:cNvSpPr/>
          <p:nvPr/>
        </p:nvSpPr>
        <p:spPr>
          <a:xfrm>
            <a:off x="14253795" y="5171232"/>
            <a:ext cx="2596800" cy="13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170"/>
              <a:buFont typeface="Consolas"/>
              <a:buNone/>
            </a:pPr>
            <a:r>
              <a:rPr lang="en-US" sz="1800" b="0" i="0" u="none" strike="noStrike" cap="none">
                <a:solidFill>
                  <a:srgbClr val="1A2E4A"/>
                </a:solidFill>
                <a:latin typeface="Consolas"/>
                <a:ea typeface="Consolas"/>
                <a:cs typeface="Consolas"/>
                <a:sym typeface="Consolas"/>
              </a:rPr>
              <a:t>rdata[31:0]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170"/>
              <a:buFont typeface="Consolas"/>
              <a:buNone/>
            </a:pPr>
            <a:r>
              <a:rPr lang="en-US" sz="1800" b="0" i="0" u="none" strike="noStrike" cap="none">
                <a:solidFill>
                  <a:srgbClr val="1A2E4A"/>
                </a:solidFill>
                <a:latin typeface="Consolas"/>
                <a:ea typeface="Consolas"/>
                <a:cs typeface="Consolas"/>
                <a:sym typeface="Consolas"/>
              </a:rPr>
              <a:t>rresp[1:0] · rvalid · rready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5"/>
          <p:cNvSpPr/>
          <p:nvPr/>
        </p:nvSpPr>
        <p:spPr>
          <a:xfrm>
            <a:off x="14253795" y="6678721"/>
            <a:ext cx="2596800" cy="36900"/>
          </a:xfrm>
          <a:prstGeom prst="rect">
            <a:avLst/>
          </a:prstGeom>
          <a:solidFill>
            <a:srgbClr val="5DADE2">
              <a:alpha val="40000"/>
            </a:srgbClr>
          </a:solidFill>
          <a:ln w="15650" cap="flat" cmpd="sng">
            <a:solidFill>
              <a:srgbClr val="5DADE2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2600" tIns="112600" rIns="112600" bIns="112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38" name="Google Shape;338;p5"/>
          <p:cNvSpPr/>
          <p:nvPr/>
        </p:nvSpPr>
        <p:spPr>
          <a:xfrm>
            <a:off x="14253800" y="6795973"/>
            <a:ext cx="2596800" cy="15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600" tIns="56275" rIns="112600" bIns="56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293"/>
              <a:buFont typeface="Calibri"/>
              <a:buNone/>
            </a:pPr>
            <a:r>
              <a:rPr lang="en-US" sz="1800" b="0" i="0" u="none" strike="noStrike" cap="non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Slave returns the read data + status to the master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5"/>
          <p:cNvSpPr/>
          <p:nvPr/>
        </p:nvSpPr>
        <p:spPr>
          <a:xfrm>
            <a:off x="1446300" y="9374701"/>
            <a:ext cx="15395400" cy="452400"/>
          </a:xfrm>
          <a:prstGeom prst="rect">
            <a:avLst/>
          </a:prstGeom>
          <a:solidFill>
            <a:srgbClr val="D6EAF8"/>
          </a:solidFill>
          <a:ln w="15650" cap="flat" cmpd="sng">
            <a:solidFill>
              <a:srgbClr val="5DAD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2600" tIns="112600" rIns="112600" bIns="112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5"/>
          <p:cNvSpPr/>
          <p:nvPr/>
        </p:nvSpPr>
        <p:spPr>
          <a:xfrm>
            <a:off x="1654045" y="9374701"/>
            <a:ext cx="14979900" cy="4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600" tIns="56275" rIns="112600" bIns="56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1293"/>
              <a:buFont typeface="Calibri"/>
              <a:buNone/>
            </a:pPr>
            <a:r>
              <a:rPr lang="en-US" sz="1293" b="1" i="0" u="none" strike="noStrike" cap="non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Golden Rule: </a:t>
            </a:r>
            <a:r>
              <a:rPr lang="en-US" sz="1293" b="0" i="0" u="none" strike="noStrike" cap="non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A transfer occurs ONLY when VALID = 1  AND  READY = 1 at the rising clock edge — on ALL five channels</a:t>
            </a:r>
            <a:endParaRPr sz="129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db004d1183_0_82"/>
          <p:cNvSpPr/>
          <p:nvPr/>
        </p:nvSpPr>
        <p:spPr>
          <a:xfrm>
            <a:off x="1134623" y="1183875"/>
            <a:ext cx="13239000" cy="13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50"/>
              <a:buFont typeface="Calibri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Channel Signal Diagram — THIS Project</a:t>
            </a:r>
            <a:endParaRPr sz="480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7" name="Google Shape;347;g3db004d1183_0_82"/>
          <p:cNvSpPr/>
          <p:nvPr/>
        </p:nvSpPr>
        <p:spPr>
          <a:xfrm>
            <a:off x="1134620" y="2973811"/>
            <a:ext cx="3794400" cy="5660100"/>
          </a:xfrm>
          <a:prstGeom prst="rect">
            <a:avLst/>
          </a:prstGeom>
          <a:solidFill>
            <a:srgbClr val="5DADE2">
              <a:alpha val="40000"/>
            </a:srgbClr>
          </a:solidFill>
          <a:ln w="42500" cap="flat" cmpd="sng">
            <a:solidFill>
              <a:srgbClr val="5DAD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950" tIns="152950" rIns="152950" bIns="152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FF"/>
              </a:solidFill>
            </a:endParaRPr>
          </a:p>
        </p:txBody>
      </p:sp>
      <p:sp>
        <p:nvSpPr>
          <p:cNvPr id="348" name="Google Shape;348;g3db004d1183_0_82"/>
          <p:cNvSpPr/>
          <p:nvPr/>
        </p:nvSpPr>
        <p:spPr>
          <a:xfrm>
            <a:off x="1134620" y="2973811"/>
            <a:ext cx="3794400" cy="673200"/>
          </a:xfrm>
          <a:prstGeom prst="rect">
            <a:avLst/>
          </a:prstGeom>
          <a:solidFill>
            <a:srgbClr val="2980B9"/>
          </a:solidFill>
          <a:ln w="2125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950" tIns="152950" rIns="152950" bIns="152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3db004d1183_0_82"/>
          <p:cNvSpPr/>
          <p:nvPr/>
        </p:nvSpPr>
        <p:spPr>
          <a:xfrm>
            <a:off x="1134620" y="2973811"/>
            <a:ext cx="37944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Calibri"/>
              <a:buNone/>
            </a:pPr>
            <a:r>
              <a:rPr lang="en-US" sz="21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MASTER</a:t>
            </a:r>
            <a:endParaRPr sz="21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db004d1183_0_82"/>
          <p:cNvSpPr/>
          <p:nvPr/>
        </p:nvSpPr>
        <p:spPr>
          <a:xfrm>
            <a:off x="1296065" y="3708079"/>
            <a:ext cx="3471000" cy="8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DADE2"/>
              </a:buClr>
              <a:buSzPts val="1589"/>
              <a:buFont typeface="Calibri"/>
              <a:buNone/>
            </a:pPr>
            <a:r>
              <a:rPr lang="en-US" sz="1800" b="0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CPU-to-AXI Bridge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DADE2"/>
              </a:buClr>
              <a:buSzPts val="1589"/>
              <a:buFont typeface="Calibri"/>
              <a:buNone/>
            </a:pPr>
            <a:r>
              <a:rPr lang="en-US" sz="1800" b="0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(top.v  lines 91–224)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db004d1183_0_82"/>
          <p:cNvSpPr/>
          <p:nvPr/>
        </p:nvSpPr>
        <p:spPr>
          <a:xfrm>
            <a:off x="1296065" y="4625915"/>
            <a:ext cx="3552000" cy="39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950" tIns="76450" rIns="152950" bIns="76450" anchor="t" anchorCtr="0">
            <a:noAutofit/>
          </a:bodyPr>
          <a:lstStyle/>
          <a:p>
            <a:pPr marL="127478" marR="0" lvl="0" indent="-148294" algn="l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800"/>
              <a:buFont typeface="Consolas"/>
              <a:buChar char="▸"/>
            </a:pPr>
            <a:r>
              <a:rPr lang="en-US" sz="1800" b="0" i="0" u="none" strike="noStrike" cap="none">
                <a:solidFill>
                  <a:srgbClr val="1C4587"/>
                </a:solidFill>
                <a:latin typeface="Consolas"/>
                <a:ea typeface="Consolas"/>
                <a:cs typeface="Consolas"/>
                <a:sym typeface="Consolas"/>
              </a:rPr>
              <a:t>m_axi_awaddr</a:t>
            </a:r>
            <a:endParaRPr sz="1800" b="0" i="0" u="none" strike="noStrike" cap="none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478" marR="0" lvl="0" indent="-148294" algn="l" rtl="0">
              <a:spcBef>
                <a:spcPts val="167"/>
              </a:spcBef>
              <a:spcAft>
                <a:spcPts val="0"/>
              </a:spcAft>
              <a:buClr>
                <a:srgbClr val="1C4587"/>
              </a:buClr>
              <a:buSzPts val="1800"/>
              <a:buFont typeface="Consolas"/>
              <a:buChar char="▸"/>
            </a:pPr>
            <a:r>
              <a:rPr lang="en-US" sz="1800" b="0" i="0" u="none" strike="noStrike" cap="none">
                <a:solidFill>
                  <a:srgbClr val="1C4587"/>
                </a:solidFill>
                <a:latin typeface="Consolas"/>
                <a:ea typeface="Consolas"/>
                <a:cs typeface="Consolas"/>
                <a:sym typeface="Consolas"/>
              </a:rPr>
              <a:t>m_axi_awvalid / awready</a:t>
            </a:r>
            <a:endParaRPr sz="1800" b="0" i="0" u="none" strike="noStrike" cap="none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478" marR="0" lvl="0" indent="-148294" algn="l" rtl="0">
              <a:spcBef>
                <a:spcPts val="167"/>
              </a:spcBef>
              <a:spcAft>
                <a:spcPts val="0"/>
              </a:spcAft>
              <a:buClr>
                <a:srgbClr val="1C4587"/>
              </a:buClr>
              <a:buSzPts val="1800"/>
              <a:buFont typeface="Consolas"/>
              <a:buChar char="▸"/>
            </a:pPr>
            <a:r>
              <a:rPr lang="en-US" sz="1800" b="0" i="0" u="none" strike="noStrike" cap="none">
                <a:solidFill>
                  <a:srgbClr val="1C4587"/>
                </a:solidFill>
                <a:latin typeface="Consolas"/>
                <a:ea typeface="Consolas"/>
                <a:cs typeface="Consolas"/>
                <a:sym typeface="Consolas"/>
              </a:rPr>
              <a:t>m_axi_wdata</a:t>
            </a:r>
            <a:endParaRPr sz="1800" b="0" i="0" u="none" strike="noStrike" cap="none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478" marR="0" lvl="0" indent="-148294" algn="l" rtl="0">
              <a:spcBef>
                <a:spcPts val="167"/>
              </a:spcBef>
              <a:spcAft>
                <a:spcPts val="0"/>
              </a:spcAft>
              <a:buClr>
                <a:srgbClr val="1C4587"/>
              </a:buClr>
              <a:buSzPts val="1800"/>
              <a:buFont typeface="Consolas"/>
              <a:buChar char="▸"/>
            </a:pPr>
            <a:r>
              <a:rPr lang="en-US" sz="1800" b="0" i="0" u="none" strike="noStrike" cap="none">
                <a:solidFill>
                  <a:srgbClr val="1C4587"/>
                </a:solidFill>
                <a:latin typeface="Consolas"/>
                <a:ea typeface="Consolas"/>
                <a:cs typeface="Consolas"/>
                <a:sym typeface="Consolas"/>
              </a:rPr>
              <a:t>m_axi_wstrb</a:t>
            </a:r>
            <a:endParaRPr sz="1800" b="0" i="0" u="none" strike="noStrike" cap="none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478" marR="0" lvl="0" indent="-148294" algn="l" rtl="0">
              <a:spcBef>
                <a:spcPts val="167"/>
              </a:spcBef>
              <a:spcAft>
                <a:spcPts val="0"/>
              </a:spcAft>
              <a:buClr>
                <a:srgbClr val="1C4587"/>
              </a:buClr>
              <a:buSzPts val="1800"/>
              <a:buFont typeface="Consolas"/>
              <a:buChar char="▸"/>
            </a:pPr>
            <a:r>
              <a:rPr lang="en-US" sz="1800" b="0" i="0" u="none" strike="noStrike" cap="none">
                <a:solidFill>
                  <a:srgbClr val="1C4587"/>
                </a:solidFill>
                <a:latin typeface="Consolas"/>
                <a:ea typeface="Consolas"/>
                <a:cs typeface="Consolas"/>
                <a:sym typeface="Consolas"/>
              </a:rPr>
              <a:t>m_axi_wvalid / wready</a:t>
            </a:r>
            <a:endParaRPr sz="1800" b="0" i="0" u="none" strike="noStrike" cap="none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478" marR="0" lvl="0" indent="-148294" algn="l" rtl="0">
              <a:spcBef>
                <a:spcPts val="167"/>
              </a:spcBef>
              <a:spcAft>
                <a:spcPts val="0"/>
              </a:spcAft>
              <a:buClr>
                <a:srgbClr val="1C4587"/>
              </a:buClr>
              <a:buSzPts val="1800"/>
              <a:buFont typeface="Consolas"/>
              <a:buChar char="▸"/>
            </a:pPr>
            <a:r>
              <a:rPr lang="en-US" sz="1800" b="0" i="0" u="none" strike="noStrike" cap="none">
                <a:solidFill>
                  <a:srgbClr val="1C4587"/>
                </a:solidFill>
                <a:latin typeface="Consolas"/>
                <a:ea typeface="Consolas"/>
                <a:cs typeface="Consolas"/>
                <a:sym typeface="Consolas"/>
              </a:rPr>
              <a:t>m_axi_bvalid / bready</a:t>
            </a:r>
            <a:endParaRPr sz="1800" b="0" i="0" u="none" strike="noStrike" cap="none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478" marR="0" lvl="0" indent="-148294" algn="l" rtl="0">
              <a:spcBef>
                <a:spcPts val="167"/>
              </a:spcBef>
              <a:spcAft>
                <a:spcPts val="0"/>
              </a:spcAft>
              <a:buClr>
                <a:srgbClr val="1C4587"/>
              </a:buClr>
              <a:buSzPts val="1800"/>
              <a:buFont typeface="Consolas"/>
              <a:buChar char="▸"/>
            </a:pPr>
            <a:r>
              <a:rPr lang="en-US" sz="1800" b="0" i="0" u="none" strike="noStrike" cap="none">
                <a:solidFill>
                  <a:srgbClr val="1C4587"/>
                </a:solidFill>
                <a:latin typeface="Consolas"/>
                <a:ea typeface="Consolas"/>
                <a:cs typeface="Consolas"/>
                <a:sym typeface="Consolas"/>
              </a:rPr>
              <a:t>m_axi_araddr</a:t>
            </a:r>
            <a:endParaRPr sz="1800" b="0" i="0" u="none" strike="noStrike" cap="none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478" marR="0" lvl="0" indent="-148294" algn="l" rtl="0">
              <a:spcBef>
                <a:spcPts val="167"/>
              </a:spcBef>
              <a:spcAft>
                <a:spcPts val="0"/>
              </a:spcAft>
              <a:buClr>
                <a:srgbClr val="1C4587"/>
              </a:buClr>
              <a:buSzPts val="1800"/>
              <a:buFont typeface="Consolas"/>
              <a:buChar char="▸"/>
            </a:pPr>
            <a:r>
              <a:rPr lang="en-US" sz="1800" b="0" i="0" u="none" strike="noStrike" cap="none">
                <a:solidFill>
                  <a:srgbClr val="1C4587"/>
                </a:solidFill>
                <a:latin typeface="Consolas"/>
                <a:ea typeface="Consolas"/>
                <a:cs typeface="Consolas"/>
                <a:sym typeface="Consolas"/>
              </a:rPr>
              <a:t>m_axi_arvalid / arready</a:t>
            </a:r>
            <a:endParaRPr sz="1800" b="0" i="0" u="none" strike="noStrike" cap="none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478" marR="0" lvl="0" indent="-148294" algn="l" rtl="0">
              <a:spcBef>
                <a:spcPts val="167"/>
              </a:spcBef>
              <a:spcAft>
                <a:spcPts val="0"/>
              </a:spcAft>
              <a:buClr>
                <a:srgbClr val="1C4587"/>
              </a:buClr>
              <a:buSzPts val="1800"/>
              <a:buFont typeface="Consolas"/>
              <a:buChar char="▸"/>
            </a:pPr>
            <a:r>
              <a:rPr lang="en-US" sz="1800" b="0" i="0" u="none" strike="noStrike" cap="none">
                <a:solidFill>
                  <a:srgbClr val="1C4587"/>
                </a:solidFill>
                <a:latin typeface="Consolas"/>
                <a:ea typeface="Consolas"/>
                <a:cs typeface="Consolas"/>
                <a:sym typeface="Consolas"/>
              </a:rPr>
              <a:t>m_axi_rdata</a:t>
            </a:r>
            <a:endParaRPr sz="1800" b="0" i="0" u="none" strike="noStrike" cap="none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478" marR="0" lvl="0" indent="-148294" algn="l" rtl="0">
              <a:spcBef>
                <a:spcPts val="167"/>
              </a:spcBef>
              <a:spcAft>
                <a:spcPts val="0"/>
              </a:spcAft>
              <a:buClr>
                <a:srgbClr val="1C4587"/>
              </a:buClr>
              <a:buSzPts val="1800"/>
              <a:buFont typeface="Consolas"/>
              <a:buChar char="▸"/>
            </a:pPr>
            <a:r>
              <a:rPr lang="en-US" sz="1800" b="0" i="0" u="none" strike="noStrike" cap="none">
                <a:solidFill>
                  <a:srgbClr val="1C4587"/>
                </a:solidFill>
                <a:latin typeface="Consolas"/>
                <a:ea typeface="Consolas"/>
                <a:cs typeface="Consolas"/>
                <a:sym typeface="Consolas"/>
              </a:rPr>
              <a:t>m_axi_rvalid / rready</a:t>
            </a:r>
            <a:endParaRPr sz="1800" b="0" i="0" u="none" strike="noStrike" cap="none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db004d1183_0_82"/>
          <p:cNvSpPr/>
          <p:nvPr/>
        </p:nvSpPr>
        <p:spPr>
          <a:xfrm>
            <a:off x="12629482" y="2973811"/>
            <a:ext cx="3713400" cy="5660100"/>
          </a:xfrm>
          <a:prstGeom prst="rect">
            <a:avLst/>
          </a:prstGeom>
          <a:solidFill>
            <a:srgbClr val="B8E6E3">
              <a:alpha val="52830"/>
            </a:srgbClr>
          </a:solidFill>
          <a:ln w="42500" cap="flat" cmpd="sng">
            <a:solidFill>
              <a:srgbClr val="5DAD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950" tIns="152950" rIns="152950" bIns="152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73763"/>
              </a:solidFill>
            </a:endParaRPr>
          </a:p>
        </p:txBody>
      </p:sp>
      <p:sp>
        <p:nvSpPr>
          <p:cNvPr id="353" name="Google Shape;353;g3db004d1183_0_82"/>
          <p:cNvSpPr/>
          <p:nvPr/>
        </p:nvSpPr>
        <p:spPr>
          <a:xfrm>
            <a:off x="12629482" y="2973811"/>
            <a:ext cx="3713400" cy="673200"/>
          </a:xfrm>
          <a:prstGeom prst="rect">
            <a:avLst/>
          </a:prstGeom>
          <a:solidFill>
            <a:srgbClr val="117A8F"/>
          </a:solidFill>
          <a:ln w="21250" cap="flat" cmpd="sng">
            <a:solidFill>
              <a:srgbClr val="117A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950" tIns="152950" rIns="152950" bIns="152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g3db004d1183_0_82"/>
          <p:cNvSpPr/>
          <p:nvPr/>
        </p:nvSpPr>
        <p:spPr>
          <a:xfrm>
            <a:off x="12629482" y="2973811"/>
            <a:ext cx="37134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Calibri"/>
              <a:buNone/>
            </a:pPr>
            <a:r>
              <a:rPr lang="en-US" sz="21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SLAVES  (×3)</a:t>
            </a:r>
            <a:endParaRPr sz="21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db004d1183_0_82"/>
          <p:cNvSpPr/>
          <p:nvPr/>
        </p:nvSpPr>
        <p:spPr>
          <a:xfrm>
            <a:off x="12823215" y="3799863"/>
            <a:ext cx="3326100" cy="1468800"/>
          </a:xfrm>
          <a:prstGeom prst="rect">
            <a:avLst/>
          </a:prstGeom>
          <a:solidFill>
            <a:srgbClr val="1F618D">
              <a:alpha val="40000"/>
            </a:srgbClr>
          </a:solidFill>
          <a:ln w="25450" cap="flat" cmpd="sng">
            <a:solidFill>
              <a:srgbClr val="1F618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950" tIns="152950" rIns="152950" bIns="152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73763"/>
              </a:solidFill>
            </a:endParaRPr>
          </a:p>
        </p:txBody>
      </p:sp>
      <p:sp>
        <p:nvSpPr>
          <p:cNvPr id="356" name="Google Shape;356;g3db004d1183_0_82"/>
          <p:cNvSpPr/>
          <p:nvPr/>
        </p:nvSpPr>
        <p:spPr>
          <a:xfrm>
            <a:off x="12920082" y="3876349"/>
            <a:ext cx="31317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7"/>
              <a:buFont typeface="Calibri"/>
              <a:buNone/>
            </a:pPr>
            <a:r>
              <a:rPr lang="en-US" sz="1800" b="1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S0: ROM</a:t>
            </a:r>
            <a:endParaRPr sz="1800" b="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g3db004d1183_0_82"/>
          <p:cNvSpPr/>
          <p:nvPr/>
        </p:nvSpPr>
        <p:spPr>
          <a:xfrm>
            <a:off x="12920082" y="4365861"/>
            <a:ext cx="3131700" cy="7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CEF"/>
              </a:buClr>
              <a:buSzPts val="1506"/>
              <a:buFont typeface="Consolas"/>
              <a:buNone/>
            </a:pPr>
            <a:r>
              <a:rPr lang="en-US" sz="1800" b="0" i="0" u="none" strike="noStrike" cap="none">
                <a:solidFill>
                  <a:srgbClr val="073763"/>
                </a:solidFill>
                <a:latin typeface="Consolas"/>
                <a:ea typeface="Consolas"/>
                <a:cs typeface="Consolas"/>
                <a:sym typeface="Consolas"/>
              </a:rPr>
              <a:t>rom.v</a:t>
            </a:r>
            <a:endParaRPr sz="1800" b="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CEF"/>
              </a:buClr>
              <a:buSzPts val="1506"/>
              <a:buFont typeface="Consolas"/>
              <a:buNone/>
            </a:pPr>
            <a:r>
              <a:rPr lang="en-US" sz="1800" b="0" i="0" u="none" strike="noStrike" cap="none">
                <a:solidFill>
                  <a:srgbClr val="073763"/>
                </a:solidFill>
                <a:latin typeface="Consolas"/>
                <a:ea typeface="Consolas"/>
                <a:cs typeface="Consolas"/>
                <a:sym typeface="Consolas"/>
              </a:rPr>
              <a:t>0x0000_0000</a:t>
            </a:r>
            <a:endParaRPr sz="1800" b="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db004d1183_0_82"/>
          <p:cNvSpPr/>
          <p:nvPr/>
        </p:nvSpPr>
        <p:spPr>
          <a:xfrm>
            <a:off x="12823215" y="5375480"/>
            <a:ext cx="3326100" cy="1468800"/>
          </a:xfrm>
          <a:prstGeom prst="rect">
            <a:avLst/>
          </a:prstGeom>
          <a:solidFill>
            <a:srgbClr val="1A7A8F">
              <a:alpha val="40000"/>
            </a:srgbClr>
          </a:solidFill>
          <a:ln w="25450" cap="flat" cmpd="sng">
            <a:solidFill>
              <a:srgbClr val="1A7A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950" tIns="152950" rIns="152950" bIns="152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73763"/>
              </a:solidFill>
            </a:endParaRPr>
          </a:p>
        </p:txBody>
      </p:sp>
      <p:sp>
        <p:nvSpPr>
          <p:cNvPr id="359" name="Google Shape;359;g3db004d1183_0_82"/>
          <p:cNvSpPr/>
          <p:nvPr/>
        </p:nvSpPr>
        <p:spPr>
          <a:xfrm>
            <a:off x="12920082" y="5451966"/>
            <a:ext cx="31317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7"/>
              <a:buFont typeface="Calibri"/>
              <a:buNone/>
            </a:pPr>
            <a:r>
              <a:rPr lang="en-US" sz="1800" b="1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S1: SRAM</a:t>
            </a:r>
            <a:endParaRPr sz="1800" b="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3db004d1183_0_82"/>
          <p:cNvSpPr/>
          <p:nvPr/>
        </p:nvSpPr>
        <p:spPr>
          <a:xfrm>
            <a:off x="12920082" y="5941478"/>
            <a:ext cx="3131700" cy="7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CEF"/>
              </a:buClr>
              <a:buSzPts val="1506"/>
              <a:buFont typeface="Consolas"/>
              <a:buNone/>
            </a:pPr>
            <a:r>
              <a:rPr lang="en-US" sz="1800" b="0" i="0" u="none" strike="noStrike" cap="none">
                <a:solidFill>
                  <a:srgbClr val="073763"/>
                </a:solidFill>
                <a:latin typeface="Consolas"/>
                <a:ea typeface="Consolas"/>
                <a:cs typeface="Consolas"/>
                <a:sym typeface="Consolas"/>
              </a:rPr>
              <a:t>sram.v</a:t>
            </a:r>
            <a:endParaRPr sz="1800" b="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CEF"/>
              </a:buClr>
              <a:buSzPts val="1506"/>
              <a:buFont typeface="Consolas"/>
              <a:buNone/>
            </a:pPr>
            <a:r>
              <a:rPr lang="en-US" sz="1800" b="0" i="0" u="none" strike="noStrike" cap="none">
                <a:solidFill>
                  <a:srgbClr val="073763"/>
                </a:solidFill>
                <a:latin typeface="Consolas"/>
                <a:ea typeface="Consolas"/>
                <a:cs typeface="Consolas"/>
                <a:sym typeface="Consolas"/>
              </a:rPr>
              <a:t>0x0001_0000</a:t>
            </a:r>
            <a:endParaRPr sz="1800" b="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3db004d1183_0_82"/>
          <p:cNvSpPr/>
          <p:nvPr/>
        </p:nvSpPr>
        <p:spPr>
          <a:xfrm>
            <a:off x="12823215" y="6951097"/>
            <a:ext cx="3326100" cy="1468800"/>
          </a:xfrm>
          <a:prstGeom prst="rect">
            <a:avLst/>
          </a:prstGeom>
          <a:solidFill>
            <a:srgbClr val="5DADE2">
              <a:alpha val="40000"/>
            </a:srgbClr>
          </a:solidFill>
          <a:ln w="25450" cap="flat" cmpd="sng">
            <a:solidFill>
              <a:srgbClr val="5DAD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950" tIns="152950" rIns="152950" bIns="152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73763"/>
              </a:solidFill>
            </a:endParaRPr>
          </a:p>
        </p:txBody>
      </p:sp>
      <p:sp>
        <p:nvSpPr>
          <p:cNvPr id="362" name="Google Shape;362;g3db004d1183_0_82"/>
          <p:cNvSpPr/>
          <p:nvPr/>
        </p:nvSpPr>
        <p:spPr>
          <a:xfrm>
            <a:off x="12920082" y="7027583"/>
            <a:ext cx="31317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7"/>
              <a:buFont typeface="Calibri"/>
              <a:buNone/>
            </a:pPr>
            <a:r>
              <a:rPr lang="en-US" sz="1800" b="1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S2: UART</a:t>
            </a:r>
            <a:endParaRPr sz="1800" b="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g3db004d1183_0_82"/>
          <p:cNvSpPr/>
          <p:nvPr/>
        </p:nvSpPr>
        <p:spPr>
          <a:xfrm>
            <a:off x="12920082" y="7517095"/>
            <a:ext cx="3131700" cy="7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CEF"/>
              </a:buClr>
              <a:buSzPts val="1506"/>
              <a:buFont typeface="Consolas"/>
              <a:buNone/>
            </a:pPr>
            <a:r>
              <a:rPr lang="en-US" sz="1800" b="0" i="0" u="none" strike="noStrike" cap="none">
                <a:solidFill>
                  <a:srgbClr val="073763"/>
                </a:solidFill>
                <a:latin typeface="Consolas"/>
                <a:ea typeface="Consolas"/>
                <a:cs typeface="Consolas"/>
                <a:sym typeface="Consolas"/>
              </a:rPr>
              <a:t>uart_axi.v</a:t>
            </a:r>
            <a:endParaRPr sz="1800" b="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CEF"/>
              </a:buClr>
              <a:buSzPts val="1506"/>
              <a:buFont typeface="Consolas"/>
              <a:buNone/>
            </a:pPr>
            <a:r>
              <a:rPr lang="en-US" sz="1800" b="0" i="0" u="none" strike="noStrike" cap="none">
                <a:solidFill>
                  <a:srgbClr val="073763"/>
                </a:solidFill>
                <a:latin typeface="Consolas"/>
                <a:ea typeface="Consolas"/>
                <a:cs typeface="Consolas"/>
                <a:sym typeface="Consolas"/>
              </a:rPr>
              <a:t>0x1000_0000</a:t>
            </a:r>
            <a:endParaRPr sz="1800" b="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4" name="Google Shape;364;g3db004d1183_0_82"/>
          <p:cNvCxnSpPr/>
          <p:nvPr/>
        </p:nvCxnSpPr>
        <p:spPr>
          <a:xfrm>
            <a:off x="4993148" y="3310351"/>
            <a:ext cx="7572000" cy="0"/>
          </a:xfrm>
          <a:prstGeom prst="straightConnector1">
            <a:avLst/>
          </a:prstGeom>
          <a:noFill/>
          <a:ln w="46700" cap="flat" cmpd="sng">
            <a:solidFill>
              <a:srgbClr val="1A5276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65" name="Google Shape;365;g3db004d1183_0_82"/>
          <p:cNvSpPr/>
          <p:nvPr/>
        </p:nvSpPr>
        <p:spPr>
          <a:xfrm>
            <a:off x="7745780" y="3073244"/>
            <a:ext cx="678000" cy="458700"/>
          </a:xfrm>
          <a:prstGeom prst="rect">
            <a:avLst/>
          </a:prstGeom>
          <a:solidFill>
            <a:srgbClr val="1A5276"/>
          </a:solidFill>
          <a:ln w="21250" cap="flat" cmpd="sng">
            <a:solidFill>
              <a:srgbClr val="1A52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950" tIns="152950" rIns="152950" bIns="152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g3db004d1183_0_82"/>
          <p:cNvSpPr/>
          <p:nvPr/>
        </p:nvSpPr>
        <p:spPr>
          <a:xfrm>
            <a:off x="7745780" y="3073244"/>
            <a:ext cx="678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73"/>
              <a:buFont typeface="Calibri"/>
              <a:buNone/>
            </a:pPr>
            <a:r>
              <a:rPr lang="en-US" sz="1673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</a:t>
            </a:r>
            <a:endParaRPr sz="167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db004d1183_0_82"/>
          <p:cNvSpPr/>
          <p:nvPr/>
        </p:nvSpPr>
        <p:spPr>
          <a:xfrm>
            <a:off x="8553003" y="2977766"/>
            <a:ext cx="27444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589"/>
              <a:buFont typeface="Calibri"/>
              <a:buNone/>
            </a:pPr>
            <a:r>
              <a:rPr lang="en-US" sz="1589" b="0" i="0" u="none" strike="noStrike" cap="non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Write Address</a:t>
            </a:r>
            <a:endParaRPr sz="158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8" name="Google Shape;368;g3db004d1183_0_82"/>
          <p:cNvCxnSpPr/>
          <p:nvPr/>
        </p:nvCxnSpPr>
        <p:spPr>
          <a:xfrm>
            <a:off x="4993148" y="4075213"/>
            <a:ext cx="7572000" cy="0"/>
          </a:xfrm>
          <a:prstGeom prst="straightConnector1">
            <a:avLst/>
          </a:prstGeom>
          <a:noFill/>
          <a:ln w="46700" cap="flat" cmpd="sng">
            <a:solidFill>
              <a:srgbClr val="1F618D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69" name="Google Shape;369;g3db004d1183_0_82"/>
          <p:cNvSpPr/>
          <p:nvPr/>
        </p:nvSpPr>
        <p:spPr>
          <a:xfrm>
            <a:off x="7745780" y="3838106"/>
            <a:ext cx="678000" cy="458700"/>
          </a:xfrm>
          <a:prstGeom prst="rect">
            <a:avLst/>
          </a:prstGeom>
          <a:solidFill>
            <a:srgbClr val="1F618D"/>
          </a:solidFill>
          <a:ln w="21250" cap="flat" cmpd="sng">
            <a:solidFill>
              <a:srgbClr val="1F618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950" tIns="152950" rIns="152950" bIns="152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g3db004d1183_0_82"/>
          <p:cNvSpPr/>
          <p:nvPr/>
        </p:nvSpPr>
        <p:spPr>
          <a:xfrm>
            <a:off x="7745780" y="3838106"/>
            <a:ext cx="678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73"/>
              <a:buFont typeface="Calibri"/>
              <a:buNone/>
            </a:pPr>
            <a:r>
              <a:rPr lang="en-US" sz="1673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sz="167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3db004d1183_0_82"/>
          <p:cNvSpPr/>
          <p:nvPr/>
        </p:nvSpPr>
        <p:spPr>
          <a:xfrm>
            <a:off x="8553003" y="3742616"/>
            <a:ext cx="27444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589"/>
              <a:buFont typeface="Calibri"/>
              <a:buNone/>
            </a:pPr>
            <a:r>
              <a:rPr lang="en-US" sz="1589" b="0" i="0" u="none" strike="noStrike" cap="non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Write Data</a:t>
            </a:r>
            <a:endParaRPr sz="158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2" name="Google Shape;372;g3db004d1183_0_82"/>
          <p:cNvCxnSpPr/>
          <p:nvPr/>
        </p:nvCxnSpPr>
        <p:spPr>
          <a:xfrm>
            <a:off x="4993148" y="4840076"/>
            <a:ext cx="7572000" cy="0"/>
          </a:xfrm>
          <a:prstGeom prst="straightConnector1">
            <a:avLst/>
          </a:prstGeom>
          <a:noFill/>
          <a:ln w="46700" cap="flat" cmpd="sng">
            <a:solidFill>
              <a:srgbClr val="2980B9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373" name="Google Shape;373;g3db004d1183_0_82"/>
          <p:cNvSpPr/>
          <p:nvPr/>
        </p:nvSpPr>
        <p:spPr>
          <a:xfrm>
            <a:off x="9134204" y="4602969"/>
            <a:ext cx="678000" cy="458700"/>
          </a:xfrm>
          <a:prstGeom prst="rect">
            <a:avLst/>
          </a:prstGeom>
          <a:solidFill>
            <a:srgbClr val="2980B9"/>
          </a:solidFill>
          <a:ln w="2125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950" tIns="152950" rIns="152950" bIns="152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g3db004d1183_0_82"/>
          <p:cNvSpPr/>
          <p:nvPr/>
        </p:nvSpPr>
        <p:spPr>
          <a:xfrm>
            <a:off x="9134204" y="4602969"/>
            <a:ext cx="678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73"/>
              <a:buFont typeface="Calibri"/>
              <a:buNone/>
            </a:pPr>
            <a:r>
              <a:rPr lang="en-US" sz="1673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67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db004d1183_0_82"/>
          <p:cNvSpPr/>
          <p:nvPr/>
        </p:nvSpPr>
        <p:spPr>
          <a:xfrm>
            <a:off x="6228200" y="4507478"/>
            <a:ext cx="27444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589"/>
              <a:buFont typeface="Calibri"/>
              <a:buNone/>
            </a:pPr>
            <a:r>
              <a:rPr lang="en-US" sz="1589" b="0" i="0" u="none" strike="noStrike" cap="non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Write Response</a:t>
            </a:r>
            <a:endParaRPr sz="158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6" name="Google Shape;376;g3db004d1183_0_82"/>
          <p:cNvCxnSpPr/>
          <p:nvPr/>
        </p:nvCxnSpPr>
        <p:spPr>
          <a:xfrm>
            <a:off x="4993148" y="5604939"/>
            <a:ext cx="7572000" cy="0"/>
          </a:xfrm>
          <a:prstGeom prst="straightConnector1">
            <a:avLst/>
          </a:prstGeom>
          <a:noFill/>
          <a:ln w="46700" cap="flat" cmpd="sng">
            <a:solidFill>
              <a:srgbClr val="117A8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77" name="Google Shape;377;g3db004d1183_0_82"/>
          <p:cNvSpPr/>
          <p:nvPr/>
        </p:nvSpPr>
        <p:spPr>
          <a:xfrm>
            <a:off x="7745780" y="5367831"/>
            <a:ext cx="678000" cy="458700"/>
          </a:xfrm>
          <a:prstGeom prst="rect">
            <a:avLst/>
          </a:prstGeom>
          <a:solidFill>
            <a:srgbClr val="117A8F"/>
          </a:solidFill>
          <a:ln w="21250" cap="flat" cmpd="sng">
            <a:solidFill>
              <a:srgbClr val="117A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950" tIns="152950" rIns="152950" bIns="152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g3db004d1183_0_82"/>
          <p:cNvSpPr/>
          <p:nvPr/>
        </p:nvSpPr>
        <p:spPr>
          <a:xfrm>
            <a:off x="7745780" y="5367831"/>
            <a:ext cx="678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73"/>
              <a:buFont typeface="Calibri"/>
              <a:buNone/>
            </a:pPr>
            <a:r>
              <a:rPr lang="en-US" sz="1673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</a:t>
            </a:r>
            <a:endParaRPr sz="167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g3db004d1183_0_82"/>
          <p:cNvSpPr/>
          <p:nvPr/>
        </p:nvSpPr>
        <p:spPr>
          <a:xfrm>
            <a:off x="8553003" y="5272328"/>
            <a:ext cx="27444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589"/>
              <a:buFont typeface="Calibri"/>
              <a:buNone/>
            </a:pPr>
            <a:r>
              <a:rPr lang="en-US" sz="1589" b="0" i="0" u="none" strike="noStrike" cap="non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Read Address</a:t>
            </a:r>
            <a:endParaRPr sz="158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0" name="Google Shape;380;g3db004d1183_0_82"/>
          <p:cNvCxnSpPr/>
          <p:nvPr/>
        </p:nvCxnSpPr>
        <p:spPr>
          <a:xfrm>
            <a:off x="4993148" y="6369801"/>
            <a:ext cx="7572000" cy="0"/>
          </a:xfrm>
          <a:prstGeom prst="straightConnector1">
            <a:avLst/>
          </a:prstGeom>
          <a:noFill/>
          <a:ln w="46700" cap="flat" cmpd="sng">
            <a:solidFill>
              <a:srgbClr val="5DADE2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381" name="Google Shape;381;g3db004d1183_0_82"/>
          <p:cNvSpPr/>
          <p:nvPr/>
        </p:nvSpPr>
        <p:spPr>
          <a:xfrm>
            <a:off x="9134204" y="6132694"/>
            <a:ext cx="678000" cy="458700"/>
          </a:xfrm>
          <a:prstGeom prst="rect">
            <a:avLst/>
          </a:prstGeom>
          <a:solidFill>
            <a:srgbClr val="5DADE2"/>
          </a:solidFill>
          <a:ln w="21250" cap="flat" cmpd="sng">
            <a:solidFill>
              <a:srgbClr val="5DAD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950" tIns="152950" rIns="152950" bIns="152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g3db004d1183_0_82"/>
          <p:cNvSpPr/>
          <p:nvPr/>
        </p:nvSpPr>
        <p:spPr>
          <a:xfrm>
            <a:off x="9134204" y="6132694"/>
            <a:ext cx="678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73"/>
              <a:buFont typeface="Calibri"/>
              <a:buNone/>
            </a:pPr>
            <a:r>
              <a:rPr lang="en-US" sz="1673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sz="167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g3db004d1183_0_82"/>
          <p:cNvSpPr/>
          <p:nvPr/>
        </p:nvSpPr>
        <p:spPr>
          <a:xfrm>
            <a:off x="6228200" y="6041016"/>
            <a:ext cx="27444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589"/>
              <a:buFont typeface="Calibri"/>
              <a:buNone/>
            </a:pPr>
            <a:r>
              <a:rPr lang="en-US" sz="1589" b="0" i="0" u="none" strike="noStrike" cap="non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Read Data</a:t>
            </a:r>
            <a:endParaRPr sz="158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db004d1183_0_82"/>
          <p:cNvSpPr/>
          <p:nvPr/>
        </p:nvSpPr>
        <p:spPr>
          <a:xfrm>
            <a:off x="7003134" y="6905205"/>
            <a:ext cx="3552000" cy="948600"/>
          </a:xfrm>
          <a:prstGeom prst="rect">
            <a:avLst/>
          </a:prstGeom>
          <a:solidFill>
            <a:srgbClr val="D6EAF8"/>
          </a:solidFill>
          <a:ln w="2545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950" tIns="152950" rIns="152950" bIns="152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85" name="Google Shape;385;g3db004d1183_0_82"/>
          <p:cNvSpPr/>
          <p:nvPr/>
        </p:nvSpPr>
        <p:spPr>
          <a:xfrm>
            <a:off x="7035423" y="6935799"/>
            <a:ext cx="3487200" cy="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950" tIns="76450" rIns="152950" bIns="764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1422"/>
              <a:buFont typeface="Consolas"/>
              <a:buNone/>
            </a:pPr>
            <a:r>
              <a:rPr lang="en-US" sz="1600" b="1" i="0" u="none" strike="noStrike" cap="none">
                <a:solidFill>
                  <a:srgbClr val="2980B9"/>
                </a:solidFill>
                <a:latin typeface="Consolas"/>
                <a:ea typeface="Consolas"/>
                <a:cs typeface="Consolas"/>
                <a:sym typeface="Consolas"/>
              </a:rPr>
              <a:t>axi_lite_interconnect.v</a:t>
            </a:r>
            <a:br>
              <a:rPr lang="en-US" sz="1600" b="1" i="0" u="none" strike="noStrike" cap="none">
                <a:solidFill>
                  <a:srgbClr val="2980B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 b="0" i="0" u="none" strike="noStrike" cap="none">
                <a:solidFill>
                  <a:srgbClr val="1A2E4A"/>
                </a:solidFill>
                <a:latin typeface="Consolas"/>
                <a:ea typeface="Consolas"/>
                <a:cs typeface="Consolas"/>
                <a:sym typeface="Consolas"/>
              </a:rPr>
              <a:t>axi_decoder.v  (one-hot sel)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db004d1183_0_82"/>
          <p:cNvSpPr/>
          <p:nvPr/>
        </p:nvSpPr>
        <p:spPr>
          <a:xfrm>
            <a:off x="12629482" y="8740875"/>
            <a:ext cx="3713400" cy="917700"/>
          </a:xfrm>
          <a:prstGeom prst="rect">
            <a:avLst/>
          </a:prstGeom>
          <a:solidFill>
            <a:srgbClr val="EAF4FB"/>
          </a:solidFill>
          <a:ln w="21250" cap="flat" cmpd="sng">
            <a:solidFill>
              <a:srgbClr val="5DAD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950" tIns="152950" rIns="152950" bIns="152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87" name="Google Shape;387;g3db004d1183_0_82"/>
          <p:cNvSpPr/>
          <p:nvPr/>
        </p:nvSpPr>
        <p:spPr>
          <a:xfrm>
            <a:off x="12790926" y="8771470"/>
            <a:ext cx="3390300" cy="8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950" tIns="76450" rIns="152950" bIns="764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1506"/>
              <a:buFont typeface="Consolas"/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Consolas"/>
                <a:ea typeface="Consolas"/>
                <a:cs typeface="Consolas"/>
                <a:sym typeface="Consolas"/>
              </a:rPr>
              <a:t>wr_sel / rd_sel</a:t>
            </a:r>
            <a:br>
              <a:rPr lang="en-US" sz="1800" b="1" i="0" u="none" strike="noStrike" cap="none">
                <a:solidFill>
                  <a:srgbClr val="2980B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 b="0" i="0" u="none" strike="noStrike" cap="none">
                <a:solidFill>
                  <a:srgbClr val="1A2E4A"/>
                </a:solidFill>
                <a:latin typeface="Consolas"/>
                <a:ea typeface="Consolas"/>
                <a:cs typeface="Consolas"/>
                <a:sym typeface="Consolas"/>
              </a:rPr>
              <a:t>001=ROM · 010=SRAM · 100=UART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e6c48d04c6_0_0"/>
          <p:cNvSpPr/>
          <p:nvPr/>
        </p:nvSpPr>
        <p:spPr>
          <a:xfrm>
            <a:off x="678700" y="942149"/>
            <a:ext cx="13229100" cy="13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85"/>
              <a:buFont typeface="Calibri"/>
              <a:buNone/>
            </a:pPr>
            <a:r>
              <a:rPr lang="en-US" sz="4085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AXI4-Lite in THIS SoC — 1 Master, 3 Slaves</a:t>
            </a:r>
            <a:endParaRPr sz="40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e6c48d04c6_0_0"/>
          <p:cNvSpPr/>
          <p:nvPr/>
        </p:nvSpPr>
        <p:spPr>
          <a:xfrm>
            <a:off x="5834531" y="2296550"/>
            <a:ext cx="4992300" cy="1242000"/>
          </a:xfrm>
          <a:prstGeom prst="rect">
            <a:avLst/>
          </a:prstGeom>
          <a:solidFill>
            <a:srgbClr val="2176AE"/>
          </a:solidFill>
          <a:ln w="21625" cap="flat" cmpd="sng">
            <a:solidFill>
              <a:srgbClr val="2176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5625" tIns="155625" rIns="155625" bIns="1556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95" name="Google Shape;395;g3e6c48d04c6_0_0"/>
          <p:cNvSpPr/>
          <p:nvPr/>
        </p:nvSpPr>
        <p:spPr>
          <a:xfrm>
            <a:off x="5834531" y="2296550"/>
            <a:ext cx="4992300" cy="12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2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CPU-to-AXI Bridge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2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(top.v, lines 91–224)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3e6c48d04c6_0_0"/>
          <p:cNvSpPr/>
          <p:nvPr/>
        </p:nvSpPr>
        <p:spPr>
          <a:xfrm>
            <a:off x="8214299" y="3571991"/>
            <a:ext cx="233100" cy="910800"/>
          </a:xfrm>
          <a:prstGeom prst="rect">
            <a:avLst/>
          </a:prstGeom>
          <a:solidFill>
            <a:srgbClr val="4A9CC9"/>
          </a:solidFill>
          <a:ln w="21625" cap="flat" cmpd="sng">
            <a:solidFill>
              <a:srgbClr val="4A9C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5625" tIns="155625" rIns="155625" bIns="1556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97" name="Google Shape;397;g3e6c48d04c6_0_0"/>
          <p:cNvSpPr/>
          <p:nvPr/>
        </p:nvSpPr>
        <p:spPr>
          <a:xfrm>
            <a:off x="4836027" y="4483020"/>
            <a:ext cx="6989700" cy="1076700"/>
          </a:xfrm>
          <a:prstGeom prst="rect">
            <a:avLst/>
          </a:prstGeom>
          <a:solidFill>
            <a:srgbClr val="4A9CC9"/>
          </a:solidFill>
          <a:ln w="21625" cap="flat" cmpd="sng">
            <a:solidFill>
              <a:srgbClr val="4A9C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5625" tIns="155625" rIns="155625" bIns="1556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98" name="Google Shape;398;g3e6c48d04c6_0_0"/>
          <p:cNvSpPr/>
          <p:nvPr/>
        </p:nvSpPr>
        <p:spPr>
          <a:xfrm>
            <a:off x="4836027" y="4483020"/>
            <a:ext cx="6989700" cy="10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2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AXI-Lite Interconnect  (axi_lite_interconnect.v — 227 lines)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2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Address Decoder (axi_decoder.v — 165 lines)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3e6c48d04c6_0_0"/>
          <p:cNvSpPr/>
          <p:nvPr/>
        </p:nvSpPr>
        <p:spPr>
          <a:xfrm>
            <a:off x="3231660" y="5609389"/>
            <a:ext cx="186900" cy="695700"/>
          </a:xfrm>
          <a:prstGeom prst="rect">
            <a:avLst/>
          </a:prstGeom>
          <a:solidFill>
            <a:srgbClr val="4A9CC9"/>
          </a:solidFill>
          <a:ln w="21625" cap="flat" cmpd="sng">
            <a:solidFill>
              <a:srgbClr val="4A9C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5625" tIns="155625" rIns="155625" bIns="1556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00" name="Google Shape;400;g3e6c48d04c6_0_0"/>
          <p:cNvSpPr/>
          <p:nvPr/>
        </p:nvSpPr>
        <p:spPr>
          <a:xfrm>
            <a:off x="2173350" y="6305078"/>
            <a:ext cx="2496300" cy="1159500"/>
          </a:xfrm>
          <a:prstGeom prst="rect">
            <a:avLst/>
          </a:prstGeom>
          <a:solidFill>
            <a:srgbClr val="D6EEFA"/>
          </a:solidFill>
          <a:ln w="21625" cap="flat" cmpd="sng">
            <a:solidFill>
              <a:srgbClr val="4A9C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5625" tIns="155625" rIns="155625" bIns="1556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01" name="Google Shape;401;g3e6c48d04c6_0_0"/>
          <p:cNvSpPr/>
          <p:nvPr/>
        </p:nvSpPr>
        <p:spPr>
          <a:xfrm>
            <a:off x="2173350" y="6305078"/>
            <a:ext cx="2496300" cy="11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2B45"/>
              </a:buClr>
              <a:buSzPts val="1702"/>
              <a:buFont typeface="Calibri"/>
              <a:buNone/>
            </a:pPr>
            <a:r>
              <a:rPr lang="en-US" sz="1800" b="1" i="0" u="none" strike="noStrike" cap="none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S0: ROM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2B45"/>
              </a:buClr>
              <a:buSzPts val="1702"/>
              <a:buFont typeface="Calibri"/>
              <a:buNone/>
            </a:pPr>
            <a:r>
              <a:rPr lang="en-US" sz="1800" b="1" i="0" u="none" strike="noStrike" cap="none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(rom.v)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g3e6c48d04c6_0_0"/>
          <p:cNvSpPr/>
          <p:nvPr/>
        </p:nvSpPr>
        <p:spPr>
          <a:xfrm>
            <a:off x="8463925" y="5609383"/>
            <a:ext cx="199800" cy="695700"/>
          </a:xfrm>
          <a:prstGeom prst="rect">
            <a:avLst/>
          </a:prstGeom>
          <a:solidFill>
            <a:srgbClr val="4A9CC9"/>
          </a:solidFill>
          <a:ln w="21625" cap="flat" cmpd="sng">
            <a:solidFill>
              <a:srgbClr val="4A9C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5625" tIns="155625" rIns="155625" bIns="1556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03" name="Google Shape;403;g3e6c48d04c6_0_0"/>
          <p:cNvSpPr/>
          <p:nvPr/>
        </p:nvSpPr>
        <p:spPr>
          <a:xfrm>
            <a:off x="7332287" y="6305078"/>
            <a:ext cx="2496300" cy="1159500"/>
          </a:xfrm>
          <a:prstGeom prst="rect">
            <a:avLst/>
          </a:prstGeom>
          <a:solidFill>
            <a:srgbClr val="D6EEFA"/>
          </a:solidFill>
          <a:ln w="21625" cap="flat" cmpd="sng">
            <a:solidFill>
              <a:srgbClr val="4A9C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5625" tIns="155625" rIns="155625" bIns="1556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04" name="Google Shape;404;g3e6c48d04c6_0_0"/>
          <p:cNvSpPr/>
          <p:nvPr/>
        </p:nvSpPr>
        <p:spPr>
          <a:xfrm>
            <a:off x="7332287" y="6305078"/>
            <a:ext cx="2496300" cy="11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2B45"/>
              </a:buClr>
              <a:buSzPts val="1702"/>
              <a:buFont typeface="Calibri"/>
              <a:buNone/>
            </a:pPr>
            <a:r>
              <a:rPr lang="en-US" sz="1800" b="1" i="0" u="none" strike="noStrike" cap="none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S1: SRAM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2B45"/>
              </a:buClr>
              <a:buSzPts val="1702"/>
              <a:buFont typeface="Calibri"/>
              <a:buNone/>
            </a:pPr>
            <a:r>
              <a:rPr lang="en-US" sz="1800" b="1" i="0" u="none" strike="noStrike" cap="none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(sram.v)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e6c48d04c6_0_0"/>
          <p:cNvSpPr/>
          <p:nvPr/>
        </p:nvSpPr>
        <p:spPr>
          <a:xfrm>
            <a:off x="13622862" y="5609383"/>
            <a:ext cx="199800" cy="695700"/>
          </a:xfrm>
          <a:prstGeom prst="rect">
            <a:avLst/>
          </a:prstGeom>
          <a:solidFill>
            <a:srgbClr val="4A9CC9"/>
          </a:solidFill>
          <a:ln w="21625" cap="flat" cmpd="sng">
            <a:solidFill>
              <a:srgbClr val="4A9C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5625" tIns="155625" rIns="155625" bIns="1556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06" name="Google Shape;406;g3e6c48d04c6_0_0"/>
          <p:cNvSpPr/>
          <p:nvPr/>
        </p:nvSpPr>
        <p:spPr>
          <a:xfrm>
            <a:off x="12491224" y="6305078"/>
            <a:ext cx="2496300" cy="1159500"/>
          </a:xfrm>
          <a:prstGeom prst="rect">
            <a:avLst/>
          </a:prstGeom>
          <a:solidFill>
            <a:srgbClr val="D6EEFA"/>
          </a:solidFill>
          <a:ln w="21625" cap="flat" cmpd="sng">
            <a:solidFill>
              <a:srgbClr val="4A9C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5625" tIns="155625" rIns="155625" bIns="1556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07" name="Google Shape;407;g3e6c48d04c6_0_0"/>
          <p:cNvSpPr/>
          <p:nvPr/>
        </p:nvSpPr>
        <p:spPr>
          <a:xfrm>
            <a:off x="12491224" y="6305078"/>
            <a:ext cx="2496300" cy="11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2B45"/>
              </a:buClr>
              <a:buSzPts val="1702"/>
              <a:buFont typeface="Calibri"/>
              <a:buNone/>
            </a:pPr>
            <a:r>
              <a:rPr lang="en-US" sz="1800" b="1" i="0" u="none" strike="noStrike" cap="none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S2: UART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2B45"/>
              </a:buClr>
              <a:buSzPts val="1702"/>
              <a:buFont typeface="Calibri"/>
              <a:buNone/>
            </a:pPr>
            <a:r>
              <a:rPr lang="en-US" sz="1800" b="1" i="0" u="none" strike="noStrike" cap="none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(uart_axi.v)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g3e6c48d04c6_0_0"/>
          <p:cNvSpPr/>
          <p:nvPr/>
        </p:nvSpPr>
        <p:spPr>
          <a:xfrm>
            <a:off x="2289842" y="5592819"/>
            <a:ext cx="12065700" cy="198900"/>
          </a:xfrm>
          <a:prstGeom prst="rect">
            <a:avLst/>
          </a:prstGeom>
          <a:solidFill>
            <a:srgbClr val="4A9CC9"/>
          </a:solidFill>
          <a:ln w="21625" cap="flat" cmpd="sng">
            <a:solidFill>
              <a:srgbClr val="4A9C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5625" tIns="155625" rIns="155625" bIns="1556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aphicFrame>
        <p:nvGraphicFramePr>
          <p:cNvPr id="409" name="Google Shape;409;g3e6c48d04c6_0_0"/>
          <p:cNvGraphicFramePr/>
          <p:nvPr/>
        </p:nvGraphicFramePr>
        <p:xfrm>
          <a:off x="1000470" y="8004232"/>
          <a:ext cx="6989700" cy="1959250"/>
        </p:xfrm>
        <a:graphic>
          <a:graphicData uri="http://schemas.openxmlformats.org/drawingml/2006/table">
            <a:tbl>
              <a:tblPr>
                <a:noFill/>
                <a:tableStyleId>{523E13C5-BB17-412C-A7E0-655E00E05CE3}</a:tableStyleId>
              </a:tblPr>
              <a:tblGrid>
                <a:gridCol w="254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7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FFFF"/>
                          </a:solidFill>
                        </a:rPr>
                        <a:t>Address Range</a:t>
                      </a:r>
                      <a:endParaRPr sz="16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176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FFFF"/>
                          </a:solidFill>
                        </a:rPr>
                        <a:t>Slave</a:t>
                      </a:r>
                      <a:endParaRPr sz="16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176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FFFF"/>
                          </a:solidFill>
                        </a:rPr>
                        <a:t>casez Pattern</a:t>
                      </a:r>
                      <a:endParaRPr sz="16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176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</a:rPr>
                        <a:t>0x0000_????</a:t>
                      </a:r>
                      <a:endParaRPr sz="16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</a:rPr>
                        <a:t>S0: ROM</a:t>
                      </a:r>
                      <a:endParaRPr sz="16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</a:rPr>
                        <a:t>32'h0000_????</a:t>
                      </a:r>
                      <a:endParaRPr sz="16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</a:rPr>
                        <a:t>0x0001_????</a:t>
                      </a:r>
                      <a:endParaRPr sz="16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</a:rPr>
                        <a:t>S1: SRAM</a:t>
                      </a:r>
                      <a:endParaRPr sz="16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</a:rPr>
                        <a:t>32'h0001_????</a:t>
                      </a:r>
                      <a:endParaRPr sz="16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</a:rPr>
                        <a:t>0x1000_000?</a:t>
                      </a:r>
                      <a:endParaRPr sz="16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</a:rPr>
                        <a:t>S2: UART</a:t>
                      </a:r>
                      <a:endParaRPr sz="16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</a:rPr>
                        <a:t>32'h1000_000?</a:t>
                      </a:r>
                      <a:endParaRPr sz="16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</a:rPr>
                        <a:t>default</a:t>
                      </a:r>
                      <a:endParaRPr sz="16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</a:rPr>
                        <a:t>→ ROM (safe fallback)</a:t>
                      </a:r>
                      <a:endParaRPr sz="16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</a:rPr>
                        <a:t>—</a:t>
                      </a:r>
                      <a:endParaRPr sz="16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0" name="Google Shape;410;g3e6c48d04c6_0_0"/>
          <p:cNvSpPr/>
          <p:nvPr/>
        </p:nvSpPr>
        <p:spPr>
          <a:xfrm>
            <a:off x="9995225" y="8098975"/>
            <a:ext cx="4992300" cy="1864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8D8ED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11" name="Google Shape;411;g3e6c48d04c6_0_0"/>
          <p:cNvSpPr/>
          <p:nvPr/>
        </p:nvSpPr>
        <p:spPr>
          <a:xfrm>
            <a:off x="10168283" y="8180047"/>
            <a:ext cx="46596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76AE"/>
              </a:buClr>
              <a:buSzPts val="1000"/>
              <a:buFont typeface="Calibri"/>
              <a:buNone/>
            </a:pPr>
            <a:r>
              <a:rPr lang="en-US" sz="1600" b="1" i="0" u="none" strike="noStrike" cap="none">
                <a:solidFill>
                  <a:srgbClr val="2176AE"/>
                </a:solidFill>
                <a:latin typeface="Calibri"/>
                <a:ea typeface="Calibri"/>
                <a:cs typeface="Calibri"/>
                <a:sym typeface="Calibri"/>
              </a:rPr>
              <a:t>Routing Signals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e6c48d04c6_0_0"/>
          <p:cNvSpPr/>
          <p:nvPr/>
        </p:nvSpPr>
        <p:spPr>
          <a:xfrm>
            <a:off x="9995225" y="8698908"/>
            <a:ext cx="4992300" cy="1135200"/>
          </a:xfrm>
          <a:prstGeom prst="rect">
            <a:avLst/>
          </a:prstGeom>
          <a:solidFill>
            <a:srgbClr val="D6EEFA"/>
          </a:solidFill>
          <a:ln w="12700" cap="flat" cmpd="sng">
            <a:solidFill>
              <a:srgbClr val="4A9C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13" name="Google Shape;413;g3e6c48d04c6_0_0"/>
          <p:cNvSpPr/>
          <p:nvPr/>
        </p:nvSpPr>
        <p:spPr>
          <a:xfrm>
            <a:off x="10154970" y="8828623"/>
            <a:ext cx="4672500" cy="8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ourier New"/>
              <a:buNone/>
            </a:pPr>
            <a:r>
              <a:rPr lang="en-US" sz="1600" b="0" i="0" u="none" strike="noStrike" cap="none">
                <a:solidFill>
                  <a:srgbClr val="0A2540"/>
                </a:solidFill>
                <a:latin typeface="Courier New"/>
                <a:ea typeface="Courier New"/>
                <a:cs typeface="Courier New"/>
                <a:sym typeface="Courier New"/>
              </a:rPr>
              <a:t>wr_sel[2:0]  — one-hot write select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ourier New"/>
              <a:buNone/>
            </a:pPr>
            <a:r>
              <a:rPr lang="en-US" sz="1600" b="0" i="0" u="none" strike="noStrike" cap="none">
                <a:solidFill>
                  <a:srgbClr val="0A2540"/>
                </a:solidFill>
                <a:latin typeface="Courier New"/>
                <a:ea typeface="Courier New"/>
                <a:cs typeface="Courier New"/>
                <a:sym typeface="Courier New"/>
              </a:rPr>
              <a:t>rd_sel[2:0]  — one-hot read select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ourier New"/>
              <a:buNone/>
            </a:pPr>
            <a:r>
              <a:rPr lang="en-US" sz="1600" b="0" i="0" u="none" strike="noStrike" cap="none">
                <a:solidFill>
                  <a:srgbClr val="0A2540"/>
                </a:solidFill>
                <a:latin typeface="Courier New"/>
                <a:ea typeface="Courier New"/>
                <a:cs typeface="Courier New"/>
                <a:sym typeface="Courier New"/>
              </a:rPr>
              <a:t>wr_active / rd_active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2" name="Google Shape;422;p6"/>
          <p:cNvGrpSpPr/>
          <p:nvPr/>
        </p:nvGrpSpPr>
        <p:grpSpPr>
          <a:xfrm>
            <a:off x="822950" y="687425"/>
            <a:ext cx="16642125" cy="1352957"/>
            <a:chOff x="0" y="0"/>
            <a:chExt cx="22189500" cy="2183950"/>
          </a:xfrm>
        </p:grpSpPr>
        <p:sp>
          <p:nvSpPr>
            <p:cNvPr id="423" name="Google Shape;423;p6"/>
            <p:cNvSpPr/>
            <p:nvPr/>
          </p:nvSpPr>
          <p:spPr>
            <a:xfrm>
              <a:off x="0" y="0"/>
              <a:ext cx="22189439" cy="1584960"/>
            </a:xfrm>
            <a:custGeom>
              <a:avLst/>
              <a:gdLst/>
              <a:ahLst/>
              <a:cxnLst/>
              <a:rect l="l" t="t" r="r" b="b"/>
              <a:pathLst>
                <a:path w="22189439" h="1584960" extrusionOk="0">
                  <a:moveTo>
                    <a:pt x="0" y="0"/>
                  </a:moveTo>
                  <a:lnTo>
                    <a:pt x="22189439" y="0"/>
                  </a:lnTo>
                  <a:lnTo>
                    <a:pt x="22189439" y="1584960"/>
                  </a:lnTo>
                  <a:lnTo>
                    <a:pt x="0" y="1584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22777" b="-222777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4" name="Google Shape;424;p6"/>
            <p:cNvSpPr txBox="1"/>
            <p:nvPr/>
          </p:nvSpPr>
          <p:spPr>
            <a:xfrm>
              <a:off x="0" y="579850"/>
              <a:ext cx="22189500" cy="160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200"/>
                <a:buFont typeface="Arial"/>
                <a:buNone/>
              </a:pPr>
              <a:r>
                <a:rPr lang="en-US" sz="48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Write Transaction </a:t>
              </a:r>
              <a:r>
                <a:rPr lang="en-US" sz="4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AW → W → B</a:t>
              </a:r>
              <a:endPara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5" name="Google Shape;425;p6"/>
          <p:cNvGrpSpPr/>
          <p:nvPr/>
        </p:nvGrpSpPr>
        <p:grpSpPr>
          <a:xfrm>
            <a:off x="810275" y="2002876"/>
            <a:ext cx="16667417" cy="844465"/>
            <a:chOff x="0" y="0"/>
            <a:chExt cx="22223222" cy="1374902"/>
          </a:xfrm>
        </p:grpSpPr>
        <p:sp>
          <p:nvSpPr>
            <p:cNvPr id="426" name="Google Shape;426;p6"/>
            <p:cNvSpPr/>
            <p:nvPr/>
          </p:nvSpPr>
          <p:spPr>
            <a:xfrm>
              <a:off x="16891" y="16891"/>
              <a:ext cx="22189439" cy="1341120"/>
            </a:xfrm>
            <a:custGeom>
              <a:avLst/>
              <a:gdLst/>
              <a:ahLst/>
              <a:cxnLst/>
              <a:rect l="l" t="t" r="r" b="b"/>
              <a:pathLst>
                <a:path w="22189439" h="1341120" extrusionOk="0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0" y="0"/>
              <a:ext cx="22223222" cy="1374902"/>
            </a:xfrm>
            <a:custGeom>
              <a:avLst/>
              <a:gdLst/>
              <a:ahLst/>
              <a:cxnLst/>
              <a:rect l="l" t="t" r="r" b="b"/>
              <a:pathLst>
                <a:path w="22223222" h="1374902" extrusionOk="0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1358011"/>
                  </a:lnTo>
                  <a:cubicBezTo>
                    <a:pt x="22223222" y="1367409"/>
                    <a:pt x="22215602" y="1374902"/>
                    <a:pt x="2220633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2206330" y="1341120"/>
                  </a:lnTo>
                  <a:lnTo>
                    <a:pt x="22206330" y="1358011"/>
                  </a:lnTo>
                  <a:lnTo>
                    <a:pt x="22189439" y="1358011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8" name="Google Shape;428;p6"/>
          <p:cNvGrpSpPr/>
          <p:nvPr/>
        </p:nvGrpSpPr>
        <p:grpSpPr>
          <a:xfrm>
            <a:off x="1097275" y="1986347"/>
            <a:ext cx="16093440" cy="848330"/>
            <a:chOff x="0" y="-57150"/>
            <a:chExt cx="21457920" cy="1398270"/>
          </a:xfrm>
        </p:grpSpPr>
        <p:sp>
          <p:nvSpPr>
            <p:cNvPr id="429" name="Google Shape;429;p6"/>
            <p:cNvSpPr/>
            <p:nvPr/>
          </p:nvSpPr>
          <p:spPr>
            <a:xfrm>
              <a:off x="0" y="0"/>
              <a:ext cx="21457920" cy="1341120"/>
            </a:xfrm>
            <a:custGeom>
              <a:avLst/>
              <a:gdLst/>
              <a:ahLst/>
              <a:cxnLst/>
              <a:rect l="l" t="t" r="r" b="b"/>
              <a:pathLst>
                <a:path w="21457920" h="1341120" extrusionOk="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61760" b="-261760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0" name="Google Shape;430;p6"/>
            <p:cNvSpPr txBox="1"/>
            <p:nvPr/>
          </p:nvSpPr>
          <p:spPr>
            <a:xfrm>
              <a:off x="0" y="-57150"/>
              <a:ext cx="21457920" cy="13982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en-US" sz="26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 write transaction uses 3 channels in sequence: Write Address (AW) → Write Data (W) → Write Response (B)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1" name="Google Shape;431;p6"/>
          <p:cNvSpPr/>
          <p:nvPr/>
        </p:nvSpPr>
        <p:spPr>
          <a:xfrm>
            <a:off x="2327501" y="3266775"/>
            <a:ext cx="2152500" cy="747000"/>
          </a:xfrm>
          <a:prstGeom prst="roundRect">
            <a:avLst>
              <a:gd name="adj" fmla="val 19231"/>
            </a:avLst>
          </a:prstGeom>
          <a:solidFill>
            <a:srgbClr val="1A6EA0"/>
          </a:solidFill>
          <a:ln w="12700" cap="flat" cmpd="sng">
            <a:solidFill>
              <a:srgbClr val="1A6E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6"/>
          <p:cNvSpPr/>
          <p:nvPr/>
        </p:nvSpPr>
        <p:spPr>
          <a:xfrm>
            <a:off x="2327501" y="3266775"/>
            <a:ext cx="2152500" cy="7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6"/>
          <p:cNvSpPr/>
          <p:nvPr/>
        </p:nvSpPr>
        <p:spPr>
          <a:xfrm>
            <a:off x="1097275" y="4100049"/>
            <a:ext cx="4582500" cy="5387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A6EA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34" name="Google Shape;434;p6"/>
          <p:cNvSpPr/>
          <p:nvPr/>
        </p:nvSpPr>
        <p:spPr>
          <a:xfrm>
            <a:off x="1097275" y="4100049"/>
            <a:ext cx="107400" cy="5387400"/>
          </a:xfrm>
          <a:prstGeom prst="rect">
            <a:avLst/>
          </a:prstGeom>
          <a:solidFill>
            <a:srgbClr val="1A6EA0"/>
          </a:solidFill>
          <a:ln w="12700" cap="flat" cmpd="sng">
            <a:solidFill>
              <a:srgbClr val="1A6E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35" name="Google Shape;435;p6"/>
          <p:cNvSpPr/>
          <p:nvPr/>
        </p:nvSpPr>
        <p:spPr>
          <a:xfrm>
            <a:off x="1404831" y="4243717"/>
            <a:ext cx="4121400" cy="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45"/>
              </a:buClr>
              <a:buSzPts val="1200"/>
              <a:buFont typeface="Calibri"/>
              <a:buNone/>
            </a:pPr>
            <a:r>
              <a:rPr lang="en-US" sz="1800" b="1" i="0" u="none" strike="noStrike" cap="none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Step 1 — Write Address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6"/>
          <p:cNvSpPr/>
          <p:nvPr/>
        </p:nvSpPr>
        <p:spPr>
          <a:xfrm>
            <a:off x="1404831" y="4962057"/>
            <a:ext cx="41214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150"/>
              <a:buFont typeface="Calibri"/>
              <a:buNone/>
            </a:pPr>
            <a:r>
              <a:rPr lang="en-US" sz="18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Master drives awaddr + awvalid = 1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6"/>
          <p:cNvSpPr/>
          <p:nvPr/>
        </p:nvSpPr>
        <p:spPr>
          <a:xfrm>
            <a:off x="1404831" y="5752230"/>
            <a:ext cx="41214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150"/>
              <a:buFont typeface="Calibri"/>
              <a:buNone/>
            </a:pPr>
            <a:r>
              <a:rPr lang="en-US" sz="18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Slave asserts awready = 1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6"/>
          <p:cNvSpPr/>
          <p:nvPr/>
        </p:nvSpPr>
        <p:spPr>
          <a:xfrm>
            <a:off x="1404831" y="6542404"/>
            <a:ext cx="41214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150"/>
              <a:buFont typeface="Calibri"/>
              <a:buNone/>
            </a:pPr>
            <a:r>
              <a:rPr lang="en-US" sz="18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AW Handshake COMPLETE ✅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6"/>
          <p:cNvSpPr/>
          <p:nvPr/>
        </p:nvSpPr>
        <p:spPr>
          <a:xfrm>
            <a:off x="5710621" y="5996466"/>
            <a:ext cx="277200" cy="201300"/>
          </a:xfrm>
          <a:prstGeom prst="rect">
            <a:avLst/>
          </a:prstGeom>
          <a:solidFill>
            <a:srgbClr val="4A9CC9"/>
          </a:solidFill>
          <a:ln w="12700" cap="flat" cmpd="sng">
            <a:solidFill>
              <a:srgbClr val="4A9C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40" name="Google Shape;440;p6"/>
          <p:cNvSpPr/>
          <p:nvPr/>
        </p:nvSpPr>
        <p:spPr>
          <a:xfrm>
            <a:off x="7217647" y="3266775"/>
            <a:ext cx="2152500" cy="747000"/>
          </a:xfrm>
          <a:prstGeom prst="roundRect">
            <a:avLst>
              <a:gd name="adj" fmla="val 19231"/>
            </a:avLst>
          </a:prstGeom>
          <a:solidFill>
            <a:srgbClr val="2176AE"/>
          </a:solidFill>
          <a:ln w="12700" cap="flat" cmpd="sng">
            <a:solidFill>
              <a:srgbClr val="2176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6"/>
          <p:cNvSpPr/>
          <p:nvPr/>
        </p:nvSpPr>
        <p:spPr>
          <a:xfrm>
            <a:off x="7217647" y="3266775"/>
            <a:ext cx="2152500" cy="7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6"/>
          <p:cNvSpPr/>
          <p:nvPr/>
        </p:nvSpPr>
        <p:spPr>
          <a:xfrm>
            <a:off x="5987422" y="4100049"/>
            <a:ext cx="4582500" cy="5387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2176AE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43" name="Google Shape;443;p6"/>
          <p:cNvSpPr/>
          <p:nvPr/>
        </p:nvSpPr>
        <p:spPr>
          <a:xfrm>
            <a:off x="5987422" y="4100049"/>
            <a:ext cx="107400" cy="5387400"/>
          </a:xfrm>
          <a:prstGeom prst="rect">
            <a:avLst/>
          </a:prstGeom>
          <a:solidFill>
            <a:srgbClr val="2176AE"/>
          </a:solidFill>
          <a:ln w="12700" cap="flat" cmpd="sng">
            <a:solidFill>
              <a:srgbClr val="2176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44" name="Google Shape;444;p6"/>
          <p:cNvSpPr/>
          <p:nvPr/>
        </p:nvSpPr>
        <p:spPr>
          <a:xfrm>
            <a:off x="6294978" y="4243717"/>
            <a:ext cx="4121400" cy="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45"/>
              </a:buClr>
              <a:buSzPts val="1200"/>
              <a:buFont typeface="Calibri"/>
              <a:buNone/>
            </a:pPr>
            <a:r>
              <a:rPr lang="en-US" sz="1800" b="1" i="0" u="none" strike="noStrike" cap="none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Step 2 — Write Data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6"/>
          <p:cNvSpPr/>
          <p:nvPr/>
        </p:nvSpPr>
        <p:spPr>
          <a:xfrm>
            <a:off x="6294978" y="4962057"/>
            <a:ext cx="41214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150"/>
              <a:buFont typeface="Calibri"/>
              <a:buNone/>
            </a:pPr>
            <a:r>
              <a:rPr lang="en-US" sz="18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Master drives wdata, wstrb, wvalid = 1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6"/>
          <p:cNvSpPr/>
          <p:nvPr/>
        </p:nvSpPr>
        <p:spPr>
          <a:xfrm>
            <a:off x="6294978" y="5752230"/>
            <a:ext cx="41214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150"/>
              <a:buFont typeface="Calibri"/>
              <a:buNone/>
            </a:pPr>
            <a:r>
              <a:rPr lang="en-US" sz="18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Slave asserts wready = 1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6"/>
          <p:cNvSpPr/>
          <p:nvPr/>
        </p:nvSpPr>
        <p:spPr>
          <a:xfrm>
            <a:off x="6294978" y="6542404"/>
            <a:ext cx="41214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150"/>
              <a:buFont typeface="Calibri"/>
              <a:buNone/>
            </a:pPr>
            <a:r>
              <a:rPr lang="en-US" sz="18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W Handshake COMPLETE ✅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6"/>
          <p:cNvSpPr/>
          <p:nvPr/>
        </p:nvSpPr>
        <p:spPr>
          <a:xfrm>
            <a:off x="10600768" y="5996466"/>
            <a:ext cx="277200" cy="201300"/>
          </a:xfrm>
          <a:prstGeom prst="rect">
            <a:avLst/>
          </a:prstGeom>
          <a:solidFill>
            <a:srgbClr val="4A9CC9"/>
          </a:solidFill>
          <a:ln w="12700" cap="flat" cmpd="sng">
            <a:solidFill>
              <a:srgbClr val="4A9C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49" name="Google Shape;449;p6"/>
          <p:cNvSpPr/>
          <p:nvPr/>
        </p:nvSpPr>
        <p:spPr>
          <a:xfrm>
            <a:off x="12107794" y="3266775"/>
            <a:ext cx="2152500" cy="747000"/>
          </a:xfrm>
          <a:prstGeom prst="roundRect">
            <a:avLst>
              <a:gd name="adj" fmla="val 19231"/>
            </a:avLst>
          </a:prstGeom>
          <a:solidFill>
            <a:srgbClr val="3498DB"/>
          </a:solidFill>
          <a:ln w="12700" cap="flat" cmpd="sng">
            <a:solidFill>
              <a:srgbClr val="3498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6"/>
          <p:cNvSpPr/>
          <p:nvPr/>
        </p:nvSpPr>
        <p:spPr>
          <a:xfrm>
            <a:off x="12107794" y="3266775"/>
            <a:ext cx="2152500" cy="7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6"/>
          <p:cNvSpPr/>
          <p:nvPr/>
        </p:nvSpPr>
        <p:spPr>
          <a:xfrm>
            <a:off x="10877569" y="4100049"/>
            <a:ext cx="4582500" cy="5387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3498D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52" name="Google Shape;452;p6"/>
          <p:cNvSpPr/>
          <p:nvPr/>
        </p:nvSpPr>
        <p:spPr>
          <a:xfrm>
            <a:off x="10877569" y="4100049"/>
            <a:ext cx="107400" cy="5387400"/>
          </a:xfrm>
          <a:prstGeom prst="rect">
            <a:avLst/>
          </a:prstGeom>
          <a:solidFill>
            <a:srgbClr val="3498DB"/>
          </a:solidFill>
          <a:ln w="12700" cap="flat" cmpd="sng">
            <a:solidFill>
              <a:srgbClr val="3498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53" name="Google Shape;453;p6"/>
          <p:cNvSpPr/>
          <p:nvPr/>
        </p:nvSpPr>
        <p:spPr>
          <a:xfrm>
            <a:off x="11185125" y="4243717"/>
            <a:ext cx="4121400" cy="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45"/>
              </a:buClr>
              <a:buSzPts val="1200"/>
              <a:buFont typeface="Calibri"/>
              <a:buNone/>
            </a:pPr>
            <a:r>
              <a:rPr lang="en-US" sz="1800" b="1" i="0" u="none" strike="noStrike" cap="none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Step 3 — Write Response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6"/>
          <p:cNvSpPr/>
          <p:nvPr/>
        </p:nvSpPr>
        <p:spPr>
          <a:xfrm>
            <a:off x="11185125" y="4962057"/>
            <a:ext cx="41214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150"/>
              <a:buFont typeface="Calibri"/>
              <a:buNone/>
            </a:pPr>
            <a:r>
              <a:rPr lang="en-US" sz="18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Slave asserts bvalid = 1, bresp = 2'b00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6"/>
          <p:cNvSpPr/>
          <p:nvPr/>
        </p:nvSpPr>
        <p:spPr>
          <a:xfrm>
            <a:off x="11185125" y="5752230"/>
            <a:ext cx="41214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150"/>
              <a:buFont typeface="Calibri"/>
              <a:buNone/>
            </a:pPr>
            <a:r>
              <a:rPr lang="en-US" sz="18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Master asserts bready = 1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6"/>
          <p:cNvSpPr/>
          <p:nvPr/>
        </p:nvSpPr>
        <p:spPr>
          <a:xfrm>
            <a:off x="11185125" y="6542404"/>
            <a:ext cx="41214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150"/>
              <a:buFont typeface="Calibri"/>
              <a:buNone/>
            </a:pPr>
            <a:r>
              <a:rPr lang="en-US" sz="18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B Handshake COMPLETE ✅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6"/>
          <p:cNvSpPr/>
          <p:nvPr/>
        </p:nvSpPr>
        <p:spPr>
          <a:xfrm>
            <a:off x="822950" y="9573721"/>
            <a:ext cx="144552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76AE"/>
              </a:buClr>
              <a:buSzPts val="1150"/>
              <a:buFont typeface="Calibri"/>
              <a:buNone/>
            </a:pPr>
            <a:r>
              <a:rPr lang="en-US" sz="1600" b="0" i="1" u="none" strike="noStrike" cap="none">
                <a:solidFill>
                  <a:srgbClr val="2176AE"/>
                </a:solidFill>
                <a:latin typeface="Calibri"/>
                <a:ea typeface="Calibri"/>
                <a:cs typeface="Calibri"/>
                <a:sym typeface="Calibri"/>
              </a:rPr>
              <a:t>⚡  AW and W channels are independent — they can handshake simultaneously or in any order!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e6c48d04c6_0_61"/>
          <p:cNvSpPr/>
          <p:nvPr/>
        </p:nvSpPr>
        <p:spPr>
          <a:xfrm>
            <a:off x="1142450" y="1316725"/>
            <a:ext cx="14167800" cy="12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55"/>
              <a:buFont typeface="Calibri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AXI Write — CPU Sends 'H' to UART TX Register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3e6c48d04c6_0_61"/>
          <p:cNvSpPr/>
          <p:nvPr/>
        </p:nvSpPr>
        <p:spPr>
          <a:xfrm>
            <a:off x="1142450" y="2808575"/>
            <a:ext cx="15063900" cy="775800"/>
          </a:xfrm>
          <a:prstGeom prst="rect">
            <a:avLst/>
          </a:prstGeom>
          <a:solidFill>
            <a:srgbClr val="D6EEFA"/>
          </a:solidFill>
          <a:ln w="17750" cap="flat" cmpd="sng">
            <a:solidFill>
              <a:srgbClr val="4A9CC9"/>
            </a:solidFill>
            <a:prstDash val="solid"/>
            <a:round/>
            <a:headEnd type="none" w="sm" len="sm"/>
            <a:tailEnd type="none" w="sm" len="sm"/>
          </a:ln>
          <a:effectLst>
            <a:outerShdw blurRad="88758" dist="35503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27800" tIns="127800" rIns="127800" bIns="12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g3e6c48d04c6_0_61"/>
          <p:cNvSpPr/>
          <p:nvPr/>
        </p:nvSpPr>
        <p:spPr>
          <a:xfrm>
            <a:off x="1473054" y="2808575"/>
            <a:ext cx="148767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800" tIns="63875" rIns="127800" bIns="63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677"/>
              <a:buFont typeface="Courier New"/>
              <a:buNone/>
            </a:pPr>
            <a:r>
              <a:rPr lang="en-US" sz="1800" b="0" i="0" u="none" strike="noStrike" cap="none">
                <a:solidFill>
                  <a:srgbClr val="0A2540"/>
                </a:solidFill>
                <a:latin typeface="Courier New"/>
                <a:ea typeface="Courier New"/>
                <a:cs typeface="Courier New"/>
                <a:sym typeface="Courier New"/>
              </a:rPr>
              <a:t>Firmware:  uart_putc('H')  →  UART_TX = 0x1000_0000  →  wdata = 0x0000_0048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e6c48d04c6_0_61"/>
          <p:cNvSpPr/>
          <p:nvPr/>
        </p:nvSpPr>
        <p:spPr>
          <a:xfrm>
            <a:off x="1142443" y="3755971"/>
            <a:ext cx="4806300" cy="716100"/>
          </a:xfrm>
          <a:prstGeom prst="rect">
            <a:avLst/>
          </a:prstGeom>
          <a:solidFill>
            <a:srgbClr val="1A6EA0"/>
          </a:solidFill>
          <a:ln w="17750" cap="flat" cmpd="sng">
            <a:solidFill>
              <a:srgbClr val="1A6E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7800" tIns="127800" rIns="127800" bIns="12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67" name="Google Shape;467;g3e6c48d04c6_0_61"/>
          <p:cNvSpPr/>
          <p:nvPr/>
        </p:nvSpPr>
        <p:spPr>
          <a:xfrm>
            <a:off x="1303724" y="3755971"/>
            <a:ext cx="44835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8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1: AW — Write Address Channel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g3e6c48d04c6_0_61"/>
          <p:cNvSpPr/>
          <p:nvPr/>
        </p:nvSpPr>
        <p:spPr>
          <a:xfrm>
            <a:off x="1142443" y="4501890"/>
            <a:ext cx="4806300" cy="4475400"/>
          </a:xfrm>
          <a:prstGeom prst="rect">
            <a:avLst/>
          </a:prstGeom>
          <a:solidFill>
            <a:srgbClr val="FFFFFF"/>
          </a:solidFill>
          <a:ln w="17750" cap="flat" cmpd="sng">
            <a:solidFill>
              <a:srgbClr val="1A6EA0"/>
            </a:solidFill>
            <a:prstDash val="solid"/>
            <a:round/>
            <a:headEnd type="none" w="sm" len="sm"/>
            <a:tailEnd type="none" w="sm" len="sm"/>
          </a:ln>
          <a:effectLst>
            <a:outerShdw blurRad="88758" dist="35503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27800" tIns="127800" rIns="127800" bIns="12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69" name="Google Shape;469;g3e6c48d04c6_0_61"/>
          <p:cNvSpPr/>
          <p:nvPr/>
        </p:nvSpPr>
        <p:spPr>
          <a:xfrm>
            <a:off x="1384364" y="4606318"/>
            <a:ext cx="4322700" cy="9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800" tIns="63875" rIns="127800" bIns="63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398"/>
              <a:buFont typeface="Calibri"/>
              <a:buNone/>
            </a:pPr>
            <a:r>
              <a:rPr lang="en-US" sz="16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CPU bridge → awaddr = 0x1000_0000, awvalid = 1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g3e6c48d04c6_0_61"/>
          <p:cNvSpPr/>
          <p:nvPr/>
        </p:nvSpPr>
        <p:spPr>
          <a:xfrm>
            <a:off x="1384364" y="5620768"/>
            <a:ext cx="4322700" cy="9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800" tIns="63875" rIns="127800" bIns="63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398"/>
              <a:buFont typeface="Calibri"/>
              <a:buNone/>
            </a:pPr>
            <a:r>
              <a:rPr lang="en-US" sz="16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Interconnect → wr_sel = 3'b100  (UART selected)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g3e6c48d04c6_0_61"/>
          <p:cNvSpPr/>
          <p:nvPr/>
        </p:nvSpPr>
        <p:spPr>
          <a:xfrm>
            <a:off x="1384364" y="6635218"/>
            <a:ext cx="4322700" cy="9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800" tIns="63875" rIns="127800" bIns="63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398"/>
              <a:buFont typeface="Calibri"/>
              <a:buNone/>
            </a:pPr>
            <a:r>
              <a:rPr lang="en-US" sz="16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uart_axi → awready = 1  (if not busy)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g3e6c48d04c6_0_61"/>
          <p:cNvSpPr/>
          <p:nvPr/>
        </p:nvSpPr>
        <p:spPr>
          <a:xfrm>
            <a:off x="1384364" y="7649668"/>
            <a:ext cx="4322700" cy="9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800" tIns="63875" rIns="127800" bIns="63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48"/>
              </a:buClr>
              <a:buSzPts val="1398"/>
              <a:buFont typeface="Calibri"/>
              <a:buNone/>
            </a:pPr>
            <a:r>
              <a:rPr lang="en-US" sz="1600" b="1" i="0" u="none" strike="noStrike" cap="none">
                <a:solidFill>
                  <a:srgbClr val="1A7A48"/>
                </a:solidFill>
                <a:latin typeface="Calibri"/>
                <a:ea typeface="Calibri"/>
                <a:cs typeface="Calibri"/>
                <a:sym typeface="Calibri"/>
              </a:rPr>
              <a:t>✅ AW Handshake complete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3e6c48d04c6_0_61"/>
          <p:cNvSpPr/>
          <p:nvPr/>
        </p:nvSpPr>
        <p:spPr>
          <a:xfrm>
            <a:off x="6271176" y="3755971"/>
            <a:ext cx="4806300" cy="716100"/>
          </a:xfrm>
          <a:prstGeom prst="rect">
            <a:avLst/>
          </a:prstGeom>
          <a:solidFill>
            <a:srgbClr val="2176AE"/>
          </a:solidFill>
          <a:ln w="17750" cap="flat" cmpd="sng">
            <a:solidFill>
              <a:srgbClr val="2176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7800" tIns="127800" rIns="127800" bIns="12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74" name="Google Shape;474;g3e6c48d04c6_0_61"/>
          <p:cNvSpPr/>
          <p:nvPr/>
        </p:nvSpPr>
        <p:spPr>
          <a:xfrm>
            <a:off x="6432457" y="3755971"/>
            <a:ext cx="44835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8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2: W — Write Data Channel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e6c48d04c6_0_61"/>
          <p:cNvSpPr/>
          <p:nvPr/>
        </p:nvSpPr>
        <p:spPr>
          <a:xfrm>
            <a:off x="6271176" y="4501890"/>
            <a:ext cx="4806300" cy="4475400"/>
          </a:xfrm>
          <a:prstGeom prst="rect">
            <a:avLst/>
          </a:prstGeom>
          <a:solidFill>
            <a:srgbClr val="FFFFFF"/>
          </a:solidFill>
          <a:ln w="17750" cap="flat" cmpd="sng">
            <a:solidFill>
              <a:srgbClr val="2176AE"/>
            </a:solidFill>
            <a:prstDash val="solid"/>
            <a:round/>
            <a:headEnd type="none" w="sm" len="sm"/>
            <a:tailEnd type="none" w="sm" len="sm"/>
          </a:ln>
          <a:effectLst>
            <a:outerShdw blurRad="88758" dist="35503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27800" tIns="127800" rIns="127800" bIns="12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76" name="Google Shape;476;g3e6c48d04c6_0_61"/>
          <p:cNvSpPr/>
          <p:nvPr/>
        </p:nvSpPr>
        <p:spPr>
          <a:xfrm>
            <a:off x="6513097" y="4606318"/>
            <a:ext cx="4322700" cy="9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800" tIns="63875" rIns="127800" bIns="63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398"/>
              <a:buFont typeface="Calibri"/>
              <a:buNone/>
            </a:pPr>
            <a:r>
              <a:rPr lang="en-US" sz="16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CPU bridge → wdata = 0x0000_0048, wstrb = 4'h1, wvalid = 1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e6c48d04c6_0_61"/>
          <p:cNvSpPr/>
          <p:nvPr/>
        </p:nvSpPr>
        <p:spPr>
          <a:xfrm>
            <a:off x="6513097" y="5620768"/>
            <a:ext cx="4322700" cy="9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800" tIns="63875" rIns="127800" bIns="63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398"/>
              <a:buFont typeface="Calibri"/>
              <a:buNone/>
            </a:pPr>
            <a:r>
              <a:rPr lang="en-US" sz="16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uart_axi → wready = 1  (if buffer not full)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3e6c48d04c6_0_61"/>
          <p:cNvSpPr/>
          <p:nvPr/>
        </p:nvSpPr>
        <p:spPr>
          <a:xfrm>
            <a:off x="6513097" y="6635218"/>
            <a:ext cx="4322700" cy="9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800" tIns="63875" rIns="127800" bIns="63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398"/>
              <a:buFont typeface="Calibri"/>
              <a:buNone/>
            </a:pPr>
            <a:r>
              <a:rPr lang="en-US" sz="16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uart_axi captures: w_byte = 0x48, buf_valid = 1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e6c48d04c6_0_61"/>
          <p:cNvSpPr/>
          <p:nvPr/>
        </p:nvSpPr>
        <p:spPr>
          <a:xfrm>
            <a:off x="6513097" y="7649668"/>
            <a:ext cx="4322700" cy="9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800" tIns="63875" rIns="127800" bIns="63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48"/>
              </a:buClr>
              <a:buSzPts val="1398"/>
              <a:buFont typeface="Calibri"/>
              <a:buNone/>
            </a:pPr>
            <a:r>
              <a:rPr lang="en-US" sz="1600" b="1" i="0" u="none" strike="noStrike" cap="none">
                <a:solidFill>
                  <a:srgbClr val="1A7A48"/>
                </a:solidFill>
                <a:latin typeface="Calibri"/>
                <a:ea typeface="Calibri"/>
                <a:cs typeface="Calibri"/>
                <a:sym typeface="Calibri"/>
              </a:rPr>
              <a:t>✅ W Handshake complete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g3e6c48d04c6_0_61"/>
          <p:cNvSpPr/>
          <p:nvPr/>
        </p:nvSpPr>
        <p:spPr>
          <a:xfrm>
            <a:off x="11399909" y="3755971"/>
            <a:ext cx="4806300" cy="716100"/>
          </a:xfrm>
          <a:prstGeom prst="rect">
            <a:avLst/>
          </a:prstGeom>
          <a:solidFill>
            <a:srgbClr val="3498DB"/>
          </a:solidFill>
          <a:ln w="17750" cap="flat" cmpd="sng">
            <a:solidFill>
              <a:srgbClr val="3498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7800" tIns="127800" rIns="127800" bIns="12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81" name="Google Shape;481;g3e6c48d04c6_0_61"/>
          <p:cNvSpPr/>
          <p:nvPr/>
        </p:nvSpPr>
        <p:spPr>
          <a:xfrm>
            <a:off x="11561190" y="3755971"/>
            <a:ext cx="44835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8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3: B — Write Response Channel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e6c48d04c6_0_61"/>
          <p:cNvSpPr/>
          <p:nvPr/>
        </p:nvSpPr>
        <p:spPr>
          <a:xfrm>
            <a:off x="11399909" y="4501890"/>
            <a:ext cx="4806300" cy="4475400"/>
          </a:xfrm>
          <a:prstGeom prst="rect">
            <a:avLst/>
          </a:prstGeom>
          <a:solidFill>
            <a:srgbClr val="FFFFFF"/>
          </a:solidFill>
          <a:ln w="17750" cap="flat" cmpd="sng">
            <a:solidFill>
              <a:srgbClr val="3498DB"/>
            </a:solidFill>
            <a:prstDash val="solid"/>
            <a:round/>
            <a:headEnd type="none" w="sm" len="sm"/>
            <a:tailEnd type="none" w="sm" len="sm"/>
          </a:ln>
          <a:effectLst>
            <a:outerShdw blurRad="88758" dist="35503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27800" tIns="127800" rIns="127800" bIns="12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83" name="Google Shape;483;g3e6c48d04c6_0_61"/>
          <p:cNvSpPr/>
          <p:nvPr/>
        </p:nvSpPr>
        <p:spPr>
          <a:xfrm>
            <a:off x="11641830" y="4606318"/>
            <a:ext cx="4322700" cy="9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800" tIns="63875" rIns="127800" bIns="63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398"/>
              <a:buFont typeface="Calibri"/>
              <a:buNone/>
            </a:pPr>
            <a:r>
              <a:rPr lang="en-US" sz="16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uart_axi → bvalid = 1, bresp = 2'b00  (OKAY)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g3e6c48d04c6_0_61"/>
          <p:cNvSpPr/>
          <p:nvPr/>
        </p:nvSpPr>
        <p:spPr>
          <a:xfrm>
            <a:off x="11641830" y="5620768"/>
            <a:ext cx="4322700" cy="9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800" tIns="63875" rIns="127800" bIns="63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398"/>
              <a:buFont typeface="Calibri"/>
              <a:buNone/>
            </a:pPr>
            <a:r>
              <a:rPr lang="en-US" sz="16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CPU bridge → bready = 1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g3e6c48d04c6_0_61"/>
          <p:cNvSpPr/>
          <p:nvPr/>
        </p:nvSpPr>
        <p:spPr>
          <a:xfrm>
            <a:off x="11641830" y="6635218"/>
            <a:ext cx="4322700" cy="9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800" tIns="63875" rIns="127800" bIns="63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398"/>
              <a:buFont typeface="Calibri"/>
              <a:buNone/>
            </a:pPr>
            <a:r>
              <a:rPr lang="en-US" sz="16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Bridge asserts cpu_mem_ready = 1 → CPU resumes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g3e6c48d04c6_0_61"/>
          <p:cNvSpPr/>
          <p:nvPr/>
        </p:nvSpPr>
        <p:spPr>
          <a:xfrm>
            <a:off x="11641830" y="7649668"/>
            <a:ext cx="4322700" cy="9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800" tIns="63875" rIns="127800" bIns="63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48"/>
              </a:buClr>
              <a:buSzPts val="1398"/>
              <a:buFont typeface="Calibri"/>
              <a:buNone/>
            </a:pPr>
            <a:r>
              <a:rPr lang="en-US" sz="1600" b="1" i="0" u="none" strike="noStrike" cap="none">
                <a:solidFill>
                  <a:srgbClr val="1A7A48"/>
                </a:solidFill>
                <a:latin typeface="Calibri"/>
                <a:ea typeface="Calibri"/>
                <a:cs typeface="Calibri"/>
                <a:sym typeface="Calibri"/>
              </a:rPr>
              <a:t>✅ B Handshake complete — UART TX buffer = 0x48 ('H')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g3e6c48d04c6_0_61"/>
          <p:cNvSpPr/>
          <p:nvPr/>
        </p:nvSpPr>
        <p:spPr>
          <a:xfrm>
            <a:off x="1142400" y="9148875"/>
            <a:ext cx="150639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800" tIns="63875" rIns="127800" bIns="63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7A48"/>
              </a:buClr>
              <a:buSzPts val="1538"/>
              <a:buFont typeface="Calibri"/>
              <a:buNone/>
            </a:pPr>
            <a:r>
              <a:rPr lang="en-US" sz="1600" b="1" i="0" u="none" strike="noStrike" cap="none">
                <a:solidFill>
                  <a:srgbClr val="1A7A48"/>
                </a:solidFill>
                <a:latin typeface="Calibri"/>
                <a:ea typeface="Calibri"/>
                <a:cs typeface="Calibri"/>
                <a:sym typeface="Calibri"/>
              </a:rPr>
              <a:t>Result: UART TX buffer filled with 0x48 ('H')  →  uart_tx FSM serializes as 8N1 on uart_tx pin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6" name="Google Shape;496;p7"/>
          <p:cNvGrpSpPr/>
          <p:nvPr/>
        </p:nvGrpSpPr>
        <p:grpSpPr>
          <a:xfrm>
            <a:off x="822935" y="1012049"/>
            <a:ext cx="16642080" cy="1203008"/>
            <a:chOff x="0" y="-19050"/>
            <a:chExt cx="22189440" cy="1604010"/>
          </a:xfrm>
        </p:grpSpPr>
        <p:sp>
          <p:nvSpPr>
            <p:cNvPr id="497" name="Google Shape;497;p7"/>
            <p:cNvSpPr/>
            <p:nvPr/>
          </p:nvSpPr>
          <p:spPr>
            <a:xfrm>
              <a:off x="0" y="0"/>
              <a:ext cx="22189439" cy="1584960"/>
            </a:xfrm>
            <a:custGeom>
              <a:avLst/>
              <a:gdLst/>
              <a:ahLst/>
              <a:cxnLst/>
              <a:rect l="l" t="t" r="r" b="b"/>
              <a:pathLst>
                <a:path w="22189439" h="1584960" extrusionOk="0">
                  <a:moveTo>
                    <a:pt x="0" y="0"/>
                  </a:moveTo>
                  <a:lnTo>
                    <a:pt x="22189439" y="0"/>
                  </a:lnTo>
                  <a:lnTo>
                    <a:pt x="22189439" y="1584960"/>
                  </a:lnTo>
                  <a:lnTo>
                    <a:pt x="0" y="1584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22777" b="-222777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98" name="Google Shape;498;p7"/>
            <p:cNvSpPr txBox="1"/>
            <p:nvPr/>
          </p:nvSpPr>
          <p:spPr>
            <a:xfrm>
              <a:off x="0" y="-19050"/>
              <a:ext cx="22189440" cy="16040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n-US" sz="4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Read Transaction Flow: AR → R</a:t>
              </a:r>
              <a:endParaRPr sz="4800" b="1">
                <a:solidFill>
                  <a:schemeClr val="dk1"/>
                </a:solidFill>
              </a:endParaRPr>
            </a:p>
          </p:txBody>
        </p:sp>
      </p:grpSp>
      <p:grpSp>
        <p:nvGrpSpPr>
          <p:cNvPr id="499" name="Google Shape;499;p7"/>
          <p:cNvGrpSpPr/>
          <p:nvPr/>
        </p:nvGrpSpPr>
        <p:grpSpPr>
          <a:xfrm>
            <a:off x="810263" y="2440028"/>
            <a:ext cx="16667417" cy="1031177"/>
            <a:chOff x="0" y="0"/>
            <a:chExt cx="22223222" cy="1374902"/>
          </a:xfrm>
        </p:grpSpPr>
        <p:sp>
          <p:nvSpPr>
            <p:cNvPr id="500" name="Google Shape;500;p7"/>
            <p:cNvSpPr/>
            <p:nvPr/>
          </p:nvSpPr>
          <p:spPr>
            <a:xfrm>
              <a:off x="16891" y="16891"/>
              <a:ext cx="22189439" cy="1341120"/>
            </a:xfrm>
            <a:custGeom>
              <a:avLst/>
              <a:gdLst/>
              <a:ahLst/>
              <a:cxnLst/>
              <a:rect l="l" t="t" r="r" b="b"/>
              <a:pathLst>
                <a:path w="22189439" h="1341120" extrusionOk="0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0" y="0"/>
              <a:ext cx="22223222" cy="1374902"/>
            </a:xfrm>
            <a:custGeom>
              <a:avLst/>
              <a:gdLst/>
              <a:ahLst/>
              <a:cxnLst/>
              <a:rect l="l" t="t" r="r" b="b"/>
              <a:pathLst>
                <a:path w="22223222" h="1374902" extrusionOk="0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1358011"/>
                  </a:lnTo>
                  <a:cubicBezTo>
                    <a:pt x="22223222" y="1367409"/>
                    <a:pt x="22215602" y="1374902"/>
                    <a:pt x="2220633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2206330" y="1341120"/>
                  </a:lnTo>
                  <a:lnTo>
                    <a:pt x="22206330" y="1358011"/>
                  </a:lnTo>
                  <a:lnTo>
                    <a:pt x="22189439" y="1358011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2" name="Google Shape;502;p7"/>
          <p:cNvGrpSpPr/>
          <p:nvPr/>
        </p:nvGrpSpPr>
        <p:grpSpPr>
          <a:xfrm>
            <a:off x="1097280" y="2409863"/>
            <a:ext cx="16093440" cy="1048703"/>
            <a:chOff x="0" y="-57150"/>
            <a:chExt cx="21457920" cy="1398270"/>
          </a:xfrm>
        </p:grpSpPr>
        <p:sp>
          <p:nvSpPr>
            <p:cNvPr id="503" name="Google Shape;503;p7"/>
            <p:cNvSpPr/>
            <p:nvPr/>
          </p:nvSpPr>
          <p:spPr>
            <a:xfrm>
              <a:off x="0" y="0"/>
              <a:ext cx="21457920" cy="1341120"/>
            </a:xfrm>
            <a:custGeom>
              <a:avLst/>
              <a:gdLst/>
              <a:ahLst/>
              <a:cxnLst/>
              <a:rect l="l" t="t" r="r" b="b"/>
              <a:pathLst>
                <a:path w="21457920" h="1341120" extrusionOk="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61760" b="-261760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04" name="Google Shape;504;p7"/>
            <p:cNvSpPr txBox="1"/>
            <p:nvPr/>
          </p:nvSpPr>
          <p:spPr>
            <a:xfrm>
              <a:off x="0" y="-57150"/>
              <a:ext cx="21457920" cy="13982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en-US" sz="26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 read transaction uses 2 channels: Read Address (AR) → Read Data (R). Simpler than write — no response channel needed.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5" name="Google Shape;505;p7"/>
          <p:cNvSpPr/>
          <p:nvPr/>
        </p:nvSpPr>
        <p:spPr>
          <a:xfrm>
            <a:off x="4006365" y="3696175"/>
            <a:ext cx="2397000" cy="707400"/>
          </a:xfrm>
          <a:prstGeom prst="roundRect">
            <a:avLst>
              <a:gd name="adj" fmla="val 19231"/>
            </a:avLst>
          </a:prstGeom>
          <a:solidFill>
            <a:srgbClr val="1A5F9A"/>
          </a:solidFill>
          <a:ln w="12700" cap="flat" cmpd="sng">
            <a:solidFill>
              <a:srgbClr val="1A5F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06" name="Google Shape;506;p7"/>
          <p:cNvSpPr/>
          <p:nvPr/>
        </p:nvSpPr>
        <p:spPr>
          <a:xfrm>
            <a:off x="4006365" y="3696175"/>
            <a:ext cx="23970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7"/>
          <p:cNvSpPr/>
          <p:nvPr/>
        </p:nvSpPr>
        <p:spPr>
          <a:xfrm>
            <a:off x="2465495" y="4485130"/>
            <a:ext cx="5564400" cy="3808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A5F9A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508" name="Google Shape;508;p7"/>
          <p:cNvSpPr/>
          <p:nvPr/>
        </p:nvSpPr>
        <p:spPr>
          <a:xfrm>
            <a:off x="2465495" y="4485130"/>
            <a:ext cx="119400" cy="3808500"/>
          </a:xfrm>
          <a:prstGeom prst="rect">
            <a:avLst/>
          </a:prstGeom>
          <a:solidFill>
            <a:srgbClr val="1A5F9A"/>
          </a:solidFill>
          <a:ln w="12700" cap="flat" cmpd="sng">
            <a:solidFill>
              <a:srgbClr val="1A5F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509" name="Google Shape;509;p7"/>
          <p:cNvSpPr/>
          <p:nvPr/>
        </p:nvSpPr>
        <p:spPr>
          <a:xfrm>
            <a:off x="2807910" y="4621157"/>
            <a:ext cx="5051100" cy="6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45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Step 1 — Read Address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7"/>
          <p:cNvSpPr/>
          <p:nvPr/>
        </p:nvSpPr>
        <p:spPr>
          <a:xfrm>
            <a:off x="2807910" y="5328497"/>
            <a:ext cx="5051100" cy="7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200"/>
              <a:buFont typeface="Calibri"/>
              <a:buNone/>
            </a:pPr>
            <a:r>
              <a:rPr lang="en-US" sz="18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Master drives araddr + arvalid = 1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7"/>
          <p:cNvSpPr/>
          <p:nvPr/>
        </p:nvSpPr>
        <p:spPr>
          <a:xfrm>
            <a:off x="2807910" y="6144657"/>
            <a:ext cx="5051100" cy="7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200"/>
              <a:buFont typeface="Calibri"/>
              <a:buNone/>
            </a:pPr>
            <a:r>
              <a:rPr lang="en-US" sz="18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Slave asserts arready = 1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7"/>
          <p:cNvSpPr/>
          <p:nvPr/>
        </p:nvSpPr>
        <p:spPr>
          <a:xfrm>
            <a:off x="2807910" y="6960818"/>
            <a:ext cx="5051100" cy="7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200"/>
              <a:buFont typeface="Calibri"/>
              <a:buNone/>
            </a:pPr>
            <a:r>
              <a:rPr lang="en-US" sz="18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AR Handshake COMPLETE ✅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7"/>
          <p:cNvSpPr/>
          <p:nvPr/>
        </p:nvSpPr>
        <p:spPr>
          <a:xfrm>
            <a:off x="11368298" y="3696175"/>
            <a:ext cx="2397000" cy="707400"/>
          </a:xfrm>
          <a:prstGeom prst="roundRect">
            <a:avLst>
              <a:gd name="adj" fmla="val 19231"/>
            </a:avLst>
          </a:prstGeom>
          <a:solidFill>
            <a:srgbClr val="5DADE2"/>
          </a:solidFill>
          <a:ln w="12700" cap="flat" cmpd="sng">
            <a:solidFill>
              <a:srgbClr val="5DAD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14" name="Google Shape;514;p7"/>
          <p:cNvSpPr/>
          <p:nvPr/>
        </p:nvSpPr>
        <p:spPr>
          <a:xfrm>
            <a:off x="11368298" y="3696175"/>
            <a:ext cx="23970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7"/>
          <p:cNvSpPr/>
          <p:nvPr/>
        </p:nvSpPr>
        <p:spPr>
          <a:xfrm>
            <a:off x="9827429" y="4485130"/>
            <a:ext cx="5564400" cy="3808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5DADE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516" name="Google Shape;516;p7"/>
          <p:cNvSpPr/>
          <p:nvPr/>
        </p:nvSpPr>
        <p:spPr>
          <a:xfrm>
            <a:off x="9827429" y="4485130"/>
            <a:ext cx="119400" cy="3808500"/>
          </a:xfrm>
          <a:prstGeom prst="rect">
            <a:avLst/>
          </a:prstGeom>
          <a:solidFill>
            <a:srgbClr val="5DADE2"/>
          </a:solidFill>
          <a:ln w="12700" cap="flat" cmpd="sng">
            <a:solidFill>
              <a:srgbClr val="5DAD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517" name="Google Shape;517;p7"/>
          <p:cNvSpPr/>
          <p:nvPr/>
        </p:nvSpPr>
        <p:spPr>
          <a:xfrm>
            <a:off x="10169844" y="4621157"/>
            <a:ext cx="5051100" cy="6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45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Step 2 — Read Data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7"/>
          <p:cNvSpPr/>
          <p:nvPr/>
        </p:nvSpPr>
        <p:spPr>
          <a:xfrm>
            <a:off x="10169844" y="5328497"/>
            <a:ext cx="5051100" cy="7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200"/>
              <a:buFont typeface="Calibri"/>
              <a:buNone/>
            </a:pPr>
            <a:r>
              <a:rPr lang="en-US" sz="18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Slave drives rdata + rvalid = 1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7"/>
          <p:cNvSpPr/>
          <p:nvPr/>
        </p:nvSpPr>
        <p:spPr>
          <a:xfrm>
            <a:off x="10169844" y="6144657"/>
            <a:ext cx="5051100" cy="7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200"/>
              <a:buFont typeface="Calibri"/>
              <a:buNone/>
            </a:pPr>
            <a:r>
              <a:rPr lang="en-US" sz="18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Master asserts rready = 1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7"/>
          <p:cNvSpPr/>
          <p:nvPr/>
        </p:nvSpPr>
        <p:spPr>
          <a:xfrm>
            <a:off x="10169844" y="6960818"/>
            <a:ext cx="5051100" cy="7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200"/>
              <a:buFont typeface="Calibri"/>
              <a:buNone/>
            </a:pPr>
            <a:r>
              <a:rPr lang="en-US" sz="18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R Handshake COMPLETE ✅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7"/>
          <p:cNvSpPr/>
          <p:nvPr/>
        </p:nvSpPr>
        <p:spPr>
          <a:xfrm>
            <a:off x="8286559" y="6076644"/>
            <a:ext cx="1369500" cy="8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9CC9"/>
              </a:buClr>
              <a:buSzPts val="3200"/>
              <a:buFont typeface="Calibri"/>
              <a:buNone/>
            </a:pPr>
            <a:r>
              <a:rPr lang="en-US" sz="4800" b="1" i="0" u="none" strike="noStrike" cap="none">
                <a:solidFill>
                  <a:srgbClr val="4A9CC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4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7"/>
          <p:cNvSpPr/>
          <p:nvPr/>
        </p:nvSpPr>
        <p:spPr>
          <a:xfrm>
            <a:off x="924625" y="8525126"/>
            <a:ext cx="16093500" cy="1360200"/>
          </a:xfrm>
          <a:prstGeom prst="rect">
            <a:avLst/>
          </a:prstGeom>
          <a:solidFill>
            <a:srgbClr val="E0F0FA"/>
          </a:solidFill>
          <a:ln w="12700" cap="flat" cmpd="sng">
            <a:solidFill>
              <a:srgbClr val="B8D8ED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</p:txBody>
      </p:sp>
      <p:sp>
        <p:nvSpPr>
          <p:cNvPr id="523" name="Google Shape;523;p7"/>
          <p:cNvSpPr/>
          <p:nvPr/>
        </p:nvSpPr>
        <p:spPr>
          <a:xfrm>
            <a:off x="1267041" y="8593140"/>
            <a:ext cx="15408900" cy="4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76AE"/>
              </a:buClr>
              <a:buSzPts val="1100"/>
              <a:buFont typeface="Calibri"/>
              <a:buNone/>
            </a:pPr>
            <a:r>
              <a:rPr lang="en-US" sz="1500" b="1" i="0" u="none" strike="noStrike" cap="none">
                <a:solidFill>
                  <a:srgbClr val="2176AE"/>
                </a:solidFill>
                <a:latin typeface="Calibri"/>
                <a:ea typeface="Calibri"/>
                <a:cs typeface="Calibri"/>
                <a:sym typeface="Calibri"/>
              </a:rPr>
              <a:t>Timing (no wait-states):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7"/>
          <p:cNvSpPr/>
          <p:nvPr/>
        </p:nvSpPr>
        <p:spPr>
          <a:xfrm>
            <a:off x="924625" y="9069233"/>
            <a:ext cx="16093500" cy="747900"/>
          </a:xfrm>
          <a:prstGeom prst="rect">
            <a:avLst/>
          </a:prstGeom>
          <a:solidFill>
            <a:srgbClr val="D6EEFA"/>
          </a:solidFill>
          <a:ln w="12700" cap="flat" cmpd="sng">
            <a:solidFill>
              <a:srgbClr val="4A9C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</p:txBody>
      </p:sp>
      <p:sp>
        <p:nvSpPr>
          <p:cNvPr id="525" name="Google Shape;525;p7"/>
          <p:cNvSpPr/>
          <p:nvPr/>
        </p:nvSpPr>
        <p:spPr>
          <a:xfrm>
            <a:off x="1130074" y="9178055"/>
            <a:ext cx="15682800" cy="5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ourier New"/>
              <a:buNone/>
            </a:pPr>
            <a:r>
              <a:rPr lang="en-US" sz="1500" b="0" i="0" u="none" strike="noStrike" cap="none">
                <a:solidFill>
                  <a:srgbClr val="0A2540"/>
                </a:solidFill>
                <a:latin typeface="Courier New"/>
                <a:ea typeface="Courier New"/>
                <a:cs typeface="Courier New"/>
                <a:sym typeface="Courier New"/>
              </a:rPr>
              <a:t>Cycle 1:  araddr=0x4, arvalid=1  →  arready=1   (AR handshake)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ourier New"/>
              <a:buNone/>
            </a:pPr>
            <a:r>
              <a:rPr lang="en-US" sz="1500" b="0" i="0" u="none" strike="noStrike" cap="none">
                <a:solidFill>
                  <a:srgbClr val="0A2540"/>
                </a:solidFill>
                <a:latin typeface="Courier New"/>
                <a:ea typeface="Courier New"/>
                <a:cs typeface="Courier New"/>
                <a:sym typeface="Courier New"/>
              </a:rPr>
              <a:t>Cycle 2:  rvalid=1, rdata=0xA5A5A5A5  →  rready=1  (R handshake)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e6c48d04c6_0_112"/>
          <p:cNvSpPr/>
          <p:nvPr/>
        </p:nvSpPr>
        <p:spPr>
          <a:xfrm>
            <a:off x="1073329" y="1123275"/>
            <a:ext cx="12632100" cy="12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1"/>
              <a:buFont typeface="Calibri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AXI Read — CPU Polls UART Status Register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g3e6c48d04c6_0_112"/>
          <p:cNvSpPr/>
          <p:nvPr/>
        </p:nvSpPr>
        <p:spPr>
          <a:xfrm>
            <a:off x="999021" y="2609428"/>
            <a:ext cx="13969800" cy="773100"/>
          </a:xfrm>
          <a:prstGeom prst="rect">
            <a:avLst/>
          </a:prstGeom>
          <a:solidFill>
            <a:srgbClr val="D6EEFA"/>
          </a:solidFill>
          <a:ln w="20625" cap="flat" cmpd="sng">
            <a:solidFill>
              <a:srgbClr val="4A9CC9"/>
            </a:solidFill>
            <a:prstDash val="solid"/>
            <a:round/>
            <a:headEnd type="none" w="sm" len="sm"/>
            <a:tailEnd type="none" w="sm" len="sm"/>
          </a:ln>
          <a:effectLst>
            <a:outerShdw blurRad="103205" dist="41282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48575" tIns="148575" rIns="148575" bIns="14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g3e6c48d04c6_0_112"/>
          <p:cNvSpPr/>
          <p:nvPr/>
        </p:nvSpPr>
        <p:spPr>
          <a:xfrm>
            <a:off x="1296252" y="2609428"/>
            <a:ext cx="13375200" cy="7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575" tIns="74275" rIns="148575" bIns="7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950"/>
              <a:buFont typeface="Courier New"/>
              <a:buNone/>
            </a:pPr>
            <a:r>
              <a:rPr lang="en-US" sz="2000" b="0" i="0" u="none" strike="noStrike" cap="none">
                <a:solidFill>
                  <a:srgbClr val="0A2540"/>
                </a:solidFill>
                <a:latin typeface="Courier New"/>
                <a:ea typeface="Courier New"/>
                <a:cs typeface="Courier New"/>
                <a:sym typeface="Courier New"/>
              </a:rPr>
              <a:t>Firmware:  uart_getc()  →  poll  UART_STATUS (0x1000_0008)  &amp;  0x2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g3e6c48d04c6_0_112"/>
          <p:cNvSpPr/>
          <p:nvPr/>
        </p:nvSpPr>
        <p:spPr>
          <a:xfrm>
            <a:off x="1370416" y="3605377"/>
            <a:ext cx="6093300" cy="713400"/>
          </a:xfrm>
          <a:prstGeom prst="rect">
            <a:avLst/>
          </a:prstGeom>
          <a:solidFill>
            <a:srgbClr val="1A5F9A"/>
          </a:solidFill>
          <a:ln w="20625" cap="flat" cmpd="sng">
            <a:solidFill>
              <a:srgbClr val="1A5F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8575" tIns="148575" rIns="148575" bIns="14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535" name="Google Shape;535;g3e6c48d04c6_0_112"/>
          <p:cNvSpPr/>
          <p:nvPr/>
        </p:nvSpPr>
        <p:spPr>
          <a:xfrm>
            <a:off x="1519032" y="3605377"/>
            <a:ext cx="57957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88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1: AR — Read Address Channel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g3e6c48d04c6_0_112"/>
          <p:cNvSpPr/>
          <p:nvPr/>
        </p:nvSpPr>
        <p:spPr>
          <a:xfrm>
            <a:off x="1370416" y="4348454"/>
            <a:ext cx="6093300" cy="4458300"/>
          </a:xfrm>
          <a:prstGeom prst="rect">
            <a:avLst/>
          </a:prstGeom>
          <a:solidFill>
            <a:srgbClr val="FFFFFF"/>
          </a:solidFill>
          <a:ln w="20625" cap="flat" cmpd="sng">
            <a:solidFill>
              <a:srgbClr val="1A5F9A"/>
            </a:solidFill>
            <a:prstDash val="solid"/>
            <a:round/>
            <a:headEnd type="none" w="sm" len="sm"/>
            <a:tailEnd type="none" w="sm" len="sm"/>
          </a:ln>
          <a:effectLst>
            <a:outerShdw blurRad="103205" dist="41282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48575" tIns="148575" rIns="148575" bIns="14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37" name="Google Shape;537;g3e6c48d04c6_0_112"/>
          <p:cNvSpPr/>
          <p:nvPr/>
        </p:nvSpPr>
        <p:spPr>
          <a:xfrm>
            <a:off x="1593339" y="4452484"/>
            <a:ext cx="5647200" cy="9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575" tIns="74275" rIns="148575" bIns="7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707"/>
              <a:buFont typeface="Calibri"/>
              <a:buNone/>
            </a:pPr>
            <a:r>
              <a:rPr lang="en-US" sz="18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CPU bridge → araddr = 0x1000_0008, arvalid = 1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g3e6c48d04c6_0_112"/>
          <p:cNvSpPr/>
          <p:nvPr/>
        </p:nvSpPr>
        <p:spPr>
          <a:xfrm>
            <a:off x="1593339" y="5463068"/>
            <a:ext cx="5647200" cy="9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575" tIns="74275" rIns="148575" bIns="7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707"/>
              <a:buFont typeface="Calibri"/>
              <a:buNone/>
            </a:pPr>
            <a:r>
              <a:rPr lang="en-US" sz="18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Interconnect → rd_sel = 3'b100  (UART selected)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g3e6c48d04c6_0_112"/>
          <p:cNvSpPr/>
          <p:nvPr/>
        </p:nvSpPr>
        <p:spPr>
          <a:xfrm>
            <a:off x="1593339" y="6473652"/>
            <a:ext cx="5647200" cy="9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575" tIns="74275" rIns="148575" bIns="7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707"/>
              <a:buFont typeface="Calibri"/>
              <a:buNone/>
            </a:pPr>
            <a:r>
              <a:rPr lang="en-US" sz="18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uart_axi → arready = 1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g3e6c48d04c6_0_112"/>
          <p:cNvSpPr/>
          <p:nvPr/>
        </p:nvSpPr>
        <p:spPr>
          <a:xfrm>
            <a:off x="1593339" y="7484236"/>
            <a:ext cx="5647200" cy="9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575" tIns="74275" rIns="148575" bIns="7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48"/>
              </a:buClr>
              <a:buSzPts val="1707"/>
              <a:buFont typeface="Calibri"/>
              <a:buNone/>
            </a:pPr>
            <a:r>
              <a:rPr lang="en-US" sz="1800" b="1" i="0" u="none" strike="noStrike" cap="none">
                <a:solidFill>
                  <a:srgbClr val="1A7A48"/>
                </a:solidFill>
                <a:latin typeface="Calibri"/>
                <a:ea typeface="Calibri"/>
                <a:cs typeface="Calibri"/>
                <a:sym typeface="Calibri"/>
              </a:rPr>
              <a:t>✅ AR Handshake complete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g3e6c48d04c6_0_112"/>
          <p:cNvSpPr/>
          <p:nvPr/>
        </p:nvSpPr>
        <p:spPr>
          <a:xfrm>
            <a:off x="8206728" y="3605377"/>
            <a:ext cx="6093300" cy="713400"/>
          </a:xfrm>
          <a:prstGeom prst="rect">
            <a:avLst/>
          </a:prstGeom>
          <a:solidFill>
            <a:srgbClr val="5DADE2"/>
          </a:solidFill>
          <a:ln w="20625" cap="flat" cmpd="sng">
            <a:solidFill>
              <a:srgbClr val="5DAD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8575" tIns="148575" rIns="148575" bIns="14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542" name="Google Shape;542;g3e6c48d04c6_0_112"/>
          <p:cNvSpPr/>
          <p:nvPr/>
        </p:nvSpPr>
        <p:spPr>
          <a:xfrm>
            <a:off x="8355344" y="3605377"/>
            <a:ext cx="57957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88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2: R — Read Data Channel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g3e6c48d04c6_0_112"/>
          <p:cNvSpPr/>
          <p:nvPr/>
        </p:nvSpPr>
        <p:spPr>
          <a:xfrm>
            <a:off x="8206728" y="4348454"/>
            <a:ext cx="6093300" cy="4458300"/>
          </a:xfrm>
          <a:prstGeom prst="rect">
            <a:avLst/>
          </a:prstGeom>
          <a:solidFill>
            <a:srgbClr val="FFFFFF"/>
          </a:solidFill>
          <a:ln w="20625" cap="flat" cmpd="sng">
            <a:solidFill>
              <a:srgbClr val="5DADE2"/>
            </a:solidFill>
            <a:prstDash val="solid"/>
            <a:round/>
            <a:headEnd type="none" w="sm" len="sm"/>
            <a:tailEnd type="none" w="sm" len="sm"/>
          </a:ln>
          <a:effectLst>
            <a:outerShdw blurRad="103205" dist="41282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48575" tIns="148575" rIns="148575" bIns="14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44" name="Google Shape;544;g3e6c48d04c6_0_112"/>
          <p:cNvSpPr/>
          <p:nvPr/>
        </p:nvSpPr>
        <p:spPr>
          <a:xfrm>
            <a:off x="8429651" y="4452484"/>
            <a:ext cx="5647200" cy="9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575" tIns="74275" rIns="148575" bIns="7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707"/>
              <a:buFont typeface="Calibri"/>
              <a:buNone/>
            </a:pPr>
            <a:r>
              <a:rPr lang="en-US" sz="18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uart_axi prepares: rdata = {30'b0, rx_buf_valid, 1'b0}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g3e6c48d04c6_0_112"/>
          <p:cNvSpPr/>
          <p:nvPr/>
        </p:nvSpPr>
        <p:spPr>
          <a:xfrm>
            <a:off x="8429651" y="5463068"/>
            <a:ext cx="5647200" cy="9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575" tIns="74275" rIns="148575" bIns="7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707"/>
              <a:buFont typeface="Calibri"/>
              <a:buNone/>
            </a:pPr>
            <a:r>
              <a:rPr lang="en-US" sz="18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uart_axi → rvalid = 1, rdata = 0x0000_0002  (RX ready)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g3e6c48d04c6_0_112"/>
          <p:cNvSpPr/>
          <p:nvPr/>
        </p:nvSpPr>
        <p:spPr>
          <a:xfrm>
            <a:off x="8429651" y="6473652"/>
            <a:ext cx="5647200" cy="9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575" tIns="74275" rIns="148575" bIns="7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707"/>
              <a:buFont typeface="Calibri"/>
              <a:buNone/>
            </a:pPr>
            <a:r>
              <a:rPr lang="en-US" sz="18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CPU bridge → rready = 1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g3e6c48d04c6_0_112"/>
          <p:cNvSpPr/>
          <p:nvPr/>
        </p:nvSpPr>
        <p:spPr>
          <a:xfrm>
            <a:off x="8429651" y="7484236"/>
            <a:ext cx="5647200" cy="9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575" tIns="74275" rIns="148575" bIns="7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48"/>
              </a:buClr>
              <a:buSzPts val="1707"/>
              <a:buFont typeface="Calibri"/>
              <a:buNone/>
            </a:pPr>
            <a:r>
              <a:rPr lang="en-US" sz="1800" b="1" i="0" u="none" strike="noStrike" cap="none">
                <a:solidFill>
                  <a:srgbClr val="1A7A48"/>
                </a:solidFill>
                <a:latin typeface="Calibri"/>
                <a:ea typeface="Calibri"/>
                <a:cs typeface="Calibri"/>
                <a:sym typeface="Calibri"/>
              </a:rPr>
              <a:t>✅ R Handshake complete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g3e6c48d04c6_0_112"/>
          <p:cNvSpPr/>
          <p:nvPr/>
        </p:nvSpPr>
        <p:spPr>
          <a:xfrm>
            <a:off x="701646" y="8955528"/>
            <a:ext cx="13969800" cy="5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575" tIns="74275" rIns="148575" bIns="7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7A48"/>
              </a:buClr>
              <a:buSzPts val="1788"/>
              <a:buFont typeface="Calibri"/>
              <a:buNone/>
            </a:pPr>
            <a:r>
              <a:rPr lang="en-US" sz="1788" b="1" i="0" u="none" strike="noStrike" cap="none">
                <a:solidFill>
                  <a:srgbClr val="1A7A48"/>
                </a:solidFill>
                <a:latin typeface="Calibri"/>
                <a:ea typeface="Calibri"/>
                <a:cs typeface="Calibri"/>
                <a:sym typeface="Calibri"/>
              </a:rPr>
              <a:t>Firmware checks:  (UART_STATUS &amp; 0x2) != 0  →  data available in RX buffer</a:t>
            </a:r>
            <a:endParaRPr sz="1788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7" name="Google Shape;557;p8"/>
          <p:cNvGrpSpPr/>
          <p:nvPr/>
        </p:nvGrpSpPr>
        <p:grpSpPr>
          <a:xfrm>
            <a:off x="822935" y="1037273"/>
            <a:ext cx="16642080" cy="1203008"/>
            <a:chOff x="0" y="-19050"/>
            <a:chExt cx="22189440" cy="1604010"/>
          </a:xfrm>
        </p:grpSpPr>
        <p:sp>
          <p:nvSpPr>
            <p:cNvPr id="558" name="Google Shape;558;p8"/>
            <p:cNvSpPr/>
            <p:nvPr/>
          </p:nvSpPr>
          <p:spPr>
            <a:xfrm>
              <a:off x="0" y="0"/>
              <a:ext cx="22189439" cy="1584960"/>
            </a:xfrm>
            <a:custGeom>
              <a:avLst/>
              <a:gdLst/>
              <a:ahLst/>
              <a:cxnLst/>
              <a:rect l="l" t="t" r="r" b="b"/>
              <a:pathLst>
                <a:path w="22189439" h="1584960" extrusionOk="0">
                  <a:moveTo>
                    <a:pt x="0" y="0"/>
                  </a:moveTo>
                  <a:lnTo>
                    <a:pt x="22189439" y="0"/>
                  </a:lnTo>
                  <a:lnTo>
                    <a:pt x="22189439" y="1584960"/>
                  </a:lnTo>
                  <a:lnTo>
                    <a:pt x="0" y="1584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22777" b="-222777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9" name="Google Shape;559;p8"/>
            <p:cNvSpPr txBox="1"/>
            <p:nvPr/>
          </p:nvSpPr>
          <p:spPr>
            <a:xfrm>
              <a:off x="0" y="-19050"/>
              <a:ext cx="22189440" cy="16040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200"/>
                <a:buFont typeface="Arial"/>
                <a:buNone/>
              </a:pPr>
              <a:r>
                <a:rPr lang="en-US" sz="5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VALID/READY Handshake Rules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0" name="Google Shape;560;p8"/>
          <p:cNvSpPr/>
          <p:nvPr/>
        </p:nvSpPr>
        <p:spPr>
          <a:xfrm>
            <a:off x="997224" y="2384376"/>
            <a:ext cx="15466800" cy="1316100"/>
          </a:xfrm>
          <a:prstGeom prst="rect">
            <a:avLst/>
          </a:prstGeom>
          <a:solidFill>
            <a:srgbClr val="4A9CC9"/>
          </a:solidFill>
          <a:ln w="22850" cap="flat" cmpd="sng">
            <a:solidFill>
              <a:srgbClr val="4A9C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4525" tIns="164525" rIns="164525" bIns="16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8"/>
          <p:cNvSpPr/>
          <p:nvPr/>
        </p:nvSpPr>
        <p:spPr>
          <a:xfrm>
            <a:off x="1326312" y="2384376"/>
            <a:ext cx="14809200" cy="13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4525" tIns="82250" rIns="164525" bIns="82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99"/>
              <a:buFont typeface="Calibri"/>
              <a:buNone/>
            </a:pPr>
            <a:r>
              <a:rPr lang="en-US" sz="2699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GOLDEN RULE:  Transfer occurs ONLY when VALID = 1 AND READY = 1 at the rising clock edge</a:t>
            </a:r>
            <a:endParaRPr sz="26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8"/>
          <p:cNvSpPr/>
          <p:nvPr/>
        </p:nvSpPr>
        <p:spPr>
          <a:xfrm>
            <a:off x="997224" y="3947533"/>
            <a:ext cx="7486500" cy="1612200"/>
          </a:xfrm>
          <a:prstGeom prst="rect">
            <a:avLst/>
          </a:prstGeom>
          <a:solidFill>
            <a:srgbClr val="FFFFFF"/>
          </a:solidFill>
          <a:ln w="22850" cap="flat" cmpd="sng">
            <a:solidFill>
              <a:srgbClr val="B8D8ED"/>
            </a:solidFill>
            <a:prstDash val="solid"/>
            <a:round/>
            <a:headEnd type="none" w="sm" len="sm"/>
            <a:tailEnd type="none" w="sm" len="sm"/>
          </a:ln>
          <a:effectLst>
            <a:outerShdw blurRad="114266" dist="45706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64525" tIns="164525" rIns="164525" bIns="16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8"/>
          <p:cNvSpPr/>
          <p:nvPr/>
        </p:nvSpPr>
        <p:spPr>
          <a:xfrm>
            <a:off x="997224" y="3947533"/>
            <a:ext cx="114900" cy="1612200"/>
          </a:xfrm>
          <a:prstGeom prst="rect">
            <a:avLst/>
          </a:prstGeom>
          <a:solidFill>
            <a:srgbClr val="2176AE"/>
          </a:solidFill>
          <a:ln w="22850" cap="flat" cmpd="sng">
            <a:solidFill>
              <a:srgbClr val="2176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4525" tIns="164525" rIns="164525" bIns="16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8"/>
          <p:cNvSpPr/>
          <p:nvPr/>
        </p:nvSpPr>
        <p:spPr>
          <a:xfrm>
            <a:off x="1326312" y="4079167"/>
            <a:ext cx="789600" cy="789600"/>
          </a:xfrm>
          <a:prstGeom prst="ellipse">
            <a:avLst/>
          </a:prstGeom>
          <a:solidFill>
            <a:srgbClr val="2176AE"/>
          </a:solidFill>
          <a:ln w="22850" cap="flat" cmpd="sng">
            <a:solidFill>
              <a:srgbClr val="2176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4525" tIns="164525" rIns="164525" bIns="16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8"/>
          <p:cNvSpPr/>
          <p:nvPr/>
        </p:nvSpPr>
        <p:spPr>
          <a:xfrm>
            <a:off x="1326312" y="4079167"/>
            <a:ext cx="789600" cy="7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19"/>
              <a:buFont typeface="Calibri"/>
              <a:buNone/>
            </a:pPr>
            <a:r>
              <a:rPr lang="en-US" sz="2519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51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8"/>
          <p:cNvSpPr/>
          <p:nvPr/>
        </p:nvSpPr>
        <p:spPr>
          <a:xfrm>
            <a:off x="2346482" y="4029804"/>
            <a:ext cx="5973000" cy="16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4525" tIns="82250" rIns="164525" bIns="82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2069"/>
              <a:buFont typeface="Calibri"/>
              <a:buNone/>
            </a:pPr>
            <a:r>
              <a:rPr lang="en-US" sz="2069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VALID may be asserted without READY. The sender waits.</a:t>
            </a:r>
            <a:endParaRPr sz="206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8"/>
          <p:cNvSpPr/>
          <p:nvPr/>
        </p:nvSpPr>
        <p:spPr>
          <a:xfrm>
            <a:off x="8895317" y="3947533"/>
            <a:ext cx="7486500" cy="1612200"/>
          </a:xfrm>
          <a:prstGeom prst="rect">
            <a:avLst/>
          </a:prstGeom>
          <a:solidFill>
            <a:srgbClr val="FFFFFF"/>
          </a:solidFill>
          <a:ln w="22850" cap="flat" cmpd="sng">
            <a:solidFill>
              <a:srgbClr val="B8D8ED"/>
            </a:solidFill>
            <a:prstDash val="solid"/>
            <a:round/>
            <a:headEnd type="none" w="sm" len="sm"/>
            <a:tailEnd type="none" w="sm" len="sm"/>
          </a:ln>
          <a:effectLst>
            <a:outerShdw blurRad="114266" dist="45706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64525" tIns="164525" rIns="164525" bIns="16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8"/>
          <p:cNvSpPr/>
          <p:nvPr/>
        </p:nvSpPr>
        <p:spPr>
          <a:xfrm>
            <a:off x="8895317" y="3947533"/>
            <a:ext cx="114900" cy="1612200"/>
          </a:xfrm>
          <a:prstGeom prst="rect">
            <a:avLst/>
          </a:prstGeom>
          <a:solidFill>
            <a:srgbClr val="1A6EA0"/>
          </a:solidFill>
          <a:ln w="22850" cap="flat" cmpd="sng">
            <a:solidFill>
              <a:srgbClr val="1A6E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4525" tIns="164525" rIns="164525" bIns="16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8"/>
          <p:cNvSpPr/>
          <p:nvPr/>
        </p:nvSpPr>
        <p:spPr>
          <a:xfrm>
            <a:off x="9224404" y="4079167"/>
            <a:ext cx="789600" cy="789600"/>
          </a:xfrm>
          <a:prstGeom prst="ellipse">
            <a:avLst/>
          </a:prstGeom>
          <a:solidFill>
            <a:srgbClr val="1A6EA0"/>
          </a:solidFill>
          <a:ln w="22850" cap="flat" cmpd="sng">
            <a:solidFill>
              <a:srgbClr val="1A6E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4525" tIns="164525" rIns="164525" bIns="16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8"/>
          <p:cNvSpPr/>
          <p:nvPr/>
        </p:nvSpPr>
        <p:spPr>
          <a:xfrm>
            <a:off x="9224404" y="4079167"/>
            <a:ext cx="789600" cy="7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19"/>
              <a:buFont typeface="Calibri"/>
              <a:buNone/>
            </a:pPr>
            <a:r>
              <a:rPr lang="en-US" sz="2519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51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8"/>
          <p:cNvSpPr/>
          <p:nvPr/>
        </p:nvSpPr>
        <p:spPr>
          <a:xfrm>
            <a:off x="10244575" y="4029804"/>
            <a:ext cx="5973000" cy="16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4525" tIns="82250" rIns="164525" bIns="82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2069"/>
              <a:buFont typeface="Calibri"/>
              <a:buNone/>
            </a:pPr>
            <a:r>
              <a:rPr lang="en-US" sz="2069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READY may be asserted without VALID. The receiver is ready to accept.</a:t>
            </a:r>
            <a:endParaRPr sz="206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8"/>
          <p:cNvSpPr/>
          <p:nvPr/>
        </p:nvSpPr>
        <p:spPr>
          <a:xfrm>
            <a:off x="997224" y="5790413"/>
            <a:ext cx="7486500" cy="1612200"/>
          </a:xfrm>
          <a:prstGeom prst="rect">
            <a:avLst/>
          </a:prstGeom>
          <a:solidFill>
            <a:srgbClr val="FFFFFF"/>
          </a:solidFill>
          <a:ln w="22850" cap="flat" cmpd="sng">
            <a:solidFill>
              <a:srgbClr val="B8D8ED"/>
            </a:solidFill>
            <a:prstDash val="solid"/>
            <a:round/>
            <a:headEnd type="none" w="sm" len="sm"/>
            <a:tailEnd type="none" w="sm" len="sm"/>
          </a:ln>
          <a:effectLst>
            <a:outerShdw blurRad="114266" dist="45706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64525" tIns="164525" rIns="164525" bIns="16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8"/>
          <p:cNvSpPr/>
          <p:nvPr/>
        </p:nvSpPr>
        <p:spPr>
          <a:xfrm>
            <a:off x="997224" y="5790413"/>
            <a:ext cx="114900" cy="1612200"/>
          </a:xfrm>
          <a:prstGeom prst="rect">
            <a:avLst/>
          </a:prstGeom>
          <a:solidFill>
            <a:srgbClr val="D44000"/>
          </a:solidFill>
          <a:ln w="22850" cap="flat" cmpd="sng">
            <a:solidFill>
              <a:srgbClr val="D44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4525" tIns="164525" rIns="164525" bIns="16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8"/>
          <p:cNvSpPr/>
          <p:nvPr/>
        </p:nvSpPr>
        <p:spPr>
          <a:xfrm>
            <a:off x="1326312" y="5922047"/>
            <a:ext cx="789600" cy="789600"/>
          </a:xfrm>
          <a:prstGeom prst="ellipse">
            <a:avLst/>
          </a:prstGeom>
          <a:solidFill>
            <a:srgbClr val="D44000"/>
          </a:solidFill>
          <a:ln w="22850" cap="flat" cmpd="sng">
            <a:solidFill>
              <a:srgbClr val="D44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4525" tIns="164525" rIns="164525" bIns="16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8"/>
          <p:cNvSpPr/>
          <p:nvPr/>
        </p:nvSpPr>
        <p:spPr>
          <a:xfrm>
            <a:off x="1326312" y="5922047"/>
            <a:ext cx="789600" cy="7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19"/>
              <a:buFont typeface="Calibri"/>
              <a:buNone/>
            </a:pPr>
            <a:r>
              <a:rPr lang="en-US" sz="2519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51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8"/>
          <p:cNvSpPr/>
          <p:nvPr/>
        </p:nvSpPr>
        <p:spPr>
          <a:xfrm>
            <a:off x="2346482" y="5872684"/>
            <a:ext cx="5973000" cy="16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4525" tIns="82250" rIns="164525" bIns="82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2069"/>
              <a:buFont typeface="Calibri"/>
              <a:buNone/>
            </a:pPr>
            <a:r>
              <a:rPr lang="en-US" sz="2069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Once VALID is asserted, it MUST NOT be de-asserted until the handshake completes.</a:t>
            </a:r>
            <a:endParaRPr sz="206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8"/>
          <p:cNvSpPr/>
          <p:nvPr/>
        </p:nvSpPr>
        <p:spPr>
          <a:xfrm>
            <a:off x="8895317" y="5790413"/>
            <a:ext cx="7486500" cy="1612200"/>
          </a:xfrm>
          <a:prstGeom prst="rect">
            <a:avLst/>
          </a:prstGeom>
          <a:solidFill>
            <a:srgbClr val="FFFFFF"/>
          </a:solidFill>
          <a:ln w="22850" cap="flat" cmpd="sng">
            <a:solidFill>
              <a:srgbClr val="B8D8ED"/>
            </a:solidFill>
            <a:prstDash val="solid"/>
            <a:round/>
            <a:headEnd type="none" w="sm" len="sm"/>
            <a:tailEnd type="none" w="sm" len="sm"/>
          </a:ln>
          <a:effectLst>
            <a:outerShdw blurRad="114266" dist="45706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64525" tIns="164525" rIns="164525" bIns="16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8"/>
          <p:cNvSpPr/>
          <p:nvPr/>
        </p:nvSpPr>
        <p:spPr>
          <a:xfrm>
            <a:off x="8895317" y="5790413"/>
            <a:ext cx="114900" cy="1612200"/>
          </a:xfrm>
          <a:prstGeom prst="rect">
            <a:avLst/>
          </a:prstGeom>
          <a:solidFill>
            <a:srgbClr val="2176AE"/>
          </a:solidFill>
          <a:ln w="22850" cap="flat" cmpd="sng">
            <a:solidFill>
              <a:srgbClr val="2176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4525" tIns="164525" rIns="164525" bIns="16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8"/>
          <p:cNvSpPr/>
          <p:nvPr/>
        </p:nvSpPr>
        <p:spPr>
          <a:xfrm>
            <a:off x="9224404" y="5922047"/>
            <a:ext cx="789600" cy="789600"/>
          </a:xfrm>
          <a:prstGeom prst="ellipse">
            <a:avLst/>
          </a:prstGeom>
          <a:solidFill>
            <a:srgbClr val="2176AE"/>
          </a:solidFill>
          <a:ln w="22850" cap="flat" cmpd="sng">
            <a:solidFill>
              <a:srgbClr val="2176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4525" tIns="164525" rIns="164525" bIns="16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8"/>
          <p:cNvSpPr/>
          <p:nvPr/>
        </p:nvSpPr>
        <p:spPr>
          <a:xfrm>
            <a:off x="9224404" y="5922047"/>
            <a:ext cx="789600" cy="7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19"/>
              <a:buFont typeface="Calibri"/>
              <a:buNone/>
            </a:pPr>
            <a:r>
              <a:rPr lang="en-US" sz="2519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51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8"/>
          <p:cNvSpPr/>
          <p:nvPr/>
        </p:nvSpPr>
        <p:spPr>
          <a:xfrm>
            <a:off x="10244575" y="5872684"/>
            <a:ext cx="5973000" cy="16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4525" tIns="82250" rIns="164525" bIns="82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2069"/>
              <a:buFont typeface="Calibri"/>
              <a:buNone/>
            </a:pPr>
            <a:r>
              <a:rPr lang="en-US" sz="2069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READY can be de-asserted freely between transactions.</a:t>
            </a:r>
            <a:endParaRPr sz="206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8"/>
          <p:cNvSpPr/>
          <p:nvPr/>
        </p:nvSpPr>
        <p:spPr>
          <a:xfrm>
            <a:off x="997224" y="7633293"/>
            <a:ext cx="7486500" cy="1612200"/>
          </a:xfrm>
          <a:prstGeom prst="rect">
            <a:avLst/>
          </a:prstGeom>
          <a:solidFill>
            <a:srgbClr val="FFFFFF"/>
          </a:solidFill>
          <a:ln w="22850" cap="flat" cmpd="sng">
            <a:solidFill>
              <a:srgbClr val="B8D8ED"/>
            </a:solidFill>
            <a:prstDash val="solid"/>
            <a:round/>
            <a:headEnd type="none" w="sm" len="sm"/>
            <a:tailEnd type="none" w="sm" len="sm"/>
          </a:ln>
          <a:effectLst>
            <a:outerShdw blurRad="114266" dist="45706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64525" tIns="164525" rIns="164525" bIns="16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8"/>
          <p:cNvSpPr/>
          <p:nvPr/>
        </p:nvSpPr>
        <p:spPr>
          <a:xfrm>
            <a:off x="997224" y="7633293"/>
            <a:ext cx="114900" cy="1612200"/>
          </a:xfrm>
          <a:prstGeom prst="rect">
            <a:avLst/>
          </a:prstGeom>
          <a:solidFill>
            <a:srgbClr val="D44000"/>
          </a:solidFill>
          <a:ln w="22850" cap="flat" cmpd="sng">
            <a:solidFill>
              <a:srgbClr val="D44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4525" tIns="164525" rIns="164525" bIns="16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8"/>
          <p:cNvSpPr/>
          <p:nvPr/>
        </p:nvSpPr>
        <p:spPr>
          <a:xfrm>
            <a:off x="1326312" y="7764927"/>
            <a:ext cx="789600" cy="789600"/>
          </a:xfrm>
          <a:prstGeom prst="ellipse">
            <a:avLst/>
          </a:prstGeom>
          <a:solidFill>
            <a:srgbClr val="D44000"/>
          </a:solidFill>
          <a:ln w="22850" cap="flat" cmpd="sng">
            <a:solidFill>
              <a:srgbClr val="D44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4525" tIns="164525" rIns="164525" bIns="16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8"/>
          <p:cNvSpPr/>
          <p:nvPr/>
        </p:nvSpPr>
        <p:spPr>
          <a:xfrm>
            <a:off x="1326312" y="7764927"/>
            <a:ext cx="789600" cy="7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19"/>
              <a:buFont typeface="Calibri"/>
              <a:buNone/>
            </a:pPr>
            <a:r>
              <a:rPr lang="en-US" sz="2519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51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8"/>
          <p:cNvSpPr/>
          <p:nvPr/>
        </p:nvSpPr>
        <p:spPr>
          <a:xfrm>
            <a:off x="2346482" y="7715565"/>
            <a:ext cx="5973000" cy="16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4525" tIns="82250" rIns="164525" bIns="82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2069"/>
              <a:buFont typeface="Calibri"/>
              <a:buNone/>
            </a:pPr>
            <a:r>
              <a:rPr lang="en-US" sz="2069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Master must NOT make VALID dependent on READY (no circular deadlock).</a:t>
            </a:r>
            <a:endParaRPr sz="206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8"/>
          <p:cNvSpPr/>
          <p:nvPr/>
        </p:nvSpPr>
        <p:spPr>
          <a:xfrm>
            <a:off x="8895317" y="7633293"/>
            <a:ext cx="7486500" cy="1612200"/>
          </a:xfrm>
          <a:prstGeom prst="rect">
            <a:avLst/>
          </a:prstGeom>
          <a:solidFill>
            <a:srgbClr val="FFFFFF"/>
          </a:solidFill>
          <a:ln w="22850" cap="flat" cmpd="sng">
            <a:solidFill>
              <a:srgbClr val="B8D8ED"/>
            </a:solidFill>
            <a:prstDash val="solid"/>
            <a:round/>
            <a:headEnd type="none" w="sm" len="sm"/>
            <a:tailEnd type="none" w="sm" len="sm"/>
          </a:ln>
          <a:effectLst>
            <a:outerShdw blurRad="114266" dist="45706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64525" tIns="164525" rIns="164525" bIns="16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8"/>
          <p:cNvSpPr/>
          <p:nvPr/>
        </p:nvSpPr>
        <p:spPr>
          <a:xfrm>
            <a:off x="8895317" y="7633293"/>
            <a:ext cx="114900" cy="1612200"/>
          </a:xfrm>
          <a:prstGeom prst="rect">
            <a:avLst/>
          </a:prstGeom>
          <a:solidFill>
            <a:srgbClr val="1A6EA0"/>
          </a:solidFill>
          <a:ln w="22850" cap="flat" cmpd="sng">
            <a:solidFill>
              <a:srgbClr val="1A6E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4525" tIns="164525" rIns="164525" bIns="16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8"/>
          <p:cNvSpPr/>
          <p:nvPr/>
        </p:nvSpPr>
        <p:spPr>
          <a:xfrm>
            <a:off x="9224404" y="7764927"/>
            <a:ext cx="789600" cy="789600"/>
          </a:xfrm>
          <a:prstGeom prst="ellipse">
            <a:avLst/>
          </a:prstGeom>
          <a:solidFill>
            <a:srgbClr val="1A6EA0"/>
          </a:solidFill>
          <a:ln w="22850" cap="flat" cmpd="sng">
            <a:solidFill>
              <a:srgbClr val="1A6E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4525" tIns="164525" rIns="164525" bIns="16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8"/>
          <p:cNvSpPr/>
          <p:nvPr/>
        </p:nvSpPr>
        <p:spPr>
          <a:xfrm>
            <a:off x="9224404" y="7764927"/>
            <a:ext cx="789600" cy="7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19"/>
              <a:buFont typeface="Calibri"/>
              <a:buNone/>
            </a:pPr>
            <a:r>
              <a:rPr lang="en-US" sz="2519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51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8"/>
          <p:cNvSpPr/>
          <p:nvPr/>
        </p:nvSpPr>
        <p:spPr>
          <a:xfrm>
            <a:off x="10244575" y="7715565"/>
            <a:ext cx="5973000" cy="16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4525" tIns="82250" rIns="164525" bIns="82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2069"/>
              <a:buFont typeface="Calibri"/>
              <a:buNone/>
            </a:pPr>
            <a:r>
              <a:rPr lang="en-US" sz="2069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Transfer data is captured by the receiver on the handshake clock edge.</a:t>
            </a:r>
            <a:endParaRPr sz="206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e6c48d04c6_0_199"/>
          <p:cNvSpPr/>
          <p:nvPr/>
        </p:nvSpPr>
        <p:spPr>
          <a:xfrm>
            <a:off x="1151970" y="1123100"/>
            <a:ext cx="10929000" cy="12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WSTRB — Write Strobe Byte Enable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g3e6c48d04c6_0_199"/>
          <p:cNvSpPr/>
          <p:nvPr/>
        </p:nvSpPr>
        <p:spPr>
          <a:xfrm>
            <a:off x="1087681" y="2604411"/>
            <a:ext cx="5786100" cy="19257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8D8ED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599" name="Google Shape;599;g3e6c48d04c6_0_199"/>
          <p:cNvSpPr/>
          <p:nvPr/>
        </p:nvSpPr>
        <p:spPr>
          <a:xfrm>
            <a:off x="1087681" y="2604411"/>
            <a:ext cx="90000" cy="1925700"/>
          </a:xfrm>
          <a:prstGeom prst="rect">
            <a:avLst/>
          </a:prstGeom>
          <a:solidFill>
            <a:srgbClr val="2176AE"/>
          </a:solidFill>
          <a:ln w="12700" cap="flat" cmpd="sng">
            <a:solidFill>
              <a:srgbClr val="2176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600" name="Google Shape;600;g3e6c48d04c6_0_199"/>
          <p:cNvSpPr/>
          <p:nvPr/>
        </p:nvSpPr>
        <p:spPr>
          <a:xfrm>
            <a:off x="1344835" y="2678476"/>
            <a:ext cx="5271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45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What is WSTRB?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g3e6c48d04c6_0_199"/>
          <p:cNvSpPr/>
          <p:nvPr/>
        </p:nvSpPr>
        <p:spPr>
          <a:xfrm>
            <a:off x="1344835" y="3196935"/>
            <a:ext cx="5271900" cy="11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150"/>
              <a:buFont typeface="Calibri"/>
              <a:buNone/>
            </a:pPr>
            <a:r>
              <a:rPr lang="en-US" sz="18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4-bit signal (one bit per byte lane) indicating which bytes of wdata[31:0] are valid. Allows sub-word writes without a read-modify-write cycle.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2" name="Google Shape;602;g3e6c48d04c6_0_199"/>
          <p:cNvGraphicFramePr/>
          <p:nvPr/>
        </p:nvGraphicFramePr>
        <p:xfrm>
          <a:off x="8608825" y="2308863"/>
          <a:ext cx="7274850" cy="2888125"/>
        </p:xfrm>
        <a:graphic>
          <a:graphicData uri="http://schemas.openxmlformats.org/drawingml/2006/table">
            <a:tbl>
              <a:tblPr>
                <a:noFill/>
                <a:tableStyleId>{523E13C5-BB17-412C-A7E0-655E00E05CE3}</a:tableStyleId>
              </a:tblPr>
              <a:tblGrid>
                <a:gridCol w="247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7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FFFFFF"/>
                          </a:solidFill>
                        </a:rPr>
                        <a:t>WSTRB bit</a:t>
                      </a:r>
                      <a:endParaRPr sz="2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9C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FFFFFF"/>
                          </a:solidFill>
                        </a:rPr>
                        <a:t>Byte lane</a:t>
                      </a:r>
                      <a:endParaRPr sz="2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9C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FFFFFF"/>
                          </a:solidFill>
                        </a:rPr>
                        <a:t>wdata bits</a:t>
                      </a:r>
                      <a:endParaRPr sz="2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9C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</a:rPr>
                        <a:t>wstrb[0]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</a:rPr>
                        <a:t>Byte 0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</a:rPr>
                        <a:t>[7:0]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</a:rPr>
                        <a:t>wstrb[1]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</a:rPr>
                        <a:t>Byte 1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</a:rPr>
                        <a:t>[15:8]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</a:rPr>
                        <a:t>wstrb[2]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</a:rPr>
                        <a:t>Byte 2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</a:rPr>
                        <a:t>[23:16]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</a:rPr>
                        <a:t>wstrb[3]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</a:rPr>
                        <a:t>Byte 3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</a:rPr>
                        <a:t>[31:24]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3" name="Google Shape;603;g3e6c48d04c6_0_199"/>
          <p:cNvSpPr/>
          <p:nvPr/>
        </p:nvSpPr>
        <p:spPr>
          <a:xfrm>
            <a:off x="1087681" y="4707872"/>
            <a:ext cx="120861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45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Project Examples — Firmware → WSTRB Mapping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g3e6c48d04c6_0_199"/>
          <p:cNvSpPr/>
          <p:nvPr/>
        </p:nvSpPr>
        <p:spPr>
          <a:xfrm>
            <a:off x="1087674" y="5418900"/>
            <a:ext cx="14650200" cy="1259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8D8ED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05" name="Google Shape;605;g3e6c48d04c6_0_199"/>
          <p:cNvSpPr/>
          <p:nvPr/>
        </p:nvSpPr>
        <p:spPr>
          <a:xfrm>
            <a:off x="1087681" y="5418901"/>
            <a:ext cx="90000" cy="1259400"/>
          </a:xfrm>
          <a:prstGeom prst="rect">
            <a:avLst/>
          </a:prstGeom>
          <a:solidFill>
            <a:srgbClr val="2176AE"/>
          </a:solidFill>
          <a:ln w="12700" cap="flat" cmpd="sng">
            <a:solidFill>
              <a:srgbClr val="2176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06" name="Google Shape;606;g3e6c48d04c6_0_199"/>
          <p:cNvSpPr/>
          <p:nvPr/>
        </p:nvSpPr>
        <p:spPr>
          <a:xfrm>
            <a:off x="1409124" y="5463340"/>
            <a:ext cx="45000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45"/>
              </a:buClr>
              <a:buSzPts val="1200"/>
              <a:buFont typeface="Courier New"/>
              <a:buNone/>
            </a:pPr>
            <a:r>
              <a:rPr lang="en-US" sz="1800" b="1" i="0" u="none" strike="noStrike" cap="none">
                <a:solidFill>
                  <a:srgbClr val="0D2B45"/>
                </a:solidFill>
                <a:latin typeface="Courier New"/>
                <a:ea typeface="Courier New"/>
                <a:cs typeface="Courier New"/>
                <a:sym typeface="Courier New"/>
              </a:rPr>
              <a:t>SW  x0, 0(UART_BASE)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g3e6c48d04c6_0_199"/>
          <p:cNvSpPr/>
          <p:nvPr/>
        </p:nvSpPr>
        <p:spPr>
          <a:xfrm>
            <a:off x="5973607" y="5463340"/>
            <a:ext cx="28290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76AE"/>
              </a:buClr>
              <a:buSzPts val="1200"/>
              <a:buFont typeface="Courier New"/>
              <a:buNone/>
            </a:pPr>
            <a:r>
              <a:rPr lang="en-US" sz="1800" b="1" i="0" u="none" strike="noStrike" cap="none">
                <a:solidFill>
                  <a:srgbClr val="2176AE"/>
                </a:solidFill>
                <a:latin typeface="Courier New"/>
                <a:ea typeface="Courier New"/>
                <a:cs typeface="Courier New"/>
                <a:sym typeface="Courier New"/>
              </a:rPr>
              <a:t>WSTRB = 4'hF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g3e6c48d04c6_0_199"/>
          <p:cNvSpPr/>
          <p:nvPr/>
        </p:nvSpPr>
        <p:spPr>
          <a:xfrm>
            <a:off x="1477312" y="5981796"/>
            <a:ext cx="140268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100"/>
              <a:buFont typeface="Calibri"/>
              <a:buNone/>
            </a:pPr>
            <a:r>
              <a:rPr lang="en-US" sz="18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Full 32-bit word write — all 4 bytes valid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g3e6c48d04c6_0_199"/>
          <p:cNvSpPr/>
          <p:nvPr/>
        </p:nvSpPr>
        <p:spPr>
          <a:xfrm>
            <a:off x="1087674" y="6900205"/>
            <a:ext cx="14650200" cy="1259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8D8ED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10" name="Google Shape;610;g3e6c48d04c6_0_199"/>
          <p:cNvSpPr/>
          <p:nvPr/>
        </p:nvSpPr>
        <p:spPr>
          <a:xfrm>
            <a:off x="1087681" y="6900212"/>
            <a:ext cx="90000" cy="1259400"/>
          </a:xfrm>
          <a:prstGeom prst="rect">
            <a:avLst/>
          </a:prstGeom>
          <a:solidFill>
            <a:srgbClr val="D44000"/>
          </a:solidFill>
          <a:ln w="12700" cap="flat" cmpd="sng">
            <a:solidFill>
              <a:srgbClr val="D44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11" name="Google Shape;611;g3e6c48d04c6_0_199"/>
          <p:cNvSpPr/>
          <p:nvPr/>
        </p:nvSpPr>
        <p:spPr>
          <a:xfrm>
            <a:off x="1409124" y="6944651"/>
            <a:ext cx="45000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45"/>
              </a:buClr>
              <a:buSzPts val="1200"/>
              <a:buFont typeface="Courier New"/>
              <a:buNone/>
            </a:pPr>
            <a:r>
              <a:rPr lang="en-US" sz="1800" b="1" i="0" u="none" strike="noStrike" cap="none">
                <a:solidFill>
                  <a:srgbClr val="0D2B45"/>
                </a:solidFill>
                <a:latin typeface="Courier New"/>
                <a:ea typeface="Courier New"/>
                <a:cs typeface="Courier New"/>
                <a:sym typeface="Courier New"/>
              </a:rPr>
              <a:t>SB  x0, 0(UART_BASE)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g3e6c48d04c6_0_199"/>
          <p:cNvSpPr/>
          <p:nvPr/>
        </p:nvSpPr>
        <p:spPr>
          <a:xfrm>
            <a:off x="5973607" y="6944651"/>
            <a:ext cx="28290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4000"/>
              </a:buClr>
              <a:buSzPts val="1200"/>
              <a:buFont typeface="Courier New"/>
              <a:buNone/>
            </a:pPr>
            <a:r>
              <a:rPr lang="en-US" sz="1800" b="1" i="0" u="none" strike="noStrike" cap="none">
                <a:solidFill>
                  <a:srgbClr val="D44000"/>
                </a:solidFill>
                <a:latin typeface="Courier New"/>
                <a:ea typeface="Courier New"/>
                <a:cs typeface="Courier New"/>
                <a:sym typeface="Courier New"/>
              </a:rPr>
              <a:t>WSTRB = 4'h1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g3e6c48d04c6_0_199"/>
          <p:cNvSpPr/>
          <p:nvPr/>
        </p:nvSpPr>
        <p:spPr>
          <a:xfrm>
            <a:off x="1477312" y="7463101"/>
            <a:ext cx="140268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100"/>
              <a:buFont typeface="Calibri"/>
              <a:buNone/>
            </a:pPr>
            <a:r>
              <a:rPr lang="en-US" sz="18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Byte write — only wdata[7:0] (byte 0) is valid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g3e6c48d04c6_0_199"/>
          <p:cNvSpPr/>
          <p:nvPr/>
        </p:nvSpPr>
        <p:spPr>
          <a:xfrm>
            <a:off x="1087681" y="8500027"/>
            <a:ext cx="120861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76AE"/>
              </a:buClr>
              <a:buSzPts val="1100"/>
              <a:buFont typeface="Calibri"/>
              <a:buNone/>
            </a:pPr>
            <a:r>
              <a:rPr lang="en-US" sz="2000" b="1" i="0" u="none" strike="noStrike" cap="none">
                <a:solidFill>
                  <a:srgbClr val="2176AE"/>
                </a:solidFill>
                <a:latin typeface="Calibri"/>
                <a:ea typeface="Calibri"/>
                <a:cs typeface="Calibri"/>
                <a:sym typeface="Calibri"/>
              </a:rPr>
              <a:t>uart_axi.v — byte selection from WSTRB: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g3e6c48d04c6_0_199"/>
          <p:cNvSpPr/>
          <p:nvPr/>
        </p:nvSpPr>
        <p:spPr>
          <a:xfrm>
            <a:off x="1087674" y="8974050"/>
            <a:ext cx="14650200" cy="814200"/>
          </a:xfrm>
          <a:prstGeom prst="rect">
            <a:avLst/>
          </a:prstGeom>
          <a:solidFill>
            <a:srgbClr val="D6EEFA"/>
          </a:solidFill>
          <a:ln w="12700" cap="flat" cmpd="sng">
            <a:solidFill>
              <a:srgbClr val="4A9C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16" name="Google Shape;616;g3e6c48d04c6_0_199"/>
          <p:cNvSpPr/>
          <p:nvPr/>
        </p:nvSpPr>
        <p:spPr>
          <a:xfrm>
            <a:off x="1274700" y="9092555"/>
            <a:ext cx="142767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ourier New"/>
              <a:buNone/>
            </a:pPr>
            <a:r>
              <a:rPr lang="en-US" sz="1800" b="0" i="0" u="none" strike="noStrike" cap="none">
                <a:solidFill>
                  <a:srgbClr val="0A2540"/>
                </a:solidFill>
                <a:latin typeface="Courier New"/>
                <a:ea typeface="Courier New"/>
                <a:cs typeface="Courier New"/>
                <a:sym typeface="Courier New"/>
              </a:rPr>
              <a:t>if      (s_axi_wstrb[0])  w_byte &lt;= s_axi_wdata[ 7: 0];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ourier New"/>
              <a:buNone/>
            </a:pPr>
            <a:r>
              <a:rPr lang="en-US" sz="1800" b="0" i="0" u="none" strike="noStrike" cap="none">
                <a:solidFill>
                  <a:srgbClr val="0A2540"/>
                </a:solidFill>
                <a:latin typeface="Courier New"/>
                <a:ea typeface="Courier New"/>
                <a:cs typeface="Courier New"/>
                <a:sym typeface="Courier New"/>
              </a:rPr>
              <a:t>else if (s_axi_wstrb[1])  w_byte &lt;= s_axi_wdata[15: 8];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0"/>
          <p:cNvSpPr/>
          <p:nvPr/>
        </p:nvSpPr>
        <p:spPr>
          <a:xfrm>
            <a:off x="1218691" y="803725"/>
            <a:ext cx="141960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84"/>
              <a:buFont typeface="Calibri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&amp; Read Transaction Flow Summary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0"/>
          <p:cNvSpPr/>
          <p:nvPr/>
        </p:nvSpPr>
        <p:spPr>
          <a:xfrm>
            <a:off x="1135175" y="2473850"/>
            <a:ext cx="7598700" cy="5945700"/>
          </a:xfrm>
          <a:prstGeom prst="rect">
            <a:avLst/>
          </a:prstGeom>
          <a:solidFill>
            <a:srgbClr val="FFFFFF"/>
          </a:solidFill>
          <a:ln w="23200" cap="flat" cmpd="sng">
            <a:solidFill>
              <a:srgbClr val="2176AE"/>
            </a:solidFill>
            <a:prstDash val="solid"/>
            <a:round/>
            <a:headEnd type="none" w="sm" len="sm"/>
            <a:tailEnd type="none" w="sm" len="sm"/>
          </a:ln>
          <a:effectLst>
            <a:outerShdw blurRad="115981" dist="46392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67000" tIns="167000" rIns="167000" bIns="16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10"/>
          <p:cNvSpPr/>
          <p:nvPr/>
        </p:nvSpPr>
        <p:spPr>
          <a:xfrm>
            <a:off x="1135175" y="2473850"/>
            <a:ext cx="116700" cy="5945700"/>
          </a:xfrm>
          <a:prstGeom prst="rect">
            <a:avLst/>
          </a:prstGeom>
          <a:solidFill>
            <a:srgbClr val="2176AE"/>
          </a:solidFill>
          <a:ln w="23200" cap="flat" cmpd="sng">
            <a:solidFill>
              <a:srgbClr val="2176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7000" tIns="167000" rIns="167000" bIns="16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10"/>
          <p:cNvSpPr/>
          <p:nvPr/>
        </p:nvSpPr>
        <p:spPr>
          <a:xfrm>
            <a:off x="1469209" y="2574053"/>
            <a:ext cx="7014900" cy="7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7000" tIns="83475" rIns="167000" bIns="834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76AE"/>
              </a:buClr>
              <a:buSzPts val="2557"/>
              <a:buFont typeface="Calibri"/>
              <a:buNone/>
            </a:pPr>
            <a:r>
              <a:rPr lang="en-US" sz="2557" b="1" i="0" u="none" strike="noStrike" cap="none">
                <a:solidFill>
                  <a:srgbClr val="2176AE"/>
                </a:solidFill>
                <a:latin typeface="Calibri"/>
                <a:ea typeface="Calibri"/>
                <a:cs typeface="Calibri"/>
                <a:sym typeface="Calibri"/>
              </a:rPr>
              <a:t>✍️  WRITE Transaction</a:t>
            </a:r>
            <a:endParaRPr sz="255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0"/>
          <p:cNvSpPr/>
          <p:nvPr/>
        </p:nvSpPr>
        <p:spPr>
          <a:xfrm>
            <a:off x="1552715" y="3475919"/>
            <a:ext cx="751800" cy="751800"/>
          </a:xfrm>
          <a:prstGeom prst="roundRect">
            <a:avLst>
              <a:gd name="adj" fmla="val 13333"/>
            </a:avLst>
          </a:prstGeom>
          <a:solidFill>
            <a:srgbClr val="1A6EA0"/>
          </a:solidFill>
          <a:ln w="23200" cap="flat" cmpd="sng">
            <a:solidFill>
              <a:srgbClr val="1A6E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7000" tIns="167000" rIns="167000" bIns="16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10"/>
          <p:cNvSpPr/>
          <p:nvPr/>
        </p:nvSpPr>
        <p:spPr>
          <a:xfrm>
            <a:off x="1552715" y="3475919"/>
            <a:ext cx="7518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74"/>
              <a:buFont typeface="Calibri"/>
              <a:buNone/>
            </a:pPr>
            <a:r>
              <a:rPr lang="en-US" sz="2374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374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0"/>
          <p:cNvSpPr/>
          <p:nvPr/>
        </p:nvSpPr>
        <p:spPr>
          <a:xfrm>
            <a:off x="2471280" y="3526022"/>
            <a:ext cx="918600" cy="667800"/>
          </a:xfrm>
          <a:prstGeom prst="rect">
            <a:avLst/>
          </a:prstGeom>
          <a:solidFill>
            <a:srgbClr val="1A6EA0"/>
          </a:solidFill>
          <a:ln w="23200" cap="flat" cmpd="sng">
            <a:solidFill>
              <a:srgbClr val="1A6E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7000" tIns="167000" rIns="167000" bIns="16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10"/>
          <p:cNvSpPr/>
          <p:nvPr/>
        </p:nvSpPr>
        <p:spPr>
          <a:xfrm>
            <a:off x="2471280" y="3526022"/>
            <a:ext cx="9186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2"/>
              <a:buFont typeface="Calibri"/>
              <a:buNone/>
            </a:pPr>
            <a:r>
              <a:rPr lang="en-US" sz="2192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</a:t>
            </a:r>
            <a:endParaRPr sz="219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0"/>
          <p:cNvSpPr/>
          <p:nvPr/>
        </p:nvSpPr>
        <p:spPr>
          <a:xfrm>
            <a:off x="3556857" y="3526022"/>
            <a:ext cx="48432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7000" tIns="83475" rIns="167000" bIns="834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2009"/>
              <a:buFont typeface="Courier New"/>
              <a:buNone/>
            </a:pPr>
            <a:r>
              <a:rPr lang="en-US" sz="2009" b="0" i="0" u="none" strike="noStrike" cap="none">
                <a:solidFill>
                  <a:srgbClr val="2E4F6E"/>
                </a:solidFill>
                <a:latin typeface="Courier New"/>
                <a:ea typeface="Courier New"/>
                <a:cs typeface="Courier New"/>
                <a:sym typeface="Courier New"/>
              </a:rPr>
              <a:t>awaddr + awvalid → awready</a:t>
            </a:r>
            <a:endParaRPr sz="200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0"/>
          <p:cNvSpPr/>
          <p:nvPr/>
        </p:nvSpPr>
        <p:spPr>
          <a:xfrm>
            <a:off x="1769830" y="4244174"/>
            <a:ext cx="167100" cy="1085400"/>
          </a:xfrm>
          <a:prstGeom prst="rect">
            <a:avLst/>
          </a:prstGeom>
          <a:solidFill>
            <a:srgbClr val="B8D8ED"/>
          </a:solidFill>
          <a:ln w="23200" cap="flat" cmpd="sng">
            <a:solidFill>
              <a:srgbClr val="B8D8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7000" tIns="167000" rIns="167000" bIns="16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10"/>
          <p:cNvSpPr/>
          <p:nvPr/>
        </p:nvSpPr>
        <p:spPr>
          <a:xfrm>
            <a:off x="1552715" y="5313052"/>
            <a:ext cx="751800" cy="751800"/>
          </a:xfrm>
          <a:prstGeom prst="roundRect">
            <a:avLst>
              <a:gd name="adj" fmla="val 13333"/>
            </a:avLst>
          </a:prstGeom>
          <a:solidFill>
            <a:srgbClr val="2176AE"/>
          </a:solidFill>
          <a:ln w="23200" cap="flat" cmpd="sng">
            <a:solidFill>
              <a:srgbClr val="2176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7000" tIns="167000" rIns="167000" bIns="16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10"/>
          <p:cNvSpPr/>
          <p:nvPr/>
        </p:nvSpPr>
        <p:spPr>
          <a:xfrm>
            <a:off x="1552715" y="5313052"/>
            <a:ext cx="7518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74"/>
              <a:buFont typeface="Calibri"/>
              <a:buNone/>
            </a:pPr>
            <a:r>
              <a:rPr lang="en-US" sz="2374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374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0"/>
          <p:cNvSpPr/>
          <p:nvPr/>
        </p:nvSpPr>
        <p:spPr>
          <a:xfrm>
            <a:off x="2471280" y="5363155"/>
            <a:ext cx="918600" cy="667800"/>
          </a:xfrm>
          <a:prstGeom prst="rect">
            <a:avLst/>
          </a:prstGeom>
          <a:solidFill>
            <a:srgbClr val="2176AE"/>
          </a:solidFill>
          <a:ln w="23200" cap="flat" cmpd="sng">
            <a:solidFill>
              <a:srgbClr val="2176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7000" tIns="167000" rIns="167000" bIns="16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10"/>
          <p:cNvSpPr/>
          <p:nvPr/>
        </p:nvSpPr>
        <p:spPr>
          <a:xfrm>
            <a:off x="2471280" y="5363155"/>
            <a:ext cx="9186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2"/>
              <a:buFont typeface="Calibri"/>
              <a:buNone/>
            </a:pPr>
            <a:r>
              <a:rPr lang="en-US" sz="2192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sz="219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0"/>
          <p:cNvSpPr/>
          <p:nvPr/>
        </p:nvSpPr>
        <p:spPr>
          <a:xfrm>
            <a:off x="3556857" y="5363155"/>
            <a:ext cx="48432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7000" tIns="83475" rIns="167000" bIns="834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2009"/>
              <a:buFont typeface="Courier New"/>
              <a:buNone/>
            </a:pPr>
            <a:r>
              <a:rPr lang="en-US" sz="2009" b="0" i="0" u="none" strike="noStrike" cap="none">
                <a:solidFill>
                  <a:srgbClr val="2E4F6E"/>
                </a:solidFill>
                <a:latin typeface="Courier New"/>
                <a:ea typeface="Courier New"/>
                <a:cs typeface="Courier New"/>
                <a:sym typeface="Courier New"/>
              </a:rPr>
              <a:t>wdata, wstrb, wvalid → wready</a:t>
            </a:r>
            <a:endParaRPr sz="200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0"/>
          <p:cNvSpPr/>
          <p:nvPr/>
        </p:nvSpPr>
        <p:spPr>
          <a:xfrm>
            <a:off x="1769830" y="6081308"/>
            <a:ext cx="167100" cy="1085400"/>
          </a:xfrm>
          <a:prstGeom prst="rect">
            <a:avLst/>
          </a:prstGeom>
          <a:solidFill>
            <a:srgbClr val="B8D8ED"/>
          </a:solidFill>
          <a:ln w="23200" cap="flat" cmpd="sng">
            <a:solidFill>
              <a:srgbClr val="B8D8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7000" tIns="167000" rIns="167000" bIns="16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10"/>
          <p:cNvSpPr/>
          <p:nvPr/>
        </p:nvSpPr>
        <p:spPr>
          <a:xfrm>
            <a:off x="1552715" y="7150185"/>
            <a:ext cx="751800" cy="751800"/>
          </a:xfrm>
          <a:prstGeom prst="roundRect">
            <a:avLst>
              <a:gd name="adj" fmla="val 13333"/>
            </a:avLst>
          </a:prstGeom>
          <a:solidFill>
            <a:srgbClr val="3498DB"/>
          </a:solidFill>
          <a:ln w="23200" cap="flat" cmpd="sng">
            <a:solidFill>
              <a:srgbClr val="3498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7000" tIns="167000" rIns="167000" bIns="16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10"/>
          <p:cNvSpPr/>
          <p:nvPr/>
        </p:nvSpPr>
        <p:spPr>
          <a:xfrm>
            <a:off x="1552715" y="7150185"/>
            <a:ext cx="7518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74"/>
              <a:buFont typeface="Calibri"/>
              <a:buNone/>
            </a:pPr>
            <a:r>
              <a:rPr lang="en-US" sz="2374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374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0"/>
          <p:cNvSpPr/>
          <p:nvPr/>
        </p:nvSpPr>
        <p:spPr>
          <a:xfrm>
            <a:off x="2471280" y="7200289"/>
            <a:ext cx="918600" cy="667800"/>
          </a:xfrm>
          <a:prstGeom prst="rect">
            <a:avLst/>
          </a:prstGeom>
          <a:solidFill>
            <a:srgbClr val="3498DB"/>
          </a:solidFill>
          <a:ln w="23200" cap="flat" cmpd="sng">
            <a:solidFill>
              <a:srgbClr val="3498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7000" tIns="167000" rIns="167000" bIns="16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10"/>
          <p:cNvSpPr/>
          <p:nvPr/>
        </p:nvSpPr>
        <p:spPr>
          <a:xfrm>
            <a:off x="2471280" y="7200289"/>
            <a:ext cx="9186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2"/>
              <a:buFont typeface="Calibri"/>
              <a:buNone/>
            </a:pPr>
            <a:r>
              <a:rPr lang="en-US" sz="2192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219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0"/>
          <p:cNvSpPr/>
          <p:nvPr/>
        </p:nvSpPr>
        <p:spPr>
          <a:xfrm>
            <a:off x="3556857" y="7200289"/>
            <a:ext cx="48432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7000" tIns="83475" rIns="167000" bIns="834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2009"/>
              <a:buFont typeface="Courier New"/>
              <a:buNone/>
            </a:pPr>
            <a:r>
              <a:rPr lang="en-US" sz="2009" b="0" i="0" u="none" strike="noStrike" cap="none">
                <a:solidFill>
                  <a:srgbClr val="2E4F6E"/>
                </a:solidFill>
                <a:latin typeface="Courier New"/>
                <a:ea typeface="Courier New"/>
                <a:cs typeface="Courier New"/>
                <a:sym typeface="Courier New"/>
              </a:rPr>
              <a:t>bvalid, bresp ← bready</a:t>
            </a:r>
            <a:endParaRPr sz="200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0"/>
          <p:cNvSpPr/>
          <p:nvPr/>
        </p:nvSpPr>
        <p:spPr>
          <a:xfrm>
            <a:off x="9235250" y="2473849"/>
            <a:ext cx="7598700" cy="5945700"/>
          </a:xfrm>
          <a:prstGeom prst="rect">
            <a:avLst/>
          </a:prstGeom>
          <a:solidFill>
            <a:srgbClr val="FFFFFF"/>
          </a:solidFill>
          <a:ln w="23200" cap="flat" cmpd="sng">
            <a:solidFill>
              <a:srgbClr val="1A5F9A"/>
            </a:solidFill>
            <a:prstDash val="solid"/>
            <a:round/>
            <a:headEnd type="none" w="sm" len="sm"/>
            <a:tailEnd type="none" w="sm" len="sm"/>
          </a:ln>
          <a:effectLst>
            <a:outerShdw blurRad="115981" dist="46392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67000" tIns="167000" rIns="167000" bIns="16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10"/>
          <p:cNvSpPr/>
          <p:nvPr/>
        </p:nvSpPr>
        <p:spPr>
          <a:xfrm>
            <a:off x="9235248" y="2473849"/>
            <a:ext cx="116700" cy="5945700"/>
          </a:xfrm>
          <a:prstGeom prst="rect">
            <a:avLst/>
          </a:prstGeom>
          <a:solidFill>
            <a:srgbClr val="1A5F9A"/>
          </a:solidFill>
          <a:ln w="23200" cap="flat" cmpd="sng">
            <a:solidFill>
              <a:srgbClr val="1A5F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7000" tIns="167000" rIns="167000" bIns="16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10"/>
          <p:cNvSpPr/>
          <p:nvPr/>
        </p:nvSpPr>
        <p:spPr>
          <a:xfrm>
            <a:off x="9569283" y="2574053"/>
            <a:ext cx="7014900" cy="7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7000" tIns="83475" rIns="167000" bIns="834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9A"/>
              </a:buClr>
              <a:buSzPts val="2557"/>
              <a:buFont typeface="Calibri"/>
              <a:buNone/>
            </a:pPr>
            <a:r>
              <a:rPr lang="en-US" sz="2557" b="1" i="0" u="none" strike="noStrike" cap="none">
                <a:solidFill>
                  <a:srgbClr val="1A5F9A"/>
                </a:solidFill>
                <a:latin typeface="Calibri"/>
                <a:ea typeface="Calibri"/>
                <a:cs typeface="Calibri"/>
                <a:sym typeface="Calibri"/>
              </a:rPr>
              <a:t>📖  READ Transaction</a:t>
            </a:r>
            <a:endParaRPr sz="255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0"/>
          <p:cNvSpPr/>
          <p:nvPr/>
        </p:nvSpPr>
        <p:spPr>
          <a:xfrm>
            <a:off x="9652789" y="3475919"/>
            <a:ext cx="751800" cy="751800"/>
          </a:xfrm>
          <a:prstGeom prst="roundRect">
            <a:avLst>
              <a:gd name="adj" fmla="val 13333"/>
            </a:avLst>
          </a:prstGeom>
          <a:solidFill>
            <a:srgbClr val="1A5F9A"/>
          </a:solidFill>
          <a:ln w="23200" cap="flat" cmpd="sng">
            <a:solidFill>
              <a:srgbClr val="1A5F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7000" tIns="167000" rIns="167000" bIns="16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10"/>
          <p:cNvSpPr/>
          <p:nvPr/>
        </p:nvSpPr>
        <p:spPr>
          <a:xfrm>
            <a:off x="9652789" y="3475919"/>
            <a:ext cx="7518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74"/>
              <a:buFont typeface="Calibri"/>
              <a:buNone/>
            </a:pPr>
            <a:r>
              <a:rPr lang="en-US" sz="2374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374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0"/>
          <p:cNvSpPr/>
          <p:nvPr/>
        </p:nvSpPr>
        <p:spPr>
          <a:xfrm>
            <a:off x="10571354" y="3526022"/>
            <a:ext cx="918600" cy="667800"/>
          </a:xfrm>
          <a:prstGeom prst="rect">
            <a:avLst/>
          </a:prstGeom>
          <a:solidFill>
            <a:srgbClr val="1A5F9A"/>
          </a:solidFill>
          <a:ln w="23200" cap="flat" cmpd="sng">
            <a:solidFill>
              <a:srgbClr val="1A5F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7000" tIns="167000" rIns="167000" bIns="16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10"/>
          <p:cNvSpPr/>
          <p:nvPr/>
        </p:nvSpPr>
        <p:spPr>
          <a:xfrm>
            <a:off x="10571354" y="3526022"/>
            <a:ext cx="9186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2"/>
              <a:buFont typeface="Calibri"/>
              <a:buNone/>
            </a:pPr>
            <a:r>
              <a:rPr lang="en-US" sz="2192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</a:t>
            </a:r>
            <a:endParaRPr sz="219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0"/>
          <p:cNvSpPr/>
          <p:nvPr/>
        </p:nvSpPr>
        <p:spPr>
          <a:xfrm>
            <a:off x="11656931" y="3526022"/>
            <a:ext cx="49272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7000" tIns="83475" rIns="167000" bIns="834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2009"/>
              <a:buFont typeface="Courier New"/>
              <a:buNone/>
            </a:pPr>
            <a:r>
              <a:rPr lang="en-US" sz="2009" b="0" i="0" u="none" strike="noStrike" cap="none">
                <a:solidFill>
                  <a:srgbClr val="2E4F6E"/>
                </a:solidFill>
                <a:latin typeface="Courier New"/>
                <a:ea typeface="Courier New"/>
                <a:cs typeface="Courier New"/>
                <a:sym typeface="Courier New"/>
              </a:rPr>
              <a:t>araddr + arvalid → arready</a:t>
            </a:r>
            <a:endParaRPr sz="200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0"/>
          <p:cNvSpPr/>
          <p:nvPr/>
        </p:nvSpPr>
        <p:spPr>
          <a:xfrm>
            <a:off x="9869905" y="4244174"/>
            <a:ext cx="167100" cy="1085400"/>
          </a:xfrm>
          <a:prstGeom prst="rect">
            <a:avLst/>
          </a:prstGeom>
          <a:solidFill>
            <a:srgbClr val="B8D8ED"/>
          </a:solidFill>
          <a:ln w="23200" cap="flat" cmpd="sng">
            <a:solidFill>
              <a:srgbClr val="B8D8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7000" tIns="167000" rIns="167000" bIns="16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10"/>
          <p:cNvSpPr/>
          <p:nvPr/>
        </p:nvSpPr>
        <p:spPr>
          <a:xfrm>
            <a:off x="9652789" y="5313052"/>
            <a:ext cx="751800" cy="751800"/>
          </a:xfrm>
          <a:prstGeom prst="roundRect">
            <a:avLst>
              <a:gd name="adj" fmla="val 13333"/>
            </a:avLst>
          </a:prstGeom>
          <a:solidFill>
            <a:srgbClr val="5DADE2"/>
          </a:solidFill>
          <a:ln w="23200" cap="flat" cmpd="sng">
            <a:solidFill>
              <a:srgbClr val="5DAD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7000" tIns="167000" rIns="167000" bIns="16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10"/>
          <p:cNvSpPr/>
          <p:nvPr/>
        </p:nvSpPr>
        <p:spPr>
          <a:xfrm>
            <a:off x="9652789" y="5313052"/>
            <a:ext cx="7518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74"/>
              <a:buFont typeface="Calibri"/>
              <a:buNone/>
            </a:pPr>
            <a:r>
              <a:rPr lang="en-US" sz="2374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374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0"/>
          <p:cNvSpPr/>
          <p:nvPr/>
        </p:nvSpPr>
        <p:spPr>
          <a:xfrm>
            <a:off x="10571354" y="5363155"/>
            <a:ext cx="918600" cy="667800"/>
          </a:xfrm>
          <a:prstGeom prst="rect">
            <a:avLst/>
          </a:prstGeom>
          <a:solidFill>
            <a:srgbClr val="5DADE2"/>
          </a:solidFill>
          <a:ln w="23200" cap="flat" cmpd="sng">
            <a:solidFill>
              <a:srgbClr val="5DAD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7000" tIns="167000" rIns="167000" bIns="16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10"/>
          <p:cNvSpPr/>
          <p:nvPr/>
        </p:nvSpPr>
        <p:spPr>
          <a:xfrm>
            <a:off x="10571354" y="5363155"/>
            <a:ext cx="9186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2"/>
              <a:buFont typeface="Calibri"/>
              <a:buNone/>
            </a:pPr>
            <a:r>
              <a:rPr lang="en-US" sz="2192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sz="219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0"/>
          <p:cNvSpPr/>
          <p:nvPr/>
        </p:nvSpPr>
        <p:spPr>
          <a:xfrm>
            <a:off x="11656931" y="5363155"/>
            <a:ext cx="49272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7000" tIns="83475" rIns="167000" bIns="834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2009"/>
              <a:buFont typeface="Courier New"/>
              <a:buNone/>
            </a:pPr>
            <a:r>
              <a:rPr lang="en-US" sz="2009" b="0" i="0" u="none" strike="noStrike" cap="none">
                <a:solidFill>
                  <a:srgbClr val="2E4F6E"/>
                </a:solidFill>
                <a:latin typeface="Courier New"/>
                <a:ea typeface="Courier New"/>
                <a:cs typeface="Courier New"/>
                <a:sym typeface="Courier New"/>
              </a:rPr>
              <a:t>rvalid, rdata, rresp ← rready</a:t>
            </a:r>
            <a:endParaRPr sz="200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0"/>
          <p:cNvSpPr/>
          <p:nvPr/>
        </p:nvSpPr>
        <p:spPr>
          <a:xfrm>
            <a:off x="1135175" y="9154275"/>
            <a:ext cx="15698700" cy="984300"/>
          </a:xfrm>
          <a:prstGeom prst="rect">
            <a:avLst/>
          </a:prstGeom>
          <a:solidFill>
            <a:srgbClr val="E8F5FF"/>
          </a:solidFill>
          <a:ln w="12700" cap="flat" cmpd="sng">
            <a:solidFill>
              <a:srgbClr val="B8D8ED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61" name="Google Shape;661;p10"/>
          <p:cNvSpPr/>
          <p:nvPr/>
        </p:nvSpPr>
        <p:spPr>
          <a:xfrm>
            <a:off x="3556855" y="9309675"/>
            <a:ext cx="13027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100"/>
              <a:buFont typeface="Calibri"/>
              <a:buNone/>
            </a:pPr>
            <a:r>
              <a:rPr lang="en-US" sz="18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2'b00 = OKAY (all transactions in this project)    2'b10 = SLVERR (slave error)    2'b11 = DECERR (decode error — check address map)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0"/>
          <p:cNvSpPr/>
          <p:nvPr/>
        </p:nvSpPr>
        <p:spPr>
          <a:xfrm>
            <a:off x="1650225" y="9515464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76AE"/>
              </a:buClr>
              <a:buSzPts val="1100"/>
              <a:buFont typeface="Calibri"/>
              <a:buNone/>
            </a:pPr>
            <a:r>
              <a:rPr lang="en-US" sz="1800" b="1" i="0" u="none" strike="noStrike" cap="none">
                <a:solidFill>
                  <a:srgbClr val="2176AE"/>
                </a:solidFill>
                <a:latin typeface="Calibri"/>
                <a:ea typeface="Calibri"/>
                <a:cs typeface="Calibri"/>
                <a:sym typeface="Calibri"/>
              </a:rPr>
              <a:t>RESP Encoding: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1" name="Google Shape;671;p11"/>
          <p:cNvGrpSpPr/>
          <p:nvPr/>
        </p:nvGrpSpPr>
        <p:grpSpPr>
          <a:xfrm>
            <a:off x="810263" y="10740647"/>
            <a:ext cx="8346376" cy="610554"/>
            <a:chOff x="0" y="0"/>
            <a:chExt cx="11128501" cy="814072"/>
          </a:xfrm>
        </p:grpSpPr>
        <p:sp>
          <p:nvSpPr>
            <p:cNvPr id="672" name="Google Shape;672;p11"/>
            <p:cNvSpPr/>
            <p:nvPr/>
          </p:nvSpPr>
          <p:spPr>
            <a:xfrm>
              <a:off x="16891" y="16891"/>
              <a:ext cx="11094720" cy="780288"/>
            </a:xfrm>
            <a:custGeom>
              <a:avLst/>
              <a:gdLst/>
              <a:ahLst/>
              <a:cxnLst/>
              <a:rect l="l" t="t" r="r" b="b"/>
              <a:pathLst>
                <a:path w="11094720" h="780288" extrusionOk="0">
                  <a:moveTo>
                    <a:pt x="0" y="0"/>
                  </a:moveTo>
                  <a:lnTo>
                    <a:pt x="11094720" y="0"/>
                  </a:lnTo>
                  <a:lnTo>
                    <a:pt x="1109472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73" name="Google Shape;673;p11"/>
            <p:cNvSpPr/>
            <p:nvPr/>
          </p:nvSpPr>
          <p:spPr>
            <a:xfrm>
              <a:off x="0" y="0"/>
              <a:ext cx="11128501" cy="814072"/>
            </a:xfrm>
            <a:custGeom>
              <a:avLst/>
              <a:gdLst/>
              <a:ahLst/>
              <a:cxnLst/>
              <a:rect l="l" t="t" r="r" b="b"/>
              <a:pathLst>
                <a:path w="11128501" h="814072" extrusionOk="0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797179"/>
                  </a:lnTo>
                  <a:cubicBezTo>
                    <a:pt x="11128501" y="806577"/>
                    <a:pt x="11120882" y="814070"/>
                    <a:pt x="1111161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1111611" y="780288"/>
                  </a:lnTo>
                  <a:lnTo>
                    <a:pt x="11111611" y="797179"/>
                  </a:lnTo>
                  <a:lnTo>
                    <a:pt x="11094720" y="797179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4" name="Google Shape;674;p11"/>
          <p:cNvGrpSpPr/>
          <p:nvPr/>
        </p:nvGrpSpPr>
        <p:grpSpPr>
          <a:xfrm>
            <a:off x="969264" y="10746200"/>
            <a:ext cx="2011680" cy="592360"/>
            <a:chOff x="0" y="-9525"/>
            <a:chExt cx="2682240" cy="789813"/>
          </a:xfrm>
        </p:grpSpPr>
        <p:sp>
          <p:nvSpPr>
            <p:cNvPr id="675" name="Google Shape;675;p11"/>
            <p:cNvSpPr/>
            <p:nvPr/>
          </p:nvSpPr>
          <p:spPr>
            <a:xfrm>
              <a:off x="0" y="0"/>
              <a:ext cx="2682240" cy="780288"/>
            </a:xfrm>
            <a:custGeom>
              <a:avLst/>
              <a:gdLst/>
              <a:ahLst/>
              <a:cxnLst/>
              <a:rect l="l" t="t" r="r" b="b"/>
              <a:pathLst>
                <a:path w="2682240" h="780288" extrusionOk="0">
                  <a:moveTo>
                    <a:pt x="0" y="0"/>
                  </a:moveTo>
                  <a:lnTo>
                    <a:pt x="2682240" y="0"/>
                  </a:lnTo>
                  <a:lnTo>
                    <a:pt x="2682240" y="780288"/>
                  </a:lnTo>
                  <a:lnTo>
                    <a:pt x="0" y="78028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6979" b="-16979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76" name="Google Shape;676;p11"/>
            <p:cNvSpPr txBox="1"/>
            <p:nvPr/>
          </p:nvSpPr>
          <p:spPr>
            <a:xfrm>
              <a:off x="0" y="-9525"/>
              <a:ext cx="2682240" cy="7898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ED7D31"/>
                  </a:solidFill>
                  <a:latin typeface="Courier"/>
                  <a:ea typeface="Courier"/>
                  <a:cs typeface="Courier"/>
                  <a:sym typeface="Courier"/>
                </a:rPr>
                <a:t>BREADY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7" name="Google Shape;677;p11"/>
          <p:cNvGrpSpPr/>
          <p:nvPr/>
        </p:nvGrpSpPr>
        <p:grpSpPr>
          <a:xfrm>
            <a:off x="3004823" y="10850375"/>
            <a:ext cx="939736" cy="391098"/>
            <a:chOff x="0" y="0"/>
            <a:chExt cx="1252982" cy="521464"/>
          </a:xfrm>
        </p:grpSpPr>
        <p:sp>
          <p:nvSpPr>
            <p:cNvPr id="678" name="Google Shape;678;p11"/>
            <p:cNvSpPr/>
            <p:nvPr/>
          </p:nvSpPr>
          <p:spPr>
            <a:xfrm>
              <a:off x="16891" y="16891"/>
              <a:ext cx="1219200" cy="487680"/>
            </a:xfrm>
            <a:custGeom>
              <a:avLst/>
              <a:gdLst/>
              <a:ahLst/>
              <a:cxnLst/>
              <a:rect l="l" t="t" r="r" b="b"/>
              <a:pathLst>
                <a:path w="1219200" h="487680" extrusionOk="0">
                  <a:moveTo>
                    <a:pt x="0" y="0"/>
                  </a:moveTo>
                  <a:lnTo>
                    <a:pt x="1219200" y="0"/>
                  </a:lnTo>
                  <a:lnTo>
                    <a:pt x="121920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2E74B5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79" name="Google Shape;679;p11"/>
            <p:cNvSpPr/>
            <p:nvPr/>
          </p:nvSpPr>
          <p:spPr>
            <a:xfrm>
              <a:off x="0" y="0"/>
              <a:ext cx="1252982" cy="521464"/>
            </a:xfrm>
            <a:custGeom>
              <a:avLst/>
              <a:gdLst/>
              <a:ahLst/>
              <a:cxnLst/>
              <a:rect l="l" t="t" r="r" b="b"/>
              <a:pathLst>
                <a:path w="1252982" h="521464" extrusionOk="0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504571"/>
                  </a:lnTo>
                  <a:cubicBezTo>
                    <a:pt x="1252982" y="513969"/>
                    <a:pt x="1245362" y="521462"/>
                    <a:pt x="1236091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1236091" y="487680"/>
                  </a:lnTo>
                  <a:lnTo>
                    <a:pt x="1236091" y="504571"/>
                  </a:lnTo>
                  <a:lnTo>
                    <a:pt x="1219200" y="50457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74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0" name="Google Shape;680;p11"/>
          <p:cNvGrpSpPr/>
          <p:nvPr/>
        </p:nvGrpSpPr>
        <p:grpSpPr>
          <a:xfrm>
            <a:off x="3017520" y="10834497"/>
            <a:ext cx="914400" cy="394335"/>
            <a:chOff x="0" y="-38100"/>
            <a:chExt cx="1219200" cy="525780"/>
          </a:xfrm>
        </p:grpSpPr>
        <p:sp>
          <p:nvSpPr>
            <p:cNvPr id="681" name="Google Shape;681;p11"/>
            <p:cNvSpPr/>
            <p:nvPr/>
          </p:nvSpPr>
          <p:spPr>
            <a:xfrm>
              <a:off x="0" y="0"/>
              <a:ext cx="1219200" cy="487680"/>
            </a:xfrm>
            <a:custGeom>
              <a:avLst/>
              <a:gdLst/>
              <a:ahLst/>
              <a:cxnLst/>
              <a:rect l="l" t="t" r="r" b="b"/>
              <a:pathLst>
                <a:path w="1219200" h="487680" extrusionOk="0">
                  <a:moveTo>
                    <a:pt x="0" y="0"/>
                  </a:moveTo>
                  <a:lnTo>
                    <a:pt x="1219200" y="0"/>
                  </a:lnTo>
                  <a:lnTo>
                    <a:pt x="1219200" y="487680"/>
                  </a:lnTo>
                  <a:lnTo>
                    <a:pt x="0" y="4876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1321" r="-1321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82" name="Google Shape;682;p11"/>
            <p:cNvSpPr txBox="1"/>
            <p:nvPr/>
          </p:nvSpPr>
          <p:spPr>
            <a:xfrm>
              <a:off x="0" y="-38100"/>
              <a:ext cx="1219200" cy="5257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3" name="Google Shape;683;p11"/>
          <p:cNvGrpSpPr/>
          <p:nvPr/>
        </p:nvGrpSpPr>
        <p:grpSpPr>
          <a:xfrm>
            <a:off x="4023360" y="10724769"/>
            <a:ext cx="1280160" cy="613791"/>
            <a:chOff x="0" y="-38100"/>
            <a:chExt cx="1706880" cy="818388"/>
          </a:xfrm>
        </p:grpSpPr>
        <p:sp>
          <p:nvSpPr>
            <p:cNvPr id="684" name="Google Shape;684;p11"/>
            <p:cNvSpPr/>
            <p:nvPr/>
          </p:nvSpPr>
          <p:spPr>
            <a:xfrm>
              <a:off x="0" y="0"/>
              <a:ext cx="1706880" cy="780288"/>
            </a:xfrm>
            <a:custGeom>
              <a:avLst/>
              <a:gdLst/>
              <a:ahLst/>
              <a:cxnLst/>
              <a:rect l="l" t="t" r="r" b="b"/>
              <a:pathLst>
                <a:path w="1706880" h="780288" extrusionOk="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8652" r="-8652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85" name="Google Shape;685;p11"/>
            <p:cNvSpPr txBox="1"/>
            <p:nvPr/>
          </p:nvSpPr>
          <p:spPr>
            <a:xfrm>
              <a:off x="0" y="-38100"/>
              <a:ext cx="1706880" cy="8183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1-bit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6" name="Google Shape;686;p11"/>
          <p:cNvGrpSpPr/>
          <p:nvPr/>
        </p:nvGrpSpPr>
        <p:grpSpPr>
          <a:xfrm>
            <a:off x="5303520" y="10724769"/>
            <a:ext cx="3657600" cy="613791"/>
            <a:chOff x="0" y="-38100"/>
            <a:chExt cx="4876800" cy="818388"/>
          </a:xfrm>
        </p:grpSpPr>
        <p:sp>
          <p:nvSpPr>
            <p:cNvPr id="687" name="Google Shape;687;p11"/>
            <p:cNvSpPr/>
            <p:nvPr/>
          </p:nvSpPr>
          <p:spPr>
            <a:xfrm>
              <a:off x="0" y="0"/>
              <a:ext cx="4876800" cy="780288"/>
            </a:xfrm>
            <a:custGeom>
              <a:avLst/>
              <a:gdLst/>
              <a:ahLst/>
              <a:cxnLst/>
              <a:rect l="l" t="t" r="r" b="b"/>
              <a:pathLst>
                <a:path w="4876800" h="780288" extrusionOk="0">
                  <a:moveTo>
                    <a:pt x="0" y="0"/>
                  </a:moveTo>
                  <a:lnTo>
                    <a:pt x="4876800" y="0"/>
                  </a:lnTo>
                  <a:lnTo>
                    <a:pt x="4876800" y="780288"/>
                  </a:lnTo>
                  <a:lnTo>
                    <a:pt x="0" y="78028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71779" b="-71779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88" name="Google Shape;688;p11"/>
            <p:cNvSpPr txBox="1"/>
            <p:nvPr/>
          </p:nvSpPr>
          <p:spPr>
            <a:xfrm>
              <a:off x="0" y="-38100"/>
              <a:ext cx="4876800" cy="8183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Master: ready to accept response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9" name="Google Shape;689;p11"/>
          <p:cNvSpPr/>
          <p:nvPr/>
        </p:nvSpPr>
        <p:spPr>
          <a:xfrm>
            <a:off x="1348372" y="1089875"/>
            <a:ext cx="13068000" cy="14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27"/>
              <a:buFont typeface="Calibri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AXI4-Lite for THIS SoC?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1"/>
          <p:cNvSpPr/>
          <p:nvPr/>
        </p:nvSpPr>
        <p:spPr>
          <a:xfrm>
            <a:off x="1271501" y="2854577"/>
            <a:ext cx="6994800" cy="2184900"/>
          </a:xfrm>
          <a:prstGeom prst="rect">
            <a:avLst/>
          </a:prstGeom>
          <a:solidFill>
            <a:srgbClr val="FFFFFF"/>
          </a:solidFill>
          <a:ln w="17075" cap="flat" cmpd="sng">
            <a:solidFill>
              <a:srgbClr val="B8D8ED"/>
            </a:solidFill>
            <a:prstDash val="solid"/>
            <a:round/>
            <a:headEnd type="none" w="sm" len="sm"/>
            <a:tailEnd type="none" w="sm" len="sm"/>
          </a:ln>
          <a:effectLst>
            <a:outerShdw blurRad="85371" dist="34148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22925" tIns="122925" rIns="122925" bIns="122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1" name="Google Shape;691;p11"/>
          <p:cNvSpPr/>
          <p:nvPr/>
        </p:nvSpPr>
        <p:spPr>
          <a:xfrm>
            <a:off x="1271501" y="2854577"/>
            <a:ext cx="107400" cy="2184900"/>
          </a:xfrm>
          <a:prstGeom prst="rect">
            <a:avLst/>
          </a:prstGeom>
          <a:solidFill>
            <a:srgbClr val="4A9CC9"/>
          </a:solidFill>
          <a:ln w="17075" cap="flat" cmpd="sng">
            <a:solidFill>
              <a:srgbClr val="4A9C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2925" tIns="122925" rIns="122925" bIns="122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11"/>
          <p:cNvSpPr/>
          <p:nvPr/>
        </p:nvSpPr>
        <p:spPr>
          <a:xfrm>
            <a:off x="1455991" y="2938610"/>
            <a:ext cx="922500" cy="9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925" tIns="61450" rIns="122925" bIns="61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8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1"/>
          <p:cNvSpPr/>
          <p:nvPr/>
        </p:nvSpPr>
        <p:spPr>
          <a:xfrm>
            <a:off x="2378443" y="2938610"/>
            <a:ext cx="5688600" cy="7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925" tIns="61450" rIns="122925" bIns="61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45"/>
              </a:buClr>
              <a:buSzPts val="1748"/>
              <a:buFont typeface="Calibri"/>
              <a:buNone/>
            </a:pPr>
            <a:r>
              <a:rPr lang="en-US" sz="2400" b="1" i="0" u="none" strike="noStrike" cap="none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Simplicity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1"/>
          <p:cNvSpPr/>
          <p:nvPr/>
        </p:nvSpPr>
        <p:spPr>
          <a:xfrm>
            <a:off x="2378443" y="3694911"/>
            <a:ext cx="5688600" cy="11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925" tIns="61450" rIns="122925" bIns="61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479"/>
              <a:buFont typeface="Calibri"/>
              <a:buNone/>
            </a:pPr>
            <a:r>
              <a:rPr lang="en-US" sz="18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No burst logic — perfect for UART/ROM serving one word at a time. Simple FSM in top.v.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1"/>
          <p:cNvSpPr/>
          <p:nvPr/>
        </p:nvSpPr>
        <p:spPr>
          <a:xfrm>
            <a:off x="8651114" y="2854577"/>
            <a:ext cx="6994800" cy="2184900"/>
          </a:xfrm>
          <a:prstGeom prst="rect">
            <a:avLst/>
          </a:prstGeom>
          <a:solidFill>
            <a:srgbClr val="FFFFFF"/>
          </a:solidFill>
          <a:ln w="17075" cap="flat" cmpd="sng">
            <a:solidFill>
              <a:srgbClr val="B8D8ED"/>
            </a:solidFill>
            <a:prstDash val="solid"/>
            <a:round/>
            <a:headEnd type="none" w="sm" len="sm"/>
            <a:tailEnd type="none" w="sm" len="sm"/>
          </a:ln>
          <a:effectLst>
            <a:outerShdw blurRad="85371" dist="34148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22925" tIns="122925" rIns="122925" bIns="122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6" name="Google Shape;696;p11"/>
          <p:cNvSpPr/>
          <p:nvPr/>
        </p:nvSpPr>
        <p:spPr>
          <a:xfrm>
            <a:off x="8651114" y="2854577"/>
            <a:ext cx="107400" cy="2184900"/>
          </a:xfrm>
          <a:prstGeom prst="rect">
            <a:avLst/>
          </a:prstGeom>
          <a:solidFill>
            <a:srgbClr val="4A9CC9"/>
          </a:solidFill>
          <a:ln w="17075" cap="flat" cmpd="sng">
            <a:solidFill>
              <a:srgbClr val="4A9C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2925" tIns="122925" rIns="122925" bIns="122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7" name="Google Shape;697;p11"/>
          <p:cNvSpPr/>
          <p:nvPr/>
        </p:nvSpPr>
        <p:spPr>
          <a:xfrm>
            <a:off x="8835604" y="2938610"/>
            <a:ext cx="922500" cy="9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925" tIns="61450" rIns="122925" bIns="61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8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🔓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1"/>
          <p:cNvSpPr/>
          <p:nvPr/>
        </p:nvSpPr>
        <p:spPr>
          <a:xfrm>
            <a:off x="9758056" y="2938610"/>
            <a:ext cx="5688600" cy="7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925" tIns="61450" rIns="122925" bIns="61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45"/>
              </a:buClr>
              <a:buSzPts val="1748"/>
              <a:buFont typeface="Calibri"/>
              <a:buNone/>
            </a:pPr>
            <a:r>
              <a:rPr lang="en-US" sz="2400" b="1" i="0" u="none" strike="noStrike" cap="none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Decoupling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1"/>
          <p:cNvSpPr/>
          <p:nvPr/>
        </p:nvSpPr>
        <p:spPr>
          <a:xfrm>
            <a:off x="9758056" y="3694911"/>
            <a:ext cx="5688600" cy="11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925" tIns="61450" rIns="122925" bIns="61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479"/>
              <a:buFont typeface="Calibri"/>
              <a:buNone/>
            </a:pPr>
            <a:r>
              <a:rPr lang="en-US" sz="18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AW and W channels let the CPU pipeline address and data separately, improving throughput.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1"/>
          <p:cNvSpPr/>
          <p:nvPr/>
        </p:nvSpPr>
        <p:spPr>
          <a:xfrm>
            <a:off x="1271501" y="5291546"/>
            <a:ext cx="6994800" cy="2184900"/>
          </a:xfrm>
          <a:prstGeom prst="rect">
            <a:avLst/>
          </a:prstGeom>
          <a:solidFill>
            <a:srgbClr val="FFFFFF"/>
          </a:solidFill>
          <a:ln w="17075" cap="flat" cmpd="sng">
            <a:solidFill>
              <a:srgbClr val="B8D8ED"/>
            </a:solidFill>
            <a:prstDash val="solid"/>
            <a:round/>
            <a:headEnd type="none" w="sm" len="sm"/>
            <a:tailEnd type="none" w="sm" len="sm"/>
          </a:ln>
          <a:effectLst>
            <a:outerShdw blurRad="85371" dist="34148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22925" tIns="122925" rIns="122925" bIns="122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1" name="Google Shape;701;p11"/>
          <p:cNvSpPr/>
          <p:nvPr/>
        </p:nvSpPr>
        <p:spPr>
          <a:xfrm>
            <a:off x="1271501" y="5291546"/>
            <a:ext cx="107400" cy="2184900"/>
          </a:xfrm>
          <a:prstGeom prst="rect">
            <a:avLst/>
          </a:prstGeom>
          <a:solidFill>
            <a:srgbClr val="4A9CC9"/>
          </a:solidFill>
          <a:ln w="17075" cap="flat" cmpd="sng">
            <a:solidFill>
              <a:srgbClr val="4A9C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2925" tIns="122925" rIns="122925" bIns="122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11"/>
          <p:cNvSpPr/>
          <p:nvPr/>
        </p:nvSpPr>
        <p:spPr>
          <a:xfrm>
            <a:off x="1455991" y="5375580"/>
            <a:ext cx="922500" cy="9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925" tIns="61450" rIns="122925" bIns="61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8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♻️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1"/>
          <p:cNvSpPr/>
          <p:nvPr/>
        </p:nvSpPr>
        <p:spPr>
          <a:xfrm>
            <a:off x="2378443" y="5375580"/>
            <a:ext cx="5688600" cy="7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925" tIns="61450" rIns="122925" bIns="61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45"/>
              </a:buClr>
              <a:buSzPts val="1748"/>
              <a:buFont typeface="Calibri"/>
              <a:buNone/>
            </a:pPr>
            <a:r>
              <a:rPr lang="en-US" sz="2400" b="1" i="0" u="none" strike="noStrike" cap="none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Reuse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1"/>
          <p:cNvSpPr/>
          <p:nvPr/>
        </p:nvSpPr>
        <p:spPr>
          <a:xfrm>
            <a:off x="2378443" y="6131881"/>
            <a:ext cx="5688600" cy="11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925" tIns="61450" rIns="122925" bIns="61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479"/>
              <a:buFont typeface="Calibri"/>
              <a:buNone/>
            </a:pPr>
            <a:r>
              <a:rPr lang="en-US" sz="18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All 3 slaves (ROM, SRAM, UART) share one 35-signal AXI interface via the interconnect.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1"/>
          <p:cNvSpPr/>
          <p:nvPr/>
        </p:nvSpPr>
        <p:spPr>
          <a:xfrm>
            <a:off x="8651114" y="5291546"/>
            <a:ext cx="6994800" cy="2184900"/>
          </a:xfrm>
          <a:prstGeom prst="rect">
            <a:avLst/>
          </a:prstGeom>
          <a:solidFill>
            <a:srgbClr val="FFFFFF"/>
          </a:solidFill>
          <a:ln w="17075" cap="flat" cmpd="sng">
            <a:solidFill>
              <a:srgbClr val="B8D8ED"/>
            </a:solidFill>
            <a:prstDash val="solid"/>
            <a:round/>
            <a:headEnd type="none" w="sm" len="sm"/>
            <a:tailEnd type="none" w="sm" len="sm"/>
          </a:ln>
          <a:effectLst>
            <a:outerShdw blurRad="85371" dist="34148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22925" tIns="122925" rIns="122925" bIns="122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6" name="Google Shape;706;p11"/>
          <p:cNvSpPr/>
          <p:nvPr/>
        </p:nvSpPr>
        <p:spPr>
          <a:xfrm>
            <a:off x="8651114" y="5291546"/>
            <a:ext cx="107400" cy="2184900"/>
          </a:xfrm>
          <a:prstGeom prst="rect">
            <a:avLst/>
          </a:prstGeom>
          <a:solidFill>
            <a:srgbClr val="4A9CC9"/>
          </a:solidFill>
          <a:ln w="17075" cap="flat" cmpd="sng">
            <a:solidFill>
              <a:srgbClr val="4A9C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2925" tIns="122925" rIns="122925" bIns="122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7" name="Google Shape;707;p11"/>
          <p:cNvSpPr/>
          <p:nvPr/>
        </p:nvSpPr>
        <p:spPr>
          <a:xfrm>
            <a:off x="8835604" y="5375580"/>
            <a:ext cx="922500" cy="9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925" tIns="61450" rIns="122925" bIns="61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8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🪶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1"/>
          <p:cNvSpPr/>
          <p:nvPr/>
        </p:nvSpPr>
        <p:spPr>
          <a:xfrm>
            <a:off x="9758056" y="5375580"/>
            <a:ext cx="5688600" cy="7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925" tIns="61450" rIns="122925" bIns="61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45"/>
              </a:buClr>
              <a:buSzPts val="1748"/>
              <a:buFont typeface="Calibri"/>
              <a:buNone/>
            </a:pPr>
            <a:r>
              <a:rPr lang="en-US" sz="2400" b="1" i="0" u="none" strike="noStrike" cap="none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Area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1"/>
          <p:cNvSpPr/>
          <p:nvPr/>
        </p:nvSpPr>
        <p:spPr>
          <a:xfrm>
            <a:off x="9758056" y="6131881"/>
            <a:ext cx="5688600" cy="11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925" tIns="61450" rIns="122925" bIns="61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479"/>
              <a:buFont typeface="Calibri"/>
              <a:buNone/>
            </a:pPr>
            <a:r>
              <a:rPr lang="en-US" sz="18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rtl/axi_lite_interconnect.v = 227 lines — extremely lightweight for a 1M→3S fabric.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1"/>
          <p:cNvSpPr/>
          <p:nvPr/>
        </p:nvSpPr>
        <p:spPr>
          <a:xfrm>
            <a:off x="1271501" y="7728516"/>
            <a:ext cx="6994800" cy="2184900"/>
          </a:xfrm>
          <a:prstGeom prst="rect">
            <a:avLst/>
          </a:prstGeom>
          <a:solidFill>
            <a:srgbClr val="FFFFFF"/>
          </a:solidFill>
          <a:ln w="17075" cap="flat" cmpd="sng">
            <a:solidFill>
              <a:srgbClr val="B8D8ED"/>
            </a:solidFill>
            <a:prstDash val="solid"/>
            <a:round/>
            <a:headEnd type="none" w="sm" len="sm"/>
            <a:tailEnd type="none" w="sm" len="sm"/>
          </a:ln>
          <a:effectLst>
            <a:outerShdw blurRad="85371" dist="34148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22925" tIns="122925" rIns="122925" bIns="122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1" name="Google Shape;711;p11"/>
          <p:cNvSpPr/>
          <p:nvPr/>
        </p:nvSpPr>
        <p:spPr>
          <a:xfrm>
            <a:off x="1271501" y="7728516"/>
            <a:ext cx="107400" cy="2184900"/>
          </a:xfrm>
          <a:prstGeom prst="rect">
            <a:avLst/>
          </a:prstGeom>
          <a:solidFill>
            <a:srgbClr val="4A9CC9"/>
          </a:solidFill>
          <a:ln w="17075" cap="flat" cmpd="sng">
            <a:solidFill>
              <a:srgbClr val="4A9C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2925" tIns="122925" rIns="122925" bIns="122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11"/>
          <p:cNvSpPr/>
          <p:nvPr/>
        </p:nvSpPr>
        <p:spPr>
          <a:xfrm>
            <a:off x="1455991" y="7812549"/>
            <a:ext cx="922500" cy="9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925" tIns="61450" rIns="122925" bIns="61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8"/>
              <a:buFont typeface="Calibri"/>
              <a:buNone/>
            </a:pPr>
            <a:r>
              <a:rPr lang="en-US" sz="2958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🔬</a:t>
            </a:r>
            <a:endParaRPr sz="2958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1"/>
          <p:cNvSpPr/>
          <p:nvPr/>
        </p:nvSpPr>
        <p:spPr>
          <a:xfrm>
            <a:off x="2378443" y="7812549"/>
            <a:ext cx="5688600" cy="7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925" tIns="61450" rIns="122925" bIns="61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45"/>
              </a:buClr>
              <a:buSzPts val="1748"/>
              <a:buFont typeface="Calibri"/>
              <a:buNone/>
            </a:pPr>
            <a:r>
              <a:rPr lang="en-US" sz="2400" b="1" i="0" u="none" strike="noStrike" cap="none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Verification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1"/>
          <p:cNvSpPr/>
          <p:nvPr/>
        </p:nvSpPr>
        <p:spPr>
          <a:xfrm>
            <a:off x="2378443" y="8568850"/>
            <a:ext cx="5688600" cy="11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925" tIns="61450" rIns="122925" bIns="61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479"/>
              <a:buFont typeface="Calibri"/>
              <a:buNone/>
            </a:pPr>
            <a:r>
              <a:rPr lang="en-US" sz="18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Independent channels enable isolated testing: make axi_sa tests handshake alone without RTL.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1"/>
          <p:cNvSpPr/>
          <p:nvPr/>
        </p:nvSpPr>
        <p:spPr>
          <a:xfrm>
            <a:off x="8651114" y="7728516"/>
            <a:ext cx="6994800" cy="2184900"/>
          </a:xfrm>
          <a:prstGeom prst="rect">
            <a:avLst/>
          </a:prstGeom>
          <a:solidFill>
            <a:srgbClr val="FFFFFF"/>
          </a:solidFill>
          <a:ln w="17075" cap="flat" cmpd="sng">
            <a:solidFill>
              <a:srgbClr val="B8D8ED"/>
            </a:solidFill>
            <a:prstDash val="solid"/>
            <a:round/>
            <a:headEnd type="none" w="sm" len="sm"/>
            <a:tailEnd type="none" w="sm" len="sm"/>
          </a:ln>
          <a:effectLst>
            <a:outerShdw blurRad="85371" dist="34148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22925" tIns="122925" rIns="122925" bIns="122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6" name="Google Shape;716;p11"/>
          <p:cNvSpPr/>
          <p:nvPr/>
        </p:nvSpPr>
        <p:spPr>
          <a:xfrm>
            <a:off x="8651114" y="7728516"/>
            <a:ext cx="107400" cy="2184900"/>
          </a:xfrm>
          <a:prstGeom prst="rect">
            <a:avLst/>
          </a:prstGeom>
          <a:solidFill>
            <a:srgbClr val="4A9CC9"/>
          </a:solidFill>
          <a:ln w="17075" cap="flat" cmpd="sng">
            <a:solidFill>
              <a:srgbClr val="4A9C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2925" tIns="122925" rIns="122925" bIns="122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7" name="Google Shape;717;p11"/>
          <p:cNvSpPr/>
          <p:nvPr/>
        </p:nvSpPr>
        <p:spPr>
          <a:xfrm>
            <a:off x="8835604" y="7812549"/>
            <a:ext cx="922500" cy="9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925" tIns="61450" rIns="122925" bIns="61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8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🏭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1"/>
          <p:cNvSpPr/>
          <p:nvPr/>
        </p:nvSpPr>
        <p:spPr>
          <a:xfrm>
            <a:off x="9758056" y="7812549"/>
            <a:ext cx="5688600" cy="7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925" tIns="61450" rIns="122925" bIns="61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45"/>
              </a:buClr>
              <a:buSzPts val="1748"/>
              <a:buFont typeface="Calibri"/>
              <a:buNone/>
            </a:pPr>
            <a:r>
              <a:rPr lang="en-US" sz="2400" b="1" i="0" u="none" strike="noStrike" cap="none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Industry Std.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1"/>
          <p:cNvSpPr/>
          <p:nvPr/>
        </p:nvSpPr>
        <p:spPr>
          <a:xfrm>
            <a:off x="9758056" y="8568850"/>
            <a:ext cx="5688600" cy="11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925" tIns="61450" rIns="122925" bIns="61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4F6E"/>
              </a:buClr>
              <a:buSzPts val="1479"/>
              <a:buFont typeface="Calibri"/>
              <a:buNone/>
            </a:pPr>
            <a:r>
              <a:rPr lang="en-US" sz="1800" b="0" i="0" u="none" strike="noStrike" cap="none">
                <a:solidFill>
                  <a:srgbClr val="2E4F6E"/>
                </a:solidFill>
                <a:latin typeface="Calibri"/>
                <a:ea typeface="Calibri"/>
                <a:cs typeface="Calibri"/>
                <a:sym typeface="Calibri"/>
              </a:rPr>
              <a:t>ARM AMBA AXI4-Lite is the go-to choice for register-mapped peripherals in RISC-V SoC designs.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2"/>
          <p:cNvSpPr/>
          <p:nvPr/>
        </p:nvSpPr>
        <p:spPr>
          <a:xfrm>
            <a:off x="899950" y="1105750"/>
            <a:ext cx="13792500" cy="12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69"/>
              <a:buFont typeface="Calibri"/>
              <a:buNone/>
            </a:pPr>
            <a:r>
              <a:rPr lang="en-US" sz="4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Lab: make axi_sa — Standalone AXI-Lite Handshake Demo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2"/>
          <p:cNvSpPr/>
          <p:nvPr/>
        </p:nvSpPr>
        <p:spPr>
          <a:xfrm>
            <a:off x="899842" y="2326442"/>
            <a:ext cx="15361500" cy="933300"/>
          </a:xfrm>
          <a:prstGeom prst="rect">
            <a:avLst/>
          </a:prstGeom>
          <a:solidFill>
            <a:srgbClr val="A4C2F4">
              <a:alpha val="47170"/>
            </a:srgbClr>
          </a:solidFill>
          <a:ln w="19950" cap="flat" cmpd="sng">
            <a:solidFill>
              <a:srgbClr val="1A5F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3600" tIns="143600" rIns="143600" bIns="143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12"/>
          <p:cNvSpPr/>
          <p:nvPr/>
        </p:nvSpPr>
        <p:spPr>
          <a:xfrm>
            <a:off x="1226687" y="2326442"/>
            <a:ext cx="14708100" cy="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3600" tIns="71775" rIns="143600" bIns="717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649"/>
              <a:buFont typeface="Courier New"/>
              <a:buNone/>
            </a:pPr>
            <a:r>
              <a:rPr lang="en-US" sz="1649" b="0" i="0" u="none" strike="noStrike" cap="none">
                <a:solidFill>
                  <a:srgbClr val="0A2540"/>
                </a:solidFill>
                <a:latin typeface="Courier New"/>
                <a:ea typeface="Courier New"/>
                <a:cs typeface="Courier New"/>
                <a:sym typeface="Courier New"/>
              </a:rPr>
              <a:t>$ make axi_sa  →  ./obj_axi_sa/sim_axi_sa  →  tb_axi_lite_standalone.vcd  (3.8 KB)</a:t>
            </a:r>
            <a:endParaRPr sz="164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2"/>
          <p:cNvSpPr/>
          <p:nvPr/>
        </p:nvSpPr>
        <p:spPr>
          <a:xfrm>
            <a:off x="899842" y="3446632"/>
            <a:ext cx="81708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3600" tIns="71775" rIns="143600" bIns="717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45"/>
              </a:buClr>
              <a:buSzPts val="1806"/>
              <a:buFont typeface="Calibri"/>
              <a:buNone/>
            </a:pPr>
            <a:r>
              <a:rPr lang="en-US" sz="2000" b="1" i="0" u="none" strike="noStrike" cap="none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Expected Terminal Output: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2"/>
          <p:cNvSpPr/>
          <p:nvPr/>
        </p:nvSpPr>
        <p:spPr>
          <a:xfrm>
            <a:off x="899850" y="3934923"/>
            <a:ext cx="8170800" cy="2281500"/>
          </a:xfrm>
          <a:prstGeom prst="rect">
            <a:avLst/>
          </a:prstGeom>
          <a:solidFill>
            <a:srgbClr val="D6EEFA"/>
          </a:solidFill>
          <a:ln w="19950" cap="flat" cmpd="sng">
            <a:solidFill>
              <a:srgbClr val="4A9C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3600" tIns="143600" rIns="143600" bIns="143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12"/>
          <p:cNvSpPr/>
          <p:nvPr/>
        </p:nvSpPr>
        <p:spPr>
          <a:xfrm>
            <a:off x="1095957" y="4001296"/>
            <a:ext cx="7778700" cy="21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3600" tIns="71775" rIns="143600" bIns="717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649"/>
              <a:buFont typeface="Courier New"/>
              <a:buNone/>
            </a:pPr>
            <a:r>
              <a:rPr lang="en-US" sz="1649" b="0" i="0" u="none" strike="noStrike" cap="none">
                <a:solidFill>
                  <a:srgbClr val="0A2540"/>
                </a:solidFill>
                <a:latin typeface="Courier New"/>
                <a:ea typeface="Courier New"/>
                <a:cs typeface="Courier New"/>
                <a:sym typeface="Courier New"/>
              </a:rPr>
              <a:t>[WRITE] Address = 0x00000004</a:t>
            </a:r>
            <a:endParaRPr sz="164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7"/>
              </a:spcBef>
              <a:spcAft>
                <a:spcPts val="0"/>
              </a:spcAft>
              <a:buClr>
                <a:srgbClr val="0A2540"/>
              </a:buClr>
              <a:buSzPts val="1649"/>
              <a:buFont typeface="Courier New"/>
              <a:buNone/>
            </a:pPr>
            <a:r>
              <a:rPr lang="en-US" sz="1649" b="0" i="0" u="none" strike="noStrike" cap="none">
                <a:solidFill>
                  <a:srgbClr val="0A2540"/>
                </a:solidFill>
                <a:latin typeface="Courier New"/>
                <a:ea typeface="Courier New"/>
                <a:cs typeface="Courier New"/>
                <a:sym typeface="Courier New"/>
              </a:rPr>
              <a:t>[WRITE] Data    = 0xa5a5a5a5</a:t>
            </a:r>
            <a:endParaRPr sz="164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7"/>
              </a:spcBef>
              <a:spcAft>
                <a:spcPts val="0"/>
              </a:spcAft>
              <a:buClr>
                <a:srgbClr val="0A2540"/>
              </a:buClr>
              <a:buSzPts val="1649"/>
              <a:buFont typeface="Courier New"/>
              <a:buNone/>
            </a:pPr>
            <a:r>
              <a:rPr lang="en-US" sz="1649" b="0" i="0" u="none" strike="noStrike" cap="none">
                <a:solidFill>
                  <a:srgbClr val="0A2540"/>
                </a:solidFill>
                <a:latin typeface="Courier New"/>
                <a:ea typeface="Courier New"/>
                <a:cs typeface="Courier New"/>
                <a:sym typeface="Courier New"/>
              </a:rPr>
              <a:t>[WRITE] awready=1 → Handshake Done</a:t>
            </a:r>
            <a:endParaRPr sz="164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7"/>
              </a:spcBef>
              <a:spcAft>
                <a:spcPts val="0"/>
              </a:spcAft>
              <a:buClr>
                <a:srgbClr val="0A2540"/>
              </a:buClr>
              <a:buSzPts val="1649"/>
              <a:buFont typeface="Courier New"/>
              <a:buNone/>
            </a:pPr>
            <a:r>
              <a:rPr lang="en-US" sz="1649" b="0" i="0" u="none" strike="noStrike" cap="none">
                <a:solidFill>
                  <a:srgbClr val="0A2540"/>
                </a:solidFill>
                <a:latin typeface="Courier New"/>
                <a:ea typeface="Courier New"/>
                <a:cs typeface="Courier New"/>
                <a:sym typeface="Courier New"/>
              </a:rPr>
              <a:t>[WRITE] bvalid=1  → Write Response Received (OKAY)</a:t>
            </a:r>
            <a:endParaRPr sz="164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7"/>
              </a:spcBef>
              <a:spcAft>
                <a:spcPts val="0"/>
              </a:spcAft>
              <a:buClr>
                <a:srgbClr val="0A2540"/>
              </a:buClr>
              <a:buSzPts val="1649"/>
              <a:buFont typeface="Courier New"/>
              <a:buNone/>
            </a:pPr>
            <a:r>
              <a:rPr lang="en-US" sz="1649" b="0" i="0" u="none" strike="noStrike" cap="none">
                <a:solidFill>
                  <a:srgbClr val="0A2540"/>
                </a:solidFill>
                <a:latin typeface="Courier New"/>
                <a:ea typeface="Courier New"/>
                <a:cs typeface="Courier New"/>
                <a:sym typeface="Courier New"/>
              </a:rPr>
              <a:t>[READ]  Address = 0x00000004</a:t>
            </a:r>
            <a:endParaRPr sz="164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7"/>
              </a:spcBef>
              <a:spcAft>
                <a:spcPts val="0"/>
              </a:spcAft>
              <a:buClr>
                <a:srgbClr val="0A2540"/>
              </a:buClr>
              <a:buSzPts val="1649"/>
              <a:buFont typeface="Courier New"/>
              <a:buNone/>
            </a:pPr>
            <a:r>
              <a:rPr lang="en-US" sz="1649" b="0" i="0" u="none" strike="noStrike" cap="none">
                <a:solidFill>
                  <a:srgbClr val="0A2540"/>
                </a:solidFill>
                <a:latin typeface="Courier New"/>
                <a:ea typeface="Courier New"/>
                <a:cs typeface="Courier New"/>
                <a:sym typeface="Courier New"/>
              </a:rPr>
              <a:t>[READ]  rvalid=1 → Data Received = 0xa5a5a5a5</a:t>
            </a:r>
            <a:endParaRPr sz="164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7"/>
              </a:spcBef>
              <a:spcAft>
                <a:spcPts val="0"/>
              </a:spcAft>
              <a:buClr>
                <a:srgbClr val="0A2540"/>
              </a:buClr>
              <a:buSzPts val="1649"/>
              <a:buFont typeface="Courier New"/>
              <a:buNone/>
            </a:pPr>
            <a:r>
              <a:rPr lang="en-US" sz="1649" b="0" i="0" u="none" strike="noStrike" cap="none">
                <a:solidFill>
                  <a:srgbClr val="0A2540"/>
                </a:solidFill>
                <a:latin typeface="Courier New"/>
                <a:ea typeface="Courier New"/>
                <a:cs typeface="Courier New"/>
                <a:sym typeface="Courier New"/>
              </a:rPr>
              <a:t>[CHECK] Write Data == Read Data → PASS ✓</a:t>
            </a:r>
            <a:endParaRPr sz="164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2"/>
          <p:cNvSpPr/>
          <p:nvPr/>
        </p:nvSpPr>
        <p:spPr>
          <a:xfrm>
            <a:off x="9375409" y="3429007"/>
            <a:ext cx="67005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3600" tIns="71775" rIns="143600" bIns="717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45"/>
              </a:buClr>
              <a:buSzPts val="1806"/>
              <a:buFont typeface="Calibri"/>
              <a:buNone/>
            </a:pPr>
            <a:r>
              <a:rPr lang="en-US" sz="2000" b="1" i="0" u="none" strike="noStrike" cap="none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GTKWave Signals: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2"/>
          <p:cNvSpPr/>
          <p:nvPr/>
        </p:nvSpPr>
        <p:spPr>
          <a:xfrm>
            <a:off x="9375407" y="3917298"/>
            <a:ext cx="6700500" cy="2281500"/>
          </a:xfrm>
          <a:prstGeom prst="rect">
            <a:avLst/>
          </a:prstGeom>
          <a:solidFill>
            <a:srgbClr val="D6EEFA"/>
          </a:solidFill>
          <a:ln w="19950" cap="flat" cmpd="sng">
            <a:solidFill>
              <a:srgbClr val="4A9C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3600" tIns="143600" rIns="143600" bIns="143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12"/>
          <p:cNvSpPr/>
          <p:nvPr/>
        </p:nvSpPr>
        <p:spPr>
          <a:xfrm>
            <a:off x="9571514" y="3983671"/>
            <a:ext cx="6308100" cy="21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3600" tIns="71775" rIns="143600" bIns="717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649"/>
              <a:buFont typeface="Courier New"/>
              <a:buNone/>
            </a:pPr>
            <a:r>
              <a:rPr lang="en-US" sz="1649" b="0" i="0" u="none" strike="noStrike" cap="none">
                <a:solidFill>
                  <a:srgbClr val="0A2540"/>
                </a:solidFill>
                <a:latin typeface="Courier New"/>
                <a:ea typeface="Courier New"/>
                <a:cs typeface="Courier New"/>
                <a:sym typeface="Courier New"/>
              </a:rPr>
              <a:t>clk, reset</a:t>
            </a:r>
            <a:endParaRPr sz="164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7"/>
              </a:spcBef>
              <a:spcAft>
                <a:spcPts val="0"/>
              </a:spcAft>
              <a:buClr>
                <a:srgbClr val="0A2540"/>
              </a:buClr>
              <a:buSzPts val="1649"/>
              <a:buFont typeface="Courier New"/>
              <a:buNone/>
            </a:pPr>
            <a:r>
              <a:rPr lang="en-US" sz="1649" b="0" i="0" u="none" strike="noStrike" cap="none">
                <a:solidFill>
                  <a:srgbClr val="0A2540"/>
                </a:solidFill>
                <a:latin typeface="Courier New"/>
                <a:ea typeface="Courier New"/>
                <a:cs typeface="Courier New"/>
                <a:sym typeface="Courier New"/>
              </a:rPr>
              <a:t>awaddr[31:0], awvalid, awready</a:t>
            </a:r>
            <a:endParaRPr sz="164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7"/>
              </a:spcBef>
              <a:spcAft>
                <a:spcPts val="0"/>
              </a:spcAft>
              <a:buClr>
                <a:srgbClr val="0A2540"/>
              </a:buClr>
              <a:buSzPts val="1649"/>
              <a:buFont typeface="Courier New"/>
              <a:buNone/>
            </a:pPr>
            <a:r>
              <a:rPr lang="en-US" sz="1649" b="0" i="0" u="none" strike="noStrike" cap="none">
                <a:solidFill>
                  <a:srgbClr val="0A2540"/>
                </a:solidFill>
                <a:latin typeface="Courier New"/>
                <a:ea typeface="Courier New"/>
                <a:cs typeface="Courier New"/>
                <a:sym typeface="Courier New"/>
              </a:rPr>
              <a:t>wdata[31:0], wstrb[3:0], wvalid, wready</a:t>
            </a:r>
            <a:endParaRPr sz="164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7"/>
              </a:spcBef>
              <a:spcAft>
                <a:spcPts val="0"/>
              </a:spcAft>
              <a:buClr>
                <a:srgbClr val="0A2540"/>
              </a:buClr>
              <a:buSzPts val="1649"/>
              <a:buFont typeface="Courier New"/>
              <a:buNone/>
            </a:pPr>
            <a:r>
              <a:rPr lang="en-US" sz="1649" b="0" i="0" u="none" strike="noStrike" cap="none">
                <a:solidFill>
                  <a:srgbClr val="0A2540"/>
                </a:solidFill>
                <a:latin typeface="Courier New"/>
                <a:ea typeface="Courier New"/>
                <a:cs typeface="Courier New"/>
                <a:sym typeface="Courier New"/>
              </a:rPr>
              <a:t>bvalid, bready, bresp[1:0]</a:t>
            </a:r>
            <a:endParaRPr sz="164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7"/>
              </a:spcBef>
              <a:spcAft>
                <a:spcPts val="0"/>
              </a:spcAft>
              <a:buClr>
                <a:srgbClr val="0A2540"/>
              </a:buClr>
              <a:buSzPts val="1649"/>
              <a:buFont typeface="Courier New"/>
              <a:buNone/>
            </a:pPr>
            <a:r>
              <a:rPr lang="en-US" sz="1649" b="0" i="0" u="none" strike="noStrike" cap="none">
                <a:solidFill>
                  <a:srgbClr val="0A2540"/>
                </a:solidFill>
                <a:latin typeface="Courier New"/>
                <a:ea typeface="Courier New"/>
                <a:cs typeface="Courier New"/>
                <a:sym typeface="Courier New"/>
              </a:rPr>
              <a:t>araddr[31:0], arvalid, arready</a:t>
            </a:r>
            <a:endParaRPr sz="164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7"/>
              </a:spcBef>
              <a:spcAft>
                <a:spcPts val="0"/>
              </a:spcAft>
              <a:buClr>
                <a:srgbClr val="0A2540"/>
              </a:buClr>
              <a:buSzPts val="1649"/>
              <a:buFont typeface="Courier New"/>
              <a:buNone/>
            </a:pPr>
            <a:r>
              <a:rPr lang="en-US" sz="1649" b="0" i="0" u="none" strike="noStrike" cap="none">
                <a:solidFill>
                  <a:srgbClr val="0A2540"/>
                </a:solidFill>
                <a:latin typeface="Courier New"/>
                <a:ea typeface="Courier New"/>
                <a:cs typeface="Courier New"/>
                <a:sym typeface="Courier New"/>
              </a:rPr>
              <a:t>rdata[31:0], rvalid, rready</a:t>
            </a:r>
            <a:endParaRPr sz="164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2"/>
          <p:cNvSpPr/>
          <p:nvPr/>
        </p:nvSpPr>
        <p:spPr>
          <a:xfrm>
            <a:off x="899850" y="6665425"/>
            <a:ext cx="126744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45"/>
              </a:buClr>
              <a:buSzPts val="1150"/>
              <a:buFont typeface="Calibri"/>
              <a:buNone/>
            </a:pPr>
            <a:r>
              <a:rPr lang="en-US" sz="2000" b="1" i="0" u="none" strike="noStrike" cap="none" dirty="0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All Sub-module 2 Lab Commands: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34" name="Google Shape;734;p12"/>
          <p:cNvGraphicFramePr/>
          <p:nvPr/>
        </p:nvGraphicFramePr>
        <p:xfrm>
          <a:off x="899845" y="7258990"/>
          <a:ext cx="14317650" cy="2469375"/>
        </p:xfrm>
        <a:graphic>
          <a:graphicData uri="http://schemas.openxmlformats.org/drawingml/2006/table">
            <a:tbl>
              <a:tblPr>
                <a:noFill/>
                <a:tableStyleId>{523E13C5-BB17-412C-A7E0-655E00E05CE3}</a:tableStyleId>
              </a:tblPr>
              <a:tblGrid>
                <a:gridCol w="350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FFFF"/>
                          </a:solidFill>
                        </a:rPr>
                        <a:t>Command</a:t>
                      </a:r>
                      <a:endParaRPr sz="16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176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FFFF"/>
                          </a:solidFill>
                        </a:rPr>
                        <a:t>Output VCD/FST</a:t>
                      </a:r>
                      <a:endParaRPr sz="16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176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FFFF"/>
                          </a:solidFill>
                        </a:rPr>
                        <a:t>Tests</a:t>
                      </a:r>
                      <a:endParaRPr sz="16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176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u="none" strike="noStrike" cap="none">
                          <a:solidFill>
                            <a:srgbClr val="000000"/>
                          </a:solidFill>
                        </a:rPr>
                        <a:t>make axi_sa</a:t>
                      </a:r>
                      <a:endParaRPr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u="none" strike="noStrike" cap="none">
                          <a:solidFill>
                            <a:srgbClr val="000000"/>
                          </a:solidFill>
                        </a:rPr>
                        <a:t>tb_axi_lite_standalone.vcd</a:t>
                      </a:r>
                      <a:endParaRPr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u="none" strike="noStrike" cap="none">
                          <a:solidFill>
                            <a:srgbClr val="000000"/>
                          </a:solidFill>
                        </a:rPr>
                        <a:t>AXI handshake only</a:t>
                      </a:r>
                      <a:endParaRPr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u="none" strike="noStrike" cap="none">
                          <a:solidFill>
                            <a:srgbClr val="000000"/>
                          </a:solidFill>
                        </a:rPr>
                        <a:t>make axi_uart</a:t>
                      </a:r>
                      <a:endParaRPr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u="none" strike="noStrike" cap="none">
                          <a:solidFill>
                            <a:srgbClr val="000000"/>
                          </a:solidFill>
                        </a:rPr>
                        <a:t>tb_axi_lite.vcd</a:t>
                      </a:r>
                      <a:endParaRPr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u="none" strike="noStrike" cap="none">
                          <a:solidFill>
                            <a:srgbClr val="000000"/>
                          </a:solidFill>
                        </a:rPr>
                        <a:t>AXI + UART slave</a:t>
                      </a:r>
                      <a:endParaRPr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u="none" strike="noStrike" cap="none">
                          <a:solidFill>
                            <a:srgbClr val="000000"/>
                          </a:solidFill>
                        </a:rPr>
                        <a:t>make riscv_axi</a:t>
                      </a:r>
                      <a:endParaRPr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u="none" strike="noStrike" cap="none">
                          <a:solidFill>
                            <a:srgbClr val="000000"/>
                          </a:solidFill>
                        </a:rPr>
                        <a:t>tb_riscv_axi_lite.vcd</a:t>
                      </a:r>
                      <a:endParaRPr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u="none" strike="noStrike" cap="none">
                          <a:solidFill>
                            <a:srgbClr val="000000"/>
                          </a:solidFill>
                        </a:rPr>
                        <a:t>CPU bridge + AXI</a:t>
                      </a:r>
                      <a:endParaRPr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u="none" strike="noStrike" cap="none">
                          <a:solidFill>
                            <a:srgbClr val="000000"/>
                          </a:solidFill>
                        </a:rPr>
                        <a:t>make soc</a:t>
                      </a:r>
                      <a:endParaRPr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u="none" strike="noStrike" cap="none">
                          <a:solidFill>
                            <a:srgbClr val="000000"/>
                          </a:solidFill>
                        </a:rPr>
                        <a:t>tb_top.fst</a:t>
                      </a:r>
                      <a:endParaRPr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u="none" strike="noStrike" cap="none">
                          <a:solidFill>
                            <a:srgbClr val="000000"/>
                          </a:solidFill>
                        </a:rPr>
                        <a:t>Complete SoC</a:t>
                      </a:r>
                      <a:endParaRPr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D8E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3" name="Google Shape;743;p14"/>
          <p:cNvGrpSpPr/>
          <p:nvPr/>
        </p:nvGrpSpPr>
        <p:grpSpPr>
          <a:xfrm>
            <a:off x="927097" y="1130851"/>
            <a:ext cx="16459200" cy="1170551"/>
            <a:chOff x="0" y="-38100"/>
            <a:chExt cx="21945600" cy="1623060"/>
          </a:xfrm>
        </p:grpSpPr>
        <p:sp>
          <p:nvSpPr>
            <p:cNvPr id="744" name="Google Shape;744;p14"/>
            <p:cNvSpPr/>
            <p:nvPr/>
          </p:nvSpPr>
          <p:spPr>
            <a:xfrm>
              <a:off x="0" y="0"/>
              <a:ext cx="21945600" cy="1584960"/>
            </a:xfrm>
            <a:custGeom>
              <a:avLst/>
              <a:gdLst/>
              <a:ahLst/>
              <a:cxnLst/>
              <a:rect l="l" t="t" r="r" b="b"/>
              <a:pathLst>
                <a:path w="21945600" h="1584960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19804" b="-219804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45" name="Google Shape;745;p14"/>
            <p:cNvSpPr txBox="1"/>
            <p:nvPr/>
          </p:nvSpPr>
          <p:spPr>
            <a:xfrm>
              <a:off x="0" y="-38100"/>
              <a:ext cx="21945600" cy="1623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99"/>
                <a:buFont typeface="Arial"/>
                <a:buNone/>
              </a:pPr>
              <a:r>
                <a:rPr lang="en-US" sz="5599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Key Takeaways</a:t>
              </a: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6" name="Google Shape;746;p14"/>
          <p:cNvGrpSpPr/>
          <p:nvPr/>
        </p:nvGrpSpPr>
        <p:grpSpPr>
          <a:xfrm>
            <a:off x="-6374325" y="4826410"/>
            <a:ext cx="153353" cy="1396051"/>
            <a:chOff x="0" y="0"/>
            <a:chExt cx="204470" cy="1935734"/>
          </a:xfrm>
        </p:grpSpPr>
        <p:sp>
          <p:nvSpPr>
            <p:cNvPr id="747" name="Google Shape;747;p14"/>
            <p:cNvSpPr/>
            <p:nvPr/>
          </p:nvSpPr>
          <p:spPr>
            <a:xfrm>
              <a:off x="16891" y="16891"/>
              <a:ext cx="170688" cy="1901952"/>
            </a:xfrm>
            <a:custGeom>
              <a:avLst/>
              <a:gdLst/>
              <a:ahLst/>
              <a:cxnLst/>
              <a:rect l="l" t="t" r="r" b="b"/>
              <a:pathLst>
                <a:path w="170688" h="1901952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48" name="Google Shape;748;p14"/>
            <p:cNvSpPr/>
            <p:nvPr/>
          </p:nvSpPr>
          <p:spPr>
            <a:xfrm>
              <a:off x="0" y="0"/>
              <a:ext cx="204470" cy="1935734"/>
            </a:xfrm>
            <a:custGeom>
              <a:avLst/>
              <a:gdLst/>
              <a:ahLst/>
              <a:cxnLst/>
              <a:rect l="l" t="t" r="r" b="b"/>
              <a:pathLst>
                <a:path w="204470" h="1935734" extrusionOk="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9" name="Google Shape;749;p14"/>
          <p:cNvSpPr/>
          <p:nvPr/>
        </p:nvSpPr>
        <p:spPr>
          <a:xfrm>
            <a:off x="991169" y="2712150"/>
            <a:ext cx="6917700" cy="1422900"/>
          </a:xfrm>
          <a:prstGeom prst="rect">
            <a:avLst/>
          </a:prstGeom>
          <a:noFill/>
          <a:ln w="18025" cap="flat" cmpd="sng">
            <a:solidFill>
              <a:srgbClr val="1E4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DDEEF6"/>
              </a:buClr>
              <a:buSzPts val="1150"/>
              <a:buFont typeface="Calibri"/>
              <a:buNone/>
            </a:pPr>
            <a:r>
              <a:rPr lang="en-US" sz="20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5 Channels: AW (write addr) + W (write data) + B (write resp) + AR (read addr) + R (read data)</a:t>
            </a:r>
            <a:endParaRPr sz="2000">
              <a:solidFill>
                <a:srgbClr val="073763"/>
              </a:solidFill>
            </a:endParaRPr>
          </a:p>
        </p:txBody>
      </p:sp>
      <p:sp>
        <p:nvSpPr>
          <p:cNvPr id="750" name="Google Shape;750;p14"/>
          <p:cNvSpPr/>
          <p:nvPr/>
        </p:nvSpPr>
        <p:spPr>
          <a:xfrm>
            <a:off x="991169" y="2712150"/>
            <a:ext cx="45600" cy="1422900"/>
          </a:xfrm>
          <a:prstGeom prst="rect">
            <a:avLst/>
          </a:prstGeom>
          <a:solidFill>
            <a:srgbClr val="1E88E5"/>
          </a:solidFill>
          <a:ln w="24025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751" name="Google Shape;751;p14"/>
          <p:cNvSpPr/>
          <p:nvPr/>
        </p:nvSpPr>
        <p:spPr>
          <a:xfrm>
            <a:off x="9483743" y="2712150"/>
            <a:ext cx="6917700" cy="1422900"/>
          </a:xfrm>
          <a:prstGeom prst="rect">
            <a:avLst/>
          </a:prstGeom>
          <a:noFill/>
          <a:ln w="18025" cap="flat" cmpd="sng">
            <a:solidFill>
              <a:srgbClr val="1E4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Address Map: ROM = 0x0000_0000  |  SRAM = 0x0001_0000  |  UART = 0x1000_0000</a:t>
            </a:r>
            <a:endParaRPr sz="2000">
              <a:solidFill>
                <a:srgbClr val="073763"/>
              </a:solidFill>
            </a:endParaRPr>
          </a:p>
        </p:txBody>
      </p:sp>
      <p:sp>
        <p:nvSpPr>
          <p:cNvPr id="752" name="Google Shape;752;p14"/>
          <p:cNvSpPr/>
          <p:nvPr/>
        </p:nvSpPr>
        <p:spPr>
          <a:xfrm>
            <a:off x="9483743" y="2712150"/>
            <a:ext cx="45600" cy="1422900"/>
          </a:xfrm>
          <a:prstGeom prst="rect">
            <a:avLst/>
          </a:prstGeom>
          <a:solidFill>
            <a:srgbClr val="1E88E5"/>
          </a:solidFill>
          <a:ln w="24025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753" name="Google Shape;753;p14"/>
          <p:cNvSpPr/>
          <p:nvPr/>
        </p:nvSpPr>
        <p:spPr>
          <a:xfrm>
            <a:off x="987310" y="4715072"/>
            <a:ext cx="6917700" cy="1422900"/>
          </a:xfrm>
          <a:prstGeom prst="rect">
            <a:avLst/>
          </a:prstGeom>
          <a:noFill/>
          <a:ln w="18025" cap="flat" cmpd="sng">
            <a:solidFill>
              <a:srgbClr val="1E4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DDEEF6"/>
              </a:buClr>
              <a:buSzPts val="1150"/>
              <a:buFont typeface="Calibri"/>
              <a:buNone/>
            </a:pPr>
            <a:r>
              <a:rPr lang="en-US" sz="20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Golden Rule: Transfer occurs ONLY when VALID AND READY = 1 at rising clock edge</a:t>
            </a:r>
            <a:endParaRPr sz="20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4"/>
          <p:cNvSpPr/>
          <p:nvPr/>
        </p:nvSpPr>
        <p:spPr>
          <a:xfrm>
            <a:off x="987310" y="4715072"/>
            <a:ext cx="45600" cy="1422900"/>
          </a:xfrm>
          <a:prstGeom prst="rect">
            <a:avLst/>
          </a:prstGeom>
          <a:solidFill>
            <a:srgbClr val="1E88E5"/>
          </a:solidFill>
          <a:ln w="24025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755" name="Google Shape;755;p14"/>
          <p:cNvSpPr/>
          <p:nvPr/>
        </p:nvSpPr>
        <p:spPr>
          <a:xfrm>
            <a:off x="9487628" y="4715101"/>
            <a:ext cx="6917700" cy="1422900"/>
          </a:xfrm>
          <a:prstGeom prst="rect">
            <a:avLst/>
          </a:prstGeom>
          <a:noFill/>
          <a:ln w="18025" cap="flat" cmpd="sng">
            <a:solidFill>
              <a:srgbClr val="1E4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Lab: make axi_sa → write 0xA5A5A5A5 → read back → PASS ✓</a:t>
            </a:r>
            <a:endParaRPr sz="2000">
              <a:solidFill>
                <a:srgbClr val="073763"/>
              </a:solidFill>
            </a:endParaRPr>
          </a:p>
        </p:txBody>
      </p:sp>
      <p:sp>
        <p:nvSpPr>
          <p:cNvPr id="756" name="Google Shape;756;p14"/>
          <p:cNvSpPr/>
          <p:nvPr/>
        </p:nvSpPr>
        <p:spPr>
          <a:xfrm>
            <a:off x="9487628" y="4715101"/>
            <a:ext cx="45600" cy="1422900"/>
          </a:xfrm>
          <a:prstGeom prst="rect">
            <a:avLst/>
          </a:prstGeom>
          <a:solidFill>
            <a:srgbClr val="1E88E5"/>
          </a:solidFill>
          <a:ln w="24025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757" name="Google Shape;757;p14"/>
          <p:cNvSpPr/>
          <p:nvPr/>
        </p:nvSpPr>
        <p:spPr>
          <a:xfrm>
            <a:off x="983400" y="6619275"/>
            <a:ext cx="6917700" cy="1422900"/>
          </a:xfrm>
          <a:prstGeom prst="rect">
            <a:avLst/>
          </a:prstGeom>
          <a:noFill/>
          <a:ln w="18025" cap="flat" cmpd="sng">
            <a:solidFill>
              <a:srgbClr val="1E4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THIS Project: 1 CPU bridge master ↔ 3 slaves via axi_decoder.v one-hot select</a:t>
            </a:r>
            <a:endParaRPr sz="20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4"/>
          <p:cNvSpPr/>
          <p:nvPr/>
        </p:nvSpPr>
        <p:spPr>
          <a:xfrm>
            <a:off x="983400" y="6619275"/>
            <a:ext cx="45600" cy="1422900"/>
          </a:xfrm>
          <a:prstGeom prst="rect">
            <a:avLst/>
          </a:prstGeom>
          <a:solidFill>
            <a:srgbClr val="1E88E5"/>
          </a:solidFill>
          <a:ln w="24025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759" name="Google Shape;759;p14"/>
          <p:cNvSpPr/>
          <p:nvPr/>
        </p:nvSpPr>
        <p:spPr>
          <a:xfrm>
            <a:off x="9491512" y="6619275"/>
            <a:ext cx="6917700" cy="1422900"/>
          </a:xfrm>
          <a:prstGeom prst="rect">
            <a:avLst/>
          </a:prstGeom>
          <a:noFill/>
          <a:ln w="18025" cap="flat" cmpd="sng">
            <a:solidFill>
              <a:srgbClr val="1E4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WSTRB: firmware SB → WSTRB=4'h1 → uart_axi selects wdata[7:0] as TX byte</a:t>
            </a:r>
            <a:endParaRPr sz="2000">
              <a:solidFill>
                <a:srgbClr val="073763"/>
              </a:solidFill>
            </a:endParaRPr>
          </a:p>
        </p:txBody>
      </p:sp>
      <p:sp>
        <p:nvSpPr>
          <p:cNvPr id="760" name="Google Shape;760;p14"/>
          <p:cNvSpPr/>
          <p:nvPr/>
        </p:nvSpPr>
        <p:spPr>
          <a:xfrm>
            <a:off x="9491512" y="6619275"/>
            <a:ext cx="45600" cy="1422900"/>
          </a:xfrm>
          <a:prstGeom prst="rect">
            <a:avLst/>
          </a:prstGeom>
          <a:solidFill>
            <a:srgbClr val="1E88E5"/>
          </a:solidFill>
          <a:ln w="24025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2179</Words>
  <Application>Microsoft Office PowerPoint</Application>
  <PresentationFormat>Custom</PresentationFormat>
  <Paragraphs>389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Poppins</vt:lpstr>
      <vt:lpstr>Calibri</vt:lpstr>
      <vt:lpstr>Arial</vt:lpstr>
      <vt:lpstr>Courier New</vt:lpstr>
      <vt:lpstr>Cambria</vt:lpstr>
      <vt:lpstr>Consolas</vt:lpstr>
      <vt:lpstr>Courier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acer</cp:lastModifiedBy>
  <cp:revision>2</cp:revision>
  <dcterms:created xsi:type="dcterms:W3CDTF">2006-08-16T00:00:00Z</dcterms:created>
  <dcterms:modified xsi:type="dcterms:W3CDTF">2026-05-09T13:06:11Z</dcterms:modified>
</cp:coreProperties>
</file>