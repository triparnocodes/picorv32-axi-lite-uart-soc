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embeddedFontLst>
    <p:embeddedFont>
      <p:font typeface="Poppi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pYd73MUL6nTJTEk8e2/xHwq9N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11" Type="http://schemas.openxmlformats.org/officeDocument/2006/relationships/slide" Target="slides/slide7.xml"/><Relationship Id="rId22" Type="http://schemas.openxmlformats.org/officeDocument/2006/relationships/font" Target="fonts/Poppins-boldItalic.fntdata"/><Relationship Id="rId10" Type="http://schemas.openxmlformats.org/officeDocument/2006/relationships/slide" Target="slides/slide6.xml"/><Relationship Id="rId21" Type="http://schemas.openxmlformats.org/officeDocument/2006/relationships/font" Target="fonts/Poppins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Poppins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6c0168df0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6c0168df0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e6c0168df0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6c0168df0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e6c0168df0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e6c0168df0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3" name="Google Shape;40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0" name="Google Shape;44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e6c0168df0_0_3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e6c0168df0_0_3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g3e6c0168df0_0_3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8" name="Google Shape;51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02920" y="1005845"/>
            <a:ext cx="6400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55A"/>
              </a:buClr>
              <a:buSzPts val="9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AXI4-LITE UART INTEGRATION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02920" y="1298460"/>
            <a:ext cx="64008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AXI4-Lite UART</a:t>
            </a:r>
            <a:endParaRPr b="0" i="0" sz="4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Integration</a:t>
            </a:r>
            <a:endParaRPr b="0" i="0" sz="4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02920" y="2898645"/>
            <a:ext cx="6492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1" i="0" lang="en-US" sz="13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3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How UART becomes a memory-mapped AXI4-Lite slave</a:t>
            </a:r>
            <a:endParaRPr b="0" i="0" sz="13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02920" y="3282693"/>
            <a:ext cx="6492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1" i="0" lang="en-US" sz="13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3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Register layout, write/read transaction flows, and firmware</a:t>
            </a:r>
            <a:endParaRPr b="0" i="0" sz="13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02920" y="3666741"/>
            <a:ext cx="6492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1" i="0" lang="en-US" sz="13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3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End-to-end: C code → AXI bus → serial bits on the wire</a:t>
            </a:r>
            <a:endParaRPr b="0" i="0" sz="13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02920" y="4050789"/>
            <a:ext cx="6492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1" i="0" lang="en-US" sz="13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3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For learners with UART and AXI4-Lite fundamentals</a:t>
            </a:r>
            <a:endParaRPr b="0" i="0" sz="13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02930" y="4434840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55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PREREQUISITES:</a:t>
            </a:r>
            <a:endParaRPr b="0" i="0" sz="800" u="none" cap="none" strike="noStrik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02930" y="4709050"/>
            <a:ext cx="1737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✓  UART protocol</a:t>
            </a:r>
            <a:endParaRPr b="0" i="0" sz="1100" u="none" cap="none" strike="noStrik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660280" y="4709048"/>
            <a:ext cx="1737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✓  AXI4-Lite channels</a:t>
            </a:r>
            <a:endParaRPr b="0" i="0" sz="1100" u="none" cap="none" strike="noStrik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073555" y="4709046"/>
            <a:ext cx="1737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✓  Basic C / MMIO</a:t>
            </a:r>
            <a:endParaRPr b="0" i="0" sz="1100" u="none" cap="none" strike="noStrik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-225" y="4416501"/>
            <a:ext cx="9156668" cy="728958"/>
          </a:xfrm>
          <a:custGeom>
            <a:rect b="b" l="l" r="r" t="t"/>
            <a:pathLst>
              <a:path extrusionOk="0" h="2776982" w="24417782">
                <a:moveTo>
                  <a:pt x="16891" y="0"/>
                </a:moveTo>
                <a:lnTo>
                  <a:pt x="24400890" y="0"/>
                </a:lnTo>
                <a:cubicBezTo>
                  <a:pt x="24410290" y="0"/>
                  <a:pt x="24417782" y="7620"/>
                  <a:pt x="24417782" y="16891"/>
                </a:cubicBezTo>
                <a:lnTo>
                  <a:pt x="24417782" y="2760091"/>
                </a:lnTo>
                <a:cubicBezTo>
                  <a:pt x="24417782" y="2769489"/>
                  <a:pt x="24410163" y="2776982"/>
                  <a:pt x="24400890" y="2776982"/>
                </a:cubicBezTo>
                <a:lnTo>
                  <a:pt x="16891" y="2776982"/>
                </a:lnTo>
                <a:cubicBezTo>
                  <a:pt x="7493" y="2776982"/>
                  <a:pt x="0" y="2769362"/>
                  <a:pt x="0" y="2760091"/>
                </a:cubicBezTo>
                <a:lnTo>
                  <a:pt x="0" y="16891"/>
                </a:lnTo>
                <a:cubicBezTo>
                  <a:pt x="0" y="7620"/>
                  <a:pt x="7620" y="0"/>
                  <a:pt x="16891" y="0"/>
                </a:cubicBezTo>
                <a:moveTo>
                  <a:pt x="16891" y="33909"/>
                </a:moveTo>
                <a:lnTo>
                  <a:pt x="16891" y="16891"/>
                </a:lnTo>
                <a:lnTo>
                  <a:pt x="33909" y="16891"/>
                </a:lnTo>
                <a:lnTo>
                  <a:pt x="33909" y="2760091"/>
                </a:lnTo>
                <a:lnTo>
                  <a:pt x="16891" y="2760091"/>
                </a:lnTo>
                <a:lnTo>
                  <a:pt x="16891" y="2743200"/>
                </a:lnTo>
                <a:lnTo>
                  <a:pt x="24400890" y="2743200"/>
                </a:lnTo>
                <a:lnTo>
                  <a:pt x="24400890" y="2760091"/>
                </a:lnTo>
                <a:lnTo>
                  <a:pt x="24384000" y="2760091"/>
                </a:lnTo>
                <a:lnTo>
                  <a:pt x="24384000" y="16891"/>
                </a:lnTo>
                <a:lnTo>
                  <a:pt x="24400890" y="16891"/>
                </a:lnTo>
                <a:lnTo>
                  <a:pt x="24400890" y="33909"/>
                </a:lnTo>
                <a:lnTo>
                  <a:pt x="16891" y="33909"/>
                </a:lnTo>
                <a:close/>
              </a:path>
            </a:pathLst>
          </a:custGeom>
          <a:solidFill>
            <a:srgbClr val="00B0F0">
              <a:alpha val="392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326" y="4420923"/>
            <a:ext cx="9144000" cy="720090"/>
          </a:xfrm>
          <a:custGeom>
            <a:rect b="b" l="l" r="r" t="t"/>
            <a:pathLst>
              <a:path extrusionOk="0" h="2743200" w="24383999">
                <a:moveTo>
                  <a:pt x="0" y="0"/>
                </a:moveTo>
                <a:lnTo>
                  <a:pt x="24383999" y="0"/>
                </a:lnTo>
                <a:lnTo>
                  <a:pt x="24383999" y="2743200"/>
                </a:lnTo>
                <a:lnTo>
                  <a:pt x="0" y="2743200"/>
                </a:lnTo>
                <a:close/>
              </a:path>
            </a:pathLst>
          </a:custGeom>
          <a:solidFill>
            <a:srgbClr val="00B0F0">
              <a:alpha val="392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/>
        </p:nvSpPr>
        <p:spPr>
          <a:xfrm>
            <a:off x="305562" y="503550"/>
            <a:ext cx="8165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78"/>
              <a:buFont typeface="Arial"/>
              <a:buNone/>
            </a:pPr>
            <a:r>
              <a:rPr b="1" i="0" lang="en-US" sz="277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What We'll Cover</a:t>
            </a:r>
            <a:endParaRPr b="0" i="0" sz="6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05562" y="1142581"/>
            <a:ext cx="4178198" cy="653979"/>
          </a:xfrm>
          <a:custGeom>
            <a:rect b="b" l="l" r="r" t="t"/>
            <a:pathLst>
              <a:path extrusionOk="0" h="1755648" w="1121664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22675" lIns="45350" spcFirstLastPara="1" rIns="45350" wrap="square" tIns="22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3"/>
              <a:buFont typeface="Arial"/>
              <a:buNone/>
            </a:pPr>
            <a:r>
              <a:t/>
            </a:r>
            <a:endParaRPr b="0" i="0" sz="8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" name="Google Shape;35;p2"/>
          <p:cNvGrpSpPr/>
          <p:nvPr/>
        </p:nvGrpSpPr>
        <p:grpSpPr>
          <a:xfrm>
            <a:off x="414429" y="1233731"/>
            <a:ext cx="381002" cy="453117"/>
            <a:chOff x="0" y="-47625"/>
            <a:chExt cx="1024200" cy="1218057"/>
          </a:xfrm>
        </p:grpSpPr>
        <p:sp>
          <p:nvSpPr>
            <p:cNvPr id="36" name="Google Shape;36;p2"/>
            <p:cNvSpPr/>
            <p:nvPr/>
          </p:nvSpPr>
          <p:spPr>
            <a:xfrm>
              <a:off x="0" y="0"/>
              <a:ext cx="1024128" cy="1170432"/>
            </a:xfrm>
            <a:custGeom>
              <a:rect b="b" l="l" r="r" t="t"/>
              <a:pathLst>
                <a:path extrusionOk="0" h="1170432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96642" r="-96630" t="0"/>
              </a:stretch>
            </a:blipFill>
            <a:ln>
              <a:noFill/>
            </a:ln>
          </p:spPr>
          <p:txBody>
            <a:bodyPr anchorCtr="0" anchor="t" bIns="22675" lIns="45350" spcFirstLastPara="1" rIns="45350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3"/>
                <a:buFont typeface="Arial"/>
                <a:buNone/>
              </a:pPr>
              <a:r>
                <a:t/>
              </a:r>
              <a:endParaRPr b="0" i="0" sz="8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89"/>
                <a:buFont typeface="Arial"/>
                <a:buNone/>
              </a:pPr>
              <a:r>
                <a:rPr b="1" i="0" lang="en-US" sz="1389" u="none" cap="none" strike="noStrik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 b="0" i="0" sz="6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" name="Google Shape;38;p2"/>
          <p:cNvGrpSpPr/>
          <p:nvPr/>
        </p:nvGrpSpPr>
        <p:grpSpPr>
          <a:xfrm>
            <a:off x="825454" y="1227005"/>
            <a:ext cx="30709" cy="484251"/>
            <a:chOff x="0" y="0"/>
            <a:chExt cx="82550" cy="1301750"/>
          </a:xfrm>
        </p:grpSpPr>
        <p:sp>
          <p:nvSpPr>
            <p:cNvPr id="39" name="Google Shape;39;p2"/>
            <p:cNvSpPr/>
            <p:nvPr/>
          </p:nvSpPr>
          <p:spPr>
            <a:xfrm>
              <a:off x="16891" y="16891"/>
              <a:ext cx="48768" cy="1267968"/>
            </a:xfrm>
            <a:custGeom>
              <a:rect b="b" l="l" r="r" t="t"/>
              <a:pathLst>
                <a:path extrusionOk="0" h="1267968" w="48768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anchorCtr="0" anchor="t" bIns="22675" lIns="45350" spcFirstLastPara="1" rIns="45350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3"/>
                <a:buFont typeface="Arial"/>
                <a:buNone/>
              </a:pPr>
              <a:r>
                <a:t/>
              </a:r>
              <a:endParaRPr b="0" i="0" sz="8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0" y="0"/>
              <a:ext cx="82550" cy="1301750"/>
            </a:xfrm>
            <a:custGeom>
              <a:rect b="b" l="l" r="r" t="t"/>
              <a:pathLst>
                <a:path extrusionOk="0" h="1301750" w="8255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anchorCtr="0" anchor="t" bIns="22675" lIns="45350" spcFirstLastPara="1" rIns="45350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3"/>
                <a:buFont typeface="Arial"/>
                <a:buNone/>
              </a:pPr>
              <a:r>
                <a:t/>
              </a:r>
              <a:endParaRPr b="0" i="0" sz="8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" name="Google Shape;41;p2"/>
          <p:cNvSpPr/>
          <p:nvPr/>
        </p:nvSpPr>
        <p:spPr>
          <a:xfrm>
            <a:off x="305562" y="1913724"/>
            <a:ext cx="4178198" cy="653979"/>
          </a:xfrm>
          <a:custGeom>
            <a:rect b="b" l="l" r="r" t="t"/>
            <a:pathLst>
              <a:path extrusionOk="0" h="1755648" w="1121664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22675" lIns="45350" spcFirstLastPara="1" rIns="45350" wrap="square" tIns="22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3"/>
              <a:buFont typeface="Arial"/>
              <a:buNone/>
            </a:pPr>
            <a:r>
              <a:t/>
            </a:r>
            <a:endParaRPr b="0" i="0" sz="8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" name="Google Shape;42;p2"/>
          <p:cNvGrpSpPr/>
          <p:nvPr/>
        </p:nvGrpSpPr>
        <p:grpSpPr>
          <a:xfrm>
            <a:off x="414429" y="2004875"/>
            <a:ext cx="381002" cy="453117"/>
            <a:chOff x="0" y="-47625"/>
            <a:chExt cx="1024200" cy="1218057"/>
          </a:xfrm>
        </p:grpSpPr>
        <p:sp>
          <p:nvSpPr>
            <p:cNvPr id="43" name="Google Shape;43;p2"/>
            <p:cNvSpPr/>
            <p:nvPr/>
          </p:nvSpPr>
          <p:spPr>
            <a:xfrm>
              <a:off x="0" y="0"/>
              <a:ext cx="1024128" cy="1170432"/>
            </a:xfrm>
            <a:custGeom>
              <a:rect b="b" l="l" r="r" t="t"/>
              <a:pathLst>
                <a:path extrusionOk="0" h="1170432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96642" r="-96630" t="0"/>
              </a:stretch>
            </a:blipFill>
            <a:ln>
              <a:noFill/>
            </a:ln>
          </p:spPr>
          <p:txBody>
            <a:bodyPr anchorCtr="0" anchor="t" bIns="22675" lIns="45350" spcFirstLastPara="1" rIns="45350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3"/>
                <a:buFont typeface="Arial"/>
                <a:buNone/>
              </a:pPr>
              <a:r>
                <a:t/>
              </a:r>
              <a:endParaRPr b="0" i="0" sz="8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89"/>
                <a:buFont typeface="Arial"/>
                <a:buNone/>
              </a:pPr>
              <a:r>
                <a:rPr b="1" i="0" lang="en-US" sz="1389" u="none" cap="none" strike="noStrik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b="0" i="0" sz="6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" name="Google Shape;45;p2"/>
          <p:cNvGrpSpPr/>
          <p:nvPr/>
        </p:nvGrpSpPr>
        <p:grpSpPr>
          <a:xfrm>
            <a:off x="958765" y="1226994"/>
            <a:ext cx="3265528" cy="484322"/>
            <a:chOff x="0" y="-38100"/>
            <a:chExt cx="8778300" cy="769620"/>
          </a:xfrm>
        </p:grpSpPr>
        <p:sp>
          <p:nvSpPr>
            <p:cNvPr id="46" name="Google Shape;46;p2"/>
            <p:cNvSpPr/>
            <p:nvPr/>
          </p:nvSpPr>
          <p:spPr>
            <a:xfrm>
              <a:off x="0" y="0"/>
              <a:ext cx="8778240" cy="731520"/>
            </a:xfrm>
            <a:custGeom>
              <a:rect b="b" l="l" r="r" t="t"/>
              <a:pathLst>
                <a:path extrusionOk="0"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3820" l="0" r="0" t="-183820"/>
              </a:stretch>
            </a:blipFill>
            <a:ln>
              <a:noFill/>
            </a:ln>
          </p:spPr>
          <p:txBody>
            <a:bodyPr anchorCtr="0" anchor="t" bIns="22675" lIns="45350" spcFirstLastPara="1" rIns="45350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3"/>
                <a:buFont typeface="Arial"/>
                <a:buNone/>
              </a:pPr>
              <a:r>
                <a:t/>
              </a:r>
              <a:endParaRPr b="0" i="0" sz="8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alibri"/>
                <a:buNone/>
              </a:pPr>
              <a:r>
                <a:rPr lang="en-US" sz="11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Why UART needs AXI slave interface — MMIO access pattern</a:t>
              </a:r>
              <a:endParaRPr sz="13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" name="Google Shape;48;p2"/>
          <p:cNvGrpSpPr/>
          <p:nvPr/>
        </p:nvGrpSpPr>
        <p:grpSpPr>
          <a:xfrm>
            <a:off x="825454" y="1998148"/>
            <a:ext cx="30709" cy="484251"/>
            <a:chOff x="0" y="0"/>
            <a:chExt cx="82550" cy="1301750"/>
          </a:xfrm>
        </p:grpSpPr>
        <p:sp>
          <p:nvSpPr>
            <p:cNvPr id="49" name="Google Shape;49;p2"/>
            <p:cNvSpPr/>
            <p:nvPr/>
          </p:nvSpPr>
          <p:spPr>
            <a:xfrm>
              <a:off x="16891" y="16891"/>
              <a:ext cx="48768" cy="1267968"/>
            </a:xfrm>
            <a:custGeom>
              <a:rect b="b" l="l" r="r" t="t"/>
              <a:pathLst>
                <a:path extrusionOk="0" h="1267968" w="48768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anchorCtr="0" anchor="t" bIns="22675" lIns="45350" spcFirstLastPara="1" rIns="45350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3"/>
                <a:buFont typeface="Arial"/>
                <a:buNone/>
              </a:pPr>
              <a:r>
                <a:t/>
              </a:r>
              <a:endParaRPr b="0" i="0" sz="8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0" y="0"/>
              <a:ext cx="82550" cy="1301750"/>
            </a:xfrm>
            <a:custGeom>
              <a:rect b="b" l="l" r="r" t="t"/>
              <a:pathLst>
                <a:path extrusionOk="0" h="1301750" w="8255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anchorCtr="0" anchor="t" bIns="22675" lIns="45350" spcFirstLastPara="1" rIns="45350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3"/>
                <a:buFont typeface="Arial"/>
                <a:buNone/>
              </a:pPr>
              <a:r>
                <a:t/>
              </a:r>
              <a:endParaRPr b="0" i="0" sz="8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" name="Google Shape;51;p2"/>
          <p:cNvGrpSpPr/>
          <p:nvPr/>
        </p:nvGrpSpPr>
        <p:grpSpPr>
          <a:xfrm>
            <a:off x="958765" y="1998151"/>
            <a:ext cx="3265528" cy="484245"/>
            <a:chOff x="0" y="-38100"/>
            <a:chExt cx="8778300" cy="769620"/>
          </a:xfrm>
        </p:grpSpPr>
        <p:sp>
          <p:nvSpPr>
            <p:cNvPr id="52" name="Google Shape;52;p2"/>
            <p:cNvSpPr/>
            <p:nvPr/>
          </p:nvSpPr>
          <p:spPr>
            <a:xfrm>
              <a:off x="0" y="0"/>
              <a:ext cx="8778240" cy="731520"/>
            </a:xfrm>
            <a:custGeom>
              <a:rect b="b" l="l" r="r" t="t"/>
              <a:pathLst>
                <a:path extrusionOk="0"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3820" l="0" r="0" t="-183820"/>
              </a:stretch>
            </a:blipFill>
            <a:ln>
              <a:noFill/>
            </a:ln>
          </p:spPr>
          <p:txBody>
            <a:bodyPr anchorCtr="0" anchor="t" bIns="22675" lIns="45350" spcFirstLastPara="1" rIns="45350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3"/>
                <a:buFont typeface="Arial"/>
                <a:buNone/>
              </a:pPr>
              <a:r>
                <a:t/>
              </a:r>
              <a:endParaRPr b="0" i="0" sz="8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alibri"/>
                <a:buNone/>
              </a:pPr>
              <a:r>
                <a:rPr lang="en-US" sz="11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uart_axi.v: 3 registers at 0x10000000 / 0x10000004 / 0x10000008</a:t>
              </a:r>
              <a:endParaRPr b="0" i="0" sz="1191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" name="Google Shape;54;p2"/>
          <p:cNvSpPr/>
          <p:nvPr/>
        </p:nvSpPr>
        <p:spPr>
          <a:xfrm>
            <a:off x="305562" y="2684868"/>
            <a:ext cx="4178198" cy="653979"/>
          </a:xfrm>
          <a:custGeom>
            <a:rect b="b" l="l" r="r" t="t"/>
            <a:pathLst>
              <a:path extrusionOk="0" h="1755648" w="1121664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22675" lIns="45350" spcFirstLastPara="1" rIns="45350" wrap="square" tIns="22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3"/>
              <a:buFont typeface="Arial"/>
              <a:buNone/>
            </a:pPr>
            <a:r>
              <a:t/>
            </a:r>
            <a:endParaRPr b="0" i="0" sz="8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" name="Google Shape;55;p2"/>
          <p:cNvGrpSpPr/>
          <p:nvPr/>
        </p:nvGrpSpPr>
        <p:grpSpPr>
          <a:xfrm>
            <a:off x="414429" y="2776019"/>
            <a:ext cx="381002" cy="453117"/>
            <a:chOff x="0" y="-47625"/>
            <a:chExt cx="1024200" cy="1218057"/>
          </a:xfrm>
        </p:grpSpPr>
        <p:sp>
          <p:nvSpPr>
            <p:cNvPr id="56" name="Google Shape;56;p2"/>
            <p:cNvSpPr/>
            <p:nvPr/>
          </p:nvSpPr>
          <p:spPr>
            <a:xfrm>
              <a:off x="0" y="0"/>
              <a:ext cx="1024128" cy="1170432"/>
            </a:xfrm>
            <a:custGeom>
              <a:rect b="b" l="l" r="r" t="t"/>
              <a:pathLst>
                <a:path extrusionOk="0" h="1170432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22675" lIns="45350" spcFirstLastPara="1" rIns="45350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3"/>
                <a:buFont typeface="Arial"/>
                <a:buNone/>
              </a:pPr>
              <a:r>
                <a:t/>
              </a:r>
              <a:endParaRPr b="0" i="0" sz="8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89"/>
                <a:buFont typeface="Arial"/>
                <a:buNone/>
              </a:pPr>
              <a:r>
                <a:rPr b="1" i="0" lang="en-US" sz="1389" u="none" cap="none" strike="noStrik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 b="0" i="0" sz="6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" name="Google Shape;58;p2"/>
          <p:cNvGrpSpPr/>
          <p:nvPr/>
        </p:nvGrpSpPr>
        <p:grpSpPr>
          <a:xfrm>
            <a:off x="825454" y="2769292"/>
            <a:ext cx="30709" cy="484251"/>
            <a:chOff x="0" y="0"/>
            <a:chExt cx="82550" cy="1301750"/>
          </a:xfrm>
        </p:grpSpPr>
        <p:sp>
          <p:nvSpPr>
            <p:cNvPr id="59" name="Google Shape;59;p2"/>
            <p:cNvSpPr/>
            <p:nvPr/>
          </p:nvSpPr>
          <p:spPr>
            <a:xfrm>
              <a:off x="16891" y="16891"/>
              <a:ext cx="48768" cy="1267968"/>
            </a:xfrm>
            <a:custGeom>
              <a:rect b="b" l="l" r="r" t="t"/>
              <a:pathLst>
                <a:path extrusionOk="0" h="1267968" w="48768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anchorCtr="0" anchor="t" bIns="22675" lIns="45350" spcFirstLastPara="1" rIns="45350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3"/>
                <a:buFont typeface="Arial"/>
                <a:buNone/>
              </a:pPr>
              <a:r>
                <a:t/>
              </a:r>
              <a:endParaRPr b="0" i="0" sz="8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0" y="0"/>
              <a:ext cx="82550" cy="1301750"/>
            </a:xfrm>
            <a:custGeom>
              <a:rect b="b" l="l" r="r" t="t"/>
              <a:pathLst>
                <a:path extrusionOk="0" h="1301750" w="8255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anchorCtr="0" anchor="t" bIns="22675" lIns="45350" spcFirstLastPara="1" rIns="45350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3"/>
                <a:buFont typeface="Arial"/>
                <a:buNone/>
              </a:pPr>
              <a:r>
                <a:t/>
              </a:r>
              <a:endParaRPr b="0" i="0" sz="8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" name="Google Shape;61;p2"/>
          <p:cNvGrpSpPr/>
          <p:nvPr/>
        </p:nvGrpSpPr>
        <p:grpSpPr>
          <a:xfrm>
            <a:off x="958765" y="2776008"/>
            <a:ext cx="3265528" cy="453229"/>
            <a:chOff x="0" y="-38100"/>
            <a:chExt cx="8778300" cy="769620"/>
          </a:xfrm>
        </p:grpSpPr>
        <p:sp>
          <p:nvSpPr>
            <p:cNvPr id="62" name="Google Shape;62;p2"/>
            <p:cNvSpPr/>
            <p:nvPr/>
          </p:nvSpPr>
          <p:spPr>
            <a:xfrm>
              <a:off x="0" y="0"/>
              <a:ext cx="8778240" cy="731520"/>
            </a:xfrm>
            <a:custGeom>
              <a:rect b="b" l="l" r="r" t="t"/>
              <a:pathLst>
                <a:path extrusionOk="0"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22675" lIns="45350" spcFirstLastPara="1" rIns="45350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3"/>
                <a:buFont typeface="Arial"/>
                <a:buNone/>
              </a:pPr>
              <a:r>
                <a:t/>
              </a:r>
              <a:endParaRPr b="0" i="0" sz="8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alibri"/>
                <a:buNone/>
              </a:pPr>
              <a:r>
                <a:rPr lang="en-US" sz="11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Write path: AXI → uart_axi → buf_valid → uart_tx → serial bits</a:t>
              </a:r>
              <a:endParaRPr b="0" i="0" sz="1191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" name="Google Shape;64;p2"/>
          <p:cNvSpPr/>
          <p:nvPr/>
        </p:nvSpPr>
        <p:spPr>
          <a:xfrm>
            <a:off x="305562" y="3456012"/>
            <a:ext cx="4178198" cy="653979"/>
          </a:xfrm>
          <a:custGeom>
            <a:rect b="b" l="l" r="r" t="t"/>
            <a:pathLst>
              <a:path extrusionOk="0" h="1755648" w="1121664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22675" lIns="45350" spcFirstLastPara="1" rIns="45350" wrap="square" tIns="22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3"/>
              <a:buFont typeface="Arial"/>
              <a:buNone/>
            </a:pPr>
            <a:r>
              <a:t/>
            </a:r>
            <a:endParaRPr b="0" i="0" sz="8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" name="Google Shape;65;p2"/>
          <p:cNvGrpSpPr/>
          <p:nvPr/>
        </p:nvGrpSpPr>
        <p:grpSpPr>
          <a:xfrm>
            <a:off x="414429" y="3547162"/>
            <a:ext cx="381002" cy="453117"/>
            <a:chOff x="0" y="-47625"/>
            <a:chExt cx="1024200" cy="1218057"/>
          </a:xfrm>
        </p:grpSpPr>
        <p:sp>
          <p:nvSpPr>
            <p:cNvPr id="66" name="Google Shape;66;p2"/>
            <p:cNvSpPr/>
            <p:nvPr/>
          </p:nvSpPr>
          <p:spPr>
            <a:xfrm>
              <a:off x="0" y="0"/>
              <a:ext cx="1024128" cy="1170432"/>
            </a:xfrm>
            <a:custGeom>
              <a:rect b="b" l="l" r="r" t="t"/>
              <a:pathLst>
                <a:path extrusionOk="0" h="1170432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22675" lIns="45350" spcFirstLastPara="1" rIns="45350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3"/>
                <a:buFont typeface="Arial"/>
                <a:buNone/>
              </a:pPr>
              <a:r>
                <a:t/>
              </a:r>
              <a:endParaRPr b="0" i="0" sz="8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89"/>
                <a:buFont typeface="Arial"/>
                <a:buNone/>
              </a:pPr>
              <a:r>
                <a:rPr b="1" i="0" lang="en-US" sz="1389" u="none" cap="none" strike="noStrik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 b="0" i="0" sz="6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" name="Google Shape;68;p2"/>
          <p:cNvGrpSpPr/>
          <p:nvPr/>
        </p:nvGrpSpPr>
        <p:grpSpPr>
          <a:xfrm>
            <a:off x="825454" y="3540436"/>
            <a:ext cx="30709" cy="484251"/>
            <a:chOff x="0" y="0"/>
            <a:chExt cx="82550" cy="1301750"/>
          </a:xfrm>
        </p:grpSpPr>
        <p:sp>
          <p:nvSpPr>
            <p:cNvPr id="69" name="Google Shape;69;p2"/>
            <p:cNvSpPr/>
            <p:nvPr/>
          </p:nvSpPr>
          <p:spPr>
            <a:xfrm>
              <a:off x="16891" y="16891"/>
              <a:ext cx="48768" cy="1267968"/>
            </a:xfrm>
            <a:custGeom>
              <a:rect b="b" l="l" r="r" t="t"/>
              <a:pathLst>
                <a:path extrusionOk="0" h="1267968" w="48768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anchorCtr="0" anchor="t" bIns="22675" lIns="45350" spcFirstLastPara="1" rIns="45350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3"/>
                <a:buFont typeface="Arial"/>
                <a:buNone/>
              </a:pPr>
              <a:r>
                <a:t/>
              </a:r>
              <a:endParaRPr b="0" i="0" sz="8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0" y="0"/>
              <a:ext cx="82550" cy="1301750"/>
            </a:xfrm>
            <a:custGeom>
              <a:rect b="b" l="l" r="r" t="t"/>
              <a:pathLst>
                <a:path extrusionOk="0" h="1301750" w="8255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anchorCtr="0" anchor="t" bIns="22675" lIns="45350" spcFirstLastPara="1" rIns="45350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3"/>
                <a:buFont typeface="Arial"/>
                <a:buNone/>
              </a:pPr>
              <a:r>
                <a:t/>
              </a:r>
              <a:endParaRPr b="0" i="0" sz="8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" name="Google Shape;71;p2"/>
          <p:cNvGrpSpPr/>
          <p:nvPr/>
        </p:nvGrpSpPr>
        <p:grpSpPr>
          <a:xfrm>
            <a:off x="958765" y="3547159"/>
            <a:ext cx="3265528" cy="453229"/>
            <a:chOff x="0" y="-38100"/>
            <a:chExt cx="8778300" cy="769620"/>
          </a:xfrm>
        </p:grpSpPr>
        <p:sp>
          <p:nvSpPr>
            <p:cNvPr id="72" name="Google Shape;72;p2"/>
            <p:cNvSpPr/>
            <p:nvPr/>
          </p:nvSpPr>
          <p:spPr>
            <a:xfrm>
              <a:off x="0" y="0"/>
              <a:ext cx="8778240" cy="731520"/>
            </a:xfrm>
            <a:custGeom>
              <a:rect b="b" l="l" r="r" t="t"/>
              <a:pathLst>
                <a:path extrusionOk="0"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22675" lIns="45350" spcFirstLastPara="1" rIns="45350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3"/>
                <a:buFont typeface="Arial"/>
                <a:buNone/>
              </a:pPr>
              <a:r>
                <a:t/>
              </a:r>
              <a:endParaRPr b="0" i="0" sz="8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alibri"/>
                <a:buNone/>
              </a:pPr>
              <a:r>
                <a:rPr lang="en-US" sz="11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Read path: uart_rx → rx_buf_valid → AXI read returns byte</a:t>
              </a:r>
              <a:endParaRPr b="0" i="0" sz="1191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" name="Google Shape;74;p2"/>
          <p:cNvSpPr/>
          <p:nvPr/>
        </p:nvSpPr>
        <p:spPr>
          <a:xfrm>
            <a:off x="4660245" y="1142581"/>
            <a:ext cx="4178198" cy="653979"/>
          </a:xfrm>
          <a:custGeom>
            <a:rect b="b" l="l" r="r" t="t"/>
            <a:pathLst>
              <a:path extrusionOk="0" h="1755648" w="1121664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22675" lIns="45350" spcFirstLastPara="1" rIns="45350" wrap="square" tIns="22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3"/>
              <a:buFont typeface="Arial"/>
              <a:buNone/>
            </a:pPr>
            <a:r>
              <a:t/>
            </a:r>
            <a:endParaRPr b="0" i="0" sz="8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5" name="Google Shape;75;p2"/>
          <p:cNvGrpSpPr/>
          <p:nvPr/>
        </p:nvGrpSpPr>
        <p:grpSpPr>
          <a:xfrm>
            <a:off x="4769112" y="1233731"/>
            <a:ext cx="381002" cy="453117"/>
            <a:chOff x="0" y="-47625"/>
            <a:chExt cx="1024200" cy="1218057"/>
          </a:xfrm>
        </p:grpSpPr>
        <p:sp>
          <p:nvSpPr>
            <p:cNvPr id="76" name="Google Shape;76;p2"/>
            <p:cNvSpPr/>
            <p:nvPr/>
          </p:nvSpPr>
          <p:spPr>
            <a:xfrm>
              <a:off x="0" y="0"/>
              <a:ext cx="1024128" cy="1170432"/>
            </a:xfrm>
            <a:custGeom>
              <a:rect b="b" l="l" r="r" t="t"/>
              <a:pathLst>
                <a:path extrusionOk="0" h="1170432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96642" r="-96630" t="0"/>
              </a:stretch>
            </a:blipFill>
            <a:ln>
              <a:noFill/>
            </a:ln>
          </p:spPr>
          <p:txBody>
            <a:bodyPr anchorCtr="0" anchor="t" bIns="22675" lIns="45350" spcFirstLastPara="1" rIns="45350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3"/>
                <a:buFont typeface="Arial"/>
                <a:buNone/>
              </a:pPr>
              <a:r>
                <a:t/>
              </a:r>
              <a:endParaRPr b="0" i="0" sz="8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89"/>
                <a:buFont typeface="Arial"/>
                <a:buNone/>
              </a:pPr>
              <a:r>
                <a:rPr b="1" i="0" lang="en-US" sz="1389" u="none" cap="none" strike="noStrik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05</a:t>
              </a:r>
              <a:endParaRPr b="0" i="0" sz="6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" name="Google Shape;78;p2"/>
          <p:cNvGrpSpPr/>
          <p:nvPr/>
        </p:nvGrpSpPr>
        <p:grpSpPr>
          <a:xfrm>
            <a:off x="5180138" y="1227005"/>
            <a:ext cx="30709" cy="484251"/>
            <a:chOff x="0" y="0"/>
            <a:chExt cx="82550" cy="1301750"/>
          </a:xfrm>
        </p:grpSpPr>
        <p:sp>
          <p:nvSpPr>
            <p:cNvPr id="79" name="Google Shape;79;p2"/>
            <p:cNvSpPr/>
            <p:nvPr/>
          </p:nvSpPr>
          <p:spPr>
            <a:xfrm>
              <a:off x="16891" y="16891"/>
              <a:ext cx="48768" cy="1267968"/>
            </a:xfrm>
            <a:custGeom>
              <a:rect b="b" l="l" r="r" t="t"/>
              <a:pathLst>
                <a:path extrusionOk="0" h="1267968" w="48768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anchorCtr="0" anchor="t" bIns="22675" lIns="45350" spcFirstLastPara="1" rIns="45350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3"/>
                <a:buFont typeface="Arial"/>
                <a:buNone/>
              </a:pPr>
              <a:r>
                <a:t/>
              </a:r>
              <a:endParaRPr b="0" i="0" sz="8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0" y="0"/>
              <a:ext cx="82550" cy="1301750"/>
            </a:xfrm>
            <a:custGeom>
              <a:rect b="b" l="l" r="r" t="t"/>
              <a:pathLst>
                <a:path extrusionOk="0" h="1301750" w="8255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anchorCtr="0" anchor="t" bIns="22675" lIns="45350" spcFirstLastPara="1" rIns="45350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3"/>
                <a:buFont typeface="Arial"/>
                <a:buNone/>
              </a:pPr>
              <a:r>
                <a:t/>
              </a:r>
              <a:endParaRPr b="0" i="0" sz="8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5313454" y="1226992"/>
            <a:ext cx="3265528" cy="453229"/>
            <a:chOff x="0" y="-38100"/>
            <a:chExt cx="8778300" cy="769620"/>
          </a:xfrm>
        </p:grpSpPr>
        <p:sp>
          <p:nvSpPr>
            <p:cNvPr id="82" name="Google Shape;82;p2"/>
            <p:cNvSpPr/>
            <p:nvPr/>
          </p:nvSpPr>
          <p:spPr>
            <a:xfrm>
              <a:off x="0" y="0"/>
              <a:ext cx="8778240" cy="731520"/>
            </a:xfrm>
            <a:custGeom>
              <a:rect b="b" l="l" r="r" t="t"/>
              <a:pathLst>
                <a:path extrusionOk="0"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3820" l="0" r="0" t="-183820"/>
              </a:stretch>
            </a:blipFill>
            <a:ln>
              <a:noFill/>
            </a:ln>
          </p:spPr>
          <p:txBody>
            <a:bodyPr anchorCtr="0" anchor="t" bIns="22675" lIns="45350" spcFirstLastPara="1" rIns="45350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3"/>
                <a:buFont typeface="Arial"/>
                <a:buNone/>
              </a:pPr>
              <a:r>
                <a:t/>
              </a:r>
              <a:endParaRPr b="0" i="0" sz="8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alibri"/>
                <a:buNone/>
              </a:pPr>
              <a:r>
                <a:rPr lang="en-US" sz="11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Backpressure: AWREADY/WREADY = 0 when buf_valid = 1 (no data loss)</a:t>
              </a:r>
              <a:endParaRPr b="0" i="0" sz="1191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4" name="Google Shape;84;p2"/>
          <p:cNvSpPr/>
          <p:nvPr/>
        </p:nvSpPr>
        <p:spPr>
          <a:xfrm>
            <a:off x="4660245" y="1913724"/>
            <a:ext cx="4178198" cy="653979"/>
          </a:xfrm>
          <a:custGeom>
            <a:rect b="b" l="l" r="r" t="t"/>
            <a:pathLst>
              <a:path extrusionOk="0" h="1755648" w="1121664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22675" lIns="45350" spcFirstLastPara="1" rIns="45350" wrap="square" tIns="22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3"/>
              <a:buFont typeface="Arial"/>
              <a:buNone/>
            </a:pPr>
            <a:r>
              <a:t/>
            </a:r>
            <a:endParaRPr b="0" i="0" sz="8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" name="Google Shape;85;p2"/>
          <p:cNvGrpSpPr/>
          <p:nvPr/>
        </p:nvGrpSpPr>
        <p:grpSpPr>
          <a:xfrm>
            <a:off x="4769112" y="2004875"/>
            <a:ext cx="381002" cy="453117"/>
            <a:chOff x="0" y="-47625"/>
            <a:chExt cx="1024200" cy="1218057"/>
          </a:xfrm>
        </p:grpSpPr>
        <p:sp>
          <p:nvSpPr>
            <p:cNvPr id="86" name="Google Shape;86;p2"/>
            <p:cNvSpPr/>
            <p:nvPr/>
          </p:nvSpPr>
          <p:spPr>
            <a:xfrm>
              <a:off x="0" y="0"/>
              <a:ext cx="1024128" cy="1170432"/>
            </a:xfrm>
            <a:custGeom>
              <a:rect b="b" l="l" r="r" t="t"/>
              <a:pathLst>
                <a:path extrusionOk="0" h="1170432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22675" lIns="45350" spcFirstLastPara="1" rIns="45350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3"/>
                <a:buFont typeface="Arial"/>
                <a:buNone/>
              </a:pPr>
              <a:r>
                <a:t/>
              </a:r>
              <a:endParaRPr b="0" i="0" sz="8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89"/>
                <a:buFont typeface="Arial"/>
                <a:buNone/>
              </a:pPr>
              <a:r>
                <a:rPr b="1" i="0" lang="en-US" sz="1389" u="none" cap="none" strike="noStrik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06</a:t>
              </a:r>
              <a:endParaRPr b="0" i="0" sz="6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" name="Google Shape;88;p2"/>
          <p:cNvGrpSpPr/>
          <p:nvPr/>
        </p:nvGrpSpPr>
        <p:grpSpPr>
          <a:xfrm>
            <a:off x="5180138" y="1998148"/>
            <a:ext cx="30709" cy="484251"/>
            <a:chOff x="0" y="0"/>
            <a:chExt cx="82550" cy="1301750"/>
          </a:xfrm>
        </p:grpSpPr>
        <p:sp>
          <p:nvSpPr>
            <p:cNvPr id="89" name="Google Shape;89;p2"/>
            <p:cNvSpPr/>
            <p:nvPr/>
          </p:nvSpPr>
          <p:spPr>
            <a:xfrm>
              <a:off x="16891" y="16891"/>
              <a:ext cx="48768" cy="1267968"/>
            </a:xfrm>
            <a:custGeom>
              <a:rect b="b" l="l" r="r" t="t"/>
              <a:pathLst>
                <a:path extrusionOk="0" h="1267968" w="48768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anchorCtr="0" anchor="t" bIns="22675" lIns="45350" spcFirstLastPara="1" rIns="45350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3"/>
                <a:buFont typeface="Arial"/>
                <a:buNone/>
              </a:pPr>
              <a:r>
                <a:t/>
              </a:r>
              <a:endParaRPr b="0" i="0" sz="8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0" y="0"/>
              <a:ext cx="82550" cy="1301750"/>
            </a:xfrm>
            <a:custGeom>
              <a:rect b="b" l="l" r="r" t="t"/>
              <a:pathLst>
                <a:path extrusionOk="0" h="1301750" w="8255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anchorCtr="0" anchor="t" bIns="22675" lIns="45350" spcFirstLastPara="1" rIns="45350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3"/>
                <a:buFont typeface="Arial"/>
                <a:buNone/>
              </a:pPr>
              <a:r>
                <a:t/>
              </a:r>
              <a:endParaRPr b="0" i="0" sz="8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2"/>
          <p:cNvGrpSpPr/>
          <p:nvPr/>
        </p:nvGrpSpPr>
        <p:grpSpPr>
          <a:xfrm>
            <a:off x="5313454" y="2004868"/>
            <a:ext cx="3265528" cy="453229"/>
            <a:chOff x="0" y="-38100"/>
            <a:chExt cx="8778300" cy="769620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8778240" cy="731520"/>
            </a:xfrm>
            <a:custGeom>
              <a:rect b="b" l="l" r="r" t="t"/>
              <a:pathLst>
                <a:path extrusionOk="0"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22675" lIns="45350" spcFirstLastPara="1" rIns="45350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3"/>
                <a:buFont typeface="Arial"/>
                <a:buNone/>
              </a:pPr>
              <a:r>
                <a:t/>
              </a:r>
              <a:endParaRPr b="0" i="0" sz="8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alibri"/>
                <a:buNone/>
              </a:pPr>
              <a:r>
                <a:rPr lang="en-US" sz="11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Firmware: fw/main.c uart_putc / uart_getc via volatile macros</a:t>
              </a:r>
              <a:endParaRPr b="0" i="0" sz="1191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" name="Google Shape;94;p2"/>
          <p:cNvSpPr/>
          <p:nvPr/>
        </p:nvSpPr>
        <p:spPr>
          <a:xfrm>
            <a:off x="4660245" y="2684868"/>
            <a:ext cx="4178198" cy="653979"/>
          </a:xfrm>
          <a:custGeom>
            <a:rect b="b" l="l" r="r" t="t"/>
            <a:pathLst>
              <a:path extrusionOk="0" h="1755648" w="1121664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22675" lIns="45350" spcFirstLastPara="1" rIns="45350" wrap="square" tIns="22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3"/>
              <a:buFont typeface="Arial"/>
              <a:buNone/>
            </a:pPr>
            <a:r>
              <a:t/>
            </a:r>
            <a:endParaRPr b="0" i="0" sz="8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" name="Google Shape;95;p2"/>
          <p:cNvGrpSpPr/>
          <p:nvPr/>
        </p:nvGrpSpPr>
        <p:grpSpPr>
          <a:xfrm>
            <a:off x="4769112" y="2776019"/>
            <a:ext cx="381002" cy="453117"/>
            <a:chOff x="0" y="-47625"/>
            <a:chExt cx="1024200" cy="1218057"/>
          </a:xfrm>
        </p:grpSpPr>
        <p:sp>
          <p:nvSpPr>
            <p:cNvPr id="96" name="Google Shape;96;p2"/>
            <p:cNvSpPr/>
            <p:nvPr/>
          </p:nvSpPr>
          <p:spPr>
            <a:xfrm>
              <a:off x="0" y="0"/>
              <a:ext cx="1024128" cy="1170432"/>
            </a:xfrm>
            <a:custGeom>
              <a:rect b="b" l="l" r="r" t="t"/>
              <a:pathLst>
                <a:path extrusionOk="0" h="1170432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22675" lIns="45350" spcFirstLastPara="1" rIns="45350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3"/>
                <a:buFont typeface="Arial"/>
                <a:buNone/>
              </a:pPr>
              <a:r>
                <a:t/>
              </a:r>
              <a:endParaRPr b="0" i="0" sz="8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89"/>
                <a:buFont typeface="Arial"/>
                <a:buNone/>
              </a:pPr>
              <a:r>
                <a:rPr b="1" i="0" lang="en-US" sz="1389" u="none" cap="none" strike="noStrik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07</a:t>
              </a:r>
              <a:endParaRPr b="0" i="0" sz="6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" name="Google Shape;98;p2"/>
          <p:cNvGrpSpPr/>
          <p:nvPr/>
        </p:nvGrpSpPr>
        <p:grpSpPr>
          <a:xfrm>
            <a:off x="5180138" y="2769292"/>
            <a:ext cx="30709" cy="484251"/>
            <a:chOff x="0" y="0"/>
            <a:chExt cx="82550" cy="1301750"/>
          </a:xfrm>
        </p:grpSpPr>
        <p:sp>
          <p:nvSpPr>
            <p:cNvPr id="99" name="Google Shape;99;p2"/>
            <p:cNvSpPr/>
            <p:nvPr/>
          </p:nvSpPr>
          <p:spPr>
            <a:xfrm>
              <a:off x="16891" y="16891"/>
              <a:ext cx="48768" cy="1267968"/>
            </a:xfrm>
            <a:custGeom>
              <a:rect b="b" l="l" r="r" t="t"/>
              <a:pathLst>
                <a:path extrusionOk="0" h="1267968" w="48768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anchorCtr="0" anchor="t" bIns="22675" lIns="45350" spcFirstLastPara="1" rIns="45350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3"/>
                <a:buFont typeface="Arial"/>
                <a:buNone/>
              </a:pPr>
              <a:r>
                <a:t/>
              </a:r>
              <a:endParaRPr b="0" i="0" sz="8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0" y="0"/>
              <a:ext cx="82550" cy="1301750"/>
            </a:xfrm>
            <a:custGeom>
              <a:rect b="b" l="l" r="r" t="t"/>
              <a:pathLst>
                <a:path extrusionOk="0" h="1301750" w="8255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anchorCtr="0" anchor="t" bIns="22675" lIns="45350" spcFirstLastPara="1" rIns="45350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3"/>
                <a:buFont typeface="Arial"/>
                <a:buNone/>
              </a:pPr>
              <a:r>
                <a:t/>
              </a:r>
              <a:endParaRPr b="0" i="0" sz="8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2"/>
          <p:cNvGrpSpPr/>
          <p:nvPr/>
        </p:nvGrpSpPr>
        <p:grpSpPr>
          <a:xfrm>
            <a:off x="5313454" y="2776008"/>
            <a:ext cx="3265528" cy="453229"/>
            <a:chOff x="0" y="-38100"/>
            <a:chExt cx="8778300" cy="769620"/>
          </a:xfrm>
        </p:grpSpPr>
        <p:sp>
          <p:nvSpPr>
            <p:cNvPr id="102" name="Google Shape;102;p2"/>
            <p:cNvSpPr/>
            <p:nvPr/>
          </p:nvSpPr>
          <p:spPr>
            <a:xfrm>
              <a:off x="0" y="0"/>
              <a:ext cx="8778240" cy="731520"/>
            </a:xfrm>
            <a:custGeom>
              <a:rect b="b" l="l" r="r" t="t"/>
              <a:pathLst>
                <a:path extrusionOk="0"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22675" lIns="45350" spcFirstLastPara="1" rIns="45350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3"/>
                <a:buFont typeface="Arial"/>
                <a:buNone/>
              </a:pPr>
              <a:r>
                <a:t/>
              </a:r>
              <a:endParaRPr b="0" i="0" sz="8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Calibri"/>
                <a:buNone/>
              </a:pPr>
              <a:r>
                <a:rPr lang="en-US" sz="12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Lab: make axi_uart → AXI master + uart_axi DUT → verify byte transfer</a:t>
              </a:r>
              <a:endParaRPr sz="13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>
            <a:off x="320050" y="704571"/>
            <a:ext cx="82296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850"/>
              <a:buFont typeface="Calibri"/>
              <a:buNone/>
            </a:pPr>
            <a:r>
              <a:rPr b="1" i="0" lang="en-US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AXI FOR UART?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BD5E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320040" y="1355130"/>
            <a:ext cx="4114800" cy="3291900"/>
          </a:xfrm>
          <a:prstGeom prst="rect">
            <a:avLst/>
          </a:prstGeom>
          <a:noFill/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320040" y="1355130"/>
            <a:ext cx="4114800" cy="384000"/>
          </a:xfrm>
          <a:prstGeom prst="rect">
            <a:avLst/>
          </a:prstGeom>
          <a:solidFill>
            <a:srgbClr val="1E5FA8"/>
          </a:solidFill>
          <a:ln cap="flat" cmpd="sng" w="12700">
            <a:solidFill>
              <a:srgbClr val="1E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320040" y="1355130"/>
            <a:ext cx="4114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Mailbox Analogy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457200" y="1812330"/>
            <a:ext cx="3840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CPU = Person wanting to send a letter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457200" y="2159802"/>
            <a:ext cx="3840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UART registers = Mailbox slots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457200" y="2507274"/>
            <a:ext cx="3840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AXI4-Lite = Standard postal interface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457200" y="2854746"/>
            <a:ext cx="3840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AXI master/slave = Postman + Mailbox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457200" y="3549690"/>
            <a:ext cx="3840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CPU cannot directly drive serial pins — it uses memory-mapped I/O (MMIO). AXI4-Lite provides the standard bus interface for this.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4709160" y="1355130"/>
            <a:ext cx="4114800" cy="3291900"/>
          </a:xfrm>
          <a:prstGeom prst="rect">
            <a:avLst/>
          </a:prstGeom>
          <a:noFill/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4709160" y="1355130"/>
            <a:ext cx="4114800" cy="3840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4709160" y="1355130"/>
            <a:ext cx="4114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AXI4-Lite Channels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4828032" y="1848906"/>
            <a:ext cx="457200" cy="347400"/>
          </a:xfrm>
          <a:prstGeom prst="roundRect">
            <a:avLst>
              <a:gd fmla="val 10526" name="adj"/>
            </a:avLst>
          </a:prstGeom>
          <a:solidFill>
            <a:srgbClr val="2E7DD1"/>
          </a:solidFill>
          <a:ln cap="flat" cmpd="sng" w="12700">
            <a:solidFill>
              <a:srgbClr val="2E7D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4828032" y="1848906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5349240" y="1848906"/>
            <a:ext cx="3337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Address Write   — CPU sends target address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4828032" y="2379258"/>
            <a:ext cx="457200" cy="347400"/>
          </a:xfrm>
          <a:prstGeom prst="roundRect">
            <a:avLst>
              <a:gd fmla="val 10526" name="adj"/>
            </a:avLst>
          </a:prstGeom>
          <a:solidFill>
            <a:srgbClr val="2E7DD1"/>
          </a:solidFill>
          <a:ln cap="flat" cmpd="sng" w="12700">
            <a:solidFill>
              <a:srgbClr val="2E7D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4828032" y="2379258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5349240" y="2379258"/>
            <a:ext cx="3337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Write Data      — CPU sends byte to write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4828032" y="2909610"/>
            <a:ext cx="457200" cy="347400"/>
          </a:xfrm>
          <a:prstGeom prst="roundRect">
            <a:avLst>
              <a:gd fmla="val 10526" name="adj"/>
            </a:avLst>
          </a:prstGeom>
          <a:solidFill>
            <a:srgbClr val="1E5FA8"/>
          </a:solidFill>
          <a:ln cap="flat" cmpd="sng" w="12700">
            <a:solidFill>
              <a:srgbClr val="1E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4828032" y="2909610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5349240" y="2909610"/>
            <a:ext cx="3337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Write Response  — Slave confirms completion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4828032" y="3439962"/>
            <a:ext cx="457200" cy="347400"/>
          </a:xfrm>
          <a:prstGeom prst="roundRect">
            <a:avLst>
              <a:gd fmla="val 10526" name="adj"/>
            </a:avLst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4828032" y="3439962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5349240" y="3439962"/>
            <a:ext cx="3337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Address Read    — CPU requests register read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4828032" y="3970314"/>
            <a:ext cx="457200" cy="347400"/>
          </a:xfrm>
          <a:prstGeom prst="roundRect">
            <a:avLst>
              <a:gd fmla="val 10526" name="adj"/>
            </a:avLst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4828032" y="3970314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5349240" y="3970314"/>
            <a:ext cx="3337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Read Data       — Slave returns value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6c0168df0_0_26"/>
          <p:cNvSpPr/>
          <p:nvPr/>
        </p:nvSpPr>
        <p:spPr>
          <a:xfrm>
            <a:off x="320050" y="523875"/>
            <a:ext cx="7863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2200"/>
              <a:buFont typeface="Calibri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Register Map &amp; Internal Architecture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uart_axi.v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e6c0168df0_0_26"/>
          <p:cNvSpPr/>
          <p:nvPr/>
        </p:nvSpPr>
        <p:spPr>
          <a:xfrm>
            <a:off x="320040" y="1328555"/>
            <a:ext cx="8503800" cy="347400"/>
          </a:xfrm>
          <a:prstGeom prst="rect">
            <a:avLst/>
          </a:prstGeom>
          <a:solidFill>
            <a:srgbClr val="1E5FA8"/>
          </a:solidFill>
          <a:ln cap="flat" cmpd="sng" w="12700">
            <a:solidFill>
              <a:srgbClr val="1E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e6c0168df0_0_26"/>
          <p:cNvSpPr/>
          <p:nvPr/>
        </p:nvSpPr>
        <p:spPr>
          <a:xfrm>
            <a:off x="365760" y="1328555"/>
            <a:ext cx="182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Address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e6c0168df0_0_26"/>
          <p:cNvSpPr/>
          <p:nvPr/>
        </p:nvSpPr>
        <p:spPr>
          <a:xfrm>
            <a:off x="2286000" y="1328555"/>
            <a:ext cx="109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Offset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e6c0168df0_0_26"/>
          <p:cNvSpPr/>
          <p:nvPr/>
        </p:nvSpPr>
        <p:spPr>
          <a:xfrm>
            <a:off x="3474720" y="1328555"/>
            <a:ext cx="1234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e6c0168df0_0_26"/>
          <p:cNvSpPr/>
          <p:nvPr/>
        </p:nvSpPr>
        <p:spPr>
          <a:xfrm>
            <a:off x="4754880" y="1328555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Description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e6c0168df0_0_26"/>
          <p:cNvSpPr/>
          <p:nvPr/>
        </p:nvSpPr>
        <p:spPr>
          <a:xfrm>
            <a:off x="320040" y="1676027"/>
            <a:ext cx="8503800" cy="365700"/>
          </a:xfrm>
          <a:prstGeom prst="rect">
            <a:avLst/>
          </a:prstGeom>
          <a:noFill/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e6c0168df0_0_26"/>
          <p:cNvSpPr/>
          <p:nvPr/>
        </p:nvSpPr>
        <p:spPr>
          <a:xfrm>
            <a:off x="365760" y="1676027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1E5FA8"/>
                </a:solidFill>
                <a:latin typeface="Consolas"/>
                <a:ea typeface="Consolas"/>
                <a:cs typeface="Consolas"/>
                <a:sym typeface="Consolas"/>
              </a:rPr>
              <a:t>0x1000_0000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e6c0168df0_0_26"/>
          <p:cNvSpPr/>
          <p:nvPr/>
        </p:nvSpPr>
        <p:spPr>
          <a:xfrm>
            <a:off x="2286000" y="1676027"/>
            <a:ext cx="109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0x00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e6c0168df0_0_26"/>
          <p:cNvSpPr/>
          <p:nvPr/>
        </p:nvSpPr>
        <p:spPr>
          <a:xfrm>
            <a:off x="3474720" y="1676027"/>
            <a:ext cx="123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UART TX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e6c0168df0_0_26"/>
          <p:cNvSpPr/>
          <p:nvPr/>
        </p:nvSpPr>
        <p:spPr>
          <a:xfrm>
            <a:off x="4754880" y="1676027"/>
            <a:ext cx="374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Write wdata[7:0] → triggers TX serialisation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e6c0168df0_0_26"/>
          <p:cNvSpPr/>
          <p:nvPr/>
        </p:nvSpPr>
        <p:spPr>
          <a:xfrm>
            <a:off x="320040" y="2041787"/>
            <a:ext cx="8503800" cy="365700"/>
          </a:xfrm>
          <a:prstGeom prst="rect">
            <a:avLst/>
          </a:prstGeom>
          <a:solidFill>
            <a:srgbClr val="DBEAFE">
              <a:alpha val="70000"/>
            </a:srgbClr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e6c0168df0_0_26"/>
          <p:cNvSpPr/>
          <p:nvPr/>
        </p:nvSpPr>
        <p:spPr>
          <a:xfrm>
            <a:off x="365760" y="2041787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1E5FA8"/>
                </a:solidFill>
                <a:latin typeface="Consolas"/>
                <a:ea typeface="Consolas"/>
                <a:cs typeface="Consolas"/>
                <a:sym typeface="Consolas"/>
              </a:rPr>
              <a:t>0x1000_0004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e6c0168df0_0_26"/>
          <p:cNvSpPr/>
          <p:nvPr/>
        </p:nvSpPr>
        <p:spPr>
          <a:xfrm>
            <a:off x="2286000" y="2041787"/>
            <a:ext cx="109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0x04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e6c0168df0_0_26"/>
          <p:cNvSpPr/>
          <p:nvPr/>
        </p:nvSpPr>
        <p:spPr>
          <a:xfrm>
            <a:off x="3474720" y="2041787"/>
            <a:ext cx="123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UART RX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e6c0168df0_0_26"/>
          <p:cNvSpPr/>
          <p:nvPr/>
        </p:nvSpPr>
        <p:spPr>
          <a:xfrm>
            <a:off x="4754880" y="2041787"/>
            <a:ext cx="374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Read returns {rx_buf_valid, rx_data[7:0]}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e6c0168df0_0_26"/>
          <p:cNvSpPr/>
          <p:nvPr/>
        </p:nvSpPr>
        <p:spPr>
          <a:xfrm>
            <a:off x="320040" y="2407547"/>
            <a:ext cx="8503800" cy="365700"/>
          </a:xfrm>
          <a:prstGeom prst="rect">
            <a:avLst/>
          </a:prstGeom>
          <a:noFill/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e6c0168df0_0_26"/>
          <p:cNvSpPr/>
          <p:nvPr/>
        </p:nvSpPr>
        <p:spPr>
          <a:xfrm>
            <a:off x="365760" y="2407547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1E5FA8"/>
                </a:solidFill>
                <a:latin typeface="Consolas"/>
                <a:ea typeface="Consolas"/>
                <a:cs typeface="Consolas"/>
                <a:sym typeface="Consolas"/>
              </a:rPr>
              <a:t>0x1000_0008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e6c0168df0_0_26"/>
          <p:cNvSpPr/>
          <p:nvPr/>
        </p:nvSpPr>
        <p:spPr>
          <a:xfrm>
            <a:off x="2286000" y="2407547"/>
            <a:ext cx="109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0x08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e6c0168df0_0_26"/>
          <p:cNvSpPr/>
          <p:nvPr/>
        </p:nvSpPr>
        <p:spPr>
          <a:xfrm>
            <a:off x="3474720" y="2407547"/>
            <a:ext cx="123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e6c0168df0_0_26"/>
          <p:cNvSpPr/>
          <p:nvPr/>
        </p:nvSpPr>
        <p:spPr>
          <a:xfrm>
            <a:off x="4754880" y="2407547"/>
            <a:ext cx="374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Read returns {30'b0, rx_buf_valid, 1'b0}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e6c0168df0_0_26"/>
          <p:cNvSpPr/>
          <p:nvPr/>
        </p:nvSpPr>
        <p:spPr>
          <a:xfrm>
            <a:off x="320040" y="2837315"/>
            <a:ext cx="5303400" cy="1965900"/>
          </a:xfrm>
          <a:prstGeom prst="rect">
            <a:avLst/>
          </a:prstGeom>
          <a:noFill/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e6c0168df0_0_26"/>
          <p:cNvSpPr/>
          <p:nvPr/>
        </p:nvSpPr>
        <p:spPr>
          <a:xfrm>
            <a:off x="320040" y="2837315"/>
            <a:ext cx="5303400" cy="347400"/>
          </a:xfrm>
          <a:prstGeom prst="rect">
            <a:avLst/>
          </a:prstGeom>
          <a:solidFill>
            <a:srgbClr val="1E5FA8"/>
          </a:solidFill>
          <a:ln cap="flat" cmpd="sng" w="12700">
            <a:solidFill>
              <a:srgbClr val="1E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e6c0168df0_0_26"/>
          <p:cNvSpPr/>
          <p:nvPr/>
        </p:nvSpPr>
        <p:spPr>
          <a:xfrm>
            <a:off x="320040" y="2837315"/>
            <a:ext cx="5303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Internal Architecture  —  uart_axi.v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e6c0168df0_0_26"/>
          <p:cNvSpPr/>
          <p:nvPr/>
        </p:nvSpPr>
        <p:spPr>
          <a:xfrm>
            <a:off x="457200" y="3239651"/>
            <a:ext cx="5029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E5FA8"/>
                </a:solidFill>
                <a:latin typeface="Consolas"/>
                <a:ea typeface="Consolas"/>
                <a:cs typeface="Consolas"/>
                <a:sym typeface="Consolas"/>
              </a:rPr>
              <a:t>AXI Write FSM  →  [1-byte TX buffer]  →  uart_tx (u_tx)  ►  tx_out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e6c0168df0_0_26"/>
          <p:cNvSpPr/>
          <p:nvPr/>
        </p:nvSpPr>
        <p:spPr>
          <a:xfrm>
            <a:off x="457200" y="3550547"/>
            <a:ext cx="5029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E5FA8"/>
                </a:solidFill>
                <a:latin typeface="Consolas"/>
                <a:ea typeface="Consolas"/>
                <a:cs typeface="Consolas"/>
                <a:sym typeface="Consolas"/>
              </a:rPr>
              <a:t>aw_got / w_got     buf_data / buf_valid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e6c0168df0_0_26"/>
          <p:cNvSpPr/>
          <p:nvPr/>
        </p:nvSpPr>
        <p:spPr>
          <a:xfrm>
            <a:off x="457200" y="3861443"/>
            <a:ext cx="5029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e6c0168df0_0_26"/>
          <p:cNvSpPr/>
          <p:nvPr/>
        </p:nvSpPr>
        <p:spPr>
          <a:xfrm>
            <a:off x="457200" y="4172339"/>
            <a:ext cx="5029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891B2"/>
                </a:solidFill>
                <a:latin typeface="Consolas"/>
                <a:ea typeface="Consolas"/>
                <a:cs typeface="Consolas"/>
                <a:sym typeface="Consolas"/>
              </a:rPr>
              <a:t>uart_rx (u_rx, 2-FF sync)  →  rx_buf_data / rx_buf_valid  →  AXI Read FSM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e6c0168df0_0_26"/>
          <p:cNvSpPr/>
          <p:nvPr/>
        </p:nvSpPr>
        <p:spPr>
          <a:xfrm>
            <a:off x="5806440" y="2837315"/>
            <a:ext cx="3017400" cy="1965900"/>
          </a:xfrm>
          <a:prstGeom prst="rect">
            <a:avLst/>
          </a:prstGeom>
          <a:solidFill>
            <a:srgbClr val="FFF7ED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e6c0168df0_0_26"/>
          <p:cNvSpPr/>
          <p:nvPr/>
        </p:nvSpPr>
        <p:spPr>
          <a:xfrm>
            <a:off x="5806440" y="2837315"/>
            <a:ext cx="3017400" cy="3474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e6c0168df0_0_26"/>
          <p:cNvSpPr/>
          <p:nvPr/>
        </p:nvSpPr>
        <p:spPr>
          <a:xfrm>
            <a:off x="5806440" y="2837315"/>
            <a:ext cx="301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Backpressure (Critical)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e6c0168df0_0_26"/>
          <p:cNvSpPr/>
          <p:nvPr/>
        </p:nvSpPr>
        <p:spPr>
          <a:xfrm>
            <a:off x="5925312" y="3230507"/>
            <a:ext cx="28164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2400E"/>
                </a:solidFill>
                <a:latin typeface="Consolas"/>
                <a:ea typeface="Consolas"/>
                <a:cs typeface="Consolas"/>
                <a:sym typeface="Consolas"/>
              </a:rPr>
              <a:t>s_axi_awready = !aw_got &amp;&amp; !buf_valid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2400E"/>
                </a:solidFill>
                <a:latin typeface="Consolas"/>
                <a:ea typeface="Consolas"/>
                <a:cs typeface="Consolas"/>
                <a:sym typeface="Consolas"/>
              </a:rPr>
              <a:t>s_axi_wready  = !w_got  &amp;&amp; !buf_valid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2400E"/>
                </a:solidFill>
                <a:latin typeface="Consolas"/>
                <a:ea typeface="Consolas"/>
                <a:cs typeface="Consolas"/>
                <a:sym typeface="Consolas"/>
              </a:rPr>
              <a:t>→ CPU bridge STALLS when buffer is full → zero data loss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6c0168df0_0_30"/>
          <p:cNvSpPr/>
          <p:nvPr/>
        </p:nvSpPr>
        <p:spPr>
          <a:xfrm>
            <a:off x="320050" y="559825"/>
            <a:ext cx="7863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2200"/>
              <a:buFont typeface="Calibri"/>
              <a:buNone/>
            </a:pPr>
            <a:r>
              <a:rPr b="1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AXI Backpressure — How uart_axi Prevents Byte Loss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e6c0168df0_0_30"/>
          <p:cNvSpPr/>
          <p:nvPr/>
        </p:nvSpPr>
        <p:spPr>
          <a:xfrm>
            <a:off x="320040" y="1364505"/>
            <a:ext cx="4023300" cy="1874400"/>
          </a:xfrm>
          <a:prstGeom prst="rect">
            <a:avLst/>
          </a:prstGeom>
          <a:solidFill>
            <a:srgbClr val="FFF1F2">
              <a:alpha val="60000"/>
            </a:srgbClr>
          </a:solidFill>
          <a:ln cap="flat" cmpd="sng" w="15225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e6c0168df0_0_30"/>
          <p:cNvSpPr/>
          <p:nvPr/>
        </p:nvSpPr>
        <p:spPr>
          <a:xfrm>
            <a:off x="320040" y="1364505"/>
            <a:ext cx="4023300" cy="3474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e6c0168df0_0_30"/>
          <p:cNvSpPr/>
          <p:nvPr/>
        </p:nvSpPr>
        <p:spPr>
          <a:xfrm>
            <a:off x="320040" y="1364505"/>
            <a:ext cx="4023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Problem Without Backpressure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e6c0168df0_0_30"/>
          <p:cNvSpPr/>
          <p:nvPr/>
        </p:nvSpPr>
        <p:spPr>
          <a:xfrm>
            <a:off x="457200" y="1766841"/>
            <a:ext cx="3749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CPU sends bytes faster than UART serialises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e6c0168df0_0_30"/>
          <p:cNvSpPr/>
          <p:nvPr/>
        </p:nvSpPr>
        <p:spPr>
          <a:xfrm>
            <a:off x="457200" y="2086881"/>
            <a:ext cx="3749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Bridge time: ~534 cycles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e6c0168df0_0_30"/>
          <p:cNvSpPr/>
          <p:nvPr/>
        </p:nvSpPr>
        <p:spPr>
          <a:xfrm>
            <a:off x="457200" y="2406921"/>
            <a:ext cx="3749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UART byte time: ~4340 cycles (115200 baud)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e6c0168df0_0_30"/>
          <p:cNvSpPr/>
          <p:nvPr/>
        </p:nvSpPr>
        <p:spPr>
          <a:xfrm>
            <a:off x="457200" y="2726961"/>
            <a:ext cx="3749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Without BP: 2nd byte overwrites 1st → data corruption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e6c0168df0_0_30"/>
          <p:cNvSpPr/>
          <p:nvPr/>
        </p:nvSpPr>
        <p:spPr>
          <a:xfrm>
            <a:off x="4800600" y="1364505"/>
            <a:ext cx="4023300" cy="1874400"/>
          </a:xfrm>
          <a:prstGeom prst="rect">
            <a:avLst/>
          </a:prstGeom>
          <a:solidFill>
            <a:srgbClr val="F0FDF4">
              <a:alpha val="60000"/>
            </a:srgbClr>
          </a:solidFill>
          <a:ln cap="flat" cmpd="sng" w="1522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e6c0168df0_0_30"/>
          <p:cNvSpPr/>
          <p:nvPr/>
        </p:nvSpPr>
        <p:spPr>
          <a:xfrm>
            <a:off x="4800600" y="1364505"/>
            <a:ext cx="4023300" cy="3474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e6c0168df0_0_30"/>
          <p:cNvSpPr/>
          <p:nvPr/>
        </p:nvSpPr>
        <p:spPr>
          <a:xfrm>
            <a:off x="4800600" y="1364505"/>
            <a:ext cx="4023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Solution in uart_axi.v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e6c0168df0_0_30"/>
          <p:cNvSpPr/>
          <p:nvPr/>
        </p:nvSpPr>
        <p:spPr>
          <a:xfrm>
            <a:off x="4937760" y="1766841"/>
            <a:ext cx="3749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When buf_valid = 1: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e6c0168df0_0_30"/>
          <p:cNvSpPr/>
          <p:nvPr/>
        </p:nvSpPr>
        <p:spPr>
          <a:xfrm>
            <a:off x="4937760" y="2086881"/>
            <a:ext cx="3749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66534"/>
                </a:solidFill>
                <a:latin typeface="Consolas"/>
                <a:ea typeface="Consolas"/>
                <a:cs typeface="Consolas"/>
                <a:sym typeface="Consolas"/>
              </a:rPr>
              <a:t>  s_axi_awready ← 0  (block new address)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e6c0168df0_0_30"/>
          <p:cNvSpPr/>
          <p:nvPr/>
        </p:nvSpPr>
        <p:spPr>
          <a:xfrm>
            <a:off x="4937760" y="2406921"/>
            <a:ext cx="3749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66534"/>
                </a:solidFill>
                <a:latin typeface="Consolas"/>
                <a:ea typeface="Consolas"/>
                <a:cs typeface="Consolas"/>
                <a:sym typeface="Consolas"/>
              </a:rPr>
              <a:t>  s_axi_wready  ← 0  (block new data)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e6c0168df0_0_30"/>
          <p:cNvSpPr/>
          <p:nvPr/>
        </p:nvSpPr>
        <p:spPr>
          <a:xfrm>
            <a:off x="4937760" y="2726961"/>
            <a:ext cx="3749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66534"/>
                </a:solidFill>
                <a:latin typeface="Consolas"/>
                <a:ea typeface="Consolas"/>
                <a:cs typeface="Consolas"/>
                <a:sym typeface="Consolas"/>
              </a:rPr>
              <a:t>CPU bridge stalls → PicoRV32 waits automatically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e6c0168df0_0_30"/>
          <p:cNvSpPr/>
          <p:nvPr/>
        </p:nvSpPr>
        <p:spPr>
          <a:xfrm>
            <a:off x="320040" y="3330465"/>
            <a:ext cx="8503800" cy="1645800"/>
          </a:xfrm>
          <a:prstGeom prst="rect">
            <a:avLst/>
          </a:prstGeom>
          <a:noFill/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e6c0168df0_0_30"/>
          <p:cNvSpPr/>
          <p:nvPr/>
        </p:nvSpPr>
        <p:spPr>
          <a:xfrm>
            <a:off x="320040" y="3330465"/>
            <a:ext cx="8503800" cy="320100"/>
          </a:xfrm>
          <a:prstGeom prst="rect">
            <a:avLst/>
          </a:prstGeom>
          <a:solidFill>
            <a:srgbClr val="1E5FA8"/>
          </a:solidFill>
          <a:ln cap="flat" cmpd="sng" w="12700">
            <a:solidFill>
              <a:srgbClr val="1E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e6c0168df0_0_30"/>
          <p:cNvSpPr/>
          <p:nvPr/>
        </p:nvSpPr>
        <p:spPr>
          <a:xfrm>
            <a:off x="320040" y="3330465"/>
            <a:ext cx="8503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AXI Handshake Timeline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e6c0168df0_0_30"/>
          <p:cNvSpPr/>
          <p:nvPr/>
        </p:nvSpPr>
        <p:spPr>
          <a:xfrm>
            <a:off x="502920" y="3714513"/>
            <a:ext cx="1828800" cy="804600"/>
          </a:xfrm>
          <a:prstGeom prst="roundRect">
            <a:avLst>
              <a:gd fmla="val 6818" name="adj"/>
            </a:avLst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e6c0168df0_0_30"/>
          <p:cNvSpPr/>
          <p:nvPr/>
        </p:nvSpPr>
        <p:spPr>
          <a:xfrm>
            <a:off x="502920" y="3714513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buf_valid=1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e6c0168df0_0_30"/>
          <p:cNvSpPr/>
          <p:nvPr/>
        </p:nvSpPr>
        <p:spPr>
          <a:xfrm>
            <a:off x="502920" y="4135137"/>
            <a:ext cx="182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awready=0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wready=0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e6c0168df0_0_30"/>
          <p:cNvSpPr/>
          <p:nvPr/>
        </p:nvSpPr>
        <p:spPr>
          <a:xfrm>
            <a:off x="2350008" y="4061985"/>
            <a:ext cx="219600" cy="3660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e6c0168df0_0_30"/>
          <p:cNvSpPr/>
          <p:nvPr/>
        </p:nvSpPr>
        <p:spPr>
          <a:xfrm>
            <a:off x="2377440" y="3952257"/>
            <a:ext cx="183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e6c0168df0_0_30"/>
          <p:cNvSpPr/>
          <p:nvPr/>
        </p:nvSpPr>
        <p:spPr>
          <a:xfrm>
            <a:off x="2587752" y="3714513"/>
            <a:ext cx="1828800" cy="804600"/>
          </a:xfrm>
          <a:prstGeom prst="roundRect">
            <a:avLst>
              <a:gd fmla="val 6818" name="adj"/>
            </a:avLst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e6c0168df0_0_30"/>
          <p:cNvSpPr/>
          <p:nvPr/>
        </p:nvSpPr>
        <p:spPr>
          <a:xfrm>
            <a:off x="2587752" y="3714513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uart_tx.ready=1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e6c0168df0_0_30"/>
          <p:cNvSpPr/>
          <p:nvPr/>
        </p:nvSpPr>
        <p:spPr>
          <a:xfrm>
            <a:off x="2587752" y="4135137"/>
            <a:ext cx="182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buf_valid←0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e6c0168df0_0_30"/>
          <p:cNvSpPr/>
          <p:nvPr/>
        </p:nvSpPr>
        <p:spPr>
          <a:xfrm>
            <a:off x="4434840" y="4061985"/>
            <a:ext cx="219600" cy="3660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e6c0168df0_0_30"/>
          <p:cNvSpPr/>
          <p:nvPr/>
        </p:nvSpPr>
        <p:spPr>
          <a:xfrm>
            <a:off x="4462272" y="3952257"/>
            <a:ext cx="183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e6c0168df0_0_30"/>
          <p:cNvSpPr/>
          <p:nvPr/>
        </p:nvSpPr>
        <p:spPr>
          <a:xfrm>
            <a:off x="4672584" y="3714513"/>
            <a:ext cx="1828800" cy="804600"/>
          </a:xfrm>
          <a:prstGeom prst="roundRect">
            <a:avLst>
              <a:gd fmla="val 6818" name="adj"/>
            </a:avLst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e6c0168df0_0_30"/>
          <p:cNvSpPr/>
          <p:nvPr/>
        </p:nvSpPr>
        <p:spPr>
          <a:xfrm>
            <a:off x="4672584" y="3714513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buf_valid=0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e6c0168df0_0_30"/>
          <p:cNvSpPr/>
          <p:nvPr/>
        </p:nvSpPr>
        <p:spPr>
          <a:xfrm>
            <a:off x="4672584" y="4135137"/>
            <a:ext cx="182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awready=1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wready=1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e6c0168df0_0_30"/>
          <p:cNvSpPr/>
          <p:nvPr/>
        </p:nvSpPr>
        <p:spPr>
          <a:xfrm>
            <a:off x="6519672" y="4061985"/>
            <a:ext cx="219600" cy="3660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e6c0168df0_0_30"/>
          <p:cNvSpPr/>
          <p:nvPr/>
        </p:nvSpPr>
        <p:spPr>
          <a:xfrm>
            <a:off x="6547104" y="3952257"/>
            <a:ext cx="183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e6c0168df0_0_30"/>
          <p:cNvSpPr/>
          <p:nvPr/>
        </p:nvSpPr>
        <p:spPr>
          <a:xfrm>
            <a:off x="6757416" y="3714513"/>
            <a:ext cx="1828800" cy="804600"/>
          </a:xfrm>
          <a:prstGeom prst="roundRect">
            <a:avLst>
              <a:gd fmla="val 6818" name="adj"/>
            </a:avLst>
          </a:prstGeom>
          <a:solidFill>
            <a:srgbClr val="1E5FA8"/>
          </a:solidFill>
          <a:ln cap="flat" cmpd="sng" w="12700">
            <a:solidFill>
              <a:srgbClr val="1E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e6c0168df0_0_30"/>
          <p:cNvSpPr/>
          <p:nvPr/>
        </p:nvSpPr>
        <p:spPr>
          <a:xfrm>
            <a:off x="6757416" y="3714513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 byte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Accepted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e6c0168df0_0_30"/>
          <p:cNvSpPr/>
          <p:nvPr/>
        </p:nvSpPr>
        <p:spPr>
          <a:xfrm>
            <a:off x="6757416" y="4135137"/>
            <a:ext cx="182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Handshake OK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BD5E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320050" y="581500"/>
            <a:ext cx="7863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AXI Write Transaction  —  uart_putc('H')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320050" y="1404475"/>
            <a:ext cx="2633400" cy="1645800"/>
          </a:xfrm>
          <a:prstGeom prst="rect">
            <a:avLst/>
          </a:prstGeom>
          <a:noFill/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5"/>
          <p:cNvSpPr/>
          <p:nvPr/>
        </p:nvSpPr>
        <p:spPr>
          <a:xfrm>
            <a:off x="320050" y="1404475"/>
            <a:ext cx="2633400" cy="384000"/>
          </a:xfrm>
          <a:prstGeom prst="rect">
            <a:avLst/>
          </a:prstGeom>
          <a:solidFill>
            <a:srgbClr val="1E5FA8"/>
          </a:solidFill>
          <a:ln cap="flat" cmpd="sng" w="12700">
            <a:solidFill>
              <a:srgbClr val="1E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411480" y="1459332"/>
            <a:ext cx="347400" cy="25590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5"/>
          <p:cNvSpPr/>
          <p:nvPr/>
        </p:nvSpPr>
        <p:spPr>
          <a:xfrm>
            <a:off x="411480" y="1459332"/>
            <a:ext cx="347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5FA8"/>
                </a:solidFill>
                <a:latin typeface="Calibri"/>
                <a:ea typeface="Calibri"/>
                <a:cs typeface="Calibri"/>
                <a:sym typeface="Calibri"/>
              </a:rPr>
              <a:t>AW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813825" y="1404475"/>
            <a:ext cx="213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Address Write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429768" y="1843380"/>
            <a:ext cx="2523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AWADDR = 0x10000000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AWVALID = 1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2953237" y="1980550"/>
            <a:ext cx="28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E5FA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3246125" y="1404475"/>
            <a:ext cx="2633400" cy="1645800"/>
          </a:xfrm>
          <a:prstGeom prst="rect">
            <a:avLst/>
          </a:prstGeom>
          <a:noFill/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5"/>
          <p:cNvSpPr/>
          <p:nvPr/>
        </p:nvSpPr>
        <p:spPr>
          <a:xfrm>
            <a:off x="3246125" y="1404475"/>
            <a:ext cx="2633400" cy="384000"/>
          </a:xfrm>
          <a:prstGeom prst="rect">
            <a:avLst/>
          </a:prstGeom>
          <a:solidFill>
            <a:srgbClr val="2E7DD1"/>
          </a:solidFill>
          <a:ln cap="flat" cmpd="sng" w="12700">
            <a:solidFill>
              <a:srgbClr val="2E7D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5"/>
          <p:cNvSpPr/>
          <p:nvPr/>
        </p:nvSpPr>
        <p:spPr>
          <a:xfrm>
            <a:off x="3337560" y="1459332"/>
            <a:ext cx="347400" cy="25590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3337560" y="1459332"/>
            <a:ext cx="347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D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DD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3739900" y="1404475"/>
            <a:ext cx="210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Write Data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3355848" y="1843380"/>
            <a:ext cx="2523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WDATA = 0x48 ('H')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WSTRB = 4'h1 (byte 0)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5879463" y="1980550"/>
            <a:ext cx="28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E5FA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6172200" y="1404475"/>
            <a:ext cx="2633400" cy="164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5"/>
          <p:cNvSpPr/>
          <p:nvPr/>
        </p:nvSpPr>
        <p:spPr>
          <a:xfrm>
            <a:off x="6172200" y="1404475"/>
            <a:ext cx="2633400" cy="3840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5"/>
          <p:cNvSpPr/>
          <p:nvPr/>
        </p:nvSpPr>
        <p:spPr>
          <a:xfrm>
            <a:off x="6263640" y="1459332"/>
            <a:ext cx="347400" cy="25590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5"/>
          <p:cNvSpPr/>
          <p:nvPr/>
        </p:nvSpPr>
        <p:spPr>
          <a:xfrm>
            <a:off x="6263640" y="1459332"/>
            <a:ext cx="347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6665975" y="1404475"/>
            <a:ext cx="210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6281928" y="1843380"/>
            <a:ext cx="2523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BVALID = 1, BRESP = OKAY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cpu_mem_ready ← 1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320040" y="3214980"/>
            <a:ext cx="8503800" cy="822900"/>
          </a:xfrm>
          <a:prstGeom prst="rect">
            <a:avLst/>
          </a:prstGeom>
          <a:solidFill>
            <a:srgbClr val="DBEAFE">
              <a:alpha val="70000"/>
            </a:srgbClr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5"/>
          <p:cNvSpPr/>
          <p:nvPr/>
        </p:nvSpPr>
        <p:spPr>
          <a:xfrm>
            <a:off x="502920" y="3233268"/>
            <a:ext cx="2286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5FA8"/>
                </a:solidFill>
                <a:latin typeface="Calibri"/>
                <a:ea typeface="Calibri"/>
                <a:cs typeface="Calibri"/>
                <a:sym typeface="Calibri"/>
              </a:rPr>
              <a:t>uart_axi.v Internal Response: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502920" y="3535020"/>
            <a:ext cx="822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aw_got=1  →  w_got=1  →  buf_data=0x48, buf_valid=1  →  bvalid=1 (OKAY)  →  uart_tx.valid=1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320040" y="4175100"/>
            <a:ext cx="8503800" cy="749700"/>
          </a:xfrm>
          <a:prstGeom prst="rect">
            <a:avLst/>
          </a:prstGeom>
          <a:solidFill>
            <a:srgbClr val="FFF7ED"/>
          </a:solidFill>
          <a:ln cap="flat" cmpd="sng" w="152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5"/>
          <p:cNvSpPr/>
          <p:nvPr/>
        </p:nvSpPr>
        <p:spPr>
          <a:xfrm>
            <a:off x="502920" y="4193388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⚠ Backpressure Note: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502920" y="4467678"/>
            <a:ext cx="8229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AWREADY stays LOW if buf_valid=1 (TX buffer full). CPU bridge waits — no bytes lost. WSTRB=4'h1 (SB instruction → byte 0 only, not 0xF).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BD5E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320050" y="389250"/>
            <a:ext cx="7863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2200"/>
              <a:buFont typeface="Calibri"/>
              <a:buNone/>
            </a:pPr>
            <a:r>
              <a:rPr b="1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AXI Read Transaction  —  uart_getc()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320040" y="1212218"/>
            <a:ext cx="4114800" cy="1828800"/>
          </a:xfrm>
          <a:prstGeom prst="rect">
            <a:avLst/>
          </a:prstGeom>
          <a:noFill/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6"/>
          <p:cNvSpPr/>
          <p:nvPr/>
        </p:nvSpPr>
        <p:spPr>
          <a:xfrm>
            <a:off x="320040" y="1212218"/>
            <a:ext cx="4114800" cy="3840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6"/>
          <p:cNvSpPr/>
          <p:nvPr/>
        </p:nvSpPr>
        <p:spPr>
          <a:xfrm>
            <a:off x="411480" y="1267082"/>
            <a:ext cx="347400" cy="25590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6"/>
          <p:cNvSpPr/>
          <p:nvPr/>
        </p:nvSpPr>
        <p:spPr>
          <a:xfrm>
            <a:off x="411480" y="1267082"/>
            <a:ext cx="347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AR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813816" y="1212218"/>
            <a:ext cx="3566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Address Read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429768" y="1660274"/>
            <a:ext cx="38952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ARADDR = 0x10000008 (STATUS)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or 0x10000004 (RX DATA)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ARVALID = 1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4480560" y="1834010"/>
            <a:ext cx="18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4709160" y="1212218"/>
            <a:ext cx="4114800" cy="1828800"/>
          </a:xfrm>
          <a:prstGeom prst="rect">
            <a:avLst/>
          </a:prstGeom>
          <a:noFill/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6"/>
          <p:cNvSpPr/>
          <p:nvPr/>
        </p:nvSpPr>
        <p:spPr>
          <a:xfrm>
            <a:off x="4709160" y="1212218"/>
            <a:ext cx="4114800" cy="384000"/>
          </a:xfrm>
          <a:prstGeom prst="rect">
            <a:avLst/>
          </a:prstGeom>
          <a:solidFill>
            <a:srgbClr val="1E5FA8"/>
          </a:solidFill>
          <a:ln cap="flat" cmpd="sng" w="12700">
            <a:solidFill>
              <a:srgbClr val="1E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6"/>
          <p:cNvSpPr/>
          <p:nvPr/>
        </p:nvSpPr>
        <p:spPr>
          <a:xfrm>
            <a:off x="4800600" y="1267082"/>
            <a:ext cx="347400" cy="25590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6"/>
          <p:cNvSpPr/>
          <p:nvPr/>
        </p:nvSpPr>
        <p:spPr>
          <a:xfrm>
            <a:off x="4800600" y="1267082"/>
            <a:ext cx="347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5FA8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5202936" y="1212218"/>
            <a:ext cx="3566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 Data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4818888" y="1660274"/>
            <a:ext cx="38952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STATUS: RDATA = {30'b0, rx_buf_valid, 1'b0}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RX DATA: RDATA = {23'b0, rx_buf_valid, rx_data[7:0]}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320040" y="3159890"/>
            <a:ext cx="8503800" cy="658500"/>
          </a:xfrm>
          <a:prstGeom prst="rect">
            <a:avLst/>
          </a:prstGeom>
          <a:solidFill>
            <a:srgbClr val="F0FDF4">
              <a:alpha val="70000"/>
            </a:srgbClr>
          </a:solidFill>
          <a:ln cap="flat" cmpd="sng" w="1522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6"/>
          <p:cNvSpPr/>
          <p:nvPr/>
        </p:nvSpPr>
        <p:spPr>
          <a:xfrm>
            <a:off x="502920" y="3178178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✅ Correct bit interpretation: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6"/>
          <p:cNvSpPr/>
          <p:nvPr/>
        </p:nvSpPr>
        <p:spPr>
          <a:xfrm>
            <a:off x="502920" y="3479930"/>
            <a:ext cx="8138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bit[1] = rx_buf_valid  (NOT bit[31] — that is SiFive FIFO convention, NOT this project)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320050" y="3937124"/>
            <a:ext cx="8503800" cy="923100"/>
          </a:xfrm>
          <a:prstGeom prst="rect">
            <a:avLst/>
          </a:prstGeom>
          <a:solidFill>
            <a:srgbClr val="DBEAFE">
              <a:alpha val="70000"/>
            </a:srgbClr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6"/>
          <p:cNvSpPr/>
          <p:nvPr/>
        </p:nvSpPr>
        <p:spPr>
          <a:xfrm>
            <a:off x="502920" y="3955418"/>
            <a:ext cx="2103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5FA8"/>
                </a:solidFill>
                <a:latin typeface="Calibri"/>
                <a:ea typeface="Calibri"/>
                <a:cs typeface="Calibri"/>
                <a:sym typeface="Calibri"/>
              </a:rPr>
              <a:t>Firmware polling idiom: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502920" y="4257170"/>
            <a:ext cx="822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while (!(*(volatile uint32_t*)0x10000008 &amp; 0x2));  // wait for rx_buf_valid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6"/>
          <p:cNvSpPr/>
          <p:nvPr/>
        </p:nvSpPr>
        <p:spPr>
          <a:xfrm>
            <a:off x="502920" y="4549778"/>
            <a:ext cx="822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uint8_t c = *(volatile uint32_t*)0x10000004 &amp; 0xFF;  // read RX byte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7"/>
          <p:cNvSpPr/>
          <p:nvPr/>
        </p:nvSpPr>
        <p:spPr>
          <a:xfrm>
            <a:off x="8534715" y="4422733"/>
            <a:ext cx="3957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779"/>
              <a:buFont typeface="Calibri"/>
              <a:buNone/>
            </a:pPr>
            <a:r>
              <a:rPr b="0" i="0" lang="en-US" sz="779" u="none" cap="none" strike="noStrike">
                <a:solidFill>
                  <a:srgbClr val="CBD5E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7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320100" y="407950"/>
            <a:ext cx="7863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2200"/>
              <a:buFont typeface="Calibri"/>
              <a:buNone/>
            </a:pPr>
            <a:r>
              <a:rPr b="1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Signal Mapping  —  CPU → AXI → UART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365758" y="1237929"/>
            <a:ext cx="1551300" cy="1691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"/>
          <p:cNvSpPr/>
          <p:nvPr/>
        </p:nvSpPr>
        <p:spPr>
          <a:xfrm>
            <a:off x="365750" y="1237925"/>
            <a:ext cx="1551300" cy="411600"/>
          </a:xfrm>
          <a:prstGeom prst="rect">
            <a:avLst/>
          </a:prstGeom>
          <a:solidFill>
            <a:srgbClr val="1E5FA8"/>
          </a:solidFill>
          <a:ln cap="flat" cmpd="sng" w="12700">
            <a:solidFill>
              <a:srgbClr val="1E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418937" y="1237925"/>
            <a:ext cx="1445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PicoRV32 CPU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427800" y="1695125"/>
            <a:ext cx="14271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mem_valid=1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mem_addr=0x10000000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mem_wstrb=4'h1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mem_wdata=0x48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1934750" y="1923725"/>
            <a:ext cx="14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D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E7DD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2076575" y="1237925"/>
            <a:ext cx="1551300" cy="1691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2076581" y="1237925"/>
            <a:ext cx="1551300" cy="411600"/>
          </a:xfrm>
          <a:prstGeom prst="rect">
            <a:avLst/>
          </a:prstGeom>
          <a:solidFill>
            <a:srgbClr val="2E7DD1"/>
          </a:solidFill>
          <a:ln cap="flat" cmpd="sng" w="12700">
            <a:solidFill>
              <a:srgbClr val="2E7D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7"/>
          <p:cNvSpPr/>
          <p:nvPr/>
        </p:nvSpPr>
        <p:spPr>
          <a:xfrm>
            <a:off x="2129767" y="1237925"/>
            <a:ext cx="1445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CPU-to-AXI Bridge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(top.v)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2138625" y="1695125"/>
            <a:ext cx="14271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awaddr, awvalid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wdata, wstrb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wvalid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3645581" y="1923725"/>
            <a:ext cx="14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D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E7DD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3787400" y="1237925"/>
            <a:ext cx="1551300" cy="1691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7"/>
          <p:cNvSpPr/>
          <p:nvPr/>
        </p:nvSpPr>
        <p:spPr>
          <a:xfrm>
            <a:off x="3787412" y="1237925"/>
            <a:ext cx="1551300" cy="4116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7"/>
          <p:cNvSpPr/>
          <p:nvPr/>
        </p:nvSpPr>
        <p:spPr>
          <a:xfrm>
            <a:off x="3840598" y="1237925"/>
            <a:ext cx="1445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AXI Interconnect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(axi_decoder.v)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3849475" y="1695125"/>
            <a:ext cx="14271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wr_sel[2:0]=3'b100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→ uart_axi active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5356412" y="1923725"/>
            <a:ext cx="14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D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E7DD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5498250" y="1237925"/>
            <a:ext cx="1551300" cy="1691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"/>
          <p:cNvSpPr/>
          <p:nvPr/>
        </p:nvSpPr>
        <p:spPr>
          <a:xfrm>
            <a:off x="5498243" y="1237925"/>
            <a:ext cx="1551300" cy="411600"/>
          </a:xfrm>
          <a:prstGeom prst="rect">
            <a:avLst/>
          </a:prstGeom>
          <a:solidFill>
            <a:srgbClr val="0E7490"/>
          </a:solidFill>
          <a:ln cap="flat" cmpd="sng" w="12700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7"/>
          <p:cNvSpPr/>
          <p:nvPr/>
        </p:nvSpPr>
        <p:spPr>
          <a:xfrm>
            <a:off x="5551429" y="1237925"/>
            <a:ext cx="1445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uart_axi.v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AXI Slave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5560300" y="1695125"/>
            <a:ext cx="14271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aw_got, w_got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buf_data, buf_valid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bvalid (OKAY)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7067243" y="1923725"/>
            <a:ext cx="14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D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E7DD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7209075" y="1237925"/>
            <a:ext cx="1551300" cy="1691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7"/>
          <p:cNvSpPr/>
          <p:nvPr/>
        </p:nvSpPr>
        <p:spPr>
          <a:xfrm>
            <a:off x="7209074" y="1237925"/>
            <a:ext cx="1551300" cy="411600"/>
          </a:xfrm>
          <a:prstGeom prst="rect">
            <a:avLst/>
          </a:prstGeom>
          <a:solidFill>
            <a:srgbClr val="1E5FA8"/>
          </a:solidFill>
          <a:ln cap="flat" cmpd="sng" w="12700">
            <a:solidFill>
              <a:srgbClr val="1E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7"/>
          <p:cNvSpPr/>
          <p:nvPr/>
        </p:nvSpPr>
        <p:spPr>
          <a:xfrm>
            <a:off x="7262260" y="1237925"/>
            <a:ext cx="1445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uart_tx.v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(u_tx)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7271125" y="1695125"/>
            <a:ext cx="14271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8N1 serial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115200 baud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tx_out pin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320090" y="3146707"/>
            <a:ext cx="8503800" cy="320100"/>
          </a:xfrm>
          <a:prstGeom prst="rect">
            <a:avLst/>
          </a:prstGeom>
          <a:solidFill>
            <a:srgbClr val="1E5FA8"/>
          </a:solidFill>
          <a:ln cap="flat" cmpd="sng" w="12700">
            <a:solidFill>
              <a:srgbClr val="1E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7"/>
          <p:cNvSpPr/>
          <p:nvPr/>
        </p:nvSpPr>
        <p:spPr>
          <a:xfrm>
            <a:off x="365810" y="3146707"/>
            <a:ext cx="246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Signal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2926130" y="3146707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Direction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4937810" y="3146707"/>
            <a:ext cx="374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Description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7"/>
          <p:cNvSpPr/>
          <p:nvPr/>
        </p:nvSpPr>
        <p:spPr>
          <a:xfrm>
            <a:off x="320090" y="3466747"/>
            <a:ext cx="8503800" cy="34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7"/>
          <p:cNvSpPr/>
          <p:nvPr/>
        </p:nvSpPr>
        <p:spPr>
          <a:xfrm>
            <a:off x="365810" y="3466747"/>
            <a:ext cx="2469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E5FA8"/>
                </a:solidFill>
                <a:latin typeface="Consolas"/>
                <a:ea typeface="Consolas"/>
                <a:cs typeface="Consolas"/>
                <a:sym typeface="Consolas"/>
              </a:rPr>
              <a:t>mem_wstrb = 4'h1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2926130" y="3466747"/>
            <a:ext cx="1920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CPU → Bridge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4937810" y="3466747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Byte-write (SB instruction); only byte 0 written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7"/>
          <p:cNvSpPr/>
          <p:nvPr/>
        </p:nvSpPr>
        <p:spPr>
          <a:xfrm>
            <a:off x="320090" y="3814219"/>
            <a:ext cx="8503800" cy="34740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7"/>
          <p:cNvSpPr/>
          <p:nvPr/>
        </p:nvSpPr>
        <p:spPr>
          <a:xfrm>
            <a:off x="365810" y="3814219"/>
            <a:ext cx="2469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E5FA8"/>
                </a:solidFill>
                <a:latin typeface="Consolas"/>
                <a:ea typeface="Consolas"/>
                <a:cs typeface="Consolas"/>
                <a:sym typeface="Consolas"/>
              </a:rPr>
              <a:t>s_axi_awready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7"/>
          <p:cNvSpPr/>
          <p:nvPr/>
        </p:nvSpPr>
        <p:spPr>
          <a:xfrm>
            <a:off x="2926130" y="3814219"/>
            <a:ext cx="1920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uart_axi → Bridge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7"/>
          <p:cNvSpPr/>
          <p:nvPr/>
        </p:nvSpPr>
        <p:spPr>
          <a:xfrm>
            <a:off x="4937810" y="3814219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0 when buf_valid=1 (backpressure)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7"/>
          <p:cNvSpPr/>
          <p:nvPr/>
        </p:nvSpPr>
        <p:spPr>
          <a:xfrm>
            <a:off x="320090" y="4161691"/>
            <a:ext cx="8503800" cy="34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7"/>
          <p:cNvSpPr/>
          <p:nvPr/>
        </p:nvSpPr>
        <p:spPr>
          <a:xfrm>
            <a:off x="365810" y="4161691"/>
            <a:ext cx="2469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E5FA8"/>
                </a:solidFill>
                <a:latin typeface="Consolas"/>
                <a:ea typeface="Consolas"/>
                <a:cs typeface="Consolas"/>
                <a:sym typeface="Consolas"/>
              </a:rPr>
              <a:t>buf_valid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7"/>
          <p:cNvSpPr/>
          <p:nvPr/>
        </p:nvSpPr>
        <p:spPr>
          <a:xfrm>
            <a:off x="2926130" y="4161691"/>
            <a:ext cx="1920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uart_axi internal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7"/>
          <p:cNvSpPr/>
          <p:nvPr/>
        </p:nvSpPr>
        <p:spPr>
          <a:xfrm>
            <a:off x="4937810" y="4161691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TX buffer occupied; stalls AXI master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7"/>
          <p:cNvSpPr/>
          <p:nvPr/>
        </p:nvSpPr>
        <p:spPr>
          <a:xfrm>
            <a:off x="320090" y="4509163"/>
            <a:ext cx="8503800" cy="34740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7"/>
          <p:cNvSpPr/>
          <p:nvPr/>
        </p:nvSpPr>
        <p:spPr>
          <a:xfrm>
            <a:off x="365810" y="4509163"/>
            <a:ext cx="2469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E5FA8"/>
                </a:solidFill>
                <a:latin typeface="Consolas"/>
                <a:ea typeface="Consolas"/>
                <a:cs typeface="Consolas"/>
                <a:sym typeface="Consolas"/>
              </a:rPr>
              <a:t>tx_out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7"/>
          <p:cNvSpPr/>
          <p:nvPr/>
        </p:nvSpPr>
        <p:spPr>
          <a:xfrm>
            <a:off x="2926130" y="4509163"/>
            <a:ext cx="1920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uart_axi → pin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7"/>
          <p:cNvSpPr/>
          <p:nvPr/>
        </p:nvSpPr>
        <p:spPr>
          <a:xfrm>
            <a:off x="4937810" y="4509163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Renamed from uart_tx to avoid Yosys collision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8"/>
          <p:cNvSpPr/>
          <p:nvPr/>
        </p:nvSpPr>
        <p:spPr>
          <a:xfrm>
            <a:off x="320075" y="411475"/>
            <a:ext cx="8366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850"/>
              <a:buFont typeface="Calibri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 ARCHITECTURE</a:t>
            </a:r>
            <a:endParaRPr b="1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BD5E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320000" y="1132100"/>
            <a:ext cx="1818900" cy="914400"/>
          </a:xfrm>
          <a:prstGeom prst="rect">
            <a:avLst/>
          </a:prstGeom>
          <a:solidFill>
            <a:srgbClr val="1E5FA8"/>
          </a:solidFill>
          <a:ln cap="flat" cmpd="sng" w="12700">
            <a:solidFill>
              <a:srgbClr val="1E5FA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8"/>
          <p:cNvSpPr/>
          <p:nvPr/>
        </p:nvSpPr>
        <p:spPr>
          <a:xfrm>
            <a:off x="320000" y="1132100"/>
            <a:ext cx="1818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PicoRV32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CPU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2411705" y="1132100"/>
            <a:ext cx="1909800" cy="914400"/>
          </a:xfrm>
          <a:prstGeom prst="rect">
            <a:avLst/>
          </a:prstGeom>
          <a:solidFill>
            <a:srgbClr val="2E7DD1"/>
          </a:solidFill>
          <a:ln cap="flat" cmpd="sng" w="12700">
            <a:solidFill>
              <a:srgbClr val="2E7DD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8"/>
          <p:cNvSpPr/>
          <p:nvPr/>
        </p:nvSpPr>
        <p:spPr>
          <a:xfrm>
            <a:off x="2411705" y="1132100"/>
            <a:ext cx="1909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CPU-to-AXI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Bridge (top.v)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4594353" y="1132100"/>
            <a:ext cx="2182500" cy="9144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8"/>
          <p:cNvSpPr/>
          <p:nvPr/>
        </p:nvSpPr>
        <p:spPr>
          <a:xfrm>
            <a:off x="4594353" y="1132100"/>
            <a:ext cx="218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AXI-Lite Interconnect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axi_decoder.v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2157063" y="1342412"/>
            <a:ext cx="25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1E5FA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4321522" y="1342412"/>
            <a:ext cx="25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1E5FA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/>
          <p:nvPr/>
        </p:nvSpPr>
        <p:spPr>
          <a:xfrm flipH="1">
            <a:off x="4692718" y="2046504"/>
            <a:ext cx="36300" cy="338400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8"/>
          <p:cNvSpPr/>
          <p:nvPr/>
        </p:nvSpPr>
        <p:spPr>
          <a:xfrm>
            <a:off x="320000" y="2686578"/>
            <a:ext cx="2546400" cy="1645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8"/>
          <p:cNvSpPr/>
          <p:nvPr/>
        </p:nvSpPr>
        <p:spPr>
          <a:xfrm>
            <a:off x="320000" y="2686578"/>
            <a:ext cx="2546400" cy="411600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8"/>
          <p:cNvSpPr/>
          <p:nvPr/>
        </p:nvSpPr>
        <p:spPr>
          <a:xfrm>
            <a:off x="365472" y="2686578"/>
            <a:ext cx="2455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S0: ROM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(rom.v)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410944" y="3152921"/>
            <a:ext cx="236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6366F1"/>
                </a:solidFill>
                <a:latin typeface="Consolas"/>
                <a:ea typeface="Consolas"/>
                <a:cs typeface="Consolas"/>
                <a:sym typeface="Consolas"/>
              </a:rPr>
              <a:t>Base: 0x0000_????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410944" y="3463816"/>
            <a:ext cx="2364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Instruction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read-only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/>
          <p:nvPr/>
        </p:nvSpPr>
        <p:spPr>
          <a:xfrm>
            <a:off x="5230959" y="2046499"/>
            <a:ext cx="36300" cy="64020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8"/>
          <p:cNvSpPr/>
          <p:nvPr/>
        </p:nvSpPr>
        <p:spPr>
          <a:xfrm>
            <a:off x="3230198" y="2686578"/>
            <a:ext cx="2546400" cy="1645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8"/>
          <p:cNvSpPr/>
          <p:nvPr/>
        </p:nvSpPr>
        <p:spPr>
          <a:xfrm>
            <a:off x="3230198" y="2686578"/>
            <a:ext cx="2546400" cy="41160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8"/>
          <p:cNvSpPr/>
          <p:nvPr/>
        </p:nvSpPr>
        <p:spPr>
          <a:xfrm>
            <a:off x="3275670" y="2686578"/>
            <a:ext cx="2455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S1: SRAM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(sram.v)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3321142" y="3152921"/>
            <a:ext cx="236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8B5CF6"/>
                </a:solidFill>
                <a:latin typeface="Consolas"/>
                <a:ea typeface="Consolas"/>
                <a:cs typeface="Consolas"/>
                <a:sym typeface="Consolas"/>
              </a:rPr>
              <a:t>Base: 0x0001_????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3321142" y="3463816"/>
            <a:ext cx="2364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R/W data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stack, vars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8"/>
          <p:cNvSpPr/>
          <p:nvPr/>
        </p:nvSpPr>
        <p:spPr>
          <a:xfrm flipH="1">
            <a:off x="6322522" y="2046504"/>
            <a:ext cx="36300" cy="6402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8"/>
          <p:cNvSpPr/>
          <p:nvPr/>
        </p:nvSpPr>
        <p:spPr>
          <a:xfrm>
            <a:off x="6140396" y="2686578"/>
            <a:ext cx="2546400" cy="1645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8"/>
          <p:cNvSpPr/>
          <p:nvPr/>
        </p:nvSpPr>
        <p:spPr>
          <a:xfrm>
            <a:off x="6140396" y="2686578"/>
            <a:ext cx="2546400" cy="4116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8"/>
          <p:cNvSpPr/>
          <p:nvPr/>
        </p:nvSpPr>
        <p:spPr>
          <a:xfrm>
            <a:off x="6185868" y="2686578"/>
            <a:ext cx="2455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S2: UART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(uart_axi.v)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6231340" y="3152921"/>
            <a:ext cx="236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891B2"/>
                </a:solidFill>
                <a:latin typeface="Consolas"/>
                <a:ea typeface="Consolas"/>
                <a:cs typeface="Consolas"/>
                <a:sym typeface="Consolas"/>
              </a:rPr>
              <a:t>Base: 0x1000_000?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6231340" y="3463816"/>
            <a:ext cx="2364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TX / RX /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274345" y="4451367"/>
            <a:ext cx="8595300" cy="521100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8"/>
          <p:cNvSpPr/>
          <p:nvPr/>
        </p:nvSpPr>
        <p:spPr>
          <a:xfrm>
            <a:off x="457225" y="4451367"/>
            <a:ext cx="82296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5FA8"/>
                </a:solidFill>
                <a:latin typeface="Consolas"/>
                <a:ea typeface="Consolas"/>
                <a:cs typeface="Consolas"/>
                <a:sym typeface="Consolas"/>
              </a:rPr>
              <a:t>uart_axi internals: AXI Write FSM → [buf_data/buf_valid] → uart_tx (u_tx) → tx_out    |    uart_rx (u_rx) → rx_buf_data/rx_buf_valid → AXI Read FSM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2266109" y="2384948"/>
            <a:ext cx="36300" cy="640200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8"/>
          <p:cNvSpPr/>
          <p:nvPr/>
        </p:nvSpPr>
        <p:spPr>
          <a:xfrm rot="5400000">
            <a:off x="3447493" y="1149253"/>
            <a:ext cx="48600" cy="2423100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0"/>
          <p:cNvSpPr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365750" y="448068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850"/>
              <a:buFont typeface="Calibri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 MAP </a:t>
            </a: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This Project</a:t>
            </a:r>
            <a:endParaRPr b="1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BD5E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365750" y="1124768"/>
            <a:ext cx="8229600" cy="384000"/>
          </a:xfrm>
          <a:prstGeom prst="rect">
            <a:avLst/>
          </a:prstGeom>
          <a:solidFill>
            <a:srgbClr val="1155CC"/>
          </a:solidFill>
          <a:ln cap="flat" cmpd="sng" w="12700">
            <a:solidFill>
              <a:srgbClr val="1E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0"/>
          <p:cNvSpPr/>
          <p:nvPr/>
        </p:nvSpPr>
        <p:spPr>
          <a:xfrm>
            <a:off x="457190" y="1124768"/>
            <a:ext cx="2103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Address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2651750" y="1124768"/>
            <a:ext cx="1554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Slave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4297670" y="1124768"/>
            <a:ext cx="4206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Register / Purpose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365750" y="1508816"/>
            <a:ext cx="8229600" cy="502800"/>
          </a:xfrm>
          <a:prstGeom prst="rect">
            <a:avLst/>
          </a:prstGeom>
          <a:noFill/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0"/>
          <p:cNvSpPr/>
          <p:nvPr/>
        </p:nvSpPr>
        <p:spPr>
          <a:xfrm>
            <a:off x="365750" y="1508816"/>
            <a:ext cx="91500" cy="502800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0"/>
          <p:cNvSpPr/>
          <p:nvPr/>
        </p:nvSpPr>
        <p:spPr>
          <a:xfrm>
            <a:off x="548630" y="1508816"/>
            <a:ext cx="2057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Consolas"/>
                <a:ea typeface="Consolas"/>
                <a:cs typeface="Consolas"/>
                <a:sym typeface="Consolas"/>
              </a:rPr>
              <a:t>0x0000_????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2651750" y="1508816"/>
            <a:ext cx="1554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ROM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4297670" y="1508816"/>
            <a:ext cx="4206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Instruction / data — read-only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365750" y="2011736"/>
            <a:ext cx="8229600" cy="502800"/>
          </a:xfrm>
          <a:prstGeom prst="rect">
            <a:avLst/>
          </a:prstGeom>
          <a:solidFill>
            <a:srgbClr val="DBEAFE">
              <a:alpha val="70000"/>
            </a:srgbClr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0"/>
          <p:cNvSpPr/>
          <p:nvPr/>
        </p:nvSpPr>
        <p:spPr>
          <a:xfrm>
            <a:off x="365750" y="2011736"/>
            <a:ext cx="91500" cy="50280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0"/>
          <p:cNvSpPr/>
          <p:nvPr/>
        </p:nvSpPr>
        <p:spPr>
          <a:xfrm>
            <a:off x="548630" y="2011736"/>
            <a:ext cx="2057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8B5CF6"/>
                </a:solidFill>
                <a:latin typeface="Consolas"/>
                <a:ea typeface="Consolas"/>
                <a:cs typeface="Consolas"/>
                <a:sym typeface="Consolas"/>
              </a:rPr>
              <a:t>0x0001_????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2651750" y="2011736"/>
            <a:ext cx="1554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SRAM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4297670" y="2011736"/>
            <a:ext cx="4206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R/W data — stack, variables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365750" y="2514656"/>
            <a:ext cx="8229600" cy="502800"/>
          </a:xfrm>
          <a:prstGeom prst="rect">
            <a:avLst/>
          </a:prstGeom>
          <a:noFill/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0"/>
          <p:cNvSpPr/>
          <p:nvPr/>
        </p:nvSpPr>
        <p:spPr>
          <a:xfrm>
            <a:off x="365750" y="2514656"/>
            <a:ext cx="91500" cy="5028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0"/>
          <p:cNvSpPr/>
          <p:nvPr/>
        </p:nvSpPr>
        <p:spPr>
          <a:xfrm>
            <a:off x="548630" y="2514656"/>
            <a:ext cx="2057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891B2"/>
                </a:solidFill>
                <a:latin typeface="Consolas"/>
                <a:ea typeface="Consolas"/>
                <a:cs typeface="Consolas"/>
                <a:sym typeface="Consolas"/>
              </a:rPr>
              <a:t>0x1000_0000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2651750" y="2514656"/>
            <a:ext cx="1554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UART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4297670" y="2514656"/>
            <a:ext cx="4206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TX: write byte to transmit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365750" y="3017576"/>
            <a:ext cx="8229600" cy="502800"/>
          </a:xfrm>
          <a:prstGeom prst="rect">
            <a:avLst/>
          </a:prstGeom>
          <a:solidFill>
            <a:srgbClr val="DBEAFE">
              <a:alpha val="70000"/>
            </a:srgbClr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0"/>
          <p:cNvSpPr/>
          <p:nvPr/>
        </p:nvSpPr>
        <p:spPr>
          <a:xfrm>
            <a:off x="365750" y="3017576"/>
            <a:ext cx="91500" cy="5028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0"/>
          <p:cNvSpPr/>
          <p:nvPr/>
        </p:nvSpPr>
        <p:spPr>
          <a:xfrm>
            <a:off x="548630" y="3017576"/>
            <a:ext cx="2057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891B2"/>
                </a:solidFill>
                <a:latin typeface="Consolas"/>
                <a:ea typeface="Consolas"/>
                <a:cs typeface="Consolas"/>
                <a:sym typeface="Consolas"/>
              </a:rPr>
              <a:t>0x1000_0004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2651750" y="3017576"/>
            <a:ext cx="1554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UART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4297670" y="3017576"/>
            <a:ext cx="4206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RX: read received byte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365750" y="3520496"/>
            <a:ext cx="8229600" cy="502800"/>
          </a:xfrm>
          <a:prstGeom prst="rect">
            <a:avLst/>
          </a:prstGeom>
          <a:noFill/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0"/>
          <p:cNvSpPr/>
          <p:nvPr/>
        </p:nvSpPr>
        <p:spPr>
          <a:xfrm>
            <a:off x="365750" y="3520496"/>
            <a:ext cx="91500" cy="5028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0"/>
          <p:cNvSpPr/>
          <p:nvPr/>
        </p:nvSpPr>
        <p:spPr>
          <a:xfrm>
            <a:off x="548630" y="3520496"/>
            <a:ext cx="2057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891B2"/>
                </a:solidFill>
                <a:latin typeface="Consolas"/>
                <a:ea typeface="Consolas"/>
                <a:cs typeface="Consolas"/>
                <a:sym typeface="Consolas"/>
              </a:rPr>
              <a:t>0x1000_0008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2651750" y="3520496"/>
            <a:ext cx="1554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UART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4297670" y="3520496"/>
            <a:ext cx="4206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STATUS: bit[1]=1 means RX byte ready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1"/>
          <p:cNvSpPr/>
          <p:nvPr/>
        </p:nvSpPr>
        <p:spPr>
          <a:xfrm>
            <a:off x="392475" y="411475"/>
            <a:ext cx="8294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850"/>
              <a:buFont typeface="Calibri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RULES </a:t>
            </a:r>
            <a:endParaRPr b="1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BD5E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392475" y="1078850"/>
            <a:ext cx="4116900" cy="1115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1"/>
          <p:cNvSpPr/>
          <p:nvPr/>
        </p:nvSpPr>
        <p:spPr>
          <a:xfrm>
            <a:off x="392475" y="1078850"/>
            <a:ext cx="465600" cy="1115700"/>
          </a:xfrm>
          <a:prstGeom prst="rect">
            <a:avLst/>
          </a:prstGeom>
          <a:solidFill>
            <a:srgbClr val="1E5FA8"/>
          </a:solidFill>
          <a:ln cap="flat" cmpd="sng" w="12700">
            <a:solidFill>
              <a:srgbClr val="1E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1"/>
          <p:cNvSpPr/>
          <p:nvPr/>
        </p:nvSpPr>
        <p:spPr>
          <a:xfrm>
            <a:off x="392475" y="1078850"/>
            <a:ext cx="4656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911578" y="1142858"/>
            <a:ext cx="3544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5FA8"/>
                </a:solidFill>
                <a:latin typeface="Calibri"/>
                <a:ea typeface="Calibri"/>
                <a:cs typeface="Calibri"/>
                <a:sym typeface="Calibri"/>
              </a:rPr>
              <a:t>VALID Stays High Until Handshake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911578" y="1481187"/>
            <a:ext cx="35442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Once VALID is asserted, it must not be deasserted until READY is also high. One outstanding TX in-flight.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4733252" y="1078850"/>
            <a:ext cx="4116900" cy="1115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1"/>
          <p:cNvSpPr/>
          <p:nvPr/>
        </p:nvSpPr>
        <p:spPr>
          <a:xfrm>
            <a:off x="4733252" y="1078850"/>
            <a:ext cx="465600" cy="11157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1"/>
          <p:cNvSpPr/>
          <p:nvPr/>
        </p:nvSpPr>
        <p:spPr>
          <a:xfrm>
            <a:off x="4733252" y="1078850"/>
            <a:ext cx="4656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5252356" y="1142858"/>
            <a:ext cx="3544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Backpressure — AWREADY/WREADY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5252356" y="1481187"/>
            <a:ext cx="35442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uart_axi sets awready/wready=0 when buf_valid=1. CPU bridge waits — no bytes are ever lost, no FIFO needed.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392475" y="2359012"/>
            <a:ext cx="4116900" cy="1115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1"/>
          <p:cNvSpPr/>
          <p:nvPr/>
        </p:nvSpPr>
        <p:spPr>
          <a:xfrm>
            <a:off x="392475" y="2359012"/>
            <a:ext cx="465600" cy="1115700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1"/>
          <p:cNvSpPr/>
          <p:nvPr/>
        </p:nvSpPr>
        <p:spPr>
          <a:xfrm>
            <a:off x="392475" y="2359012"/>
            <a:ext cx="4656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911578" y="2423020"/>
            <a:ext cx="3544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Port Rename: tx_out (not uart_tx)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911578" y="2761349"/>
            <a:ext cx="35442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uart_axi instantiates a submodule named uart_tx. A same-name port causes Yosys to lose the wire driver during synthesis. Renamed to tx_out.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4733252" y="2359012"/>
            <a:ext cx="4116900" cy="1115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1"/>
          <p:cNvSpPr/>
          <p:nvPr/>
        </p:nvSpPr>
        <p:spPr>
          <a:xfrm>
            <a:off x="4733252" y="2359012"/>
            <a:ext cx="465600" cy="1115700"/>
          </a:xfrm>
          <a:prstGeom prst="rect">
            <a:avLst/>
          </a:prstGeom>
          <a:solidFill>
            <a:srgbClr val="2E7DD1"/>
          </a:solidFill>
          <a:ln cap="flat" cmpd="sng" w="12700">
            <a:solidFill>
              <a:srgbClr val="2E7D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1"/>
          <p:cNvSpPr/>
          <p:nvPr/>
        </p:nvSpPr>
        <p:spPr>
          <a:xfrm>
            <a:off x="4733252" y="2359012"/>
            <a:ext cx="4656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④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5252356" y="2423020"/>
            <a:ext cx="3544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D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DD1"/>
                </a:solidFill>
                <a:latin typeface="Calibri"/>
                <a:ea typeface="Calibri"/>
                <a:cs typeface="Calibri"/>
                <a:sym typeface="Calibri"/>
              </a:rPr>
              <a:t>ASIC-Clean RTL Constraints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5252356" y="2761349"/>
            <a:ext cx="35442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No initial blocks, no inline register initializers in uart_axi.v. All state driven by synchronous reset only. Synthesis-safe.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392475" y="3639175"/>
            <a:ext cx="4116900" cy="1115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1"/>
          <p:cNvSpPr/>
          <p:nvPr/>
        </p:nvSpPr>
        <p:spPr>
          <a:xfrm>
            <a:off x="392475" y="3639175"/>
            <a:ext cx="465600" cy="1115700"/>
          </a:xfrm>
          <a:prstGeom prst="rect">
            <a:avLst/>
          </a:prstGeom>
          <a:solidFill>
            <a:srgbClr val="0E7490"/>
          </a:solidFill>
          <a:ln cap="flat" cmpd="sng" w="12700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1"/>
          <p:cNvSpPr/>
          <p:nvPr/>
        </p:nvSpPr>
        <p:spPr>
          <a:xfrm>
            <a:off x="392475" y="3639175"/>
            <a:ext cx="4656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⑤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1"/>
          <p:cNvSpPr/>
          <p:nvPr/>
        </p:nvSpPr>
        <p:spPr>
          <a:xfrm>
            <a:off x="911578" y="3703183"/>
            <a:ext cx="3544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2-FF Synchroniser in uart_rx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911578" y="4041511"/>
            <a:ext cx="35442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Metastability protection on the incoming serial line. Two flip-flops synchronise the async pin before processing.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4733252" y="3639175"/>
            <a:ext cx="4116900" cy="1115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1"/>
          <p:cNvSpPr/>
          <p:nvPr/>
        </p:nvSpPr>
        <p:spPr>
          <a:xfrm>
            <a:off x="4733252" y="3639175"/>
            <a:ext cx="465600" cy="11157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1"/>
          <p:cNvSpPr/>
          <p:nvPr/>
        </p:nvSpPr>
        <p:spPr>
          <a:xfrm>
            <a:off x="4733252" y="3639175"/>
            <a:ext cx="4656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⑥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5252356" y="3703183"/>
            <a:ext cx="3544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WSTRB = 4'h1 (Byte Write)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1"/>
          <p:cNvSpPr/>
          <p:nvPr/>
        </p:nvSpPr>
        <p:spPr>
          <a:xfrm>
            <a:off x="5252356" y="4041511"/>
            <a:ext cx="35442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SB instruction produces wstrb=4'h1 (byte 0 only), NOT 0xF. uart_axi reads wdata[7:0] only.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2"/>
          <p:cNvSpPr/>
          <p:nvPr/>
        </p:nvSpPr>
        <p:spPr>
          <a:xfrm>
            <a:off x="457200" y="52388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2200"/>
              <a:buFont typeface="Calibri"/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End-to-End Walkthrough  —  uart_putc('H')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BD5E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457200" y="1276025"/>
            <a:ext cx="4093200" cy="647700"/>
          </a:xfrm>
          <a:prstGeom prst="rect">
            <a:avLst/>
          </a:prstGeom>
          <a:noFill/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2"/>
          <p:cNvSpPr/>
          <p:nvPr/>
        </p:nvSpPr>
        <p:spPr>
          <a:xfrm>
            <a:off x="457200" y="1276025"/>
            <a:ext cx="341700" cy="647700"/>
          </a:xfrm>
          <a:prstGeom prst="rect">
            <a:avLst/>
          </a:prstGeom>
          <a:solidFill>
            <a:srgbClr val="1E5FA8"/>
          </a:solidFill>
          <a:ln cap="flat" cmpd="sng" w="12700">
            <a:solidFill>
              <a:srgbClr val="1E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2"/>
          <p:cNvSpPr/>
          <p:nvPr/>
        </p:nvSpPr>
        <p:spPr>
          <a:xfrm>
            <a:off x="457200" y="1276025"/>
            <a:ext cx="3417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844053" y="1276025"/>
            <a:ext cx="3670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5FA8"/>
                </a:solidFill>
                <a:latin typeface="Calibri"/>
                <a:ea typeface="Calibri"/>
                <a:cs typeface="Calibri"/>
                <a:sym typeface="Calibri"/>
              </a:rPr>
              <a:t>fw/main.c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844053" y="1543335"/>
            <a:ext cx="3670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uart_putc('H')  →  UART_TX = 0x48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4712582" y="1276025"/>
            <a:ext cx="4093200" cy="647700"/>
          </a:xfrm>
          <a:prstGeom prst="rect">
            <a:avLst/>
          </a:prstGeom>
          <a:noFill/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2"/>
          <p:cNvSpPr/>
          <p:nvPr/>
        </p:nvSpPr>
        <p:spPr>
          <a:xfrm>
            <a:off x="4712582" y="1276025"/>
            <a:ext cx="341700" cy="647700"/>
          </a:xfrm>
          <a:prstGeom prst="rect">
            <a:avLst/>
          </a:prstGeom>
          <a:solidFill>
            <a:srgbClr val="1E5FA8"/>
          </a:solidFill>
          <a:ln cap="flat" cmpd="sng" w="12700">
            <a:solidFill>
              <a:srgbClr val="1E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2"/>
          <p:cNvSpPr/>
          <p:nvPr/>
        </p:nvSpPr>
        <p:spPr>
          <a:xfrm>
            <a:off x="4712582" y="1276025"/>
            <a:ext cx="3417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5099435" y="1276025"/>
            <a:ext cx="3670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5FA8"/>
                </a:solidFill>
                <a:latin typeface="Calibri"/>
                <a:ea typeface="Calibri"/>
                <a:cs typeface="Calibri"/>
                <a:sym typeface="Calibri"/>
              </a:rPr>
              <a:t>PicoRV32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5099435" y="1543335"/>
            <a:ext cx="3670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mem_valid=1, mem_addr=0x10000000, mem_wstrb=4'h1, mem_wdata=0x48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457200" y="2016269"/>
            <a:ext cx="4093200" cy="647700"/>
          </a:xfrm>
          <a:prstGeom prst="rect">
            <a:avLst/>
          </a:prstGeom>
          <a:noFill/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2"/>
          <p:cNvSpPr/>
          <p:nvPr/>
        </p:nvSpPr>
        <p:spPr>
          <a:xfrm>
            <a:off x="457200" y="2016269"/>
            <a:ext cx="341700" cy="647700"/>
          </a:xfrm>
          <a:prstGeom prst="rect">
            <a:avLst/>
          </a:prstGeom>
          <a:solidFill>
            <a:srgbClr val="1E5FA8"/>
          </a:solidFill>
          <a:ln cap="flat" cmpd="sng" w="12700">
            <a:solidFill>
              <a:srgbClr val="1E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2"/>
          <p:cNvSpPr/>
          <p:nvPr/>
        </p:nvSpPr>
        <p:spPr>
          <a:xfrm>
            <a:off x="457200" y="2016269"/>
            <a:ext cx="3417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844053" y="2016269"/>
            <a:ext cx="3670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5FA8"/>
                </a:solidFill>
                <a:latin typeface="Calibri"/>
                <a:ea typeface="Calibri"/>
                <a:cs typeface="Calibri"/>
                <a:sym typeface="Calibri"/>
              </a:rPr>
              <a:t>CPU-to-AXI Bridge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844053" y="2283579"/>
            <a:ext cx="3670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awaddr=0x10000000, awvalid=1, wdata=0x48, wstrb=4'h1, wvalid=1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4712582" y="2016269"/>
            <a:ext cx="4093200" cy="647700"/>
          </a:xfrm>
          <a:prstGeom prst="rect">
            <a:avLst/>
          </a:prstGeom>
          <a:noFill/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2"/>
          <p:cNvSpPr/>
          <p:nvPr/>
        </p:nvSpPr>
        <p:spPr>
          <a:xfrm>
            <a:off x="4712582" y="2016269"/>
            <a:ext cx="341700" cy="647700"/>
          </a:xfrm>
          <a:prstGeom prst="rect">
            <a:avLst/>
          </a:prstGeom>
          <a:solidFill>
            <a:srgbClr val="1E5FA8"/>
          </a:solidFill>
          <a:ln cap="flat" cmpd="sng" w="12700">
            <a:solidFill>
              <a:srgbClr val="1E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2"/>
          <p:cNvSpPr/>
          <p:nvPr/>
        </p:nvSpPr>
        <p:spPr>
          <a:xfrm>
            <a:off x="4712582" y="2016269"/>
            <a:ext cx="3417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5099435" y="2016269"/>
            <a:ext cx="3670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5FA8"/>
                </a:solidFill>
                <a:latin typeface="Calibri"/>
                <a:ea typeface="Calibri"/>
                <a:cs typeface="Calibri"/>
                <a:sym typeface="Calibri"/>
              </a:rPr>
              <a:t>Interconnect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2"/>
          <p:cNvSpPr/>
          <p:nvPr/>
        </p:nvSpPr>
        <p:spPr>
          <a:xfrm>
            <a:off x="5099435" y="2283579"/>
            <a:ext cx="3670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wr_sel=3'b100  →  only uart_axi active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2"/>
          <p:cNvSpPr/>
          <p:nvPr/>
        </p:nvSpPr>
        <p:spPr>
          <a:xfrm>
            <a:off x="457200" y="2756512"/>
            <a:ext cx="4093200" cy="647700"/>
          </a:xfrm>
          <a:prstGeom prst="rect">
            <a:avLst/>
          </a:prstGeom>
          <a:noFill/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2"/>
          <p:cNvSpPr/>
          <p:nvPr/>
        </p:nvSpPr>
        <p:spPr>
          <a:xfrm>
            <a:off x="457200" y="2756512"/>
            <a:ext cx="341700" cy="6477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2"/>
          <p:cNvSpPr/>
          <p:nvPr/>
        </p:nvSpPr>
        <p:spPr>
          <a:xfrm>
            <a:off x="457200" y="2756512"/>
            <a:ext cx="3417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2"/>
          <p:cNvSpPr/>
          <p:nvPr/>
        </p:nvSpPr>
        <p:spPr>
          <a:xfrm>
            <a:off x="844053" y="2756512"/>
            <a:ext cx="3670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uart_axi.v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2"/>
          <p:cNvSpPr/>
          <p:nvPr/>
        </p:nvSpPr>
        <p:spPr>
          <a:xfrm>
            <a:off x="844053" y="3023822"/>
            <a:ext cx="3670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aw_got=1 → w_got=1 → buf_data=0x48, buf_valid=1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2"/>
          <p:cNvSpPr/>
          <p:nvPr/>
        </p:nvSpPr>
        <p:spPr>
          <a:xfrm>
            <a:off x="4712582" y="2756512"/>
            <a:ext cx="4093200" cy="647700"/>
          </a:xfrm>
          <a:prstGeom prst="rect">
            <a:avLst/>
          </a:prstGeom>
          <a:noFill/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2"/>
          <p:cNvSpPr/>
          <p:nvPr/>
        </p:nvSpPr>
        <p:spPr>
          <a:xfrm>
            <a:off x="4712582" y="2756512"/>
            <a:ext cx="341700" cy="6477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2"/>
          <p:cNvSpPr/>
          <p:nvPr/>
        </p:nvSpPr>
        <p:spPr>
          <a:xfrm>
            <a:off x="4712582" y="2756512"/>
            <a:ext cx="3417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2"/>
          <p:cNvSpPr/>
          <p:nvPr/>
        </p:nvSpPr>
        <p:spPr>
          <a:xfrm>
            <a:off x="5099435" y="2756512"/>
            <a:ext cx="3670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uart_axi.v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2"/>
          <p:cNvSpPr/>
          <p:nvPr/>
        </p:nvSpPr>
        <p:spPr>
          <a:xfrm>
            <a:off x="5099435" y="3023822"/>
            <a:ext cx="3670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bvalid=1 (OKAY) → bridge: cpu_mem_ready=1 → CPU resumes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2"/>
          <p:cNvSpPr/>
          <p:nvPr/>
        </p:nvSpPr>
        <p:spPr>
          <a:xfrm>
            <a:off x="457200" y="3496756"/>
            <a:ext cx="4093200" cy="647700"/>
          </a:xfrm>
          <a:prstGeom prst="rect">
            <a:avLst/>
          </a:prstGeom>
          <a:noFill/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2"/>
          <p:cNvSpPr/>
          <p:nvPr/>
        </p:nvSpPr>
        <p:spPr>
          <a:xfrm>
            <a:off x="457200" y="3496756"/>
            <a:ext cx="341700" cy="6477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2"/>
          <p:cNvSpPr/>
          <p:nvPr/>
        </p:nvSpPr>
        <p:spPr>
          <a:xfrm>
            <a:off x="457200" y="3496756"/>
            <a:ext cx="3417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2"/>
          <p:cNvSpPr/>
          <p:nvPr/>
        </p:nvSpPr>
        <p:spPr>
          <a:xfrm>
            <a:off x="844053" y="3496756"/>
            <a:ext cx="3670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uart_tx.v (u_tx)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2"/>
          <p:cNvSpPr/>
          <p:nvPr/>
        </p:nvSpPr>
        <p:spPr>
          <a:xfrm>
            <a:off x="844053" y="3764066"/>
            <a:ext cx="3670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data=0x48, valid=1 → IDLE→START→DATA(×8)→STOP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2"/>
          <p:cNvSpPr/>
          <p:nvPr/>
        </p:nvSpPr>
        <p:spPr>
          <a:xfrm>
            <a:off x="4712582" y="3496756"/>
            <a:ext cx="4093200" cy="647700"/>
          </a:xfrm>
          <a:prstGeom prst="rect">
            <a:avLst/>
          </a:prstGeom>
          <a:noFill/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2"/>
          <p:cNvSpPr/>
          <p:nvPr/>
        </p:nvSpPr>
        <p:spPr>
          <a:xfrm>
            <a:off x="4712582" y="3496756"/>
            <a:ext cx="341700" cy="6477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2"/>
          <p:cNvSpPr/>
          <p:nvPr/>
        </p:nvSpPr>
        <p:spPr>
          <a:xfrm>
            <a:off x="4712582" y="3496756"/>
            <a:ext cx="3417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2"/>
          <p:cNvSpPr/>
          <p:nvPr/>
        </p:nvSpPr>
        <p:spPr>
          <a:xfrm>
            <a:off x="5099435" y="3496756"/>
            <a:ext cx="3670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Serial wire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2"/>
          <p:cNvSpPr/>
          <p:nvPr/>
        </p:nvSpPr>
        <p:spPr>
          <a:xfrm>
            <a:off x="5099435" y="3764066"/>
            <a:ext cx="3670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8N1 frame at 115200 baud → testbench UART monitor decodes 'H'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457200" y="4237018"/>
            <a:ext cx="8366700" cy="3600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2"/>
          <p:cNvSpPr/>
          <p:nvPr/>
        </p:nvSpPr>
        <p:spPr>
          <a:xfrm>
            <a:off x="484190" y="4262721"/>
            <a:ext cx="251700" cy="287700"/>
          </a:xfrm>
          <a:prstGeom prst="roundRect">
            <a:avLst>
              <a:gd fmla="val 1071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2"/>
          <p:cNvSpPr/>
          <p:nvPr/>
        </p:nvSpPr>
        <p:spPr>
          <a:xfrm>
            <a:off x="484190" y="4262721"/>
            <a:ext cx="251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2"/>
          <p:cNvSpPr/>
          <p:nvPr/>
        </p:nvSpPr>
        <p:spPr>
          <a:xfrm>
            <a:off x="790073" y="4237018"/>
            <a:ext cx="7917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tb_top.v logs:  [TB] RX byte: H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e6c0168df0_0_351"/>
          <p:cNvSpPr/>
          <p:nvPr/>
        </p:nvSpPr>
        <p:spPr>
          <a:xfrm>
            <a:off x="320050" y="525250"/>
            <a:ext cx="78639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 — AXI + UART Integration Testbench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e6c0168df0_0_351"/>
          <p:cNvSpPr/>
          <p:nvPr/>
        </p:nvSpPr>
        <p:spPr>
          <a:xfrm>
            <a:off x="320040" y="1290953"/>
            <a:ext cx="8503800" cy="504600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3e6c0168df0_0_351"/>
          <p:cNvSpPr/>
          <p:nvPr/>
        </p:nvSpPr>
        <p:spPr>
          <a:xfrm>
            <a:off x="502920" y="1290953"/>
            <a:ext cx="80466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$ make axi_uart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g3e6c0168df0_0_351"/>
          <p:cNvSpPr/>
          <p:nvPr/>
        </p:nvSpPr>
        <p:spPr>
          <a:xfrm>
            <a:off x="320040" y="1900035"/>
            <a:ext cx="4114800" cy="2045100"/>
          </a:xfrm>
          <a:prstGeom prst="rect">
            <a:avLst/>
          </a:prstGeom>
          <a:noFill/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g3e6c0168df0_0_351"/>
          <p:cNvSpPr/>
          <p:nvPr/>
        </p:nvSpPr>
        <p:spPr>
          <a:xfrm>
            <a:off x="320040" y="1900035"/>
            <a:ext cx="4114800" cy="330600"/>
          </a:xfrm>
          <a:prstGeom prst="rect">
            <a:avLst/>
          </a:prstGeom>
          <a:solidFill>
            <a:srgbClr val="1E5FA8"/>
          </a:solidFill>
          <a:ln cap="flat" cmpd="sng" w="12700">
            <a:solidFill>
              <a:srgbClr val="1E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g3e6c0168df0_0_351"/>
          <p:cNvSpPr/>
          <p:nvPr/>
        </p:nvSpPr>
        <p:spPr>
          <a:xfrm>
            <a:off x="320040" y="1900035"/>
            <a:ext cx="4114800" cy="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Files Used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g3e6c0168df0_0_351"/>
          <p:cNvSpPr/>
          <p:nvPr/>
        </p:nvSpPr>
        <p:spPr>
          <a:xfrm>
            <a:off x="457200" y="2291588"/>
            <a:ext cx="37947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rtl/uart_tx.v          — TX serialiser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e6c0168df0_0_351"/>
          <p:cNvSpPr/>
          <p:nvPr/>
        </p:nvSpPr>
        <p:spPr>
          <a:xfrm>
            <a:off x="457200" y="2604830"/>
            <a:ext cx="37947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rtl/uart_rx.v          — RX + 2-FF sync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g3e6c0168df0_0_351"/>
          <p:cNvSpPr/>
          <p:nvPr/>
        </p:nvSpPr>
        <p:spPr>
          <a:xfrm>
            <a:off x="457200" y="2918073"/>
            <a:ext cx="37947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rtl/uart_axi.v         — AXI slave wrapper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g3e6c0168df0_0_351"/>
          <p:cNvSpPr/>
          <p:nvPr/>
        </p:nvSpPr>
        <p:spPr>
          <a:xfrm>
            <a:off x="457200" y="3231315"/>
            <a:ext cx="37947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tb/tb_axi_lite_master.v — AXI master tasks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g3e6c0168df0_0_351"/>
          <p:cNvSpPr/>
          <p:nvPr/>
        </p:nvSpPr>
        <p:spPr>
          <a:xfrm>
            <a:off x="457200" y="3544557"/>
            <a:ext cx="37947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tb/tb_axi_lite.v        — master + DUT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g3e6c0168df0_0_351"/>
          <p:cNvSpPr/>
          <p:nvPr/>
        </p:nvSpPr>
        <p:spPr>
          <a:xfrm>
            <a:off x="4709160" y="1900035"/>
            <a:ext cx="4114800" cy="2045100"/>
          </a:xfrm>
          <a:prstGeom prst="rect">
            <a:avLst/>
          </a:prstGeom>
          <a:noFill/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g3e6c0168df0_0_351"/>
          <p:cNvSpPr/>
          <p:nvPr/>
        </p:nvSpPr>
        <p:spPr>
          <a:xfrm>
            <a:off x="4709160" y="1900035"/>
            <a:ext cx="4114800" cy="3306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g3e6c0168df0_0_351"/>
          <p:cNvSpPr/>
          <p:nvPr/>
        </p:nvSpPr>
        <p:spPr>
          <a:xfrm>
            <a:off x="4709160" y="1900035"/>
            <a:ext cx="4114800" cy="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Happens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g3e6c0168df0_0_351"/>
          <p:cNvSpPr/>
          <p:nvPr/>
        </p:nvSpPr>
        <p:spPr>
          <a:xfrm>
            <a:off x="4828032" y="2291588"/>
            <a:ext cx="38589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AXI master writes 0x48 ('H') → 0x10000000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g3e6c0168df0_0_351"/>
          <p:cNvSpPr/>
          <p:nvPr/>
        </p:nvSpPr>
        <p:spPr>
          <a:xfrm>
            <a:off x="4828032" y="2604830"/>
            <a:ext cx="38589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uart_axi buffers → uart_tx serialises → tx_out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g3e6c0168df0_0_351"/>
          <p:cNvSpPr/>
          <p:nvPr/>
        </p:nvSpPr>
        <p:spPr>
          <a:xfrm>
            <a:off x="4828032" y="2918073"/>
            <a:ext cx="38589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uart_rx receives (loopback) → rx_buf_valid=1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g3e6c0168df0_0_351"/>
          <p:cNvSpPr/>
          <p:nvPr/>
        </p:nvSpPr>
        <p:spPr>
          <a:xfrm>
            <a:off x="4828032" y="3231315"/>
            <a:ext cx="38589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Master reads STATUS[1]=1  (RX ready)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g3e6c0168df0_0_351"/>
          <p:cNvSpPr/>
          <p:nvPr/>
        </p:nvSpPr>
        <p:spPr>
          <a:xfrm>
            <a:off x="4828032" y="3544557"/>
            <a:ext cx="38589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Master reads RX=0x48 → WRITE DATA == READ DATA → PASS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g3e6c0168df0_0_351"/>
          <p:cNvSpPr/>
          <p:nvPr/>
        </p:nvSpPr>
        <p:spPr>
          <a:xfrm>
            <a:off x="320040" y="4049225"/>
            <a:ext cx="8503800" cy="783000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g3e6c0168df0_0_351"/>
          <p:cNvSpPr/>
          <p:nvPr/>
        </p:nvSpPr>
        <p:spPr>
          <a:xfrm>
            <a:off x="502920" y="4057926"/>
            <a:ext cx="20118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Key GTKWave Signals: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g3e6c0168df0_0_351"/>
          <p:cNvSpPr/>
          <p:nvPr/>
        </p:nvSpPr>
        <p:spPr>
          <a:xfrm>
            <a:off x="502920" y="4327663"/>
            <a:ext cx="82296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s_axi_awaddr / awvalid / awready  |  s_axi_wdata / wvalid / wready  |  bvalid  |  uart_axi.buf_valid  |  u_tx.state[1:0]  |  rx_buf_valid  |  s_axi_rdata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0" name="Google Shape;520;p13"/>
          <p:cNvGrpSpPr/>
          <p:nvPr/>
        </p:nvGrpSpPr>
        <p:grpSpPr>
          <a:xfrm>
            <a:off x="440732" y="618651"/>
            <a:ext cx="7442359" cy="582817"/>
            <a:chOff x="0" y="-57150"/>
            <a:chExt cx="20970300" cy="1642200"/>
          </a:xfrm>
        </p:grpSpPr>
        <p:sp>
          <p:nvSpPr>
            <p:cNvPr id="521" name="Google Shape;521;p13"/>
            <p:cNvSpPr/>
            <p:nvPr/>
          </p:nvSpPr>
          <p:spPr>
            <a:xfrm>
              <a:off x="0" y="0"/>
              <a:ext cx="20970239" cy="1584960"/>
            </a:xfrm>
            <a:custGeom>
              <a:rect b="b" l="l" r="r" t="t"/>
              <a:pathLst>
                <a:path extrusionOk="0" h="158496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584960"/>
                  </a:lnTo>
                  <a:lnTo>
                    <a:pt x="0" y="158496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21625" lIns="43275" spcFirstLastPara="1" rIns="43275" wrap="square" tIns="21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r>
                <a:t/>
              </a:r>
              <a:endParaRPr b="0" i="0" sz="85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13"/>
            <p:cNvSpPr txBox="1"/>
            <p:nvPr/>
          </p:nvSpPr>
          <p:spPr>
            <a:xfrm>
              <a:off x="0" y="-57150"/>
              <a:ext cx="20970300" cy="164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29"/>
                <a:buFont typeface="Arial"/>
                <a:buNone/>
              </a:pPr>
              <a:r>
                <a:rPr b="1" i="0" lang="en-US" sz="3029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Key Takeaways</a:t>
              </a:r>
              <a:endParaRPr b="0" i="0" sz="66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3" name="Google Shape;523;p13"/>
          <p:cNvSpPr/>
          <p:nvPr/>
        </p:nvSpPr>
        <p:spPr>
          <a:xfrm>
            <a:off x="440875" y="1363525"/>
            <a:ext cx="3882300" cy="987600"/>
          </a:xfrm>
          <a:prstGeom prst="rect">
            <a:avLst/>
          </a:prstGeom>
          <a:noFill/>
          <a:ln cap="flat" cmpd="sng" w="12700">
            <a:solidFill>
              <a:srgbClr val="1E4A8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524" name="Google Shape;524;p13"/>
          <p:cNvSpPr/>
          <p:nvPr/>
        </p:nvSpPr>
        <p:spPr>
          <a:xfrm>
            <a:off x="440875" y="1363525"/>
            <a:ext cx="167100" cy="9876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3"/>
          <p:cNvSpPr/>
          <p:nvPr/>
        </p:nvSpPr>
        <p:spPr>
          <a:xfrm>
            <a:off x="765146" y="1427533"/>
            <a:ext cx="350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uart_axi.v</a:t>
            </a:r>
            <a:endParaRPr b="0" i="0" sz="12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3"/>
          <p:cNvSpPr/>
          <p:nvPr/>
        </p:nvSpPr>
        <p:spPr>
          <a:xfrm>
            <a:off x="765146" y="1765863"/>
            <a:ext cx="3504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AXI-Lite slave wrapper for uart_tx.v + uart_rx.v. 250-line ASIC-clean RTL.</a:t>
            </a:r>
            <a:endParaRPr b="0" i="0" sz="10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3"/>
          <p:cNvSpPr/>
          <p:nvPr/>
        </p:nvSpPr>
        <p:spPr>
          <a:xfrm>
            <a:off x="4870325" y="1363525"/>
            <a:ext cx="3788100" cy="987600"/>
          </a:xfrm>
          <a:prstGeom prst="rect">
            <a:avLst/>
          </a:prstGeom>
          <a:noFill/>
          <a:ln cap="flat" cmpd="sng" w="12700">
            <a:solidFill>
              <a:srgbClr val="1E4A8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528" name="Google Shape;528;p13"/>
          <p:cNvSpPr/>
          <p:nvPr/>
        </p:nvSpPr>
        <p:spPr>
          <a:xfrm>
            <a:off x="4870325" y="1363525"/>
            <a:ext cx="108900" cy="9876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3"/>
          <p:cNvSpPr/>
          <p:nvPr/>
        </p:nvSpPr>
        <p:spPr>
          <a:xfrm>
            <a:off x="5100582" y="1427533"/>
            <a:ext cx="350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Register Map</a:t>
            </a:r>
            <a:endParaRPr b="0" i="0" sz="12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3"/>
          <p:cNvSpPr/>
          <p:nvPr/>
        </p:nvSpPr>
        <p:spPr>
          <a:xfrm>
            <a:off x="5100582" y="1765863"/>
            <a:ext cx="3504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TX: 0x1000_0000  |  RX: 0x1000_0004  |  STATUS: 0x1000_0008</a:t>
            </a:r>
            <a:endParaRPr b="0" i="0" sz="10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3"/>
          <p:cNvSpPr/>
          <p:nvPr/>
        </p:nvSpPr>
        <p:spPr>
          <a:xfrm>
            <a:off x="440725" y="2533950"/>
            <a:ext cx="3882300" cy="987600"/>
          </a:xfrm>
          <a:prstGeom prst="rect">
            <a:avLst/>
          </a:prstGeom>
          <a:noFill/>
          <a:ln cap="flat" cmpd="sng" w="12700">
            <a:solidFill>
              <a:srgbClr val="1E4A8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532" name="Google Shape;532;p13"/>
          <p:cNvSpPr/>
          <p:nvPr/>
        </p:nvSpPr>
        <p:spPr>
          <a:xfrm>
            <a:off x="440725" y="2533950"/>
            <a:ext cx="167100" cy="9876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3"/>
          <p:cNvSpPr/>
          <p:nvPr/>
        </p:nvSpPr>
        <p:spPr>
          <a:xfrm>
            <a:off x="765146" y="2597970"/>
            <a:ext cx="350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TX Backpressure</a:t>
            </a:r>
            <a:endParaRPr b="0" i="0" sz="12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3"/>
          <p:cNvSpPr/>
          <p:nvPr/>
        </p:nvSpPr>
        <p:spPr>
          <a:xfrm>
            <a:off x="765146" y="2936300"/>
            <a:ext cx="3504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awready/wready=0 when buf_valid=1 → zero data loss, no FIFO needed.</a:t>
            </a:r>
            <a:endParaRPr b="0" i="0" sz="10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3"/>
          <p:cNvSpPr/>
          <p:nvPr/>
        </p:nvSpPr>
        <p:spPr>
          <a:xfrm>
            <a:off x="4870350" y="2533950"/>
            <a:ext cx="3788100" cy="987600"/>
          </a:xfrm>
          <a:prstGeom prst="rect">
            <a:avLst/>
          </a:prstGeom>
          <a:noFill/>
          <a:ln cap="flat" cmpd="sng" w="12700">
            <a:solidFill>
              <a:srgbClr val="1E4A8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536" name="Google Shape;536;p13"/>
          <p:cNvSpPr/>
          <p:nvPr/>
        </p:nvSpPr>
        <p:spPr>
          <a:xfrm>
            <a:off x="4870325" y="2533950"/>
            <a:ext cx="108900" cy="9876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3"/>
          <p:cNvSpPr/>
          <p:nvPr/>
        </p:nvSpPr>
        <p:spPr>
          <a:xfrm>
            <a:off x="5100582" y="2597970"/>
            <a:ext cx="350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RX Status</a:t>
            </a:r>
            <a:endParaRPr b="0" i="0" sz="12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3"/>
          <p:cNvSpPr/>
          <p:nvPr/>
        </p:nvSpPr>
        <p:spPr>
          <a:xfrm>
            <a:off x="5100582" y="2936300"/>
            <a:ext cx="3504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rx_buf_valid flag in STATUS bit[1]; cleared when RX register is read.</a:t>
            </a:r>
            <a:endParaRPr b="0" i="0" sz="10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3"/>
          <p:cNvSpPr/>
          <p:nvPr/>
        </p:nvSpPr>
        <p:spPr>
          <a:xfrm>
            <a:off x="440725" y="3704400"/>
            <a:ext cx="3882300" cy="987600"/>
          </a:xfrm>
          <a:prstGeom prst="rect">
            <a:avLst/>
          </a:prstGeom>
          <a:noFill/>
          <a:ln cap="flat" cmpd="sng" w="12700">
            <a:solidFill>
              <a:srgbClr val="1E4A8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540" name="Google Shape;540;p13"/>
          <p:cNvSpPr/>
          <p:nvPr/>
        </p:nvSpPr>
        <p:spPr>
          <a:xfrm>
            <a:off x="440725" y="3704400"/>
            <a:ext cx="167400" cy="9876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3"/>
          <p:cNvSpPr/>
          <p:nvPr/>
        </p:nvSpPr>
        <p:spPr>
          <a:xfrm>
            <a:off x="765146" y="3768407"/>
            <a:ext cx="350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Port Rename</a:t>
            </a:r>
            <a:endParaRPr b="0" i="0" sz="12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3"/>
          <p:cNvSpPr/>
          <p:nvPr/>
        </p:nvSpPr>
        <p:spPr>
          <a:xfrm>
            <a:off x="765146" y="4106737"/>
            <a:ext cx="3504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tx_out (not uart_tx) — renamed to avoid Yosys synthesis scope collision.</a:t>
            </a:r>
            <a:endParaRPr b="0" i="0" sz="10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3"/>
          <p:cNvSpPr/>
          <p:nvPr/>
        </p:nvSpPr>
        <p:spPr>
          <a:xfrm>
            <a:off x="4870350" y="3704400"/>
            <a:ext cx="3788100" cy="987600"/>
          </a:xfrm>
          <a:prstGeom prst="rect">
            <a:avLst/>
          </a:prstGeom>
          <a:noFill/>
          <a:ln cap="flat" cmpd="sng" w="12700">
            <a:solidFill>
              <a:srgbClr val="1E4A8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544" name="Google Shape;544;p13"/>
          <p:cNvSpPr/>
          <p:nvPr/>
        </p:nvSpPr>
        <p:spPr>
          <a:xfrm>
            <a:off x="4870350" y="3704400"/>
            <a:ext cx="108900" cy="9876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3"/>
          <p:cNvSpPr/>
          <p:nvPr/>
        </p:nvSpPr>
        <p:spPr>
          <a:xfrm>
            <a:off x="5100582" y="3768407"/>
            <a:ext cx="350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Lab Command</a:t>
            </a:r>
            <a:endParaRPr b="0" i="0" sz="12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3"/>
          <p:cNvSpPr/>
          <p:nvPr/>
        </p:nvSpPr>
        <p:spPr>
          <a:xfrm>
            <a:off x="5100582" y="4106737"/>
            <a:ext cx="3504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make axi_uart → byte written → UART serialised → loopback → PASS.</a:t>
            </a:r>
            <a:endParaRPr b="0" i="0" sz="10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2026-04-25T11:56:38Z</dcterms:created>
  <dc:creator>PptxGenJS</dc:creator>
</cp:coreProperties>
</file>