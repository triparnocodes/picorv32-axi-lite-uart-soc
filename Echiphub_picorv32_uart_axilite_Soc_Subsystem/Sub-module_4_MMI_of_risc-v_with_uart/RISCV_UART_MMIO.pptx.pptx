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iZRHetdboeppnhaFY/7e1awNFr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84" y="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09" name="Google Shape;109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08" name="Google Shape;208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9" name="Google Shape;209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11" name="Google Shape;211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12" name="Google Shape;212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58" name="Google Shape;258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9" name="Google Shape;259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61" name="Google Shape;261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62" name="Google Shape;262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319" name="Google Shape;319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0" name="Google Shape;320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322" name="Google Shape;322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323" name="Google Shape;323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377" name="Google Shape;377;p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8" name="Google Shape;378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380" name="Google Shape;380;p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381" name="Google Shape;381;p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420" name="Google Shape;420;p8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21" name="Google Shape;421;p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423" name="Google Shape;423;p8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424" name="Google Shape;424;p8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ac5effadd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dac5effadd_0_7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g3dac5effadd_0_7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dac5effadd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dac5effadd_0_7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g3dac5effadd_0_7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dac5effadd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dac5effadd_0_8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g3dac5effadd_0_8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60" name="Google Shape;560;p1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61" name="Google Shape;561;p1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2" name="Google Shape;562;p1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13</a:t>
            </a:r>
            <a:endParaRPr/>
          </a:p>
        </p:txBody>
      </p:sp>
      <p:sp>
        <p:nvSpPr>
          <p:cNvPr id="563" name="Google Shape;563;p1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64" name="Google Shape;564;p1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"/>
          <p:cNvGrpSpPr/>
          <p:nvPr/>
        </p:nvGrpSpPr>
        <p:grpSpPr>
          <a:xfrm>
            <a:off x="-12697" y="8216903"/>
            <a:ext cx="18313337" cy="2082736"/>
            <a:chOff x="0" y="0"/>
            <a:chExt cx="24417782" cy="2776982"/>
          </a:xfrm>
        </p:grpSpPr>
        <p:sp>
          <p:nvSpPr>
            <p:cNvPr id="93" name="Google Shape;93;p1"/>
            <p:cNvSpPr/>
            <p:nvPr/>
          </p:nvSpPr>
          <p:spPr>
            <a:xfrm>
              <a:off x="16891" y="16891"/>
              <a:ext cx="24383999" cy="2743200"/>
            </a:xfrm>
            <a:custGeom>
              <a:avLst/>
              <a:gdLst/>
              <a:ahLst/>
              <a:cxnLst/>
              <a:rect l="l" t="t" r="r" b="b"/>
              <a:pathLst>
                <a:path w="24383999" h="2743200" extrusionOk="0">
                  <a:moveTo>
                    <a:pt x="0" y="0"/>
                  </a:moveTo>
                  <a:lnTo>
                    <a:pt x="24383999" y="0"/>
                  </a:lnTo>
                  <a:lnTo>
                    <a:pt x="24383999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00B0F0">
                <a:alpha val="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0" y="0"/>
              <a:ext cx="24417782" cy="2776982"/>
            </a:xfrm>
            <a:custGeom>
              <a:avLst/>
              <a:gdLst/>
              <a:ahLst/>
              <a:cxnLst/>
              <a:rect l="l" t="t" r="r" b="b"/>
              <a:pathLst>
                <a:path w="24417782" h="2776982" extrusionOk="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760091"/>
                  </a:lnTo>
                  <a:cubicBezTo>
                    <a:pt x="24417782" y="2769489"/>
                    <a:pt x="24410163" y="2776982"/>
                    <a:pt x="24400890" y="2776982"/>
                  </a:cubicBezTo>
                  <a:lnTo>
                    <a:pt x="16891" y="2776982"/>
                  </a:lnTo>
                  <a:cubicBezTo>
                    <a:pt x="7493" y="2776982"/>
                    <a:pt x="0" y="2769362"/>
                    <a:pt x="0" y="2760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760091"/>
                  </a:lnTo>
                  <a:lnTo>
                    <a:pt x="16891" y="2760091"/>
                  </a:lnTo>
                  <a:lnTo>
                    <a:pt x="16891" y="2743200"/>
                  </a:lnTo>
                  <a:lnTo>
                    <a:pt x="24400890" y="2743200"/>
                  </a:lnTo>
                  <a:lnTo>
                    <a:pt x="24400890" y="2760091"/>
                  </a:lnTo>
                  <a:lnTo>
                    <a:pt x="24384000" y="27600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0F0">
                <a:alpha val="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1280160" y="1595438"/>
            <a:ext cx="16459200" cy="957375"/>
            <a:chOff x="0" y="-57150"/>
            <a:chExt cx="21945600" cy="1276500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300730" b="-30073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0" y="-57150"/>
              <a:ext cx="219456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3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Sub-module 4</a:t>
              </a:r>
              <a:endParaRPr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1280160" y="2306003"/>
            <a:ext cx="16459200" cy="2814750"/>
            <a:chOff x="0" y="-95250"/>
            <a:chExt cx="21945600" cy="3753000"/>
          </a:xfrm>
        </p:grpSpPr>
        <p:sp>
          <p:nvSpPr>
            <p:cNvPr id="99" name="Google Shape;99;p1"/>
            <p:cNvSpPr/>
            <p:nvPr/>
          </p:nvSpPr>
          <p:spPr>
            <a:xfrm>
              <a:off x="0" y="0"/>
              <a:ext cx="21945600" cy="3657600"/>
            </a:xfrm>
            <a:custGeom>
              <a:avLst/>
              <a:gdLst/>
              <a:ahLst/>
              <a:cxnLst/>
              <a:rect l="l" t="t" r="r" b="b"/>
              <a:pathLst>
                <a:path w="21945600" h="365760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3657600"/>
                  </a:lnTo>
                  <a:lnTo>
                    <a:pt x="0" y="36576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158768" b="-1587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0" y="-95250"/>
              <a:ext cx="21945600" cy="3753000"/>
            </a:xfrm>
            <a:prstGeom prst="rect">
              <a:avLst/>
            </a:prstGeom>
            <a:blipFill rotWithShape="1">
              <a:blip r:embed="rId4">
                <a:alphaModFix amt="0"/>
              </a:blip>
              <a:stretch>
                <a:fillRect t="-158768" b="-158768"/>
              </a:stretch>
            </a:blip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00"/>
                <a:buFont typeface="Arial"/>
                <a:buNone/>
              </a:pPr>
              <a:r>
                <a:rPr lang="en-US" sz="6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Memory-Mapped I/O</a:t>
              </a:r>
              <a:endParaRPr sz="6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6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PicoRV32 + UART SoC</a:t>
              </a:r>
              <a:endParaRPr sz="6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"/>
          <p:cNvGrpSpPr/>
          <p:nvPr/>
        </p:nvGrpSpPr>
        <p:grpSpPr>
          <a:xfrm>
            <a:off x="1280160" y="5344954"/>
            <a:ext cx="13716000" cy="1330200"/>
            <a:chOff x="0" y="-66675"/>
            <a:chExt cx="18288000" cy="1773600"/>
          </a:xfrm>
        </p:grpSpPr>
        <p:sp>
          <p:nvSpPr>
            <p:cNvPr id="102" name="Google Shape;102;p1"/>
            <p:cNvSpPr/>
            <p:nvPr/>
          </p:nvSpPr>
          <p:spPr>
            <a:xfrm>
              <a:off x="0" y="0"/>
              <a:ext cx="18288000" cy="1706880"/>
            </a:xfrm>
            <a:custGeom>
              <a:avLst/>
              <a:gdLst/>
              <a:ahLst/>
              <a:cxnLst/>
              <a:rect l="l" t="t" r="r" b="b"/>
              <a:pathLst>
                <a:path w="18288000" h="1706880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58768" b="-1587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"/>
            <p:cNvSpPr txBox="1"/>
            <p:nvPr/>
          </p:nvSpPr>
          <p:spPr>
            <a:xfrm>
              <a:off x="0" y="-66675"/>
              <a:ext cx="18288000" cy="177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3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How a RISC-V core talks to a UART through memory-mapped I/O</a:t>
              </a:r>
              <a:endPara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3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Covers hardware architecture, bus transactions, and firmware</a:t>
              </a:r>
              <a:endPara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1"/>
          <p:cNvGrpSpPr/>
          <p:nvPr/>
        </p:nvGrpSpPr>
        <p:grpSpPr>
          <a:xfrm>
            <a:off x="1280160" y="8383905"/>
            <a:ext cx="16459200" cy="942975"/>
            <a:chOff x="0" y="-38100"/>
            <a:chExt cx="21945600" cy="1257300"/>
          </a:xfrm>
        </p:grpSpPr>
        <p:sp>
          <p:nvSpPr>
            <p:cNvPr id="105" name="Google Shape;105;p1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300730" b="-30073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0" y="-38100"/>
              <a:ext cx="21945600" cy="125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From MMIO concept → bus protocol → register map → C firmware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/>
        </p:nvSpPr>
        <p:spPr>
          <a:xfrm>
            <a:off x="548638" y="1144950"/>
            <a:ext cx="16459200" cy="1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lang="en-US" sz="5599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What We'll Cover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548638" y="2433115"/>
            <a:ext cx="8412480" cy="1316736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2"/>
          <p:cNvGrpSpPr/>
          <p:nvPr/>
        </p:nvGrpSpPr>
        <p:grpSpPr>
          <a:xfrm>
            <a:off x="768094" y="2616852"/>
            <a:ext cx="768150" cy="913543"/>
            <a:chOff x="0" y="-47625"/>
            <a:chExt cx="1024200" cy="1218057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96642" r="-9663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1596645" y="2603298"/>
            <a:ext cx="61913" cy="976312"/>
            <a:chOff x="0" y="0"/>
            <a:chExt cx="82550" cy="1301750"/>
          </a:xfrm>
        </p:grpSpPr>
        <p:sp>
          <p:nvSpPr>
            <p:cNvPr id="121" name="Google Shape;121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2"/>
          <p:cNvSpPr/>
          <p:nvPr/>
        </p:nvSpPr>
        <p:spPr>
          <a:xfrm>
            <a:off x="548638" y="3987595"/>
            <a:ext cx="8412480" cy="1316736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" name="Google Shape;124;p2"/>
          <p:cNvGrpSpPr/>
          <p:nvPr/>
        </p:nvGrpSpPr>
        <p:grpSpPr>
          <a:xfrm>
            <a:off x="768094" y="4171332"/>
            <a:ext cx="768150" cy="913543"/>
            <a:chOff x="0" y="-47625"/>
            <a:chExt cx="1024200" cy="1218057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96642" r="-9663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865375" y="2603274"/>
            <a:ext cx="6583725" cy="976340"/>
            <a:chOff x="0" y="-38100"/>
            <a:chExt cx="8778300" cy="769620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What is MMIO?</a:t>
              </a:r>
              <a:endParaRPr sz="24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1596645" y="4157778"/>
            <a:ext cx="61913" cy="976313"/>
            <a:chOff x="0" y="0"/>
            <a:chExt cx="82550" cy="1301750"/>
          </a:xfrm>
        </p:grpSpPr>
        <p:sp>
          <p:nvSpPr>
            <p:cNvPr id="131" name="Google Shape;131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1865375" y="4157778"/>
            <a:ext cx="6583725" cy="976263"/>
            <a:chOff x="0" y="-38100"/>
            <a:chExt cx="8778300" cy="769620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PicoRV32 SoC - Complete Memory Map</a:t>
              </a:r>
              <a:endParaRPr sz="24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548638" y="5542075"/>
            <a:ext cx="8412480" cy="1316736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2"/>
          <p:cNvGrpSpPr/>
          <p:nvPr/>
        </p:nvGrpSpPr>
        <p:grpSpPr>
          <a:xfrm>
            <a:off x="768094" y="5725812"/>
            <a:ext cx="768150" cy="913543"/>
            <a:chOff x="0" y="-47625"/>
            <a:chExt cx="1024200" cy="1218057"/>
          </a:xfrm>
        </p:grpSpPr>
        <p:sp>
          <p:nvSpPr>
            <p:cNvPr id="138" name="Google Shape;138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2"/>
          <p:cNvGrpSpPr/>
          <p:nvPr/>
        </p:nvGrpSpPr>
        <p:grpSpPr>
          <a:xfrm>
            <a:off x="1596645" y="5712258"/>
            <a:ext cx="61913" cy="976313"/>
            <a:chOff x="0" y="0"/>
            <a:chExt cx="82550" cy="1301750"/>
          </a:xfrm>
        </p:grpSpPr>
        <p:sp>
          <p:nvSpPr>
            <p:cNvPr id="141" name="Google Shape;141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2"/>
          <p:cNvGrpSpPr/>
          <p:nvPr/>
        </p:nvGrpSpPr>
        <p:grpSpPr>
          <a:xfrm>
            <a:off x="1865375" y="5725800"/>
            <a:ext cx="6583725" cy="913539"/>
            <a:chOff x="0" y="-38100"/>
            <a:chExt cx="8778300" cy="769620"/>
          </a:xfrm>
        </p:grpSpPr>
        <p:sp>
          <p:nvSpPr>
            <p:cNvPr id="144" name="Google Shape;144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AXI Decode Address</a:t>
              </a:r>
              <a:endParaRPr sz="24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2"/>
          <p:cNvSpPr/>
          <p:nvPr/>
        </p:nvSpPr>
        <p:spPr>
          <a:xfrm>
            <a:off x="548638" y="7096555"/>
            <a:ext cx="8412480" cy="1316736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" name="Google Shape;147;p2"/>
          <p:cNvGrpSpPr/>
          <p:nvPr/>
        </p:nvGrpSpPr>
        <p:grpSpPr>
          <a:xfrm>
            <a:off x="768094" y="7280292"/>
            <a:ext cx="768150" cy="913543"/>
            <a:chOff x="0" y="-47625"/>
            <a:chExt cx="1024200" cy="1218057"/>
          </a:xfrm>
        </p:grpSpPr>
        <p:sp>
          <p:nvSpPr>
            <p:cNvPr id="148" name="Google Shape;148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" name="Google Shape;150;p2"/>
          <p:cNvGrpSpPr/>
          <p:nvPr/>
        </p:nvGrpSpPr>
        <p:grpSpPr>
          <a:xfrm>
            <a:off x="1596645" y="7266738"/>
            <a:ext cx="61913" cy="976313"/>
            <a:chOff x="0" y="0"/>
            <a:chExt cx="82550" cy="1301750"/>
          </a:xfrm>
        </p:grpSpPr>
        <p:sp>
          <p:nvSpPr>
            <p:cNvPr id="151" name="Google Shape;151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2"/>
          <p:cNvGrpSpPr/>
          <p:nvPr/>
        </p:nvGrpSpPr>
        <p:grpSpPr>
          <a:xfrm>
            <a:off x="1865375" y="7280296"/>
            <a:ext cx="6583725" cy="913539"/>
            <a:chOff x="0" y="-38100"/>
            <a:chExt cx="8778300" cy="769620"/>
          </a:xfrm>
        </p:grpSpPr>
        <p:sp>
          <p:nvSpPr>
            <p:cNvPr id="154" name="Google Shape;154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Block Diagram: AXI→Decoder→UART</a:t>
              </a:r>
              <a:endParaRPr sz="24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2"/>
          <p:cNvSpPr/>
          <p:nvPr/>
        </p:nvSpPr>
        <p:spPr>
          <a:xfrm>
            <a:off x="548638" y="8651035"/>
            <a:ext cx="8412480" cy="1316736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2"/>
          <p:cNvGrpSpPr/>
          <p:nvPr/>
        </p:nvGrpSpPr>
        <p:grpSpPr>
          <a:xfrm>
            <a:off x="768094" y="8834772"/>
            <a:ext cx="768150" cy="913543"/>
            <a:chOff x="0" y="-47625"/>
            <a:chExt cx="1024200" cy="1218057"/>
          </a:xfrm>
        </p:grpSpPr>
        <p:sp>
          <p:nvSpPr>
            <p:cNvPr id="158" name="Google Shape;158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2"/>
          <p:cNvGrpSpPr/>
          <p:nvPr/>
        </p:nvGrpSpPr>
        <p:grpSpPr>
          <a:xfrm>
            <a:off x="1596645" y="8821218"/>
            <a:ext cx="61913" cy="976313"/>
            <a:chOff x="0" y="0"/>
            <a:chExt cx="82550" cy="1301750"/>
          </a:xfrm>
        </p:grpSpPr>
        <p:sp>
          <p:nvSpPr>
            <p:cNvPr id="161" name="Google Shape;161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2"/>
          <p:cNvGrpSpPr/>
          <p:nvPr/>
        </p:nvGrpSpPr>
        <p:grpSpPr>
          <a:xfrm>
            <a:off x="1865375" y="8834780"/>
            <a:ext cx="6583725" cy="913539"/>
            <a:chOff x="0" y="-38100"/>
            <a:chExt cx="8778300" cy="769620"/>
          </a:xfrm>
        </p:grpSpPr>
        <p:sp>
          <p:nvSpPr>
            <p:cNvPr id="164" name="Google Shape;164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Firmware UART Driver — fw/main.c</a:t>
              </a:r>
              <a:endParaRPr sz="24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2"/>
          <p:cNvSpPr/>
          <p:nvPr/>
        </p:nvSpPr>
        <p:spPr>
          <a:xfrm>
            <a:off x="9326877" y="2433115"/>
            <a:ext cx="8412480" cy="1316736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" name="Google Shape;167;p2"/>
          <p:cNvGrpSpPr/>
          <p:nvPr/>
        </p:nvGrpSpPr>
        <p:grpSpPr>
          <a:xfrm>
            <a:off x="9546334" y="2616852"/>
            <a:ext cx="768150" cy="913543"/>
            <a:chOff x="0" y="-47625"/>
            <a:chExt cx="1024200" cy="1218057"/>
          </a:xfrm>
        </p:grpSpPr>
        <p:sp>
          <p:nvSpPr>
            <p:cNvPr id="168" name="Google Shape;168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96642" r="-9663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" name="Google Shape;170;p2"/>
          <p:cNvGrpSpPr/>
          <p:nvPr/>
        </p:nvGrpSpPr>
        <p:grpSpPr>
          <a:xfrm>
            <a:off x="10374885" y="2603298"/>
            <a:ext cx="61913" cy="976312"/>
            <a:chOff x="0" y="0"/>
            <a:chExt cx="82550" cy="1301750"/>
          </a:xfrm>
        </p:grpSpPr>
        <p:sp>
          <p:nvSpPr>
            <p:cNvPr id="171" name="Google Shape;171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2"/>
          <p:cNvGrpSpPr/>
          <p:nvPr/>
        </p:nvGrpSpPr>
        <p:grpSpPr>
          <a:xfrm>
            <a:off x="10643625" y="2603277"/>
            <a:ext cx="6583725" cy="913539"/>
            <a:chOff x="0" y="-38100"/>
            <a:chExt cx="8778300" cy="769620"/>
          </a:xfrm>
        </p:grpSpPr>
        <p:sp>
          <p:nvSpPr>
            <p:cNvPr id="174" name="Google Shape;174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MMIO Write Path: uart_putc(‘H’) Full Trace</a:t>
              </a:r>
              <a:endParaRPr sz="24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2"/>
          <p:cNvSpPr/>
          <p:nvPr/>
        </p:nvSpPr>
        <p:spPr>
          <a:xfrm>
            <a:off x="9326877" y="3987595"/>
            <a:ext cx="8412480" cy="1316736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2"/>
          <p:cNvGrpSpPr/>
          <p:nvPr/>
        </p:nvGrpSpPr>
        <p:grpSpPr>
          <a:xfrm>
            <a:off x="9546334" y="4171332"/>
            <a:ext cx="768150" cy="913543"/>
            <a:chOff x="0" y="-47625"/>
            <a:chExt cx="1024200" cy="1218057"/>
          </a:xfrm>
        </p:grpSpPr>
        <p:sp>
          <p:nvSpPr>
            <p:cNvPr id="178" name="Google Shape;178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" name="Google Shape;180;p2"/>
          <p:cNvGrpSpPr/>
          <p:nvPr/>
        </p:nvGrpSpPr>
        <p:grpSpPr>
          <a:xfrm>
            <a:off x="10374885" y="4157778"/>
            <a:ext cx="61913" cy="976313"/>
            <a:chOff x="0" y="0"/>
            <a:chExt cx="82550" cy="1301750"/>
          </a:xfrm>
        </p:grpSpPr>
        <p:sp>
          <p:nvSpPr>
            <p:cNvPr id="181" name="Google Shape;181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" name="Google Shape;183;p2"/>
          <p:cNvGrpSpPr/>
          <p:nvPr/>
        </p:nvGrpSpPr>
        <p:grpSpPr>
          <a:xfrm>
            <a:off x="10643625" y="4171327"/>
            <a:ext cx="6583725" cy="913539"/>
            <a:chOff x="0" y="-38100"/>
            <a:chExt cx="8778300" cy="769620"/>
          </a:xfrm>
        </p:grpSpPr>
        <p:sp>
          <p:nvSpPr>
            <p:cNvPr id="184" name="Google Shape;184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None/>
              </a:pPr>
              <a:r>
                <a:rPr lang="en-US" sz="24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Lab: make soc_pico_uart_mem</a:t>
              </a:r>
              <a:endParaRPr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2"/>
          <p:cNvSpPr/>
          <p:nvPr/>
        </p:nvSpPr>
        <p:spPr>
          <a:xfrm>
            <a:off x="9326877" y="5542075"/>
            <a:ext cx="8412480" cy="1316736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7" name="Google Shape;187;p2"/>
          <p:cNvGrpSpPr/>
          <p:nvPr/>
        </p:nvGrpSpPr>
        <p:grpSpPr>
          <a:xfrm>
            <a:off x="9546334" y="5725812"/>
            <a:ext cx="768150" cy="913543"/>
            <a:chOff x="0" y="-47625"/>
            <a:chExt cx="1024200" cy="1218057"/>
          </a:xfrm>
        </p:grpSpPr>
        <p:sp>
          <p:nvSpPr>
            <p:cNvPr id="188" name="Google Shape;188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2"/>
          <p:cNvGrpSpPr/>
          <p:nvPr/>
        </p:nvGrpSpPr>
        <p:grpSpPr>
          <a:xfrm>
            <a:off x="10374885" y="5712258"/>
            <a:ext cx="61913" cy="976313"/>
            <a:chOff x="0" y="0"/>
            <a:chExt cx="82550" cy="1301750"/>
          </a:xfrm>
        </p:grpSpPr>
        <p:sp>
          <p:nvSpPr>
            <p:cNvPr id="191" name="Google Shape;191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" name="Google Shape;193;p2"/>
          <p:cNvGrpSpPr/>
          <p:nvPr/>
        </p:nvGrpSpPr>
        <p:grpSpPr>
          <a:xfrm>
            <a:off x="10643625" y="5725801"/>
            <a:ext cx="6583725" cy="913539"/>
            <a:chOff x="0" y="-38100"/>
            <a:chExt cx="8778300" cy="769620"/>
          </a:xfrm>
        </p:grpSpPr>
        <p:sp>
          <p:nvSpPr>
            <p:cNvPr id="194" name="Google Shape;194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Design Rules </a:t>
              </a:r>
              <a:endParaRPr sz="24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2"/>
          <p:cNvSpPr/>
          <p:nvPr/>
        </p:nvSpPr>
        <p:spPr>
          <a:xfrm>
            <a:off x="9326877" y="7096555"/>
            <a:ext cx="8412480" cy="1316736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7" name="Google Shape;197;p2"/>
          <p:cNvGrpSpPr/>
          <p:nvPr/>
        </p:nvGrpSpPr>
        <p:grpSpPr>
          <a:xfrm>
            <a:off x="9546334" y="7280292"/>
            <a:ext cx="768150" cy="913543"/>
            <a:chOff x="0" y="-47625"/>
            <a:chExt cx="1024200" cy="1218057"/>
          </a:xfrm>
        </p:grpSpPr>
        <p:sp>
          <p:nvSpPr>
            <p:cNvPr id="198" name="Google Shape;198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" name="Google Shape;200;p2"/>
          <p:cNvGrpSpPr/>
          <p:nvPr/>
        </p:nvGrpSpPr>
        <p:grpSpPr>
          <a:xfrm>
            <a:off x="10374885" y="7266738"/>
            <a:ext cx="61913" cy="976313"/>
            <a:chOff x="0" y="0"/>
            <a:chExt cx="82550" cy="1301750"/>
          </a:xfrm>
        </p:grpSpPr>
        <p:sp>
          <p:nvSpPr>
            <p:cNvPr id="201" name="Google Shape;201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2"/>
          <p:cNvGrpSpPr/>
          <p:nvPr/>
        </p:nvGrpSpPr>
        <p:grpSpPr>
          <a:xfrm>
            <a:off x="10643625" y="7280275"/>
            <a:ext cx="6583725" cy="913490"/>
            <a:chOff x="0" y="0"/>
            <a:chExt cx="8778300" cy="1341001"/>
          </a:xfrm>
        </p:grpSpPr>
        <p:sp>
          <p:nvSpPr>
            <p:cNvPr id="204" name="Google Shape;204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"/>
            <p:cNvSpPr txBox="1"/>
            <p:nvPr/>
          </p:nvSpPr>
          <p:spPr>
            <a:xfrm>
              <a:off x="0" y="1"/>
              <a:ext cx="8778300" cy="134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Summary </a:t>
              </a:r>
              <a:endParaRPr sz="24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3"/>
          <p:cNvGrpSpPr/>
          <p:nvPr/>
        </p:nvGrpSpPr>
        <p:grpSpPr>
          <a:xfrm>
            <a:off x="914425" y="1330773"/>
            <a:ext cx="16459200" cy="1288732"/>
            <a:chOff x="0" y="-133350"/>
            <a:chExt cx="21945600" cy="1718310"/>
          </a:xfrm>
        </p:grpSpPr>
        <p:sp>
          <p:nvSpPr>
            <p:cNvPr id="215" name="Google Shape;215;p3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19804" b="-219804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6" name="Google Shape;216;p3"/>
            <p:cNvSpPr txBox="1"/>
            <p:nvPr/>
          </p:nvSpPr>
          <p:spPr>
            <a:xfrm>
              <a:off x="0" y="-133350"/>
              <a:ext cx="21945600" cy="17183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lang="en-US" sz="6800" b="1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What is Memory-Mapped I/O?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" name="Google Shape;217;p3"/>
          <p:cNvGrpSpPr/>
          <p:nvPr/>
        </p:nvGrpSpPr>
        <p:grpSpPr>
          <a:xfrm>
            <a:off x="901728" y="2734824"/>
            <a:ext cx="16484537" cy="1762697"/>
            <a:chOff x="0" y="0"/>
            <a:chExt cx="21979382" cy="2350262"/>
          </a:xfrm>
        </p:grpSpPr>
        <p:sp>
          <p:nvSpPr>
            <p:cNvPr id="218" name="Google Shape;218;p3"/>
            <p:cNvSpPr/>
            <p:nvPr/>
          </p:nvSpPr>
          <p:spPr>
            <a:xfrm>
              <a:off x="16891" y="16891"/>
              <a:ext cx="21945599" cy="2316480"/>
            </a:xfrm>
            <a:custGeom>
              <a:avLst/>
              <a:gdLst/>
              <a:ahLst/>
              <a:cxnLst/>
              <a:rect l="l" t="t" r="r" b="b"/>
              <a:pathLst>
                <a:path w="21945599" h="2316480" extrusionOk="0">
                  <a:moveTo>
                    <a:pt x="0" y="0"/>
                  </a:moveTo>
                  <a:lnTo>
                    <a:pt x="21945599" y="0"/>
                  </a:lnTo>
                  <a:lnTo>
                    <a:pt x="21945599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D6EAF8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0" y="0"/>
              <a:ext cx="21979382" cy="2350262"/>
            </a:xfrm>
            <a:custGeom>
              <a:avLst/>
              <a:gdLst/>
              <a:ahLst/>
              <a:cxnLst/>
              <a:rect l="l" t="t" r="r" b="b"/>
              <a:pathLst>
                <a:path w="21979382" h="2350262" extrusionOk="0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2333371"/>
                  </a:lnTo>
                  <a:cubicBezTo>
                    <a:pt x="21979382" y="2342769"/>
                    <a:pt x="21971763" y="2350262"/>
                    <a:pt x="21962490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21962490" y="2316480"/>
                  </a:lnTo>
                  <a:lnTo>
                    <a:pt x="21962490" y="2333371"/>
                  </a:lnTo>
                  <a:lnTo>
                    <a:pt x="21945600" y="233337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9CC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" name="Google Shape;220;p3"/>
          <p:cNvGrpSpPr/>
          <p:nvPr/>
        </p:nvGrpSpPr>
        <p:grpSpPr>
          <a:xfrm>
            <a:off x="1243609" y="2759523"/>
            <a:ext cx="2377440" cy="628079"/>
            <a:chOff x="0" y="-57150"/>
            <a:chExt cx="3169920" cy="837438"/>
          </a:xfrm>
        </p:grpSpPr>
        <p:sp>
          <p:nvSpPr>
            <p:cNvPr id="221" name="Google Shape;221;p3"/>
            <p:cNvSpPr/>
            <p:nvPr/>
          </p:nvSpPr>
          <p:spPr>
            <a:xfrm>
              <a:off x="0" y="0"/>
              <a:ext cx="3169920" cy="780288"/>
            </a:xfrm>
            <a:custGeom>
              <a:avLst/>
              <a:gdLst/>
              <a:ahLst/>
              <a:cxnLst/>
              <a:rect l="l" t="t" r="r" b="b"/>
              <a:pathLst>
                <a:path w="3169920" h="780288" extrusionOk="0">
                  <a:moveTo>
                    <a:pt x="0" y="0"/>
                  </a:moveTo>
                  <a:lnTo>
                    <a:pt x="3169920" y="0"/>
                  </a:lnTo>
                  <a:lnTo>
                    <a:pt x="3169920" y="780288"/>
                  </a:lnTo>
                  <a:lnTo>
                    <a:pt x="0" y="7802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9157" b="-29157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2" name="Google Shape;222;p3"/>
            <p:cNvSpPr txBox="1"/>
            <p:nvPr/>
          </p:nvSpPr>
          <p:spPr>
            <a:xfrm>
              <a:off x="0" y="-57150"/>
              <a:ext cx="3169920" cy="837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1" i="0" u="none" strike="noStrike" cap="none">
                  <a:solidFill>
                    <a:srgbClr val="1E4D8C"/>
                  </a:solidFill>
                  <a:latin typeface="Calibri"/>
                  <a:ea typeface="Calibri"/>
                  <a:cs typeface="Calibri"/>
                  <a:sym typeface="Calibri"/>
                </a:rPr>
                <a:t>Analogy: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3"/>
          <p:cNvGrpSpPr/>
          <p:nvPr/>
        </p:nvGrpSpPr>
        <p:grpSpPr>
          <a:xfrm>
            <a:off x="1243609" y="3260442"/>
            <a:ext cx="15727680" cy="1132999"/>
            <a:chOff x="0" y="-47625"/>
            <a:chExt cx="20970240" cy="1510665"/>
          </a:xfrm>
        </p:grpSpPr>
        <p:sp>
          <p:nvSpPr>
            <p:cNvPr id="224" name="Google Shape;224;p3"/>
            <p:cNvSpPr/>
            <p:nvPr/>
          </p:nvSpPr>
          <p:spPr>
            <a:xfrm>
              <a:off x="0" y="0"/>
              <a:ext cx="20970239" cy="1463040"/>
            </a:xfrm>
            <a:custGeom>
              <a:avLst/>
              <a:gdLst/>
              <a:ahLst/>
              <a:cxnLst/>
              <a:rect l="l" t="t" r="r" b="b"/>
              <a:pathLst>
                <a:path w="20970239" h="1463040" extrusionOk="0">
                  <a:moveTo>
                    <a:pt x="0" y="0"/>
                  </a:moveTo>
                  <a:lnTo>
                    <a:pt x="20970239" y="0"/>
                  </a:lnTo>
                  <a:lnTo>
                    <a:pt x="20970239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29298" b="-229298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" name="Google Shape;225;p3"/>
            <p:cNvSpPr txBox="1"/>
            <p:nvPr/>
          </p:nvSpPr>
          <p:spPr>
            <a:xfrm>
              <a:off x="0" y="-47625"/>
              <a:ext cx="20970240" cy="1510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lang="en-US" sz="2499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RISC-V has no special IN/OUT instructions. Every peripheral — including UART — sits at a fixed physical address. The CPU uses ordinary lw / sw instructions; the interconnect routes the access to the right device.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3"/>
          <p:cNvGrpSpPr/>
          <p:nvPr/>
        </p:nvGrpSpPr>
        <p:grpSpPr>
          <a:xfrm>
            <a:off x="901728" y="4801368"/>
            <a:ext cx="5237417" cy="756858"/>
            <a:chOff x="0" y="0"/>
            <a:chExt cx="6983222" cy="1009144"/>
          </a:xfrm>
        </p:grpSpPr>
        <p:sp>
          <p:nvSpPr>
            <p:cNvPr id="227" name="Google Shape;227;p3"/>
            <p:cNvSpPr/>
            <p:nvPr/>
          </p:nvSpPr>
          <p:spPr>
            <a:xfrm>
              <a:off x="16891" y="16891"/>
              <a:ext cx="6949440" cy="975360"/>
            </a:xfrm>
            <a:custGeom>
              <a:avLst/>
              <a:gdLst/>
              <a:ahLst/>
              <a:cxnLst/>
              <a:rect l="l" t="t" r="r" b="b"/>
              <a:pathLst>
                <a:path w="6949440" h="975360" extrusionOk="0">
                  <a:moveTo>
                    <a:pt x="0" y="0"/>
                  </a:moveTo>
                  <a:lnTo>
                    <a:pt x="6949440" y="0"/>
                  </a:lnTo>
                  <a:lnTo>
                    <a:pt x="694944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E88E5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0" y="0"/>
              <a:ext cx="6983222" cy="1009144"/>
            </a:xfrm>
            <a:custGeom>
              <a:avLst/>
              <a:gdLst/>
              <a:ahLst/>
              <a:cxnLst/>
              <a:rect l="l" t="t" r="r" b="b"/>
              <a:pathLst>
                <a:path w="6983222" h="1009144" extrusionOk="0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992251"/>
                  </a:lnTo>
                  <a:cubicBezTo>
                    <a:pt x="6983222" y="1001649"/>
                    <a:pt x="6975602" y="1009142"/>
                    <a:pt x="696633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6966331" y="975360"/>
                  </a:lnTo>
                  <a:lnTo>
                    <a:pt x="6966331" y="992251"/>
                  </a:lnTo>
                  <a:lnTo>
                    <a:pt x="6949440" y="992251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8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3"/>
          <p:cNvGrpSpPr/>
          <p:nvPr/>
        </p:nvGrpSpPr>
        <p:grpSpPr>
          <a:xfrm>
            <a:off x="1133881" y="4771202"/>
            <a:ext cx="4937760" cy="774383"/>
            <a:chOff x="0" y="-57150"/>
            <a:chExt cx="6583680" cy="1032510"/>
          </a:xfrm>
        </p:grpSpPr>
        <p:sp>
          <p:nvSpPr>
            <p:cNvPr id="230" name="Google Shape;230;p3"/>
            <p:cNvSpPr/>
            <p:nvPr/>
          </p:nvSpPr>
          <p:spPr>
            <a:xfrm>
              <a:off x="0" y="0"/>
              <a:ext cx="6583680" cy="975360"/>
            </a:xfrm>
            <a:custGeom>
              <a:avLst/>
              <a:gdLst/>
              <a:ahLst/>
              <a:cxnLst/>
              <a:rect l="l" t="t" r="r" b="b"/>
              <a:pathLst>
                <a:path w="6583680" h="97536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81524" b="-81524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1" name="Google Shape;231;p3"/>
            <p:cNvSpPr txBox="1"/>
            <p:nvPr/>
          </p:nvSpPr>
          <p:spPr>
            <a:xfrm>
              <a:off x="0" y="-57150"/>
              <a:ext cx="6583680" cy="10325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What MMIO Defines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3"/>
          <p:cNvGrpSpPr/>
          <p:nvPr/>
        </p:nvGrpSpPr>
        <p:grpSpPr>
          <a:xfrm>
            <a:off x="901728" y="5532888"/>
            <a:ext cx="5237417" cy="4048697"/>
            <a:chOff x="0" y="0"/>
            <a:chExt cx="6983222" cy="5398262"/>
          </a:xfrm>
        </p:grpSpPr>
        <p:sp>
          <p:nvSpPr>
            <p:cNvPr id="233" name="Google Shape;233;p3"/>
            <p:cNvSpPr/>
            <p:nvPr/>
          </p:nvSpPr>
          <p:spPr>
            <a:xfrm>
              <a:off x="16891" y="16891"/>
              <a:ext cx="6949440" cy="5364480"/>
            </a:xfrm>
            <a:custGeom>
              <a:avLst/>
              <a:gdLst/>
              <a:ahLst/>
              <a:cxnLst/>
              <a:rect l="l" t="t" r="r" b="b"/>
              <a:pathLst>
                <a:path w="6949440" h="5364480" extrusionOk="0">
                  <a:moveTo>
                    <a:pt x="0" y="0"/>
                  </a:moveTo>
                  <a:lnTo>
                    <a:pt x="6949440" y="0"/>
                  </a:lnTo>
                  <a:lnTo>
                    <a:pt x="694944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EBEBEB">
                <a:alpha val="52156"/>
              </a:srgb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0" y="0"/>
              <a:ext cx="6983222" cy="5398262"/>
            </a:xfrm>
            <a:custGeom>
              <a:avLst/>
              <a:gdLst/>
              <a:ahLst/>
              <a:cxnLst/>
              <a:rect l="l" t="t" r="r" b="b"/>
              <a:pathLst>
                <a:path w="6983222" h="5398262" extrusionOk="0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5381371"/>
                  </a:lnTo>
                  <a:cubicBezTo>
                    <a:pt x="6983222" y="5390769"/>
                    <a:pt x="6975602" y="5398262"/>
                    <a:pt x="6966331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6966331" y="5364480"/>
                  </a:lnTo>
                  <a:lnTo>
                    <a:pt x="6966331" y="5381371"/>
                  </a:lnTo>
                  <a:lnTo>
                    <a:pt x="6949440" y="5381371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BEBEB">
                <a:alpha val="5215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5" name="Google Shape;235;p3"/>
          <p:cNvSpPr txBox="1"/>
          <p:nvPr/>
        </p:nvSpPr>
        <p:spPr>
          <a:xfrm>
            <a:off x="1133881" y="5544061"/>
            <a:ext cx="4846200" cy="25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9120" marR="0" lvl="1" indent="-28956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Fixed physical address per peripheral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9120" marR="0" lvl="1" indent="-28956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Normal load/store = device access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9120" marR="0" lvl="1" indent="-28956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special I/O instructions needed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9120" marR="0" lvl="1" indent="-28956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Address bus decoded by interconnect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3"/>
          <p:cNvGrpSpPr/>
          <p:nvPr/>
        </p:nvGrpSpPr>
        <p:grpSpPr>
          <a:xfrm>
            <a:off x="6516144" y="4801368"/>
            <a:ext cx="5237417" cy="756858"/>
            <a:chOff x="0" y="0"/>
            <a:chExt cx="6983222" cy="1009144"/>
          </a:xfrm>
        </p:grpSpPr>
        <p:sp>
          <p:nvSpPr>
            <p:cNvPr id="237" name="Google Shape;237;p3"/>
            <p:cNvSpPr/>
            <p:nvPr/>
          </p:nvSpPr>
          <p:spPr>
            <a:xfrm>
              <a:off x="16891" y="16891"/>
              <a:ext cx="6949440" cy="975360"/>
            </a:xfrm>
            <a:custGeom>
              <a:avLst/>
              <a:gdLst/>
              <a:ahLst/>
              <a:cxnLst/>
              <a:rect l="l" t="t" r="r" b="b"/>
              <a:pathLst>
                <a:path w="6949440" h="975360" extrusionOk="0">
                  <a:moveTo>
                    <a:pt x="0" y="0"/>
                  </a:moveTo>
                  <a:lnTo>
                    <a:pt x="6949440" y="0"/>
                  </a:lnTo>
                  <a:lnTo>
                    <a:pt x="694944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0B4D8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0" y="0"/>
              <a:ext cx="6983222" cy="1009144"/>
            </a:xfrm>
            <a:custGeom>
              <a:avLst/>
              <a:gdLst/>
              <a:ahLst/>
              <a:cxnLst/>
              <a:rect l="l" t="t" r="r" b="b"/>
              <a:pathLst>
                <a:path w="6983222" h="1009144" extrusionOk="0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992251"/>
                  </a:lnTo>
                  <a:cubicBezTo>
                    <a:pt x="6983222" y="1001649"/>
                    <a:pt x="6975602" y="1009142"/>
                    <a:pt x="696633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6966331" y="975360"/>
                  </a:lnTo>
                  <a:lnTo>
                    <a:pt x="6966331" y="992251"/>
                  </a:lnTo>
                  <a:lnTo>
                    <a:pt x="6949440" y="992251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3"/>
          <p:cNvGrpSpPr/>
          <p:nvPr/>
        </p:nvGrpSpPr>
        <p:grpSpPr>
          <a:xfrm>
            <a:off x="6748297" y="4771202"/>
            <a:ext cx="4937760" cy="774383"/>
            <a:chOff x="0" y="-57150"/>
            <a:chExt cx="6583680" cy="1032510"/>
          </a:xfrm>
        </p:grpSpPr>
        <p:sp>
          <p:nvSpPr>
            <p:cNvPr id="240" name="Google Shape;240;p3"/>
            <p:cNvSpPr/>
            <p:nvPr/>
          </p:nvSpPr>
          <p:spPr>
            <a:xfrm>
              <a:off x="0" y="0"/>
              <a:ext cx="6583680" cy="975360"/>
            </a:xfrm>
            <a:custGeom>
              <a:avLst/>
              <a:gdLst/>
              <a:ahLst/>
              <a:cxnLst/>
              <a:rect l="l" t="t" r="r" b="b"/>
              <a:pathLst>
                <a:path w="6583680" h="97536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81524" b="-81524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1" name="Google Shape;241;p3"/>
            <p:cNvSpPr txBox="1"/>
            <p:nvPr/>
          </p:nvSpPr>
          <p:spPr>
            <a:xfrm>
              <a:off x="0" y="-57150"/>
              <a:ext cx="6583680" cy="10325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Why It Matters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" name="Google Shape;242;p3"/>
          <p:cNvGrpSpPr/>
          <p:nvPr/>
        </p:nvGrpSpPr>
        <p:grpSpPr>
          <a:xfrm>
            <a:off x="6516144" y="5532888"/>
            <a:ext cx="5237417" cy="4048697"/>
            <a:chOff x="0" y="0"/>
            <a:chExt cx="6983222" cy="5398262"/>
          </a:xfrm>
        </p:grpSpPr>
        <p:sp>
          <p:nvSpPr>
            <p:cNvPr id="243" name="Google Shape;243;p3"/>
            <p:cNvSpPr/>
            <p:nvPr/>
          </p:nvSpPr>
          <p:spPr>
            <a:xfrm>
              <a:off x="16891" y="16891"/>
              <a:ext cx="6949440" cy="5364480"/>
            </a:xfrm>
            <a:custGeom>
              <a:avLst/>
              <a:gdLst/>
              <a:ahLst/>
              <a:cxnLst/>
              <a:rect l="l" t="t" r="r" b="b"/>
              <a:pathLst>
                <a:path w="6949440" h="5364480" extrusionOk="0">
                  <a:moveTo>
                    <a:pt x="0" y="0"/>
                  </a:moveTo>
                  <a:lnTo>
                    <a:pt x="6949440" y="0"/>
                  </a:lnTo>
                  <a:lnTo>
                    <a:pt x="694944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EBEBEB">
                <a:alpha val="52156"/>
              </a:srgb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0" y="0"/>
              <a:ext cx="6983222" cy="5398262"/>
            </a:xfrm>
            <a:custGeom>
              <a:avLst/>
              <a:gdLst/>
              <a:ahLst/>
              <a:cxnLst/>
              <a:rect l="l" t="t" r="r" b="b"/>
              <a:pathLst>
                <a:path w="6983222" h="5398262" extrusionOk="0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5381371"/>
                  </a:lnTo>
                  <a:cubicBezTo>
                    <a:pt x="6983222" y="5390769"/>
                    <a:pt x="6975602" y="5398262"/>
                    <a:pt x="6966331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6966331" y="5364480"/>
                  </a:lnTo>
                  <a:lnTo>
                    <a:pt x="6966331" y="5381371"/>
                  </a:lnTo>
                  <a:lnTo>
                    <a:pt x="6949440" y="5381371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BEBEB">
                <a:alpha val="5215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5" name="Google Shape;245;p3"/>
          <p:cNvSpPr txBox="1"/>
          <p:nvPr/>
        </p:nvSpPr>
        <p:spPr>
          <a:xfrm>
            <a:off x="6748297" y="5544061"/>
            <a:ext cx="4846200" cy="25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9120" marR="0" lvl="1" indent="-28956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Multiple peripherals share one bus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9120" marR="0" lvl="1" indent="-28956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Avoids data corruption &amp; conflicts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9120" marR="0" lvl="1" indent="-28956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Enables modular SoC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9120" marR="0" lvl="1" indent="-28956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Reusable IP blocks with fixed maps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" name="Google Shape;246;p3"/>
          <p:cNvGrpSpPr/>
          <p:nvPr/>
        </p:nvGrpSpPr>
        <p:grpSpPr>
          <a:xfrm>
            <a:off x="12130560" y="4801368"/>
            <a:ext cx="5237417" cy="756858"/>
            <a:chOff x="0" y="0"/>
            <a:chExt cx="6983222" cy="1009144"/>
          </a:xfrm>
        </p:grpSpPr>
        <p:sp>
          <p:nvSpPr>
            <p:cNvPr id="247" name="Google Shape;247;p3"/>
            <p:cNvSpPr/>
            <p:nvPr/>
          </p:nvSpPr>
          <p:spPr>
            <a:xfrm>
              <a:off x="16891" y="16891"/>
              <a:ext cx="6949440" cy="975360"/>
            </a:xfrm>
            <a:custGeom>
              <a:avLst/>
              <a:gdLst/>
              <a:ahLst/>
              <a:cxnLst/>
              <a:rect l="l" t="t" r="r" b="b"/>
              <a:pathLst>
                <a:path w="6949440" h="975360" extrusionOk="0">
                  <a:moveTo>
                    <a:pt x="0" y="0"/>
                  </a:moveTo>
                  <a:lnTo>
                    <a:pt x="6949440" y="0"/>
                  </a:lnTo>
                  <a:lnTo>
                    <a:pt x="694944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E74B5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0" y="0"/>
              <a:ext cx="6983222" cy="1009144"/>
            </a:xfrm>
            <a:custGeom>
              <a:avLst/>
              <a:gdLst/>
              <a:ahLst/>
              <a:cxnLst/>
              <a:rect l="l" t="t" r="r" b="b"/>
              <a:pathLst>
                <a:path w="6983222" h="1009144" extrusionOk="0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992251"/>
                  </a:lnTo>
                  <a:cubicBezTo>
                    <a:pt x="6983222" y="1001649"/>
                    <a:pt x="6975602" y="1009142"/>
                    <a:pt x="696633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6966331" y="975360"/>
                  </a:lnTo>
                  <a:lnTo>
                    <a:pt x="6966331" y="992251"/>
                  </a:lnTo>
                  <a:lnTo>
                    <a:pt x="6949440" y="992251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4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" name="Google Shape;249;p3"/>
          <p:cNvGrpSpPr/>
          <p:nvPr/>
        </p:nvGrpSpPr>
        <p:grpSpPr>
          <a:xfrm>
            <a:off x="12362713" y="4771202"/>
            <a:ext cx="4937760" cy="774383"/>
            <a:chOff x="0" y="-57150"/>
            <a:chExt cx="6583680" cy="1032510"/>
          </a:xfrm>
        </p:grpSpPr>
        <p:sp>
          <p:nvSpPr>
            <p:cNvPr id="250" name="Google Shape;250;p3"/>
            <p:cNvSpPr/>
            <p:nvPr/>
          </p:nvSpPr>
          <p:spPr>
            <a:xfrm>
              <a:off x="0" y="0"/>
              <a:ext cx="6583680" cy="975360"/>
            </a:xfrm>
            <a:custGeom>
              <a:avLst/>
              <a:gdLst/>
              <a:ahLst/>
              <a:cxnLst/>
              <a:rect l="l" t="t" r="r" b="b"/>
              <a:pathLst>
                <a:path w="6583680" h="97536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81524" b="-81524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1" name="Google Shape;251;p3"/>
            <p:cNvSpPr txBox="1"/>
            <p:nvPr/>
          </p:nvSpPr>
          <p:spPr>
            <a:xfrm>
              <a:off x="0" y="-57150"/>
              <a:ext cx="6583680" cy="10325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UART in MMIO World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" name="Google Shape;252;p3"/>
          <p:cNvGrpSpPr/>
          <p:nvPr/>
        </p:nvGrpSpPr>
        <p:grpSpPr>
          <a:xfrm>
            <a:off x="12130560" y="5532888"/>
            <a:ext cx="5237417" cy="4048697"/>
            <a:chOff x="0" y="0"/>
            <a:chExt cx="6983222" cy="5398262"/>
          </a:xfrm>
        </p:grpSpPr>
        <p:sp>
          <p:nvSpPr>
            <p:cNvPr id="253" name="Google Shape;253;p3"/>
            <p:cNvSpPr/>
            <p:nvPr/>
          </p:nvSpPr>
          <p:spPr>
            <a:xfrm>
              <a:off x="16891" y="16891"/>
              <a:ext cx="6949440" cy="5364480"/>
            </a:xfrm>
            <a:custGeom>
              <a:avLst/>
              <a:gdLst/>
              <a:ahLst/>
              <a:cxnLst/>
              <a:rect l="l" t="t" r="r" b="b"/>
              <a:pathLst>
                <a:path w="6949440" h="5364480" extrusionOk="0">
                  <a:moveTo>
                    <a:pt x="0" y="0"/>
                  </a:moveTo>
                  <a:lnTo>
                    <a:pt x="6949440" y="0"/>
                  </a:lnTo>
                  <a:lnTo>
                    <a:pt x="694944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EBEBEB">
                <a:alpha val="52156"/>
              </a:srgb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0" y="0"/>
              <a:ext cx="6983222" cy="5398262"/>
            </a:xfrm>
            <a:custGeom>
              <a:avLst/>
              <a:gdLst/>
              <a:ahLst/>
              <a:cxnLst/>
              <a:rect l="l" t="t" r="r" b="b"/>
              <a:pathLst>
                <a:path w="6983222" h="5398262" extrusionOk="0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5381371"/>
                  </a:lnTo>
                  <a:cubicBezTo>
                    <a:pt x="6983222" y="5390769"/>
                    <a:pt x="6975602" y="5398262"/>
                    <a:pt x="6966331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6966331" y="5364480"/>
                  </a:lnTo>
                  <a:lnTo>
                    <a:pt x="6966331" y="5381371"/>
                  </a:lnTo>
                  <a:lnTo>
                    <a:pt x="6949440" y="5381371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BEBEB">
                <a:alpha val="5215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5" name="Google Shape;255;p3"/>
          <p:cNvSpPr txBox="1"/>
          <p:nvPr/>
        </p:nvSpPr>
        <p:spPr>
          <a:xfrm>
            <a:off x="12362713" y="5544061"/>
            <a:ext cx="4846200" cy="30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9120" marR="0" lvl="1" indent="-28956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UART sits at e.g. 0x10013000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9120" marR="0" lvl="1" indent="-28956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CPU writes txdata → UART transmits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9120" marR="0" lvl="1" indent="-28956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CPU reads rxdata → UART receives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9120" marR="0" lvl="1" indent="-28956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Control regs configure baud, stop bits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4"/>
          <p:cNvGrpSpPr/>
          <p:nvPr/>
        </p:nvGrpSpPr>
        <p:grpSpPr>
          <a:xfrm>
            <a:off x="708075" y="1226622"/>
            <a:ext cx="16471875" cy="1454983"/>
            <a:chOff x="-16900" y="-355017"/>
            <a:chExt cx="21962500" cy="1939977"/>
          </a:xfrm>
        </p:grpSpPr>
        <p:sp>
          <p:nvSpPr>
            <p:cNvPr id="265" name="Google Shape;265;p4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19804" b="-219804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6" name="Google Shape;266;p4"/>
            <p:cNvSpPr txBox="1"/>
            <p:nvPr/>
          </p:nvSpPr>
          <p:spPr>
            <a:xfrm>
              <a:off x="-16900" y="-355017"/>
              <a:ext cx="21945600" cy="171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lang="en-US" sz="6800" b="1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PicoRV32 SoC - Complete Memory Map</a:t>
              </a:r>
              <a:endParaRPr sz="68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" name="Google Shape;267;p4"/>
          <p:cNvSpPr/>
          <p:nvPr/>
        </p:nvSpPr>
        <p:spPr>
          <a:xfrm>
            <a:off x="708075" y="3062600"/>
            <a:ext cx="10196700" cy="6858300"/>
          </a:xfrm>
          <a:prstGeom prst="rect">
            <a:avLst/>
          </a:prstGeom>
          <a:solidFill>
            <a:srgbClr val="FFFFFF"/>
          </a:solidFill>
          <a:ln w="20350" cap="flat" cmpd="sng">
            <a:solidFill>
              <a:srgbClr val="ACD3EA"/>
            </a:solidFill>
            <a:prstDash val="solid"/>
            <a:round/>
            <a:headEnd type="none" w="sm" len="sm"/>
            <a:tailEnd type="none" w="sm" len="sm"/>
          </a:ln>
          <a:effectLst>
            <a:outerShdw blurRad="135859" dist="33965" dir="8100000" algn="bl" rotWithShape="0">
              <a:srgbClr val="7FB3D0">
                <a:alpha val="18040"/>
              </a:srgbClr>
            </a:outerShdw>
          </a:effectLst>
        </p:spPr>
        <p:txBody>
          <a:bodyPr spcFirstLastPara="1" wrap="square" lIns="122250" tIns="122250" rIns="122250" bIns="122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268" name="Google Shape;268;p4"/>
          <p:cNvSpPr/>
          <p:nvPr/>
        </p:nvSpPr>
        <p:spPr>
          <a:xfrm>
            <a:off x="708075" y="3062600"/>
            <a:ext cx="10196700" cy="785700"/>
          </a:xfrm>
          <a:prstGeom prst="rect">
            <a:avLst/>
          </a:prstGeom>
          <a:solidFill>
            <a:srgbClr val="1A9DD9"/>
          </a:solidFill>
          <a:ln w="16975" cap="flat" cmpd="sng">
            <a:solidFill>
              <a:srgbClr val="1A9D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250" tIns="122250" rIns="122250" bIns="122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269" name="Google Shape;269;p4"/>
          <p:cNvSpPr/>
          <p:nvPr/>
        </p:nvSpPr>
        <p:spPr>
          <a:xfrm>
            <a:off x="795227" y="3062600"/>
            <a:ext cx="27888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7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Address Range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3706098" y="3062600"/>
            <a:ext cx="25797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7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Peripheral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"/>
          <p:cNvSpPr/>
          <p:nvPr/>
        </p:nvSpPr>
        <p:spPr>
          <a:xfrm>
            <a:off x="6407804" y="3062600"/>
            <a:ext cx="18300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7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8325144" y="3062600"/>
            <a:ext cx="24402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7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708075" y="3848420"/>
            <a:ext cx="10196700" cy="1214400"/>
          </a:xfrm>
          <a:prstGeom prst="rect">
            <a:avLst/>
          </a:prstGeom>
          <a:solidFill>
            <a:srgbClr val="DAEEF8"/>
          </a:solidFill>
          <a:ln w="12725" cap="flat" cmpd="sng">
            <a:solidFill>
              <a:srgbClr val="ACD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250" tIns="122250" rIns="122250" bIns="122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74" name="Google Shape;274;p4"/>
          <p:cNvSpPr/>
          <p:nvPr/>
        </p:nvSpPr>
        <p:spPr>
          <a:xfrm>
            <a:off x="795227" y="3919858"/>
            <a:ext cx="27888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203"/>
              <a:buFont typeface="Consolas"/>
              <a:buNone/>
            </a:pPr>
            <a:r>
              <a:rPr lang="en-US" sz="1800" b="0" i="0" u="none" strike="noStrike" cap="none">
                <a:solidFill>
                  <a:srgbClr val="1A5276"/>
                </a:solidFill>
                <a:latin typeface="Consolas"/>
                <a:ea typeface="Consolas"/>
                <a:cs typeface="Consolas"/>
                <a:sym typeface="Consolas"/>
              </a:rPr>
              <a:t>0x0000_0000–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203"/>
              <a:buFont typeface="Consolas"/>
              <a:buNone/>
            </a:pPr>
            <a:r>
              <a:rPr lang="en-US" sz="1800" b="0" i="0" u="none" strike="noStrike" cap="none">
                <a:solidFill>
                  <a:srgbClr val="1A5276"/>
                </a:solidFill>
                <a:latin typeface="Consolas"/>
                <a:ea typeface="Consolas"/>
                <a:cs typeface="Consolas"/>
                <a:sym typeface="Consolas"/>
              </a:rPr>
              <a:t>0x0000_FFFF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3706098" y="3919858"/>
            <a:ext cx="25797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337"/>
              <a:buFont typeface="Calibri"/>
              <a:buNone/>
            </a:pPr>
            <a:r>
              <a:rPr lang="en-US" sz="1800" b="1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ROM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"/>
          <p:cNvSpPr/>
          <p:nvPr/>
        </p:nvSpPr>
        <p:spPr>
          <a:xfrm>
            <a:off x="6407804" y="3919858"/>
            <a:ext cx="18300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337"/>
              <a:buFont typeface="Calibri"/>
              <a:buNone/>
            </a:pPr>
            <a:r>
              <a:rPr lang="en-US" sz="1800" b="0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AXI-Lite S0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"/>
          <p:cNvSpPr/>
          <p:nvPr/>
        </p:nvSpPr>
        <p:spPr>
          <a:xfrm>
            <a:off x="8325144" y="3919858"/>
            <a:ext cx="24402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337"/>
              <a:buFont typeface="Calibri"/>
              <a:buNone/>
            </a:pPr>
            <a:r>
              <a:rPr lang="en-US" sz="1800" b="0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64 KB win / 8 KB deep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708075" y="5062869"/>
            <a:ext cx="10196700" cy="1214400"/>
          </a:xfrm>
          <a:prstGeom prst="rect">
            <a:avLst/>
          </a:prstGeom>
          <a:solidFill>
            <a:srgbClr val="F4FAFD"/>
          </a:solidFill>
          <a:ln w="12725" cap="flat" cmpd="sng">
            <a:solidFill>
              <a:srgbClr val="ACD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250" tIns="122250" rIns="122250" bIns="122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79" name="Google Shape;279;p4"/>
          <p:cNvSpPr/>
          <p:nvPr/>
        </p:nvSpPr>
        <p:spPr>
          <a:xfrm>
            <a:off x="795227" y="5134308"/>
            <a:ext cx="27888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203"/>
              <a:buFont typeface="Consolas"/>
              <a:buNone/>
            </a:pPr>
            <a:r>
              <a:rPr lang="en-US" sz="1800" b="0" i="0" u="none" strike="noStrike" cap="none">
                <a:solidFill>
                  <a:srgbClr val="1A5276"/>
                </a:solidFill>
                <a:latin typeface="Consolas"/>
                <a:ea typeface="Consolas"/>
                <a:cs typeface="Consolas"/>
                <a:sym typeface="Consolas"/>
              </a:rPr>
              <a:t>0x0001_0000–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203"/>
              <a:buFont typeface="Consolas"/>
              <a:buNone/>
            </a:pPr>
            <a:r>
              <a:rPr lang="en-US" sz="1800" b="0" i="0" u="none" strike="noStrike" cap="none">
                <a:solidFill>
                  <a:srgbClr val="1A5276"/>
                </a:solidFill>
                <a:latin typeface="Consolas"/>
                <a:ea typeface="Consolas"/>
                <a:cs typeface="Consolas"/>
                <a:sym typeface="Consolas"/>
              </a:rPr>
              <a:t>0x0001_FFFF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"/>
          <p:cNvSpPr/>
          <p:nvPr/>
        </p:nvSpPr>
        <p:spPr>
          <a:xfrm>
            <a:off x="3706098" y="5134308"/>
            <a:ext cx="25797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337"/>
              <a:buFont typeface="Calibri"/>
              <a:buNone/>
            </a:pPr>
            <a:r>
              <a:rPr lang="en-US" sz="1800" b="1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SRAM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"/>
          <p:cNvSpPr/>
          <p:nvPr/>
        </p:nvSpPr>
        <p:spPr>
          <a:xfrm>
            <a:off x="6407804" y="5134308"/>
            <a:ext cx="18300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337"/>
              <a:buFont typeface="Calibri"/>
              <a:buNone/>
            </a:pPr>
            <a:r>
              <a:rPr lang="en-US" sz="1800" b="0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AXI-Lite S1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"/>
          <p:cNvSpPr/>
          <p:nvPr/>
        </p:nvSpPr>
        <p:spPr>
          <a:xfrm>
            <a:off x="8325144" y="5134308"/>
            <a:ext cx="24402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337"/>
              <a:buFont typeface="Calibri"/>
              <a:buNone/>
            </a:pPr>
            <a:r>
              <a:rPr lang="en-US" sz="1800" b="0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64 KB win / 256 B deep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"/>
          <p:cNvSpPr/>
          <p:nvPr/>
        </p:nvSpPr>
        <p:spPr>
          <a:xfrm>
            <a:off x="708075" y="6277319"/>
            <a:ext cx="10196700" cy="1214400"/>
          </a:xfrm>
          <a:prstGeom prst="rect">
            <a:avLst/>
          </a:prstGeom>
          <a:solidFill>
            <a:srgbClr val="DAEEF8"/>
          </a:solidFill>
          <a:ln w="12725" cap="flat" cmpd="sng">
            <a:solidFill>
              <a:srgbClr val="ACD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250" tIns="122250" rIns="122250" bIns="122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4" name="Google Shape;284;p4"/>
          <p:cNvSpPr/>
          <p:nvPr/>
        </p:nvSpPr>
        <p:spPr>
          <a:xfrm>
            <a:off x="795227" y="6348757"/>
            <a:ext cx="27888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203"/>
              <a:buFont typeface="Consolas"/>
              <a:buNone/>
            </a:pPr>
            <a:r>
              <a:rPr lang="en-US" sz="1800" b="0" i="0" u="none" strike="noStrike" cap="none">
                <a:solidFill>
                  <a:srgbClr val="1A5276"/>
                </a:solidFill>
                <a:latin typeface="Consolas"/>
                <a:ea typeface="Consolas"/>
                <a:cs typeface="Consolas"/>
                <a:sym typeface="Consolas"/>
              </a:rPr>
              <a:t>0x1000_0000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"/>
          <p:cNvSpPr/>
          <p:nvPr/>
        </p:nvSpPr>
        <p:spPr>
          <a:xfrm>
            <a:off x="3706098" y="6348757"/>
            <a:ext cx="25797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337"/>
              <a:buFont typeface="Calibri"/>
              <a:buNone/>
            </a:pPr>
            <a:r>
              <a:rPr lang="en-US" sz="1800" b="1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UART TX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"/>
          <p:cNvSpPr/>
          <p:nvPr/>
        </p:nvSpPr>
        <p:spPr>
          <a:xfrm>
            <a:off x="6407804" y="6348757"/>
            <a:ext cx="18300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337"/>
              <a:buFont typeface="Calibri"/>
              <a:buNone/>
            </a:pPr>
            <a:r>
              <a:rPr lang="en-US" sz="1800" b="0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AXI-Lite S2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"/>
          <p:cNvSpPr/>
          <p:nvPr/>
        </p:nvSpPr>
        <p:spPr>
          <a:xfrm>
            <a:off x="8325144" y="6348757"/>
            <a:ext cx="24402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337"/>
              <a:buFont typeface="Calibri"/>
              <a:buNone/>
            </a:pPr>
            <a:r>
              <a:rPr lang="en-US" sz="1800" b="0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Write → transmit byte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"/>
          <p:cNvSpPr/>
          <p:nvPr/>
        </p:nvSpPr>
        <p:spPr>
          <a:xfrm>
            <a:off x="708075" y="7491768"/>
            <a:ext cx="10196700" cy="1214400"/>
          </a:xfrm>
          <a:prstGeom prst="rect">
            <a:avLst/>
          </a:prstGeom>
          <a:solidFill>
            <a:srgbClr val="F4FAFD"/>
          </a:solidFill>
          <a:ln w="12725" cap="flat" cmpd="sng">
            <a:solidFill>
              <a:srgbClr val="ACD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250" tIns="122250" rIns="122250" bIns="122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9" name="Google Shape;289;p4"/>
          <p:cNvSpPr/>
          <p:nvPr/>
        </p:nvSpPr>
        <p:spPr>
          <a:xfrm>
            <a:off x="795227" y="7563206"/>
            <a:ext cx="27888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203"/>
              <a:buFont typeface="Consolas"/>
              <a:buNone/>
            </a:pPr>
            <a:r>
              <a:rPr lang="en-US" sz="1800" b="0" i="0" u="none" strike="noStrike" cap="none">
                <a:solidFill>
                  <a:srgbClr val="1A5276"/>
                </a:solidFill>
                <a:latin typeface="Consolas"/>
                <a:ea typeface="Consolas"/>
                <a:cs typeface="Consolas"/>
                <a:sym typeface="Consolas"/>
              </a:rPr>
              <a:t>0x1000_0004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"/>
          <p:cNvSpPr/>
          <p:nvPr/>
        </p:nvSpPr>
        <p:spPr>
          <a:xfrm>
            <a:off x="3706098" y="7563206"/>
            <a:ext cx="25797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337"/>
              <a:buFont typeface="Calibri"/>
              <a:buNone/>
            </a:pPr>
            <a:r>
              <a:rPr lang="en-US" sz="1800" b="1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UART RX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"/>
          <p:cNvSpPr/>
          <p:nvPr/>
        </p:nvSpPr>
        <p:spPr>
          <a:xfrm>
            <a:off x="6407804" y="7563206"/>
            <a:ext cx="18300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337"/>
              <a:buFont typeface="Calibri"/>
              <a:buNone/>
            </a:pPr>
            <a:r>
              <a:rPr lang="en-US" sz="1800" b="0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AXI-Lite S2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"/>
          <p:cNvSpPr/>
          <p:nvPr/>
        </p:nvSpPr>
        <p:spPr>
          <a:xfrm>
            <a:off x="8325144" y="7563206"/>
            <a:ext cx="24402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337"/>
              <a:buFont typeface="Calibri"/>
              <a:buNone/>
            </a:pPr>
            <a:r>
              <a:rPr lang="en-US" sz="1800" b="0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Read → received byte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"/>
          <p:cNvSpPr/>
          <p:nvPr/>
        </p:nvSpPr>
        <p:spPr>
          <a:xfrm>
            <a:off x="708075" y="8706217"/>
            <a:ext cx="10196700" cy="1214400"/>
          </a:xfrm>
          <a:prstGeom prst="rect">
            <a:avLst/>
          </a:prstGeom>
          <a:solidFill>
            <a:srgbClr val="DAEEF8"/>
          </a:solidFill>
          <a:ln w="12725" cap="flat" cmpd="sng">
            <a:solidFill>
              <a:srgbClr val="ACD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250" tIns="122250" rIns="122250" bIns="122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4" name="Google Shape;294;p4"/>
          <p:cNvSpPr/>
          <p:nvPr/>
        </p:nvSpPr>
        <p:spPr>
          <a:xfrm>
            <a:off x="795227" y="8777655"/>
            <a:ext cx="27888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203"/>
              <a:buFont typeface="Consolas"/>
              <a:buNone/>
            </a:pPr>
            <a:r>
              <a:rPr lang="en-US" sz="1800" b="0" i="0" u="none" strike="noStrike" cap="none">
                <a:solidFill>
                  <a:srgbClr val="1A5276"/>
                </a:solidFill>
                <a:latin typeface="Consolas"/>
                <a:ea typeface="Consolas"/>
                <a:cs typeface="Consolas"/>
                <a:sym typeface="Consolas"/>
              </a:rPr>
              <a:t>0x1000_0008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"/>
          <p:cNvSpPr/>
          <p:nvPr/>
        </p:nvSpPr>
        <p:spPr>
          <a:xfrm>
            <a:off x="3706098" y="8777655"/>
            <a:ext cx="25797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337"/>
              <a:buFont typeface="Calibri"/>
              <a:buNone/>
            </a:pPr>
            <a:r>
              <a:rPr lang="en-US" sz="1800" b="1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UART STATUS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"/>
          <p:cNvSpPr/>
          <p:nvPr/>
        </p:nvSpPr>
        <p:spPr>
          <a:xfrm>
            <a:off x="6407804" y="8777655"/>
            <a:ext cx="18300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337"/>
              <a:buFont typeface="Calibri"/>
              <a:buNone/>
            </a:pPr>
            <a:r>
              <a:rPr lang="en-US" sz="1800" b="0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AXI-Lite S2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"/>
          <p:cNvSpPr/>
          <p:nvPr/>
        </p:nvSpPr>
        <p:spPr>
          <a:xfrm>
            <a:off x="8325144" y="8777655"/>
            <a:ext cx="24402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337"/>
              <a:buFont typeface="Calibri"/>
              <a:buNone/>
            </a:pPr>
            <a:r>
              <a:rPr lang="en-US" sz="1800" b="0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bit[1] = rx_buf_valid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"/>
          <p:cNvSpPr/>
          <p:nvPr/>
        </p:nvSpPr>
        <p:spPr>
          <a:xfrm>
            <a:off x="11447750" y="3062600"/>
            <a:ext cx="5839500" cy="3308100"/>
          </a:xfrm>
          <a:prstGeom prst="rect">
            <a:avLst/>
          </a:prstGeom>
          <a:solidFill>
            <a:srgbClr val="FFFFFF"/>
          </a:solidFill>
          <a:ln w="20350" cap="flat" cmpd="sng">
            <a:solidFill>
              <a:srgbClr val="ACD3EA"/>
            </a:solidFill>
            <a:prstDash val="solid"/>
            <a:round/>
            <a:headEnd type="none" w="sm" len="sm"/>
            <a:tailEnd type="none" w="sm" len="sm"/>
          </a:ln>
          <a:effectLst>
            <a:outerShdw blurRad="135859" dist="33965" dir="8100000" algn="bl" rotWithShape="0">
              <a:srgbClr val="7FB3D0">
                <a:alpha val="18040"/>
              </a:srgbClr>
            </a:outerShdw>
          </a:effectLst>
        </p:spPr>
        <p:txBody>
          <a:bodyPr spcFirstLastPara="1" wrap="square" lIns="122250" tIns="122250" rIns="122250" bIns="122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299" name="Google Shape;299;p4"/>
          <p:cNvSpPr/>
          <p:nvPr/>
        </p:nvSpPr>
        <p:spPr>
          <a:xfrm>
            <a:off x="11447750" y="3062600"/>
            <a:ext cx="5839500" cy="612900"/>
          </a:xfrm>
          <a:prstGeom prst="rect">
            <a:avLst/>
          </a:prstGeom>
          <a:solidFill>
            <a:srgbClr val="1A9DD9"/>
          </a:solidFill>
          <a:ln w="16975" cap="flat" cmpd="sng">
            <a:solidFill>
              <a:srgbClr val="1A9D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250" tIns="122250" rIns="122250" bIns="122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300" name="Google Shape;300;p4"/>
          <p:cNvSpPr/>
          <p:nvPr/>
        </p:nvSpPr>
        <p:spPr>
          <a:xfrm>
            <a:off x="11534902" y="3062600"/>
            <a:ext cx="56649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STATUS Reg — 0x1000_0008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"/>
          <p:cNvSpPr/>
          <p:nvPr/>
        </p:nvSpPr>
        <p:spPr>
          <a:xfrm>
            <a:off x="11447750" y="3772685"/>
            <a:ext cx="5839500" cy="807000"/>
          </a:xfrm>
          <a:prstGeom prst="rect">
            <a:avLst/>
          </a:prstGeom>
          <a:solidFill>
            <a:srgbClr val="DAEEF8"/>
          </a:solidFill>
          <a:ln w="12725" cap="flat" cmpd="sng">
            <a:solidFill>
              <a:srgbClr val="ACD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250" tIns="122250" rIns="122250" bIns="122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302" name="Google Shape;302;p4"/>
          <p:cNvSpPr/>
          <p:nvPr/>
        </p:nvSpPr>
        <p:spPr>
          <a:xfrm>
            <a:off x="11534902" y="3853376"/>
            <a:ext cx="1743000" cy="6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203"/>
              <a:buFont typeface="Consolas"/>
              <a:buNone/>
            </a:pPr>
            <a:r>
              <a:rPr lang="en-US" sz="1700" b="1" i="0" u="none" strike="noStrike" cap="none">
                <a:solidFill>
                  <a:srgbClr val="1A5276"/>
                </a:solidFill>
                <a:latin typeface="Consolas"/>
                <a:ea typeface="Consolas"/>
                <a:cs typeface="Consolas"/>
                <a:sym typeface="Consolas"/>
              </a:rPr>
              <a:t>Bit [0]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"/>
          <p:cNvSpPr/>
          <p:nvPr/>
        </p:nvSpPr>
        <p:spPr>
          <a:xfrm>
            <a:off x="13365090" y="3853376"/>
            <a:ext cx="3834900" cy="6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203"/>
              <a:buFont typeface="Calibri"/>
              <a:buNone/>
            </a:pPr>
            <a:r>
              <a:rPr lang="en-US" sz="1700" b="0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reserved = 0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"/>
          <p:cNvSpPr/>
          <p:nvPr/>
        </p:nvSpPr>
        <p:spPr>
          <a:xfrm>
            <a:off x="11447750" y="4579599"/>
            <a:ext cx="5839500" cy="807000"/>
          </a:xfrm>
          <a:prstGeom prst="rect">
            <a:avLst/>
          </a:prstGeom>
          <a:solidFill>
            <a:srgbClr val="F4FAFD"/>
          </a:solidFill>
          <a:ln w="12725" cap="flat" cmpd="sng">
            <a:solidFill>
              <a:srgbClr val="ACD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250" tIns="122250" rIns="122250" bIns="122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305" name="Google Shape;305;p4"/>
          <p:cNvSpPr/>
          <p:nvPr/>
        </p:nvSpPr>
        <p:spPr>
          <a:xfrm>
            <a:off x="11534902" y="4660291"/>
            <a:ext cx="1743000" cy="6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203"/>
              <a:buFont typeface="Consolas"/>
              <a:buNone/>
            </a:pPr>
            <a:r>
              <a:rPr lang="en-US" sz="1700" b="1" i="0" u="none" strike="noStrike" cap="none">
                <a:solidFill>
                  <a:srgbClr val="1A5276"/>
                </a:solidFill>
                <a:latin typeface="Consolas"/>
                <a:ea typeface="Consolas"/>
                <a:cs typeface="Consolas"/>
                <a:sym typeface="Consolas"/>
              </a:rPr>
              <a:t>Bit [1]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"/>
          <p:cNvSpPr/>
          <p:nvPr/>
        </p:nvSpPr>
        <p:spPr>
          <a:xfrm>
            <a:off x="13365090" y="4660291"/>
            <a:ext cx="3834900" cy="6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203"/>
              <a:buFont typeface="Calibri"/>
              <a:buNone/>
            </a:pPr>
            <a:r>
              <a:rPr lang="en-US" sz="1700" b="0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rx_buf_valid — RX byte ready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"/>
          <p:cNvSpPr/>
          <p:nvPr/>
        </p:nvSpPr>
        <p:spPr>
          <a:xfrm>
            <a:off x="11447750" y="5386514"/>
            <a:ext cx="5839500" cy="807000"/>
          </a:xfrm>
          <a:prstGeom prst="rect">
            <a:avLst/>
          </a:prstGeom>
          <a:solidFill>
            <a:srgbClr val="DAEEF8"/>
          </a:solidFill>
          <a:ln w="12725" cap="flat" cmpd="sng">
            <a:solidFill>
              <a:srgbClr val="ACD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250" tIns="122250" rIns="122250" bIns="122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308" name="Google Shape;308;p4"/>
          <p:cNvSpPr/>
          <p:nvPr/>
        </p:nvSpPr>
        <p:spPr>
          <a:xfrm>
            <a:off x="11534902" y="5467205"/>
            <a:ext cx="1743000" cy="6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203"/>
              <a:buFont typeface="Consolas"/>
              <a:buNone/>
            </a:pPr>
            <a:r>
              <a:rPr lang="en-US" sz="1700" b="1" i="0" u="none" strike="noStrike" cap="none">
                <a:solidFill>
                  <a:srgbClr val="1A5276"/>
                </a:solidFill>
                <a:latin typeface="Consolas"/>
                <a:ea typeface="Consolas"/>
                <a:cs typeface="Consolas"/>
                <a:sym typeface="Consolas"/>
              </a:rPr>
              <a:t>Bits [31:2]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"/>
          <p:cNvSpPr/>
          <p:nvPr/>
        </p:nvSpPr>
        <p:spPr>
          <a:xfrm>
            <a:off x="13365090" y="5467205"/>
            <a:ext cx="3834900" cy="6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203"/>
              <a:buFont typeface="Calibri"/>
              <a:buNone/>
            </a:pPr>
            <a:r>
              <a:rPr lang="en-US" sz="1700" b="0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reserved = 0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"/>
          <p:cNvSpPr/>
          <p:nvPr/>
        </p:nvSpPr>
        <p:spPr>
          <a:xfrm>
            <a:off x="11447750" y="6580747"/>
            <a:ext cx="5839500" cy="3340200"/>
          </a:xfrm>
          <a:prstGeom prst="rect">
            <a:avLst/>
          </a:prstGeom>
          <a:solidFill>
            <a:srgbClr val="1B3A52"/>
          </a:solidFill>
          <a:ln w="16975" cap="flat" cmpd="sng">
            <a:solidFill>
              <a:srgbClr val="1B3A52"/>
            </a:solidFill>
            <a:prstDash val="solid"/>
            <a:round/>
            <a:headEnd type="none" w="sm" len="sm"/>
            <a:tailEnd type="none" w="sm" len="sm"/>
          </a:ln>
          <a:effectLst>
            <a:outerShdw blurRad="135859" dist="33965" dir="8100000" algn="bl" rotWithShape="0">
              <a:srgbClr val="7FB3D0">
                <a:alpha val="18040"/>
              </a:srgbClr>
            </a:outerShdw>
          </a:effectLst>
        </p:spPr>
        <p:txBody>
          <a:bodyPr spcFirstLastPara="1" wrap="square" lIns="122250" tIns="122250" rIns="122250" bIns="122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311" name="Google Shape;311;p4"/>
          <p:cNvSpPr/>
          <p:nvPr/>
        </p:nvSpPr>
        <p:spPr>
          <a:xfrm>
            <a:off x="11447750" y="6580747"/>
            <a:ext cx="5839500" cy="580800"/>
          </a:xfrm>
          <a:prstGeom prst="rect">
            <a:avLst/>
          </a:prstGeom>
          <a:solidFill>
            <a:srgbClr val="0D2840"/>
          </a:solidFill>
          <a:ln w="16975" cap="flat" cmpd="sng">
            <a:solidFill>
              <a:srgbClr val="0D2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250" tIns="122250" rIns="122250" bIns="122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312" name="Google Shape;312;p4"/>
          <p:cNvSpPr/>
          <p:nvPr/>
        </p:nvSpPr>
        <p:spPr>
          <a:xfrm>
            <a:off x="11534902" y="6580747"/>
            <a:ext cx="56649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203"/>
              <a:buFont typeface="Calibri"/>
              <a:buNone/>
            </a:pPr>
            <a:r>
              <a:rPr lang="en-US" sz="1700" b="1" i="0" u="none" strike="noStrike" cap="none" dirty="0" err="1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axi_decoder.v</a:t>
            </a:r>
            <a:r>
              <a:rPr lang="en-US" sz="1700" b="1" i="0" u="none" strike="noStrike" cap="none" dirty="0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700" b="1" i="0" u="none" strike="noStrike" cap="none" dirty="0" err="1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casez</a:t>
            </a:r>
            <a:r>
              <a:rPr lang="en-US" sz="1700" b="1" i="0" u="none" strike="noStrike" cap="none" dirty="0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 match</a:t>
            </a:r>
            <a:endParaRPr sz="17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"/>
          <p:cNvSpPr/>
          <p:nvPr/>
        </p:nvSpPr>
        <p:spPr>
          <a:xfrm>
            <a:off x="11569763" y="7242417"/>
            <a:ext cx="5613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070"/>
              <a:buFont typeface="Consolas"/>
              <a:buNone/>
            </a:pPr>
            <a:r>
              <a:rPr lang="en-US" sz="1700" b="0" i="0" u="none" strike="noStrike" cap="non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32'h0000_????: sel = 3'b001; // ROM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"/>
          <p:cNvSpPr/>
          <p:nvPr/>
        </p:nvSpPr>
        <p:spPr>
          <a:xfrm>
            <a:off x="11569763" y="7823395"/>
            <a:ext cx="5613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070"/>
              <a:buFont typeface="Consolas"/>
              <a:buNone/>
            </a:pPr>
            <a:r>
              <a:rPr lang="en-US" sz="1700" b="0" i="0" u="none" strike="noStrike" cap="none" dirty="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32'h0001_????: </a:t>
            </a:r>
            <a:r>
              <a:rPr lang="en-US" sz="1700" b="0" i="0" u="none" strike="noStrike" cap="none" dirty="0" err="1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sel</a:t>
            </a:r>
            <a:r>
              <a:rPr lang="en-US" sz="1700" b="0" i="0" u="none" strike="noStrike" cap="none" dirty="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= 3'b010; // SRAM</a:t>
            </a:r>
            <a:endParaRPr sz="17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"/>
          <p:cNvSpPr/>
          <p:nvPr/>
        </p:nvSpPr>
        <p:spPr>
          <a:xfrm>
            <a:off x="11569763" y="8404374"/>
            <a:ext cx="5613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ADE2"/>
              </a:buClr>
              <a:buSzPts val="1070"/>
              <a:buFont typeface="Consolas"/>
              <a:buNone/>
            </a:pPr>
            <a:r>
              <a:rPr lang="en-US" sz="1700" b="0" i="0" u="none" strike="noStrike" cap="none">
                <a:solidFill>
                  <a:srgbClr val="5DADE2"/>
                </a:solidFill>
                <a:latin typeface="Consolas"/>
                <a:ea typeface="Consolas"/>
                <a:cs typeface="Consolas"/>
                <a:sym typeface="Consolas"/>
              </a:rPr>
              <a:t>32'h1000_000?: sel = 3'b100; // UART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"/>
          <p:cNvSpPr/>
          <p:nvPr/>
        </p:nvSpPr>
        <p:spPr>
          <a:xfrm>
            <a:off x="11569763" y="8985352"/>
            <a:ext cx="5613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070"/>
              <a:buFont typeface="Consolas"/>
              <a:buNone/>
            </a:pPr>
            <a:r>
              <a:rPr lang="en-US" sz="1700" b="0" i="0" u="none" strike="noStrike" cap="non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default:       sel = 3'b001; // safe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"/>
          <p:cNvSpPr/>
          <p:nvPr/>
        </p:nvSpPr>
        <p:spPr>
          <a:xfrm>
            <a:off x="971975" y="1102425"/>
            <a:ext cx="12896100" cy="1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9"/>
              <a:buFont typeface="Calibri"/>
              <a:buNone/>
            </a:pPr>
            <a:r>
              <a:rPr lang="en-US" sz="465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AXI Address Decode — Project Addresses</a:t>
            </a:r>
            <a:endParaRPr sz="465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5"/>
          <p:cNvSpPr/>
          <p:nvPr/>
        </p:nvSpPr>
        <p:spPr>
          <a:xfrm>
            <a:off x="1004752" y="2790248"/>
            <a:ext cx="3113400" cy="2294100"/>
          </a:xfrm>
          <a:prstGeom prst="rect">
            <a:avLst/>
          </a:prstGeom>
          <a:solidFill>
            <a:srgbClr val="1A9DD9"/>
          </a:solidFill>
          <a:ln w="45525" cap="flat" cmpd="sng">
            <a:solidFill>
              <a:srgbClr val="1368A4"/>
            </a:solidFill>
            <a:prstDash val="solid"/>
            <a:round/>
            <a:headEnd type="none" w="sm" len="sm"/>
            <a:tailEnd type="none" w="sm" len="sm"/>
          </a:ln>
          <a:effectLst>
            <a:outerShdw blurRad="136556" dist="45519" dir="8100000" algn="bl" rotWithShape="0">
              <a:srgbClr val="000000">
                <a:alpha val="14900"/>
              </a:srgbClr>
            </a:outerShdw>
          </a:effectLst>
        </p:spPr>
        <p:txBody>
          <a:bodyPr spcFirstLastPara="1" wrap="square" lIns="163825" tIns="163825" rIns="163825" bIns="163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5"/>
          <p:cNvSpPr/>
          <p:nvPr/>
        </p:nvSpPr>
        <p:spPr>
          <a:xfrm>
            <a:off x="1004752" y="2790248"/>
            <a:ext cx="3113400" cy="22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825" tIns="81900" rIns="163825" bIns="8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9"/>
              <a:buFont typeface="Calibri"/>
              <a:buNone/>
            </a:pPr>
            <a:r>
              <a:rPr lang="en-US" sz="2509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PicoRV32</a:t>
            </a:r>
            <a:br>
              <a:rPr lang="en-US" sz="2509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71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AXI Master</a:t>
            </a:r>
            <a:endParaRPr sz="250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5"/>
          <p:cNvCxnSpPr/>
          <p:nvPr/>
        </p:nvCxnSpPr>
        <p:spPr>
          <a:xfrm>
            <a:off x="4118232" y="3937319"/>
            <a:ext cx="1065300" cy="0"/>
          </a:xfrm>
          <a:prstGeom prst="straightConnector1">
            <a:avLst/>
          </a:prstGeom>
          <a:noFill/>
          <a:ln w="68300" cap="flat" cmpd="sng">
            <a:solidFill>
              <a:srgbClr val="1A9D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9" name="Google Shape;329;p5"/>
          <p:cNvSpPr/>
          <p:nvPr/>
        </p:nvSpPr>
        <p:spPr>
          <a:xfrm>
            <a:off x="4806475" y="3691518"/>
            <a:ext cx="491400" cy="4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DD9"/>
              </a:buClr>
              <a:buSzPts val="2150"/>
              <a:buFont typeface="Calibri"/>
              <a:buNone/>
            </a:pPr>
            <a:r>
              <a:rPr lang="en-US" sz="2150" b="0" i="0" u="none" strike="noStrike" cap="none">
                <a:solidFill>
                  <a:srgbClr val="1A9DD9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2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5"/>
          <p:cNvSpPr/>
          <p:nvPr/>
        </p:nvSpPr>
        <p:spPr>
          <a:xfrm>
            <a:off x="4118232" y="3281850"/>
            <a:ext cx="11472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A6080"/>
              </a:buClr>
              <a:buSzPts val="1254"/>
              <a:buFont typeface="Consolas"/>
              <a:buNone/>
            </a:pPr>
            <a:r>
              <a:rPr lang="en-US" sz="1254" b="0" i="0" u="none" strike="noStrike" cap="none">
                <a:solidFill>
                  <a:srgbClr val="3A6080"/>
                </a:solidFill>
                <a:latin typeface="Consolas"/>
                <a:ea typeface="Consolas"/>
                <a:cs typeface="Consolas"/>
                <a:sym typeface="Consolas"/>
              </a:rPr>
              <a:t>AWADDR</a:t>
            </a:r>
            <a:endParaRPr sz="125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A6080"/>
              </a:buClr>
              <a:buSzPts val="1254"/>
              <a:buFont typeface="Consolas"/>
              <a:buNone/>
            </a:pPr>
            <a:r>
              <a:rPr lang="en-US" sz="1254" b="0" i="0" u="none" strike="noStrike" cap="none">
                <a:solidFill>
                  <a:srgbClr val="3A6080"/>
                </a:solidFill>
                <a:latin typeface="Consolas"/>
                <a:ea typeface="Consolas"/>
                <a:cs typeface="Consolas"/>
                <a:sym typeface="Consolas"/>
              </a:rPr>
              <a:t>/ ARADDR</a:t>
            </a:r>
            <a:endParaRPr sz="125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5"/>
          <p:cNvSpPr/>
          <p:nvPr/>
        </p:nvSpPr>
        <p:spPr>
          <a:xfrm>
            <a:off x="5347238" y="2544447"/>
            <a:ext cx="4752000" cy="5735400"/>
          </a:xfrm>
          <a:prstGeom prst="rect">
            <a:avLst/>
          </a:prstGeom>
          <a:solidFill>
            <a:srgbClr val="1B3A52"/>
          </a:solidFill>
          <a:ln w="45525" cap="flat" cmpd="sng">
            <a:solidFill>
              <a:srgbClr val="0D2840"/>
            </a:solidFill>
            <a:prstDash val="solid"/>
            <a:round/>
            <a:headEnd type="none" w="sm" len="sm"/>
            <a:tailEnd type="none" w="sm" len="sm"/>
          </a:ln>
          <a:effectLst>
            <a:outerShdw blurRad="182075" dist="45519" dir="8100000" algn="bl" rotWithShape="0">
              <a:srgbClr val="000000">
                <a:alpha val="18040"/>
              </a:srgbClr>
            </a:outerShdw>
          </a:effectLst>
        </p:spPr>
        <p:txBody>
          <a:bodyPr spcFirstLastPara="1" wrap="square" lIns="163825" tIns="163825" rIns="163825" bIns="163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5"/>
          <p:cNvSpPr/>
          <p:nvPr/>
        </p:nvSpPr>
        <p:spPr>
          <a:xfrm>
            <a:off x="5347238" y="2544447"/>
            <a:ext cx="4752000" cy="622500"/>
          </a:xfrm>
          <a:prstGeom prst="rect">
            <a:avLst/>
          </a:prstGeom>
          <a:solidFill>
            <a:srgbClr val="0D2840"/>
          </a:solidFill>
          <a:ln w="22775" cap="flat" cmpd="sng">
            <a:solidFill>
              <a:srgbClr val="0D2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3825" tIns="163825" rIns="163825" bIns="163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5"/>
          <p:cNvSpPr/>
          <p:nvPr/>
        </p:nvSpPr>
        <p:spPr>
          <a:xfrm>
            <a:off x="5347238" y="2544447"/>
            <a:ext cx="47520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792"/>
              <a:buFont typeface="Calibri"/>
              <a:buNone/>
            </a:pPr>
            <a:r>
              <a:rPr lang="en-US" sz="1792" b="1" i="0" u="none" strike="noStrike" cap="non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axi_decoder.v</a:t>
            </a:r>
            <a:endParaRPr sz="179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5"/>
          <p:cNvSpPr/>
          <p:nvPr/>
        </p:nvSpPr>
        <p:spPr>
          <a:xfrm>
            <a:off x="5511105" y="3363783"/>
            <a:ext cx="20484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523"/>
              <a:buFont typeface="Consolas"/>
              <a:buNone/>
            </a:pPr>
            <a:r>
              <a:rPr lang="en-US" sz="1523" b="0" i="0" u="none" strike="noStrike" cap="non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0x0000_????</a:t>
            </a:r>
            <a:endParaRPr sz="152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5"/>
          <p:cNvSpPr/>
          <p:nvPr/>
        </p:nvSpPr>
        <p:spPr>
          <a:xfrm>
            <a:off x="7477514" y="3363783"/>
            <a:ext cx="11472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E79F"/>
              </a:buClr>
              <a:buSzPts val="1523"/>
              <a:buFont typeface="Consolas"/>
              <a:buNone/>
            </a:pPr>
            <a:r>
              <a:rPr lang="en-US" sz="1523" b="0" i="0" u="none" strike="noStrike" cap="none">
                <a:solidFill>
                  <a:srgbClr val="F9E79F"/>
                </a:solidFill>
                <a:latin typeface="Consolas"/>
                <a:ea typeface="Consolas"/>
                <a:cs typeface="Consolas"/>
                <a:sym typeface="Consolas"/>
              </a:rPr>
              <a:t>3'b001</a:t>
            </a:r>
            <a:endParaRPr sz="152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5"/>
          <p:cNvSpPr/>
          <p:nvPr/>
        </p:nvSpPr>
        <p:spPr>
          <a:xfrm>
            <a:off x="8575425" y="3363783"/>
            <a:ext cx="14421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3D0"/>
              </a:buClr>
              <a:buSzPts val="1434"/>
              <a:buFont typeface="Calibri"/>
              <a:buNone/>
            </a:pPr>
            <a:r>
              <a:rPr lang="en-US" sz="1434" b="0" i="0" u="none" strike="noStrike" cap="none">
                <a:solidFill>
                  <a:srgbClr val="7FB3D0"/>
                </a:solidFill>
                <a:latin typeface="Calibri"/>
                <a:ea typeface="Calibri"/>
                <a:cs typeface="Calibri"/>
                <a:sym typeface="Calibri"/>
              </a:rPr>
              <a:t>→ ROM  S0</a:t>
            </a:r>
            <a:endParaRPr sz="143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5"/>
          <p:cNvCxnSpPr/>
          <p:nvPr/>
        </p:nvCxnSpPr>
        <p:spPr>
          <a:xfrm>
            <a:off x="5511105" y="3953705"/>
            <a:ext cx="4424700" cy="0"/>
          </a:xfrm>
          <a:prstGeom prst="straightConnector1">
            <a:avLst/>
          </a:prstGeom>
          <a:noFill/>
          <a:ln w="17075" cap="flat" cmpd="sng">
            <a:solidFill>
              <a:srgbClr val="2E5D7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8" name="Google Shape;338;p5"/>
          <p:cNvSpPr/>
          <p:nvPr/>
        </p:nvSpPr>
        <p:spPr>
          <a:xfrm>
            <a:off x="5511105" y="4543627"/>
            <a:ext cx="20484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523"/>
              <a:buFont typeface="Consolas"/>
              <a:buNone/>
            </a:pPr>
            <a:r>
              <a:rPr lang="en-US" sz="1523" b="0" i="0" u="none" strike="noStrike" cap="non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0x0001_????</a:t>
            </a:r>
            <a:endParaRPr sz="152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5"/>
          <p:cNvSpPr/>
          <p:nvPr/>
        </p:nvSpPr>
        <p:spPr>
          <a:xfrm>
            <a:off x="7477514" y="4543627"/>
            <a:ext cx="11472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E79F"/>
              </a:buClr>
              <a:buSzPts val="1523"/>
              <a:buFont typeface="Consolas"/>
              <a:buNone/>
            </a:pPr>
            <a:r>
              <a:rPr lang="en-US" sz="1523" b="0" i="0" u="none" strike="noStrike" cap="none">
                <a:solidFill>
                  <a:srgbClr val="F9E79F"/>
                </a:solidFill>
                <a:latin typeface="Consolas"/>
                <a:ea typeface="Consolas"/>
                <a:cs typeface="Consolas"/>
                <a:sym typeface="Consolas"/>
              </a:rPr>
              <a:t>3'b010</a:t>
            </a:r>
            <a:endParaRPr sz="152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5"/>
          <p:cNvSpPr/>
          <p:nvPr/>
        </p:nvSpPr>
        <p:spPr>
          <a:xfrm>
            <a:off x="8575425" y="4543627"/>
            <a:ext cx="14421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3D0"/>
              </a:buClr>
              <a:buSzPts val="1434"/>
              <a:buFont typeface="Calibri"/>
              <a:buNone/>
            </a:pPr>
            <a:r>
              <a:rPr lang="en-US" sz="1434" b="0" i="0" u="none" strike="noStrike" cap="none">
                <a:solidFill>
                  <a:srgbClr val="7FB3D0"/>
                </a:solidFill>
                <a:latin typeface="Calibri"/>
                <a:ea typeface="Calibri"/>
                <a:cs typeface="Calibri"/>
                <a:sym typeface="Calibri"/>
              </a:rPr>
              <a:t>→ SRAM S1</a:t>
            </a:r>
            <a:endParaRPr sz="143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5"/>
          <p:cNvCxnSpPr/>
          <p:nvPr/>
        </p:nvCxnSpPr>
        <p:spPr>
          <a:xfrm>
            <a:off x="5511105" y="5133549"/>
            <a:ext cx="4424700" cy="0"/>
          </a:xfrm>
          <a:prstGeom prst="straightConnector1">
            <a:avLst/>
          </a:prstGeom>
          <a:noFill/>
          <a:ln w="17075" cap="flat" cmpd="sng">
            <a:solidFill>
              <a:srgbClr val="2E5D7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2" name="Google Shape;342;p5"/>
          <p:cNvSpPr/>
          <p:nvPr/>
        </p:nvSpPr>
        <p:spPr>
          <a:xfrm>
            <a:off x="5511105" y="5723472"/>
            <a:ext cx="20484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ADE2"/>
              </a:buClr>
              <a:buSzPts val="1523"/>
              <a:buFont typeface="Consolas"/>
              <a:buNone/>
            </a:pPr>
            <a:r>
              <a:rPr lang="en-US" sz="1523" b="0" i="0" u="none" strike="noStrike" cap="none">
                <a:solidFill>
                  <a:srgbClr val="5DADE2"/>
                </a:solidFill>
                <a:latin typeface="Consolas"/>
                <a:ea typeface="Consolas"/>
                <a:cs typeface="Consolas"/>
                <a:sym typeface="Consolas"/>
              </a:rPr>
              <a:t>0x1000_000?</a:t>
            </a:r>
            <a:endParaRPr sz="152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5"/>
          <p:cNvSpPr/>
          <p:nvPr/>
        </p:nvSpPr>
        <p:spPr>
          <a:xfrm>
            <a:off x="7477514" y="5723472"/>
            <a:ext cx="11472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E79F"/>
              </a:buClr>
              <a:buSzPts val="1523"/>
              <a:buFont typeface="Consolas"/>
              <a:buNone/>
            </a:pPr>
            <a:r>
              <a:rPr lang="en-US" sz="1523" b="0" i="0" u="none" strike="noStrike" cap="none">
                <a:solidFill>
                  <a:srgbClr val="F9E79F"/>
                </a:solidFill>
                <a:latin typeface="Consolas"/>
                <a:ea typeface="Consolas"/>
                <a:cs typeface="Consolas"/>
                <a:sym typeface="Consolas"/>
              </a:rPr>
              <a:t>3'b100</a:t>
            </a:r>
            <a:endParaRPr sz="152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5"/>
          <p:cNvSpPr/>
          <p:nvPr/>
        </p:nvSpPr>
        <p:spPr>
          <a:xfrm>
            <a:off x="8575425" y="5723472"/>
            <a:ext cx="14421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ADE2"/>
              </a:buClr>
              <a:buSzPts val="1434"/>
              <a:buFont typeface="Calibri"/>
              <a:buNone/>
            </a:pPr>
            <a:r>
              <a:rPr lang="en-US" sz="1434" b="1" i="0" u="none" strike="noStrike" cap="none">
                <a:solidFill>
                  <a:srgbClr val="5DADE2"/>
                </a:solidFill>
                <a:latin typeface="Calibri"/>
                <a:ea typeface="Calibri"/>
                <a:cs typeface="Calibri"/>
                <a:sym typeface="Calibri"/>
              </a:rPr>
              <a:t>→ UART S2</a:t>
            </a:r>
            <a:endParaRPr sz="143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5"/>
          <p:cNvCxnSpPr/>
          <p:nvPr/>
        </p:nvCxnSpPr>
        <p:spPr>
          <a:xfrm>
            <a:off x="5511105" y="6313394"/>
            <a:ext cx="4424700" cy="0"/>
          </a:xfrm>
          <a:prstGeom prst="straightConnector1">
            <a:avLst/>
          </a:prstGeom>
          <a:noFill/>
          <a:ln w="17075" cap="flat" cmpd="sng">
            <a:solidFill>
              <a:srgbClr val="2E5D7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6" name="Google Shape;346;p5"/>
          <p:cNvSpPr/>
          <p:nvPr/>
        </p:nvSpPr>
        <p:spPr>
          <a:xfrm>
            <a:off x="5511105" y="6903316"/>
            <a:ext cx="20484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523"/>
              <a:buFont typeface="Consolas"/>
              <a:buNone/>
            </a:pPr>
            <a:r>
              <a:rPr lang="en-US" sz="1523" b="0" i="0" u="none" strike="noStrike" cap="non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default</a:t>
            </a:r>
            <a:endParaRPr sz="152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5"/>
          <p:cNvSpPr/>
          <p:nvPr/>
        </p:nvSpPr>
        <p:spPr>
          <a:xfrm>
            <a:off x="7477514" y="6903316"/>
            <a:ext cx="11472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E79F"/>
              </a:buClr>
              <a:buSzPts val="1523"/>
              <a:buFont typeface="Consolas"/>
              <a:buNone/>
            </a:pPr>
            <a:r>
              <a:rPr lang="en-US" sz="1523" b="0" i="0" u="none" strike="noStrike" cap="none">
                <a:solidFill>
                  <a:srgbClr val="F9E79F"/>
                </a:solidFill>
                <a:latin typeface="Consolas"/>
                <a:ea typeface="Consolas"/>
                <a:cs typeface="Consolas"/>
                <a:sym typeface="Consolas"/>
              </a:rPr>
              <a:t>3'b001</a:t>
            </a:r>
            <a:endParaRPr sz="152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"/>
          <p:cNvSpPr/>
          <p:nvPr/>
        </p:nvSpPr>
        <p:spPr>
          <a:xfrm>
            <a:off x="8575425" y="6903316"/>
            <a:ext cx="14421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3D0"/>
              </a:buClr>
              <a:buSzPts val="1434"/>
              <a:buFont typeface="Calibri"/>
              <a:buNone/>
            </a:pPr>
            <a:r>
              <a:rPr lang="en-US" sz="1434" b="0" i="0" u="none" strike="noStrike" cap="none">
                <a:solidFill>
                  <a:srgbClr val="7FB3D0"/>
                </a:solidFill>
                <a:latin typeface="Calibri"/>
                <a:ea typeface="Calibri"/>
                <a:cs typeface="Calibri"/>
                <a:sym typeface="Calibri"/>
              </a:rPr>
              <a:t>→ ROM safe</a:t>
            </a:r>
            <a:endParaRPr sz="143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5"/>
          <p:cNvSpPr/>
          <p:nvPr/>
        </p:nvSpPr>
        <p:spPr>
          <a:xfrm>
            <a:off x="5593039" y="7558784"/>
            <a:ext cx="4260600" cy="556800"/>
          </a:xfrm>
          <a:prstGeom prst="rect">
            <a:avLst/>
          </a:prstGeom>
          <a:solidFill>
            <a:srgbClr val="0D2840"/>
          </a:solidFill>
          <a:ln w="22775" cap="flat" cmpd="sng">
            <a:solidFill>
              <a:srgbClr val="0D2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3825" tIns="163825" rIns="163825" bIns="163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5"/>
          <p:cNvSpPr/>
          <p:nvPr/>
        </p:nvSpPr>
        <p:spPr>
          <a:xfrm>
            <a:off x="5511105" y="7558784"/>
            <a:ext cx="44247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290"/>
              <a:buFont typeface="Consolas"/>
              <a:buNone/>
            </a:pPr>
            <a:r>
              <a:rPr lang="en-US" sz="1290" b="0" i="1" u="none" strike="noStrike" cap="non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wr_sel[2:0] / rd_sel[2:0]  —  one-hot</a:t>
            </a:r>
            <a:endParaRPr sz="129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5"/>
          <p:cNvCxnSpPr/>
          <p:nvPr/>
        </p:nvCxnSpPr>
        <p:spPr>
          <a:xfrm>
            <a:off x="10099392" y="3199916"/>
            <a:ext cx="2539800" cy="0"/>
          </a:xfrm>
          <a:prstGeom prst="straightConnector1">
            <a:avLst/>
          </a:prstGeom>
          <a:noFill/>
          <a:ln w="56900" cap="flat" cmpd="sng">
            <a:solidFill>
              <a:srgbClr val="2D9E6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2" name="Google Shape;352;p5"/>
          <p:cNvSpPr/>
          <p:nvPr/>
        </p:nvSpPr>
        <p:spPr>
          <a:xfrm>
            <a:off x="12180508" y="2970502"/>
            <a:ext cx="4914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9E6B"/>
              </a:buClr>
              <a:buSzPts val="1971"/>
              <a:buFont typeface="Calibri"/>
              <a:buNone/>
            </a:pPr>
            <a:r>
              <a:rPr lang="en-US" sz="1971" b="0" i="0" u="none" strike="noStrike" cap="none">
                <a:solidFill>
                  <a:srgbClr val="2D9E6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97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5"/>
          <p:cNvSpPr/>
          <p:nvPr/>
        </p:nvSpPr>
        <p:spPr>
          <a:xfrm>
            <a:off x="10263259" y="2741088"/>
            <a:ext cx="16386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9E6B"/>
              </a:buClr>
              <a:buSzPts val="1344"/>
              <a:buFont typeface="Consolas"/>
              <a:buNone/>
            </a:pPr>
            <a:r>
              <a:rPr lang="en-US" sz="1344" b="0" i="0" u="none" strike="noStrike" cap="none">
                <a:solidFill>
                  <a:srgbClr val="2D9E6B"/>
                </a:solidFill>
                <a:latin typeface="Consolas"/>
                <a:ea typeface="Consolas"/>
                <a:cs typeface="Consolas"/>
                <a:sym typeface="Consolas"/>
              </a:rPr>
              <a:t>sel=3'b001</a:t>
            </a:r>
            <a:endParaRPr sz="134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5"/>
          <p:cNvSpPr/>
          <p:nvPr/>
        </p:nvSpPr>
        <p:spPr>
          <a:xfrm>
            <a:off x="12639337" y="2462514"/>
            <a:ext cx="3605400" cy="1474500"/>
          </a:xfrm>
          <a:prstGeom prst="rect">
            <a:avLst/>
          </a:prstGeom>
          <a:solidFill>
            <a:srgbClr val="FFFFFF"/>
          </a:solidFill>
          <a:ln w="45525" cap="flat" cmpd="sng">
            <a:solidFill>
              <a:srgbClr val="2D9E6B"/>
            </a:solidFill>
            <a:prstDash val="solid"/>
            <a:round/>
            <a:headEnd type="none" w="sm" len="sm"/>
            <a:tailEnd type="none" w="sm" len="sm"/>
          </a:ln>
          <a:effectLst>
            <a:outerShdw blurRad="136556" dist="45519" dir="8100000" algn="bl" rotWithShape="0">
              <a:srgbClr val="000000">
                <a:alpha val="14120"/>
              </a:srgbClr>
            </a:outerShdw>
          </a:effectLst>
        </p:spPr>
        <p:txBody>
          <a:bodyPr spcFirstLastPara="1" wrap="square" lIns="163825" tIns="163825" rIns="163825" bIns="163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5"/>
          <p:cNvSpPr/>
          <p:nvPr/>
        </p:nvSpPr>
        <p:spPr>
          <a:xfrm>
            <a:off x="12639337" y="2462514"/>
            <a:ext cx="295200" cy="1474500"/>
          </a:xfrm>
          <a:prstGeom prst="rect">
            <a:avLst/>
          </a:prstGeom>
          <a:solidFill>
            <a:srgbClr val="2D9E6B"/>
          </a:solidFill>
          <a:ln w="22775" cap="flat" cmpd="sng">
            <a:solidFill>
              <a:srgbClr val="2D9E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3825" tIns="163825" rIns="163825" bIns="163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5"/>
          <p:cNvSpPr/>
          <p:nvPr/>
        </p:nvSpPr>
        <p:spPr>
          <a:xfrm>
            <a:off x="13065392" y="2528061"/>
            <a:ext cx="30807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9E6B"/>
              </a:buClr>
              <a:buSzPts val="2509"/>
              <a:buFont typeface="Calibri"/>
              <a:buNone/>
            </a:pPr>
            <a:r>
              <a:rPr lang="en-US" sz="2509" b="1" i="0" u="none" strike="noStrike" cap="none">
                <a:solidFill>
                  <a:srgbClr val="2D9E6B"/>
                </a:solidFill>
                <a:latin typeface="Calibri"/>
                <a:ea typeface="Calibri"/>
                <a:cs typeface="Calibri"/>
                <a:sym typeface="Calibri"/>
              </a:rPr>
              <a:t>ROM</a:t>
            </a:r>
            <a:endParaRPr sz="250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5"/>
          <p:cNvSpPr/>
          <p:nvPr/>
        </p:nvSpPr>
        <p:spPr>
          <a:xfrm>
            <a:off x="13065392" y="3150756"/>
            <a:ext cx="30807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6080"/>
              </a:buClr>
              <a:buSzPts val="1613"/>
              <a:buFont typeface="Consolas"/>
              <a:buNone/>
            </a:pPr>
            <a:r>
              <a:rPr lang="en-US" sz="1613" b="0" i="0" u="none" strike="noStrike" cap="none">
                <a:solidFill>
                  <a:srgbClr val="3A6080"/>
                </a:solidFill>
                <a:latin typeface="Consolas"/>
                <a:ea typeface="Consolas"/>
                <a:cs typeface="Consolas"/>
                <a:sym typeface="Consolas"/>
              </a:rPr>
              <a:t>S0 — AXI-Lite</a:t>
            </a:r>
            <a:endParaRPr sz="161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6080"/>
              </a:buClr>
              <a:buSzPts val="1613"/>
              <a:buFont typeface="Consolas"/>
              <a:buNone/>
            </a:pPr>
            <a:r>
              <a:rPr lang="en-US" sz="1613" b="0" i="0" u="none" strike="noStrike" cap="none">
                <a:solidFill>
                  <a:srgbClr val="3A6080"/>
                </a:solidFill>
                <a:latin typeface="Consolas"/>
                <a:ea typeface="Consolas"/>
                <a:cs typeface="Consolas"/>
                <a:sym typeface="Consolas"/>
              </a:rPr>
              <a:t>0x0000_0000</a:t>
            </a:r>
            <a:endParaRPr sz="161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5"/>
          <p:cNvCxnSpPr/>
          <p:nvPr/>
        </p:nvCxnSpPr>
        <p:spPr>
          <a:xfrm>
            <a:off x="10099392" y="4592788"/>
            <a:ext cx="2539800" cy="0"/>
          </a:xfrm>
          <a:prstGeom prst="straightConnector1">
            <a:avLst/>
          </a:prstGeom>
          <a:noFill/>
          <a:ln w="569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9" name="Google Shape;359;p5"/>
          <p:cNvSpPr/>
          <p:nvPr/>
        </p:nvSpPr>
        <p:spPr>
          <a:xfrm>
            <a:off x="12180508" y="4363374"/>
            <a:ext cx="4914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820A"/>
              </a:buClr>
              <a:buSzPts val="1971"/>
              <a:buFont typeface="Calibri"/>
              <a:buNone/>
            </a:pPr>
            <a:r>
              <a:rPr lang="en-US" sz="1971" b="0" i="0" u="none" strike="noStrike" cap="none">
                <a:solidFill>
                  <a:srgbClr val="D4820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97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5"/>
          <p:cNvSpPr/>
          <p:nvPr/>
        </p:nvSpPr>
        <p:spPr>
          <a:xfrm>
            <a:off x="10263259" y="4133959"/>
            <a:ext cx="16386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820A"/>
              </a:buClr>
              <a:buSzPts val="1344"/>
              <a:buFont typeface="Consolas"/>
              <a:buNone/>
            </a:pPr>
            <a:r>
              <a:rPr lang="en-US" sz="1344" b="0" i="0" u="none" strike="noStrike" cap="none">
                <a:solidFill>
                  <a:srgbClr val="D4820A"/>
                </a:solidFill>
                <a:latin typeface="Consolas"/>
                <a:ea typeface="Consolas"/>
                <a:cs typeface="Consolas"/>
                <a:sym typeface="Consolas"/>
              </a:rPr>
              <a:t>sel=3'b010</a:t>
            </a:r>
            <a:endParaRPr sz="134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5"/>
          <p:cNvSpPr/>
          <p:nvPr/>
        </p:nvSpPr>
        <p:spPr>
          <a:xfrm>
            <a:off x="12639337" y="3855385"/>
            <a:ext cx="3605400" cy="1474500"/>
          </a:xfrm>
          <a:prstGeom prst="rect">
            <a:avLst/>
          </a:prstGeom>
          <a:solidFill>
            <a:srgbClr val="FFFFFF"/>
          </a:solidFill>
          <a:ln w="45525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  <a:effectLst>
            <a:outerShdw blurRad="136556" dist="45519" dir="8100000" algn="bl" rotWithShape="0">
              <a:srgbClr val="000000">
                <a:alpha val="14120"/>
              </a:srgbClr>
            </a:outerShdw>
          </a:effectLst>
        </p:spPr>
        <p:txBody>
          <a:bodyPr spcFirstLastPara="1" wrap="square" lIns="163825" tIns="163825" rIns="163825" bIns="163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5"/>
          <p:cNvSpPr/>
          <p:nvPr/>
        </p:nvSpPr>
        <p:spPr>
          <a:xfrm>
            <a:off x="12639337" y="3855385"/>
            <a:ext cx="295200" cy="1474500"/>
          </a:xfrm>
          <a:prstGeom prst="rect">
            <a:avLst/>
          </a:prstGeom>
          <a:solidFill>
            <a:srgbClr val="D4820A"/>
          </a:solidFill>
          <a:ln w="22775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3825" tIns="163825" rIns="163825" bIns="163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5"/>
          <p:cNvSpPr/>
          <p:nvPr/>
        </p:nvSpPr>
        <p:spPr>
          <a:xfrm>
            <a:off x="13065392" y="3920932"/>
            <a:ext cx="30807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820A"/>
              </a:buClr>
              <a:buSzPts val="2509"/>
              <a:buFont typeface="Calibri"/>
              <a:buNone/>
            </a:pPr>
            <a:r>
              <a:rPr lang="en-US" sz="2509" b="1" i="0" u="none" strike="noStrike" cap="none">
                <a:solidFill>
                  <a:srgbClr val="D4820A"/>
                </a:solidFill>
                <a:latin typeface="Calibri"/>
                <a:ea typeface="Calibri"/>
                <a:cs typeface="Calibri"/>
                <a:sym typeface="Calibri"/>
              </a:rPr>
              <a:t>SRAM</a:t>
            </a:r>
            <a:endParaRPr sz="250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5"/>
          <p:cNvSpPr/>
          <p:nvPr/>
        </p:nvSpPr>
        <p:spPr>
          <a:xfrm>
            <a:off x="13065392" y="4543627"/>
            <a:ext cx="30807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6080"/>
              </a:buClr>
              <a:buSzPts val="1613"/>
              <a:buFont typeface="Consolas"/>
              <a:buNone/>
            </a:pPr>
            <a:r>
              <a:rPr lang="en-US" sz="1613" b="0" i="0" u="none" strike="noStrike" cap="none">
                <a:solidFill>
                  <a:srgbClr val="3A6080"/>
                </a:solidFill>
                <a:latin typeface="Consolas"/>
                <a:ea typeface="Consolas"/>
                <a:cs typeface="Consolas"/>
                <a:sym typeface="Consolas"/>
              </a:rPr>
              <a:t>S1 — AXI-Lite</a:t>
            </a:r>
            <a:endParaRPr sz="161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6080"/>
              </a:buClr>
              <a:buSzPts val="1613"/>
              <a:buFont typeface="Consolas"/>
              <a:buNone/>
            </a:pPr>
            <a:r>
              <a:rPr lang="en-US" sz="1613" b="0" i="0" u="none" strike="noStrike" cap="none">
                <a:solidFill>
                  <a:srgbClr val="3A6080"/>
                </a:solidFill>
                <a:latin typeface="Consolas"/>
                <a:ea typeface="Consolas"/>
                <a:cs typeface="Consolas"/>
                <a:sym typeface="Consolas"/>
              </a:rPr>
              <a:t>0x0001_0000</a:t>
            </a:r>
            <a:endParaRPr sz="161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p5"/>
          <p:cNvCxnSpPr/>
          <p:nvPr/>
        </p:nvCxnSpPr>
        <p:spPr>
          <a:xfrm>
            <a:off x="10099392" y="5985659"/>
            <a:ext cx="2539800" cy="0"/>
          </a:xfrm>
          <a:prstGeom prst="straightConnector1">
            <a:avLst/>
          </a:prstGeom>
          <a:noFill/>
          <a:ln w="569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6" name="Google Shape;366;p5"/>
          <p:cNvSpPr/>
          <p:nvPr/>
        </p:nvSpPr>
        <p:spPr>
          <a:xfrm>
            <a:off x="12180508" y="5756245"/>
            <a:ext cx="4914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971"/>
              <a:buFont typeface="Calibri"/>
              <a:buNone/>
            </a:pPr>
            <a:r>
              <a:rPr lang="en-US" sz="1971" b="0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97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5"/>
          <p:cNvSpPr/>
          <p:nvPr/>
        </p:nvSpPr>
        <p:spPr>
          <a:xfrm>
            <a:off x="10263259" y="5526831"/>
            <a:ext cx="16386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44"/>
              <a:buFont typeface="Consolas"/>
              <a:buNone/>
            </a:pPr>
            <a:r>
              <a:rPr lang="en-US" sz="1344" b="0" i="0" u="none" strike="noStrike" cap="non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sel=3'b100</a:t>
            </a:r>
            <a:endParaRPr sz="134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5"/>
          <p:cNvSpPr/>
          <p:nvPr/>
        </p:nvSpPr>
        <p:spPr>
          <a:xfrm>
            <a:off x="12639337" y="5248257"/>
            <a:ext cx="3605400" cy="1474500"/>
          </a:xfrm>
          <a:prstGeom prst="rect">
            <a:avLst/>
          </a:prstGeom>
          <a:solidFill>
            <a:srgbClr val="FFFFFF"/>
          </a:solidFill>
          <a:ln w="455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136556" dist="45519" dir="8100000" algn="bl" rotWithShape="0">
              <a:srgbClr val="000000">
                <a:alpha val="14120"/>
              </a:srgbClr>
            </a:outerShdw>
          </a:effectLst>
        </p:spPr>
        <p:txBody>
          <a:bodyPr spcFirstLastPara="1" wrap="square" lIns="163825" tIns="163825" rIns="163825" bIns="163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5"/>
          <p:cNvSpPr/>
          <p:nvPr/>
        </p:nvSpPr>
        <p:spPr>
          <a:xfrm>
            <a:off x="12639337" y="5248257"/>
            <a:ext cx="295200" cy="1474500"/>
          </a:xfrm>
          <a:prstGeom prst="rect">
            <a:avLst/>
          </a:prstGeom>
          <a:solidFill>
            <a:srgbClr val="C0392B"/>
          </a:solidFill>
          <a:ln w="2277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3825" tIns="163825" rIns="163825" bIns="163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5"/>
          <p:cNvSpPr/>
          <p:nvPr/>
        </p:nvSpPr>
        <p:spPr>
          <a:xfrm>
            <a:off x="13065392" y="5313803"/>
            <a:ext cx="30807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509"/>
              <a:buFont typeface="Calibri"/>
              <a:buNone/>
            </a:pPr>
            <a:r>
              <a:rPr lang="en-US" sz="2509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UART</a:t>
            </a:r>
            <a:endParaRPr sz="250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5"/>
          <p:cNvSpPr/>
          <p:nvPr/>
        </p:nvSpPr>
        <p:spPr>
          <a:xfrm>
            <a:off x="13065392" y="5936499"/>
            <a:ext cx="30807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6080"/>
              </a:buClr>
              <a:buSzPts val="1613"/>
              <a:buFont typeface="Consolas"/>
              <a:buNone/>
            </a:pPr>
            <a:r>
              <a:rPr lang="en-US" sz="1613" b="0" i="0" u="none" strike="noStrike" cap="none">
                <a:solidFill>
                  <a:srgbClr val="3A6080"/>
                </a:solidFill>
                <a:latin typeface="Consolas"/>
                <a:ea typeface="Consolas"/>
                <a:cs typeface="Consolas"/>
                <a:sym typeface="Consolas"/>
              </a:rPr>
              <a:t>S2 — AXI-Lite</a:t>
            </a:r>
            <a:endParaRPr sz="161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6080"/>
              </a:buClr>
              <a:buSzPts val="1613"/>
              <a:buFont typeface="Consolas"/>
              <a:buNone/>
            </a:pPr>
            <a:r>
              <a:rPr lang="en-US" sz="1613" b="0" i="0" u="none" strike="noStrike" cap="none">
                <a:solidFill>
                  <a:srgbClr val="3A6080"/>
                </a:solidFill>
                <a:latin typeface="Consolas"/>
                <a:ea typeface="Consolas"/>
                <a:cs typeface="Consolas"/>
                <a:sym typeface="Consolas"/>
              </a:rPr>
              <a:t>0x1000_0000</a:t>
            </a:r>
            <a:endParaRPr sz="161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5"/>
          <p:cNvSpPr/>
          <p:nvPr/>
        </p:nvSpPr>
        <p:spPr>
          <a:xfrm>
            <a:off x="971979" y="8689468"/>
            <a:ext cx="15468900" cy="1147200"/>
          </a:xfrm>
          <a:prstGeom prst="rect">
            <a:avLst/>
          </a:prstGeom>
          <a:solidFill>
            <a:srgbClr val="FFFFFF"/>
          </a:solidFill>
          <a:ln w="22775" cap="flat" cmpd="sng">
            <a:solidFill>
              <a:srgbClr val="ACD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3825" tIns="163825" rIns="163825" bIns="163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5"/>
          <p:cNvSpPr/>
          <p:nvPr/>
        </p:nvSpPr>
        <p:spPr>
          <a:xfrm>
            <a:off x="971979" y="8689468"/>
            <a:ext cx="295200" cy="1147200"/>
          </a:xfrm>
          <a:prstGeom prst="rect">
            <a:avLst/>
          </a:prstGeom>
          <a:solidFill>
            <a:srgbClr val="1A9DD9"/>
          </a:solidFill>
          <a:ln w="22775" cap="flat" cmpd="sng">
            <a:solidFill>
              <a:srgbClr val="1A9D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3825" tIns="163825" rIns="163825" bIns="163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5"/>
          <p:cNvSpPr/>
          <p:nvPr/>
        </p:nvSpPr>
        <p:spPr>
          <a:xfrm>
            <a:off x="1398034" y="8738629"/>
            <a:ext cx="14912100" cy="10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792"/>
              <a:buFont typeface="Calibri"/>
              <a:buNone/>
            </a:pPr>
            <a:r>
              <a:rPr lang="en-US" sz="1792" b="1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Key: </a:t>
            </a:r>
            <a:r>
              <a:rPr lang="en-US" sz="1792" b="0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Address bits [31:16] select the slave.  </a:t>
            </a:r>
            <a:r>
              <a:rPr lang="en-US" sz="1792" b="1" i="0" u="none" strike="noStrike" cap="none">
                <a:solidFill>
                  <a:srgbClr val="1A5276"/>
                </a:solidFill>
                <a:latin typeface="Consolas"/>
                <a:ea typeface="Consolas"/>
                <a:cs typeface="Consolas"/>
                <a:sym typeface="Consolas"/>
              </a:rPr>
              <a:t>casez</a:t>
            </a:r>
            <a:r>
              <a:rPr lang="en-US" sz="1792" b="0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 wildcard '?' masks lower nibbles.  AXI backpressure: AWREADY/WREADY go LOW when </a:t>
            </a:r>
            <a:r>
              <a:rPr lang="en-US" sz="1792" b="1" i="0" u="none" strike="noStrike" cap="none">
                <a:solidFill>
                  <a:srgbClr val="1A5276"/>
                </a:solidFill>
                <a:latin typeface="Consolas"/>
                <a:ea typeface="Consolas"/>
                <a:cs typeface="Consolas"/>
                <a:sym typeface="Consolas"/>
              </a:rPr>
              <a:t>buf_valid=1</a:t>
            </a:r>
            <a:r>
              <a:rPr lang="en-US" sz="1792" b="0" i="0" u="none" strike="noStrike" cap="non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 (UART busy).</a:t>
            </a:r>
            <a:endParaRPr sz="179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"/>
          <p:cNvSpPr/>
          <p:nvPr/>
        </p:nvSpPr>
        <p:spPr>
          <a:xfrm>
            <a:off x="900436" y="1247325"/>
            <a:ext cx="15891000" cy="9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 Block Diagram — CPU → AXI → Decoder → UART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6"/>
          <p:cNvSpPr/>
          <p:nvPr/>
        </p:nvSpPr>
        <p:spPr>
          <a:xfrm>
            <a:off x="900425" y="3997675"/>
            <a:ext cx="2869200" cy="18453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385" name="Google Shape;385;p6"/>
          <p:cNvSpPr/>
          <p:nvPr/>
        </p:nvSpPr>
        <p:spPr>
          <a:xfrm>
            <a:off x="900425" y="4106209"/>
            <a:ext cx="2869200" cy="10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PicoRV32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6"/>
          <p:cNvSpPr/>
          <p:nvPr/>
        </p:nvSpPr>
        <p:spPr>
          <a:xfrm>
            <a:off x="900425" y="5213252"/>
            <a:ext cx="28692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800"/>
              <a:buFont typeface="Calibri"/>
              <a:buNone/>
            </a:pPr>
            <a:r>
              <a:rPr lang="en-US" sz="1700" b="0" i="0" u="none" strike="noStrike" cap="non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mem_valid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800"/>
              <a:buFont typeface="Calibri"/>
              <a:buNone/>
            </a:pPr>
            <a:r>
              <a:rPr lang="en-US" sz="1700" b="0" i="0" u="none" strike="noStrike" cap="non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mem_addr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6"/>
          <p:cNvSpPr/>
          <p:nvPr/>
        </p:nvSpPr>
        <p:spPr>
          <a:xfrm>
            <a:off x="4397027" y="3997675"/>
            <a:ext cx="2869200" cy="1845300"/>
          </a:xfrm>
          <a:prstGeom prst="rect">
            <a:avLst/>
          </a:prstGeom>
          <a:solidFill>
            <a:srgbClr val="00897B"/>
          </a:solidFill>
          <a:ln w="12700" cap="flat" cmpd="sng">
            <a:solidFill>
              <a:srgbClr val="00897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388" name="Google Shape;388;p6"/>
          <p:cNvSpPr/>
          <p:nvPr/>
        </p:nvSpPr>
        <p:spPr>
          <a:xfrm>
            <a:off x="4397027" y="4106209"/>
            <a:ext cx="2869200" cy="10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AXI-Lite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Bridge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6"/>
          <p:cNvSpPr/>
          <p:nvPr/>
        </p:nvSpPr>
        <p:spPr>
          <a:xfrm>
            <a:off x="4397027" y="5213252"/>
            <a:ext cx="28692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800"/>
              <a:buFont typeface="Calibri"/>
              <a:buNone/>
            </a:pPr>
            <a:r>
              <a:rPr lang="en-US" sz="1500" b="0" i="0" u="none" strike="noStrike" cap="non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top.v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6"/>
          <p:cNvSpPr/>
          <p:nvPr/>
        </p:nvSpPr>
        <p:spPr>
          <a:xfrm>
            <a:off x="7710775" y="3997825"/>
            <a:ext cx="2794200" cy="1845300"/>
          </a:xfrm>
          <a:prstGeom prst="rect">
            <a:avLst/>
          </a:prstGeom>
          <a:solidFill>
            <a:srgbClr val="7B1FA2"/>
          </a:solidFill>
          <a:ln w="12700" cap="flat" cmpd="sng">
            <a:solidFill>
              <a:srgbClr val="7B1FA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391" name="Google Shape;391;p6"/>
          <p:cNvSpPr/>
          <p:nvPr/>
        </p:nvSpPr>
        <p:spPr>
          <a:xfrm>
            <a:off x="7710775" y="4106353"/>
            <a:ext cx="2794200" cy="10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AXI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Interconnect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6"/>
          <p:cNvSpPr/>
          <p:nvPr/>
        </p:nvSpPr>
        <p:spPr>
          <a:xfrm>
            <a:off x="7710775" y="5213335"/>
            <a:ext cx="27942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800"/>
              <a:buFont typeface="Calibri"/>
              <a:buNone/>
            </a:pPr>
            <a:r>
              <a:rPr lang="en-US" sz="1500" b="0" i="0" u="none" strike="noStrike" cap="non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axi_interconnect.v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6"/>
          <p:cNvSpPr/>
          <p:nvPr/>
        </p:nvSpPr>
        <p:spPr>
          <a:xfrm>
            <a:off x="11115950" y="3997825"/>
            <a:ext cx="2794200" cy="1845300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394" name="Google Shape;394;p6"/>
          <p:cNvSpPr/>
          <p:nvPr/>
        </p:nvSpPr>
        <p:spPr>
          <a:xfrm>
            <a:off x="11115950" y="4106353"/>
            <a:ext cx="2794200" cy="10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Decoder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6"/>
          <p:cNvSpPr/>
          <p:nvPr/>
        </p:nvSpPr>
        <p:spPr>
          <a:xfrm>
            <a:off x="11115950" y="5213335"/>
            <a:ext cx="27942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800"/>
              <a:buFont typeface="Calibri"/>
              <a:buNone/>
            </a:pPr>
            <a:r>
              <a:rPr lang="en-US" sz="1500" b="0" i="0" u="none" strike="noStrike" cap="non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axi_decoder.v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6"/>
          <p:cNvCxnSpPr/>
          <p:nvPr/>
        </p:nvCxnSpPr>
        <p:spPr>
          <a:xfrm>
            <a:off x="3769432" y="4920211"/>
            <a:ext cx="627600" cy="0"/>
          </a:xfrm>
          <a:prstGeom prst="straightConnector1">
            <a:avLst/>
          </a:prstGeom>
          <a:noFill/>
          <a:ln w="254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7" name="Google Shape;397;p6"/>
          <p:cNvCxnSpPr/>
          <p:nvPr/>
        </p:nvCxnSpPr>
        <p:spPr>
          <a:xfrm>
            <a:off x="7099594" y="4929255"/>
            <a:ext cx="611100" cy="0"/>
          </a:xfrm>
          <a:prstGeom prst="straightConnector1">
            <a:avLst/>
          </a:prstGeom>
          <a:noFill/>
          <a:ln w="254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8" name="Google Shape;398;p6"/>
          <p:cNvCxnSpPr/>
          <p:nvPr/>
        </p:nvCxnSpPr>
        <p:spPr>
          <a:xfrm>
            <a:off x="10504765" y="4920310"/>
            <a:ext cx="611100" cy="0"/>
          </a:xfrm>
          <a:prstGeom prst="straightConnector1">
            <a:avLst/>
          </a:prstGeom>
          <a:noFill/>
          <a:ln w="254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9" name="Google Shape;399;p6"/>
          <p:cNvSpPr/>
          <p:nvPr/>
        </p:nvSpPr>
        <p:spPr>
          <a:xfrm>
            <a:off x="14784278" y="1897650"/>
            <a:ext cx="2720700" cy="14247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400" name="Google Shape;400;p6"/>
          <p:cNvSpPr/>
          <p:nvPr/>
        </p:nvSpPr>
        <p:spPr>
          <a:xfrm>
            <a:off x="14784278" y="1976800"/>
            <a:ext cx="27207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ROM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6"/>
          <p:cNvSpPr/>
          <p:nvPr/>
        </p:nvSpPr>
        <p:spPr>
          <a:xfrm>
            <a:off x="14784278" y="2609997"/>
            <a:ext cx="2720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CBC"/>
              </a:buClr>
              <a:buSzPts val="800"/>
              <a:buFont typeface="Calibri"/>
              <a:buNone/>
            </a:pPr>
            <a:r>
              <a:rPr lang="en-US" sz="1700" b="0" i="0" u="none" strike="noStrike" cap="none">
                <a:solidFill>
                  <a:srgbClr val="FFCCBC"/>
                </a:solidFill>
                <a:latin typeface="Calibri"/>
                <a:ea typeface="Calibri"/>
                <a:cs typeface="Calibri"/>
                <a:sym typeface="Calibri"/>
              </a:rPr>
              <a:t>S0 — 0x0000_????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6"/>
          <p:cNvSpPr/>
          <p:nvPr/>
        </p:nvSpPr>
        <p:spPr>
          <a:xfrm>
            <a:off x="14784278" y="3876391"/>
            <a:ext cx="2720700" cy="142470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403" name="Google Shape;403;p6"/>
          <p:cNvSpPr/>
          <p:nvPr/>
        </p:nvSpPr>
        <p:spPr>
          <a:xfrm>
            <a:off x="14784278" y="3955541"/>
            <a:ext cx="27207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SRAM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6"/>
          <p:cNvSpPr/>
          <p:nvPr/>
        </p:nvSpPr>
        <p:spPr>
          <a:xfrm>
            <a:off x="14784278" y="4588738"/>
            <a:ext cx="2720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CBC"/>
              </a:buClr>
              <a:buSzPts val="800"/>
              <a:buFont typeface="Calibri"/>
              <a:buNone/>
            </a:pPr>
            <a:r>
              <a:rPr lang="en-US" sz="1700" b="0" i="0" u="none" strike="noStrike" cap="none">
                <a:solidFill>
                  <a:srgbClr val="FFCCBC"/>
                </a:solidFill>
                <a:latin typeface="Calibri"/>
                <a:ea typeface="Calibri"/>
                <a:cs typeface="Calibri"/>
                <a:sym typeface="Calibri"/>
              </a:rPr>
              <a:t>S1 — 0x0001_????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6"/>
          <p:cNvSpPr/>
          <p:nvPr/>
        </p:nvSpPr>
        <p:spPr>
          <a:xfrm>
            <a:off x="14784278" y="5855132"/>
            <a:ext cx="2720700" cy="1424700"/>
          </a:xfrm>
          <a:prstGeom prst="rect">
            <a:avLst/>
          </a:prstGeom>
          <a:solidFill>
            <a:srgbClr val="C62828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406" name="Google Shape;406;p6"/>
          <p:cNvSpPr/>
          <p:nvPr/>
        </p:nvSpPr>
        <p:spPr>
          <a:xfrm>
            <a:off x="14784278" y="5934282"/>
            <a:ext cx="27207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6"/>
          <p:cNvSpPr/>
          <p:nvPr/>
        </p:nvSpPr>
        <p:spPr>
          <a:xfrm>
            <a:off x="14784278" y="6567479"/>
            <a:ext cx="2720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CBC"/>
              </a:buClr>
              <a:buSzPts val="800"/>
              <a:buFont typeface="Calibri"/>
              <a:buNone/>
            </a:pPr>
            <a:r>
              <a:rPr lang="en-US" sz="1700" b="0" i="0" u="none" strike="noStrike" cap="none">
                <a:solidFill>
                  <a:srgbClr val="FFCCBC"/>
                </a:solidFill>
                <a:latin typeface="Calibri"/>
                <a:ea typeface="Calibri"/>
                <a:cs typeface="Calibri"/>
                <a:sym typeface="Calibri"/>
              </a:rPr>
              <a:t>S2 — 0x1000_000?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6"/>
          <p:cNvCxnSpPr/>
          <p:nvPr/>
        </p:nvCxnSpPr>
        <p:spPr>
          <a:xfrm>
            <a:off x="13909950" y="2609997"/>
            <a:ext cx="874200" cy="0"/>
          </a:xfrm>
          <a:prstGeom prst="straightConnector1">
            <a:avLst/>
          </a:prstGeom>
          <a:noFill/>
          <a:ln w="19050" cap="flat" cmpd="sng">
            <a:solidFill>
              <a:srgbClr val="FFA72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9" name="Google Shape;409;p6"/>
          <p:cNvCxnSpPr/>
          <p:nvPr/>
        </p:nvCxnSpPr>
        <p:spPr>
          <a:xfrm>
            <a:off x="13909950" y="4588738"/>
            <a:ext cx="874200" cy="0"/>
          </a:xfrm>
          <a:prstGeom prst="straightConnector1">
            <a:avLst/>
          </a:prstGeom>
          <a:noFill/>
          <a:ln w="19050" cap="flat" cmpd="sng">
            <a:solidFill>
              <a:srgbClr val="FFA72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0" name="Google Shape;410;p6"/>
          <p:cNvCxnSpPr/>
          <p:nvPr/>
        </p:nvCxnSpPr>
        <p:spPr>
          <a:xfrm>
            <a:off x="13909950" y="6567479"/>
            <a:ext cx="874200" cy="0"/>
          </a:xfrm>
          <a:prstGeom prst="straightConnector1">
            <a:avLst/>
          </a:prstGeom>
          <a:noFill/>
          <a:ln w="19050" cap="flat" cmpd="sng">
            <a:solidFill>
              <a:srgbClr val="FFA72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1" name="Google Shape;411;p6"/>
          <p:cNvCxnSpPr/>
          <p:nvPr/>
        </p:nvCxnSpPr>
        <p:spPr>
          <a:xfrm flipH="1">
            <a:off x="13909850" y="2599575"/>
            <a:ext cx="36900" cy="3971100"/>
          </a:xfrm>
          <a:prstGeom prst="straightConnector1">
            <a:avLst/>
          </a:prstGeom>
          <a:noFill/>
          <a:ln w="19050" cap="flat" cmpd="sng">
            <a:solidFill>
              <a:srgbClr val="FFA72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2" name="Google Shape;412;p6"/>
          <p:cNvSpPr/>
          <p:nvPr/>
        </p:nvSpPr>
        <p:spPr>
          <a:xfrm>
            <a:off x="900425" y="6570604"/>
            <a:ext cx="13271400" cy="3193500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13" name="Google Shape;413;p6"/>
          <p:cNvSpPr/>
          <p:nvPr/>
        </p:nvSpPr>
        <p:spPr>
          <a:xfrm>
            <a:off x="1162362" y="6748047"/>
            <a:ext cx="127473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8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Signal Flow (AXI Write Path):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6"/>
          <p:cNvSpPr/>
          <p:nvPr/>
        </p:nvSpPr>
        <p:spPr>
          <a:xfrm>
            <a:off x="1249674" y="7369098"/>
            <a:ext cx="127473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950"/>
              <a:buFont typeface="Calibri"/>
              <a:buNone/>
            </a:pPr>
            <a:r>
              <a:rPr lang="en-US" sz="1800" b="0" i="0" u="none" strike="noStrike" cap="none">
                <a:solidFill>
                  <a:srgbClr val="1A2E52"/>
                </a:solidFill>
                <a:latin typeface="Calibri"/>
                <a:ea typeface="Calibri"/>
                <a:cs typeface="Calibri"/>
                <a:sym typeface="Calibri"/>
              </a:rPr>
              <a:t>① CPU issues mem_valid + mem_addr = 0x1000_0000 on native bus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6"/>
          <p:cNvSpPr/>
          <p:nvPr/>
        </p:nvSpPr>
        <p:spPr>
          <a:xfrm>
            <a:off x="1249674" y="7812706"/>
            <a:ext cx="127473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950"/>
              <a:buFont typeface="Calibri"/>
              <a:buNone/>
            </a:pPr>
            <a:r>
              <a:rPr lang="en-US" sz="1800" b="0" i="0" u="none" strike="noStrike" cap="none">
                <a:solidFill>
                  <a:srgbClr val="1A2E52"/>
                </a:solidFill>
                <a:latin typeface="Calibri"/>
                <a:ea typeface="Calibri"/>
                <a:cs typeface="Calibri"/>
                <a:sym typeface="Calibri"/>
              </a:rPr>
              <a:t>② AXI bridge translates to m_axi_awaddr + awvalid handshake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6"/>
          <p:cNvSpPr/>
          <p:nvPr/>
        </p:nvSpPr>
        <p:spPr>
          <a:xfrm>
            <a:off x="1249674" y="8256314"/>
            <a:ext cx="127473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950"/>
              <a:buFont typeface="Calibri"/>
              <a:buNone/>
            </a:pPr>
            <a:r>
              <a:rPr lang="en-US" sz="1800" b="0" i="0" u="none" strike="noStrike" cap="none">
                <a:solidFill>
                  <a:srgbClr val="1A2E52"/>
                </a:solidFill>
                <a:latin typeface="Calibri"/>
                <a:ea typeface="Calibri"/>
                <a:cs typeface="Calibri"/>
                <a:sym typeface="Calibri"/>
              </a:rPr>
              <a:t>③ Interconnect fans out awvalid to all slaves simultaneously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6"/>
          <p:cNvSpPr/>
          <p:nvPr/>
        </p:nvSpPr>
        <p:spPr>
          <a:xfrm>
            <a:off x="1249674" y="8699922"/>
            <a:ext cx="127473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950"/>
              <a:buFont typeface="Calibri"/>
              <a:buNone/>
            </a:pPr>
            <a:r>
              <a:rPr lang="en-US" sz="1800" b="0" i="0" u="none" strike="noStrike" cap="none">
                <a:solidFill>
                  <a:srgbClr val="1A2E52"/>
                </a:solidFill>
                <a:latin typeface="Calibri"/>
                <a:ea typeface="Calibri"/>
                <a:cs typeface="Calibri"/>
                <a:sym typeface="Calibri"/>
              </a:rPr>
              <a:t>④ Decoder sets wr_sel = 3'b100 → only uart_axi sees awvalid=1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"/>
          <p:cNvSpPr/>
          <p:nvPr/>
        </p:nvSpPr>
        <p:spPr>
          <a:xfrm>
            <a:off x="986975" y="1219925"/>
            <a:ext cx="16314000" cy="9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2600"/>
              <a:buFont typeface="Calibri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MMIO in C — UART Driver  (fw/main.c)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8"/>
          <p:cNvSpPr/>
          <p:nvPr/>
        </p:nvSpPr>
        <p:spPr>
          <a:xfrm>
            <a:off x="986975" y="2347216"/>
            <a:ext cx="9855300" cy="7150500"/>
          </a:xfrm>
          <a:prstGeom prst="rect">
            <a:avLst/>
          </a:prstGeom>
          <a:solidFill>
            <a:srgbClr val="1E1E2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28" name="Google Shape;428;p8"/>
          <p:cNvSpPr/>
          <p:nvPr/>
        </p:nvSpPr>
        <p:spPr>
          <a:xfrm>
            <a:off x="1162960" y="2431342"/>
            <a:ext cx="9503100" cy="5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A8D8"/>
              </a:buClr>
              <a:buSzPts val="950"/>
              <a:buFont typeface="Consolas"/>
              <a:buNone/>
            </a:pPr>
            <a:r>
              <a:rPr lang="en-US" sz="1800" b="1" i="0" u="none" strike="noStrike" cap="none">
                <a:solidFill>
                  <a:srgbClr val="7EA8D8"/>
                </a:solidFill>
                <a:latin typeface="Consolas"/>
                <a:ea typeface="Consolas"/>
                <a:cs typeface="Consolas"/>
                <a:sym typeface="Consolas"/>
              </a:rPr>
              <a:t>fw/main.c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8"/>
          <p:cNvSpPr/>
          <p:nvPr/>
        </p:nvSpPr>
        <p:spPr>
          <a:xfrm>
            <a:off x="1162960" y="3020226"/>
            <a:ext cx="94152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880"/>
              <a:buFont typeface="Consolas"/>
              <a:buNone/>
            </a:pPr>
            <a:r>
              <a:rPr lang="en-US" sz="1800" b="0" i="0" u="none" strike="noStrike" cap="non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/* UART register macros */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8"/>
          <p:cNvSpPr/>
          <p:nvPr/>
        </p:nvSpPr>
        <p:spPr>
          <a:xfrm>
            <a:off x="1162960" y="3314667"/>
            <a:ext cx="94152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880"/>
              <a:buFont typeface="Consolas"/>
              <a:buNone/>
            </a:pPr>
            <a:r>
              <a:rPr lang="en-US" sz="18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#define UART_TX     (*(volatile char*)0x10000000)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8"/>
          <p:cNvSpPr/>
          <p:nvPr/>
        </p:nvSpPr>
        <p:spPr>
          <a:xfrm>
            <a:off x="1162960" y="3609109"/>
            <a:ext cx="94152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880"/>
              <a:buFont typeface="Consolas"/>
              <a:buNone/>
            </a:pPr>
            <a:r>
              <a:rPr lang="en-US" sz="18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#define UART_RX     (*(volatile char*)0x10000004)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8"/>
          <p:cNvSpPr/>
          <p:nvPr/>
        </p:nvSpPr>
        <p:spPr>
          <a:xfrm>
            <a:off x="1162960" y="3903551"/>
            <a:ext cx="94152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880"/>
              <a:buFont typeface="Consolas"/>
              <a:buNone/>
            </a:pPr>
            <a:r>
              <a:rPr lang="en-US" sz="18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#define UART_STATUS (*(volatile int*) 0x10000008)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8"/>
          <p:cNvSpPr/>
          <p:nvPr/>
        </p:nvSpPr>
        <p:spPr>
          <a:xfrm>
            <a:off x="1162960" y="4492434"/>
            <a:ext cx="94152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880"/>
              <a:buFont typeface="Consolas"/>
              <a:buNone/>
            </a:pPr>
            <a:r>
              <a:rPr lang="en-US" sz="18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void uart_putc(char c) {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8"/>
          <p:cNvSpPr/>
          <p:nvPr/>
        </p:nvSpPr>
        <p:spPr>
          <a:xfrm>
            <a:off x="1162960" y="4786876"/>
            <a:ext cx="94152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80"/>
              <a:buFont typeface="Consolas"/>
              <a:buNone/>
            </a:pPr>
            <a:r>
              <a:rPr lang="en-US" sz="1800" b="0" i="0" u="none" strike="noStrike" cap="non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UART_TX = c;  /* AXI backpressure stalls CPU */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8"/>
          <p:cNvSpPr/>
          <p:nvPr/>
        </p:nvSpPr>
        <p:spPr>
          <a:xfrm>
            <a:off x="1162960" y="5081317"/>
            <a:ext cx="94152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80"/>
              <a:buFont typeface="Consolas"/>
              <a:buNone/>
            </a:pPr>
            <a:r>
              <a:rPr lang="en-US" sz="1800" b="0" i="0" u="none" strike="noStrike" cap="non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8"/>
          <p:cNvSpPr/>
          <p:nvPr/>
        </p:nvSpPr>
        <p:spPr>
          <a:xfrm>
            <a:off x="1162960" y="5670201"/>
            <a:ext cx="94152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880"/>
              <a:buFont typeface="Consolas"/>
              <a:buNone/>
            </a:pPr>
            <a:r>
              <a:rPr lang="en-US" sz="18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char uart_getc(void) {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8"/>
          <p:cNvSpPr/>
          <p:nvPr/>
        </p:nvSpPr>
        <p:spPr>
          <a:xfrm>
            <a:off x="1162960" y="5964642"/>
            <a:ext cx="94152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80"/>
              <a:buFont typeface="Consolas"/>
              <a:buNone/>
            </a:pPr>
            <a:r>
              <a:rPr lang="en-US" sz="18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  while (!(UART_STATUS &amp; 0x2));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8"/>
          <p:cNvSpPr/>
          <p:nvPr/>
        </p:nvSpPr>
        <p:spPr>
          <a:xfrm>
            <a:off x="1162960" y="6259084"/>
            <a:ext cx="94152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80"/>
              <a:buFont typeface="Consolas"/>
              <a:buNone/>
            </a:pPr>
            <a:r>
              <a:rPr lang="en-US" sz="1800" b="0" i="0" u="none" strike="noStrike" cap="non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return UART_RX;  /* clears rx_buf_valid */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8"/>
          <p:cNvSpPr/>
          <p:nvPr/>
        </p:nvSpPr>
        <p:spPr>
          <a:xfrm>
            <a:off x="1162960" y="6553526"/>
            <a:ext cx="94152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80"/>
              <a:buFont typeface="Consolas"/>
              <a:buNone/>
            </a:pPr>
            <a:r>
              <a:rPr lang="en-US" sz="1800" b="0" i="0" u="none" strike="noStrike" cap="non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8"/>
          <p:cNvSpPr/>
          <p:nvPr/>
        </p:nvSpPr>
        <p:spPr>
          <a:xfrm>
            <a:off x="1162960" y="7142409"/>
            <a:ext cx="94152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880"/>
              <a:buFont typeface="Consolas"/>
              <a:buNone/>
            </a:pPr>
            <a:r>
              <a:rPr lang="en-US" sz="18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void uart_puts(const char *s) {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8"/>
          <p:cNvSpPr/>
          <p:nvPr/>
        </p:nvSpPr>
        <p:spPr>
          <a:xfrm>
            <a:off x="1162960" y="7436851"/>
            <a:ext cx="94152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80"/>
              <a:buFont typeface="Consolas"/>
              <a:buNone/>
            </a:pPr>
            <a:r>
              <a:rPr lang="en-US" sz="1800" b="0" i="0" u="none" strike="noStrike" cap="non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while (*s) uart_putc(*s++);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8"/>
          <p:cNvSpPr/>
          <p:nvPr/>
        </p:nvSpPr>
        <p:spPr>
          <a:xfrm>
            <a:off x="1162960" y="7731292"/>
            <a:ext cx="94152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80"/>
              <a:buFont typeface="Consolas"/>
              <a:buNone/>
            </a:pPr>
            <a:r>
              <a:rPr lang="en-US" sz="1800" b="0" i="0" u="none" strike="noStrike" cap="non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8"/>
          <p:cNvSpPr/>
          <p:nvPr/>
        </p:nvSpPr>
        <p:spPr>
          <a:xfrm>
            <a:off x="11194125" y="2515475"/>
            <a:ext cx="6106800" cy="1531500"/>
          </a:xfrm>
          <a:prstGeom prst="rect">
            <a:avLst/>
          </a:prstGeom>
          <a:solidFill>
            <a:srgbClr val="F4F8FF"/>
          </a:solidFill>
          <a:ln w="95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4" name="Google Shape;444;p8"/>
          <p:cNvSpPr/>
          <p:nvPr/>
        </p:nvSpPr>
        <p:spPr>
          <a:xfrm>
            <a:off x="11194128" y="2515468"/>
            <a:ext cx="105900" cy="1430400"/>
          </a:xfrm>
          <a:prstGeom prst="rect">
            <a:avLst/>
          </a:prstGeom>
          <a:solidFill>
            <a:srgbClr val="1E88E5"/>
          </a:solidFill>
          <a:ln w="127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8"/>
          <p:cNvSpPr/>
          <p:nvPr/>
        </p:nvSpPr>
        <p:spPr>
          <a:xfrm>
            <a:off x="11416197" y="2641564"/>
            <a:ext cx="57369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00"/>
              <a:buFont typeface="Consolas"/>
              <a:buNone/>
            </a:pPr>
            <a:r>
              <a:rPr lang="en-US" sz="1800" b="1" i="0" u="none" strike="noStrike" cap="none">
                <a:solidFill>
                  <a:srgbClr val="0D2B5E"/>
                </a:solidFill>
                <a:latin typeface="Consolas"/>
                <a:ea typeface="Consolas"/>
                <a:cs typeface="Consolas"/>
                <a:sym typeface="Consolas"/>
              </a:rPr>
              <a:t>volatile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8"/>
          <p:cNvSpPr/>
          <p:nvPr/>
        </p:nvSpPr>
        <p:spPr>
          <a:xfrm>
            <a:off x="11416197" y="3145921"/>
            <a:ext cx="5736900" cy="7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900"/>
              <a:buFont typeface="Calibri"/>
              <a:buNone/>
            </a:pPr>
            <a:r>
              <a:rPr lang="en-US" sz="1800" b="0" i="0" u="none" strike="noStrike" cap="none">
                <a:solidFill>
                  <a:srgbClr val="1A2E52"/>
                </a:solidFill>
                <a:latin typeface="Calibri"/>
                <a:ea typeface="Calibri"/>
                <a:cs typeface="Calibri"/>
                <a:sym typeface="Calibri"/>
              </a:rPr>
              <a:t>Prevents compiler from caching the hardware register read/write — MANDATORY for MMIO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8"/>
          <p:cNvSpPr/>
          <p:nvPr/>
        </p:nvSpPr>
        <p:spPr>
          <a:xfrm>
            <a:off x="11194125" y="3956494"/>
            <a:ext cx="6106800" cy="1531500"/>
          </a:xfrm>
          <a:prstGeom prst="rect">
            <a:avLst/>
          </a:prstGeom>
          <a:solidFill>
            <a:srgbClr val="F4F8FF"/>
          </a:solidFill>
          <a:ln w="95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8" name="Google Shape;448;p8"/>
          <p:cNvSpPr/>
          <p:nvPr/>
        </p:nvSpPr>
        <p:spPr>
          <a:xfrm>
            <a:off x="11194128" y="4020062"/>
            <a:ext cx="105900" cy="1430400"/>
          </a:xfrm>
          <a:prstGeom prst="rect">
            <a:avLst/>
          </a:prstGeom>
          <a:solidFill>
            <a:srgbClr val="1E88E5"/>
          </a:solidFill>
          <a:ln w="127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8"/>
          <p:cNvSpPr/>
          <p:nvPr/>
        </p:nvSpPr>
        <p:spPr>
          <a:xfrm>
            <a:off x="11416197" y="4082583"/>
            <a:ext cx="57369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00"/>
              <a:buFont typeface="Consolas"/>
              <a:buNone/>
            </a:pPr>
            <a:r>
              <a:rPr lang="en-US" sz="1800" b="1" i="0" u="none" strike="noStrike" cap="none">
                <a:solidFill>
                  <a:srgbClr val="0D2B5E"/>
                </a:solidFill>
                <a:latin typeface="Consolas"/>
                <a:ea typeface="Consolas"/>
                <a:cs typeface="Consolas"/>
                <a:sym typeface="Consolas"/>
              </a:rPr>
              <a:t>uart_putc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8"/>
          <p:cNvSpPr/>
          <p:nvPr/>
        </p:nvSpPr>
        <p:spPr>
          <a:xfrm>
            <a:off x="11416197" y="4586939"/>
            <a:ext cx="5736900" cy="7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900"/>
              <a:buFont typeface="Calibri"/>
              <a:buNone/>
            </a:pPr>
            <a:r>
              <a:rPr lang="en-US" sz="1800" b="0" i="0" u="none" strike="noStrike" cap="none">
                <a:solidFill>
                  <a:srgbClr val="1A2E52"/>
                </a:solidFill>
                <a:latin typeface="Calibri"/>
                <a:ea typeface="Calibri"/>
                <a:cs typeface="Calibri"/>
                <a:sym typeface="Calibri"/>
              </a:rPr>
              <a:t>Single store instruction to 0x1000_0000. AXI backpressure stalls CPU if buf_valid=1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8"/>
          <p:cNvSpPr/>
          <p:nvPr/>
        </p:nvSpPr>
        <p:spPr>
          <a:xfrm>
            <a:off x="11194125" y="5524616"/>
            <a:ext cx="6106800" cy="1531500"/>
          </a:xfrm>
          <a:prstGeom prst="rect">
            <a:avLst/>
          </a:prstGeom>
          <a:solidFill>
            <a:srgbClr val="F4F8FF"/>
          </a:solidFill>
          <a:ln w="95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2" name="Google Shape;452;p8"/>
          <p:cNvSpPr/>
          <p:nvPr/>
        </p:nvSpPr>
        <p:spPr>
          <a:xfrm>
            <a:off x="11194126" y="5575175"/>
            <a:ext cx="105900" cy="1430400"/>
          </a:xfrm>
          <a:prstGeom prst="rect">
            <a:avLst/>
          </a:prstGeom>
          <a:solidFill>
            <a:srgbClr val="1E88E5"/>
          </a:solidFill>
          <a:ln w="127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8"/>
          <p:cNvSpPr/>
          <p:nvPr/>
        </p:nvSpPr>
        <p:spPr>
          <a:xfrm>
            <a:off x="11416197" y="5650705"/>
            <a:ext cx="57369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00"/>
              <a:buFont typeface="Consolas"/>
              <a:buNone/>
            </a:pPr>
            <a:r>
              <a:rPr lang="en-US" sz="1800" b="1" i="0" u="none" strike="noStrike" cap="none">
                <a:solidFill>
                  <a:srgbClr val="0D2B5E"/>
                </a:solidFill>
                <a:latin typeface="Consolas"/>
                <a:ea typeface="Consolas"/>
                <a:cs typeface="Consolas"/>
                <a:sym typeface="Consolas"/>
              </a:rPr>
              <a:t>uart_getc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11416197" y="6155061"/>
            <a:ext cx="5736900" cy="7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900"/>
              <a:buFont typeface="Calibri"/>
              <a:buNone/>
            </a:pPr>
            <a:r>
              <a:rPr lang="en-US" sz="1800" b="0" i="0" u="none" strike="noStrike" cap="none">
                <a:solidFill>
                  <a:srgbClr val="1A2E52"/>
                </a:solidFill>
                <a:latin typeface="Calibri"/>
                <a:ea typeface="Calibri"/>
                <a:cs typeface="Calibri"/>
                <a:sym typeface="Calibri"/>
              </a:rPr>
              <a:t>Polling loop on bit[1]. When STATUS &amp; 0x2 — RX byte is ready. Reading UART_RX clears flag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11194125" y="7092749"/>
            <a:ext cx="6106800" cy="1531500"/>
          </a:xfrm>
          <a:prstGeom prst="rect">
            <a:avLst/>
          </a:prstGeom>
          <a:solidFill>
            <a:srgbClr val="F4F8FF"/>
          </a:solidFill>
          <a:ln w="95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6" name="Google Shape;456;p8"/>
          <p:cNvSpPr/>
          <p:nvPr/>
        </p:nvSpPr>
        <p:spPr>
          <a:xfrm>
            <a:off x="11194128" y="7159050"/>
            <a:ext cx="105900" cy="1430400"/>
          </a:xfrm>
          <a:prstGeom prst="rect">
            <a:avLst/>
          </a:prstGeom>
          <a:solidFill>
            <a:srgbClr val="1E88E5"/>
          </a:solidFill>
          <a:ln w="127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8"/>
          <p:cNvSpPr/>
          <p:nvPr/>
        </p:nvSpPr>
        <p:spPr>
          <a:xfrm>
            <a:off x="11416197" y="7218838"/>
            <a:ext cx="57369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00"/>
              <a:buFont typeface="Consolas"/>
              <a:buNone/>
            </a:pPr>
            <a:r>
              <a:rPr lang="en-US" sz="1800" b="1" i="0" u="none" strike="noStrike" cap="none">
                <a:solidFill>
                  <a:srgbClr val="0D2B5E"/>
                </a:solidFill>
                <a:latin typeface="Consolas"/>
                <a:ea typeface="Consolas"/>
                <a:cs typeface="Consolas"/>
                <a:sym typeface="Consolas"/>
              </a:rPr>
              <a:t>uart_puts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11416197" y="7723195"/>
            <a:ext cx="5736900" cy="7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900"/>
              <a:buFont typeface="Calibri"/>
              <a:buNone/>
            </a:pPr>
            <a:r>
              <a:rPr lang="en-US" sz="1800" b="0" i="0" u="none" strike="noStrike" cap="none">
                <a:solidFill>
                  <a:srgbClr val="1A2E52"/>
                </a:solidFill>
                <a:latin typeface="Calibri"/>
                <a:ea typeface="Calibri"/>
                <a:cs typeface="Calibri"/>
                <a:sym typeface="Calibri"/>
              </a:rPr>
              <a:t>Iterates through null-terminated string, calling uart_putc for each character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ac5effadd_0_72"/>
          <p:cNvSpPr/>
          <p:nvPr/>
        </p:nvSpPr>
        <p:spPr>
          <a:xfrm>
            <a:off x="731925" y="1112925"/>
            <a:ext cx="16367100" cy="9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2600"/>
              <a:buFont typeface="Calibri"/>
              <a:buNone/>
            </a:pPr>
            <a:r>
              <a:rPr lang="en-US" sz="40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MMIO Write Path — uart_putc('H') Step-by-Step</a:t>
            </a:r>
            <a:endParaRPr sz="4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dac5effadd_0_72"/>
          <p:cNvSpPr/>
          <p:nvPr/>
        </p:nvSpPr>
        <p:spPr>
          <a:xfrm>
            <a:off x="731925" y="2357005"/>
            <a:ext cx="8033400" cy="2274600"/>
          </a:xfrm>
          <a:prstGeom prst="rect">
            <a:avLst/>
          </a:prstGeom>
          <a:solidFill>
            <a:srgbClr val="F4F8FF"/>
          </a:solidFill>
          <a:ln w="15225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66" name="Google Shape;466;g3dac5effadd_0_72"/>
          <p:cNvSpPr/>
          <p:nvPr/>
        </p:nvSpPr>
        <p:spPr>
          <a:xfrm>
            <a:off x="731925" y="2357005"/>
            <a:ext cx="970800" cy="22746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467" name="Google Shape;467;g3dac5effadd_0_72"/>
          <p:cNvSpPr/>
          <p:nvPr/>
        </p:nvSpPr>
        <p:spPr>
          <a:xfrm>
            <a:off x="731925" y="2357005"/>
            <a:ext cx="970800" cy="22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dac5effadd_0_72"/>
          <p:cNvSpPr/>
          <p:nvPr/>
        </p:nvSpPr>
        <p:spPr>
          <a:xfrm>
            <a:off x="1879553" y="2534730"/>
            <a:ext cx="6708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lang="en-US" sz="24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C Statement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dac5effadd_0_72"/>
          <p:cNvSpPr/>
          <p:nvPr/>
        </p:nvSpPr>
        <p:spPr>
          <a:xfrm>
            <a:off x="1879553" y="3103452"/>
            <a:ext cx="6708900" cy="13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950"/>
              <a:buFont typeface="Consolas"/>
              <a:buNone/>
            </a:pPr>
            <a:r>
              <a:rPr lang="en-US" sz="1800" b="0" i="0" u="none" strike="noStrike" cap="none">
                <a:solidFill>
                  <a:srgbClr val="1A2E52"/>
                </a:solidFill>
                <a:latin typeface="Consolas"/>
                <a:ea typeface="Consolas"/>
                <a:cs typeface="Consolas"/>
                <a:sym typeface="Consolas"/>
              </a:rPr>
              <a:t>UART_TX = 'H';   →  compiler: lui a0,0x10000 | li a1,0x48 | sb a1,0(a0)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dac5effadd_0_72"/>
          <p:cNvSpPr/>
          <p:nvPr/>
        </p:nvSpPr>
        <p:spPr>
          <a:xfrm>
            <a:off x="731925" y="4934026"/>
            <a:ext cx="8033400" cy="2274600"/>
          </a:xfrm>
          <a:prstGeom prst="rect">
            <a:avLst/>
          </a:prstGeom>
          <a:solidFill>
            <a:srgbClr val="F4F8FF"/>
          </a:solidFill>
          <a:ln w="15225" cap="flat" cmpd="sng">
            <a:solidFill>
              <a:srgbClr val="00897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71" name="Google Shape;471;g3dac5effadd_0_72"/>
          <p:cNvSpPr/>
          <p:nvPr/>
        </p:nvSpPr>
        <p:spPr>
          <a:xfrm>
            <a:off x="731925" y="4934026"/>
            <a:ext cx="970800" cy="2274600"/>
          </a:xfrm>
          <a:prstGeom prst="rect">
            <a:avLst/>
          </a:prstGeom>
          <a:solidFill>
            <a:srgbClr val="00897B"/>
          </a:solidFill>
          <a:ln w="12700" cap="flat" cmpd="sng">
            <a:solidFill>
              <a:srgbClr val="0089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72" name="Google Shape;472;g3dac5effadd_0_72"/>
          <p:cNvSpPr/>
          <p:nvPr/>
        </p:nvSpPr>
        <p:spPr>
          <a:xfrm>
            <a:off x="731925" y="4934026"/>
            <a:ext cx="970800" cy="22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dac5effadd_0_72"/>
          <p:cNvSpPr/>
          <p:nvPr/>
        </p:nvSpPr>
        <p:spPr>
          <a:xfrm>
            <a:off x="1879553" y="5111752"/>
            <a:ext cx="6708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100"/>
              <a:buFont typeface="Calibri"/>
              <a:buNone/>
            </a:pPr>
            <a:r>
              <a:rPr lang="en-US" sz="2400" b="1" i="0" u="none" strike="noStrike" cap="non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PicoRV32 Native Bus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dac5effadd_0_72"/>
          <p:cNvSpPr/>
          <p:nvPr/>
        </p:nvSpPr>
        <p:spPr>
          <a:xfrm>
            <a:off x="1879553" y="5680474"/>
            <a:ext cx="6708900" cy="13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950"/>
              <a:buFont typeface="Consolas"/>
              <a:buNone/>
            </a:pPr>
            <a:r>
              <a:rPr lang="en-US" sz="1800" b="0" i="0" u="none" strike="noStrike" cap="none">
                <a:solidFill>
                  <a:srgbClr val="1A2E52"/>
                </a:solidFill>
                <a:latin typeface="Consolas"/>
                <a:ea typeface="Consolas"/>
                <a:cs typeface="Consolas"/>
                <a:sym typeface="Consolas"/>
              </a:rPr>
              <a:t>mem_valid=1  mem_addr=0x10000000  mem_wstrb=4'h1  mem_wdata=0x00000048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dac5effadd_0_72"/>
          <p:cNvSpPr/>
          <p:nvPr/>
        </p:nvSpPr>
        <p:spPr>
          <a:xfrm>
            <a:off x="731925" y="7511048"/>
            <a:ext cx="8033400" cy="2274600"/>
          </a:xfrm>
          <a:prstGeom prst="rect">
            <a:avLst/>
          </a:prstGeom>
          <a:solidFill>
            <a:srgbClr val="F4F8FF"/>
          </a:solidFill>
          <a:ln w="15225" cap="flat" cmpd="sng">
            <a:solidFill>
              <a:srgbClr val="7B1FA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76" name="Google Shape;476;g3dac5effadd_0_72"/>
          <p:cNvSpPr/>
          <p:nvPr/>
        </p:nvSpPr>
        <p:spPr>
          <a:xfrm>
            <a:off x="731925" y="7511048"/>
            <a:ext cx="970800" cy="2274600"/>
          </a:xfrm>
          <a:prstGeom prst="rect">
            <a:avLst/>
          </a:prstGeom>
          <a:solidFill>
            <a:srgbClr val="7B1FA2"/>
          </a:solidFill>
          <a:ln w="12700" cap="flat" cmpd="sng">
            <a:solidFill>
              <a:srgbClr val="7B1F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77" name="Google Shape;477;g3dac5effadd_0_72"/>
          <p:cNvSpPr/>
          <p:nvPr/>
        </p:nvSpPr>
        <p:spPr>
          <a:xfrm>
            <a:off x="731925" y="7511048"/>
            <a:ext cx="970800" cy="22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dac5effadd_0_72"/>
          <p:cNvSpPr/>
          <p:nvPr/>
        </p:nvSpPr>
        <p:spPr>
          <a:xfrm>
            <a:off x="1879553" y="7688773"/>
            <a:ext cx="6708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100"/>
              <a:buFont typeface="Calibri"/>
              <a:buNone/>
            </a:pPr>
            <a:r>
              <a:rPr lang="en-US" sz="2400" b="1" i="0" u="none" strike="noStrike" cap="non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CPU→AXI Bridge  (top.v)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dac5effadd_0_72"/>
          <p:cNvSpPr/>
          <p:nvPr/>
        </p:nvSpPr>
        <p:spPr>
          <a:xfrm>
            <a:off x="1879553" y="8257495"/>
            <a:ext cx="6708900" cy="13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950"/>
              <a:buFont typeface="Consolas"/>
              <a:buNone/>
            </a:pPr>
            <a:r>
              <a:rPr lang="en-US" sz="1800" b="0" i="0" u="none" strike="noStrike" cap="none">
                <a:solidFill>
                  <a:srgbClr val="1A2E52"/>
                </a:solidFill>
                <a:latin typeface="Consolas"/>
                <a:ea typeface="Consolas"/>
                <a:cs typeface="Consolas"/>
                <a:sym typeface="Consolas"/>
              </a:rPr>
              <a:t>m_axi_awaddr=0x10000000  m_axi_wdata=0x48  m_axi_wstrb=4'h1  awvalid=1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dac5effadd_0_72"/>
          <p:cNvSpPr/>
          <p:nvPr/>
        </p:nvSpPr>
        <p:spPr>
          <a:xfrm>
            <a:off x="9242027" y="2357005"/>
            <a:ext cx="8033400" cy="2274600"/>
          </a:xfrm>
          <a:prstGeom prst="rect">
            <a:avLst/>
          </a:prstGeom>
          <a:solidFill>
            <a:srgbClr val="F4F8FF"/>
          </a:solidFill>
          <a:ln w="15225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81" name="Google Shape;481;g3dac5effadd_0_72"/>
          <p:cNvSpPr/>
          <p:nvPr/>
        </p:nvSpPr>
        <p:spPr>
          <a:xfrm>
            <a:off x="9242027" y="2357005"/>
            <a:ext cx="970800" cy="2274600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82" name="Google Shape;482;g3dac5effadd_0_72"/>
          <p:cNvSpPr/>
          <p:nvPr/>
        </p:nvSpPr>
        <p:spPr>
          <a:xfrm>
            <a:off x="9242027" y="2357005"/>
            <a:ext cx="970800" cy="22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dac5effadd_0_72"/>
          <p:cNvSpPr/>
          <p:nvPr/>
        </p:nvSpPr>
        <p:spPr>
          <a:xfrm>
            <a:off x="10389655" y="2534730"/>
            <a:ext cx="6708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100"/>
              <a:buFont typeface="Calibri"/>
              <a:buNone/>
            </a:pPr>
            <a:r>
              <a:rPr lang="en-US" sz="2400" b="1" i="0" u="none" strike="noStrike" cap="non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AXI Interconnect + Decoder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dac5effadd_0_72"/>
          <p:cNvSpPr/>
          <p:nvPr/>
        </p:nvSpPr>
        <p:spPr>
          <a:xfrm>
            <a:off x="10389655" y="3103452"/>
            <a:ext cx="6708900" cy="13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950"/>
              <a:buFont typeface="Consolas"/>
              <a:buNone/>
            </a:pPr>
            <a:r>
              <a:rPr lang="en-US" sz="1800" b="0" i="0" u="none" strike="noStrike" cap="none">
                <a:solidFill>
                  <a:srgbClr val="1A2E52"/>
                </a:solidFill>
                <a:latin typeface="Consolas"/>
                <a:ea typeface="Consolas"/>
                <a:cs typeface="Consolas"/>
                <a:sym typeface="Consolas"/>
              </a:rPr>
              <a:t>casez: 32'h1000_000? → wr_sel=3'b100   Only uart_axi receives awvalid=1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dac5effadd_0_72"/>
          <p:cNvSpPr/>
          <p:nvPr/>
        </p:nvSpPr>
        <p:spPr>
          <a:xfrm>
            <a:off x="9242027" y="4934026"/>
            <a:ext cx="8033400" cy="2274600"/>
          </a:xfrm>
          <a:prstGeom prst="rect">
            <a:avLst/>
          </a:prstGeom>
          <a:solidFill>
            <a:srgbClr val="F4F8FF"/>
          </a:solidFill>
          <a:ln w="15225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86" name="Google Shape;486;g3dac5effadd_0_72"/>
          <p:cNvSpPr/>
          <p:nvPr/>
        </p:nvSpPr>
        <p:spPr>
          <a:xfrm>
            <a:off x="9242027" y="4934026"/>
            <a:ext cx="970800" cy="2274600"/>
          </a:xfrm>
          <a:prstGeom prst="rect">
            <a:avLst/>
          </a:prstGeom>
          <a:solidFill>
            <a:srgbClr val="C62828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87" name="Google Shape;487;g3dac5effadd_0_72"/>
          <p:cNvSpPr/>
          <p:nvPr/>
        </p:nvSpPr>
        <p:spPr>
          <a:xfrm>
            <a:off x="9242027" y="4934026"/>
            <a:ext cx="970800" cy="22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dac5effadd_0_72"/>
          <p:cNvSpPr/>
          <p:nvPr/>
        </p:nvSpPr>
        <p:spPr>
          <a:xfrm>
            <a:off x="10389655" y="5111752"/>
            <a:ext cx="6708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100"/>
              <a:buFont typeface="Calibri"/>
              <a:buNone/>
            </a:pPr>
            <a:r>
              <a:rPr lang="en-US" sz="2400" b="1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uart_axi.v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dac5effadd_0_72"/>
          <p:cNvSpPr/>
          <p:nvPr/>
        </p:nvSpPr>
        <p:spPr>
          <a:xfrm>
            <a:off x="10389655" y="5680474"/>
            <a:ext cx="6708900" cy="13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950"/>
              <a:buFont typeface="Consolas"/>
              <a:buNone/>
            </a:pPr>
            <a:r>
              <a:rPr lang="en-US" sz="1800" b="0" i="0" u="none" strike="noStrike" cap="none">
                <a:solidFill>
                  <a:srgbClr val="1A2E52"/>
                </a:solidFill>
                <a:latin typeface="Consolas"/>
                <a:ea typeface="Consolas"/>
                <a:cs typeface="Consolas"/>
                <a:sym typeface="Consolas"/>
              </a:rPr>
              <a:t>w_byte ← 0x48  buf_valid ← 1   AWREADY/WREADY go LOW (backpressure active)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dac5effadd_0_72"/>
          <p:cNvSpPr/>
          <p:nvPr/>
        </p:nvSpPr>
        <p:spPr>
          <a:xfrm>
            <a:off x="9242027" y="7511048"/>
            <a:ext cx="8033400" cy="2274600"/>
          </a:xfrm>
          <a:prstGeom prst="rect">
            <a:avLst/>
          </a:prstGeom>
          <a:solidFill>
            <a:srgbClr val="F4F8FF"/>
          </a:solidFill>
          <a:ln w="15225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1" name="Google Shape;491;g3dac5effadd_0_72"/>
          <p:cNvSpPr/>
          <p:nvPr/>
        </p:nvSpPr>
        <p:spPr>
          <a:xfrm>
            <a:off x="9242027" y="7511048"/>
            <a:ext cx="970800" cy="227460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2" name="Google Shape;492;g3dac5effadd_0_72"/>
          <p:cNvSpPr/>
          <p:nvPr/>
        </p:nvSpPr>
        <p:spPr>
          <a:xfrm>
            <a:off x="9242027" y="7511048"/>
            <a:ext cx="970800" cy="22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⑥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dac5effadd_0_72"/>
          <p:cNvSpPr/>
          <p:nvPr/>
        </p:nvSpPr>
        <p:spPr>
          <a:xfrm>
            <a:off x="10389655" y="7688773"/>
            <a:ext cx="6708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Calibri"/>
              <a:buNone/>
            </a:pPr>
            <a:r>
              <a:rPr lang="en-US" sz="240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uart_tx.v FSM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dac5effadd_0_72"/>
          <p:cNvSpPr/>
          <p:nvPr/>
        </p:nvSpPr>
        <p:spPr>
          <a:xfrm>
            <a:off x="10389655" y="8257495"/>
            <a:ext cx="6708900" cy="13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950"/>
              <a:buFont typeface="Consolas"/>
              <a:buNone/>
            </a:pPr>
            <a:r>
              <a:rPr lang="en-US" sz="1800" b="0" i="0" u="none" strike="noStrike" cap="none">
                <a:solidFill>
                  <a:srgbClr val="1A2E52"/>
                </a:solidFill>
                <a:latin typeface="Consolas"/>
                <a:ea typeface="Consolas"/>
                <a:cs typeface="Consolas"/>
                <a:sym typeface="Consolas"/>
              </a:rPr>
              <a:t>IDLE → START → DATA(×8) → STOP   Serial bits on tx_out pin at configured baud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ac5effadd_0_76"/>
          <p:cNvSpPr/>
          <p:nvPr/>
        </p:nvSpPr>
        <p:spPr>
          <a:xfrm>
            <a:off x="656725" y="996850"/>
            <a:ext cx="16317900" cy="9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3863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Lab — make </a:t>
            </a:r>
            <a:r>
              <a:rPr lang="en-US" sz="4000" b="1" i="0" u="none" strike="noStrike" cap="none" dirty="0" err="1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soc_pico_uart_mem</a:t>
            </a:r>
            <a:r>
              <a:rPr lang="en-US" sz="4000" b="1" i="0" u="none" strike="noStrike" cap="none" dirty="0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  (MMIO SoC</a:t>
            </a:r>
            <a:r>
              <a:rPr lang="en-US" sz="4000" b="1" dirty="0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 Subsystem</a:t>
            </a:r>
            <a:r>
              <a:rPr lang="en-US" sz="4000" b="1" i="0" u="none" strike="noStrike" cap="none" dirty="0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4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dac5effadd_0_76"/>
          <p:cNvSpPr/>
          <p:nvPr/>
        </p:nvSpPr>
        <p:spPr>
          <a:xfrm>
            <a:off x="656725" y="2218287"/>
            <a:ext cx="16018500" cy="885000"/>
          </a:xfrm>
          <a:prstGeom prst="rect">
            <a:avLst/>
          </a:prstGeom>
          <a:solidFill>
            <a:srgbClr val="1A1A2E"/>
          </a:solidFill>
          <a:ln w="283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5825" tIns="135825" rIns="135825" bIns="135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3dac5effadd_0_76"/>
          <p:cNvSpPr/>
          <p:nvPr/>
        </p:nvSpPr>
        <p:spPr>
          <a:xfrm>
            <a:off x="1008780" y="2218287"/>
            <a:ext cx="153147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2377"/>
              <a:buFont typeface="Consolas"/>
              <a:buNone/>
            </a:pPr>
            <a:r>
              <a:rPr lang="en-US" sz="2377" b="1" i="0" u="none" strike="noStrike" cap="none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rPr>
              <a:t>$ make soc_pico_uart_mem</a:t>
            </a:r>
            <a:endParaRPr sz="237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dac5effadd_0_76"/>
          <p:cNvSpPr/>
          <p:nvPr/>
        </p:nvSpPr>
        <p:spPr>
          <a:xfrm>
            <a:off x="656725" y="3333512"/>
            <a:ext cx="8008800" cy="6283800"/>
          </a:xfrm>
          <a:prstGeom prst="rect">
            <a:avLst/>
          </a:prstGeom>
          <a:solidFill>
            <a:srgbClr val="E3F2FD"/>
          </a:solidFill>
          <a:ln w="14150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  <a:effectLst>
            <a:outerShdw blurRad="94335" dist="37734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35825" tIns="135825" rIns="135825" bIns="135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04" name="Google Shape;504;g3dac5effadd_0_76"/>
          <p:cNvSpPr/>
          <p:nvPr/>
        </p:nvSpPr>
        <p:spPr>
          <a:xfrm>
            <a:off x="832752" y="3422022"/>
            <a:ext cx="7657500" cy="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634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Architecture (Sub-module 4)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dac5effadd_0_76"/>
          <p:cNvSpPr/>
          <p:nvPr/>
        </p:nvSpPr>
        <p:spPr>
          <a:xfrm>
            <a:off x="920766" y="4094698"/>
            <a:ext cx="74811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1486"/>
              <a:buFont typeface="Calibri"/>
              <a:buNone/>
            </a:pPr>
            <a:r>
              <a:rPr lang="en-US" sz="2000" b="0" i="0" u="none" strike="noStrike" cap="none">
                <a:solidFill>
                  <a:srgbClr val="1A2E52"/>
                </a:solidFill>
                <a:latin typeface="Calibri"/>
                <a:ea typeface="Calibri"/>
                <a:cs typeface="Calibri"/>
                <a:sym typeface="Calibri"/>
              </a:rPr>
              <a:t>PicoRV32 CPU → direct native bus → UART peripheral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dac5effadd_0_76"/>
          <p:cNvSpPr/>
          <p:nvPr/>
        </p:nvSpPr>
        <p:spPr>
          <a:xfrm>
            <a:off x="920766" y="4608055"/>
            <a:ext cx="74811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1486"/>
              <a:buFont typeface="Calibri"/>
              <a:buNone/>
            </a:pPr>
            <a:r>
              <a:rPr lang="en-US" sz="2000" b="0" i="0" u="none" strike="noStrike" cap="none">
                <a:solidFill>
                  <a:srgbClr val="1A2E52"/>
                </a:solidFill>
                <a:latin typeface="Calibri"/>
                <a:ea typeface="Calibri"/>
                <a:cs typeface="Calibri"/>
                <a:sym typeface="Calibri"/>
              </a:rPr>
              <a:t>Simpler than full AXI SoC — pure MMIO concept demo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dac5effadd_0_76"/>
          <p:cNvSpPr/>
          <p:nvPr/>
        </p:nvSpPr>
        <p:spPr>
          <a:xfrm>
            <a:off x="920766" y="5121413"/>
            <a:ext cx="74811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1486"/>
              <a:buFont typeface="Calibri"/>
              <a:buNone/>
            </a:pPr>
            <a:r>
              <a:rPr lang="en-US" sz="2000" b="0" i="0" u="none" strike="noStrike" cap="none">
                <a:solidFill>
                  <a:srgbClr val="1A2E52"/>
                </a:solidFill>
                <a:latin typeface="Calibri"/>
                <a:ea typeface="Calibri"/>
                <a:cs typeface="Calibri"/>
                <a:sym typeface="Calibri"/>
              </a:rPr>
              <a:t>No AXI bridge or interconnect in this variant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dac5effadd_0_76"/>
          <p:cNvSpPr/>
          <p:nvPr/>
        </p:nvSpPr>
        <p:spPr>
          <a:xfrm>
            <a:off x="920766" y="5634771"/>
            <a:ext cx="74811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6"/>
              <a:buFont typeface="Calibri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dac5effadd_0_76"/>
          <p:cNvSpPr/>
          <p:nvPr/>
        </p:nvSpPr>
        <p:spPr>
          <a:xfrm>
            <a:off x="920766" y="6148128"/>
            <a:ext cx="74811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1486"/>
              <a:buFont typeface="Calibri"/>
              <a:buNone/>
            </a:pPr>
            <a:r>
              <a:rPr lang="en-US" sz="2000" b="1" i="0" u="none" strike="noStrike" cap="none">
                <a:solidFill>
                  <a:srgbClr val="1A2E52"/>
                </a:solidFill>
                <a:latin typeface="Calibri"/>
                <a:ea typeface="Calibri"/>
                <a:cs typeface="Calibri"/>
                <a:sym typeface="Calibri"/>
              </a:rPr>
              <a:t>Build steps: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dac5effadd_0_76"/>
          <p:cNvSpPr/>
          <p:nvPr/>
        </p:nvSpPr>
        <p:spPr>
          <a:xfrm>
            <a:off x="920766" y="6661486"/>
            <a:ext cx="74811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411"/>
              <a:buFont typeface="Consolas"/>
              <a:buNone/>
            </a:pPr>
            <a:r>
              <a:rPr lang="en-US" sz="2000" b="0" i="0" u="none" strike="noStrike" cap="none">
                <a:solidFill>
                  <a:srgbClr val="1565C0"/>
                </a:solidFill>
                <a:latin typeface="Consolas"/>
                <a:ea typeface="Consolas"/>
                <a:cs typeface="Consolas"/>
                <a:sym typeface="Consolas"/>
              </a:rPr>
              <a:t>① cd fw &amp;&amp; make  →  rom.hex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dac5effadd_0_76"/>
          <p:cNvSpPr/>
          <p:nvPr/>
        </p:nvSpPr>
        <p:spPr>
          <a:xfrm>
            <a:off x="920766" y="7174844"/>
            <a:ext cx="74811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411"/>
              <a:buFont typeface="Consolas"/>
              <a:buNone/>
            </a:pPr>
            <a:r>
              <a:rPr lang="en-US" sz="2000" b="0" i="0" u="none" strike="noStrike" cap="none">
                <a:solidFill>
                  <a:srgbClr val="1565C0"/>
                </a:solidFill>
                <a:latin typeface="Consolas"/>
                <a:ea typeface="Consolas"/>
                <a:cs typeface="Consolas"/>
                <a:sym typeface="Consolas"/>
              </a:rPr>
              <a:t>② Verilator: picorv32_uart_mem/rtl/ + tb/tb_mem_soc.v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dac5effadd_0_76"/>
          <p:cNvSpPr/>
          <p:nvPr/>
        </p:nvSpPr>
        <p:spPr>
          <a:xfrm>
            <a:off x="920766" y="7688201"/>
            <a:ext cx="74811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411"/>
              <a:buFont typeface="Consolas"/>
              <a:buNone/>
            </a:pPr>
            <a:r>
              <a:rPr lang="en-US" sz="2000" b="0" i="0" u="none" strike="noStrike" cap="none">
                <a:solidFill>
                  <a:srgbClr val="1565C0"/>
                </a:solidFill>
                <a:latin typeface="Consolas"/>
                <a:ea typeface="Consolas"/>
                <a:cs typeface="Consolas"/>
                <a:sym typeface="Consolas"/>
              </a:rPr>
              <a:t>③ ROM loaded from +romhex=rtl/rom.hex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3dac5effadd_0_76"/>
          <p:cNvSpPr/>
          <p:nvPr/>
        </p:nvSpPr>
        <p:spPr>
          <a:xfrm>
            <a:off x="920766" y="8201559"/>
            <a:ext cx="74811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411"/>
              <a:buFont typeface="Consolas"/>
              <a:buNone/>
            </a:pPr>
            <a:r>
              <a:rPr lang="en-US" sz="2000" b="0" i="0" u="none" strike="noStrike" cap="none">
                <a:solidFill>
                  <a:srgbClr val="1565C0"/>
                </a:solidFill>
                <a:latin typeface="Consolas"/>
                <a:ea typeface="Consolas"/>
                <a:cs typeface="Consolas"/>
                <a:sym typeface="Consolas"/>
              </a:rPr>
              <a:t>④ Simulation → tb_mem_soc.vcd (142 MB)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dac5effadd_0_76"/>
          <p:cNvSpPr/>
          <p:nvPr/>
        </p:nvSpPr>
        <p:spPr>
          <a:xfrm>
            <a:off x="920766" y="8714917"/>
            <a:ext cx="74811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1411"/>
              <a:buFont typeface="Consolas"/>
              <a:buNone/>
            </a:pPr>
            <a:r>
              <a:rPr lang="en-US" sz="2000" b="0" i="0" u="none" strike="noStrike" cap="none">
                <a:solidFill>
                  <a:srgbClr val="1A2E52"/>
                </a:solidFill>
                <a:latin typeface="Consolas"/>
                <a:ea typeface="Consolas"/>
                <a:cs typeface="Consolas"/>
                <a:sym typeface="Consolas"/>
              </a:rPr>
              <a:t>   Tip: vcd2fst for faster GTKWave loading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dac5effadd_0_76"/>
          <p:cNvSpPr/>
          <p:nvPr/>
        </p:nvSpPr>
        <p:spPr>
          <a:xfrm>
            <a:off x="9018024" y="3333512"/>
            <a:ext cx="7657500" cy="6283800"/>
          </a:xfrm>
          <a:prstGeom prst="rect">
            <a:avLst/>
          </a:prstGeom>
          <a:solidFill>
            <a:srgbClr val="1E1E2E"/>
          </a:solidFill>
          <a:ln w="15075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  <a:effectLst>
            <a:outerShdw blurRad="94335" dist="37734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35825" tIns="135825" rIns="135825" bIns="135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16" name="Google Shape;516;g3dac5effadd_0_76"/>
          <p:cNvSpPr/>
          <p:nvPr/>
        </p:nvSpPr>
        <p:spPr>
          <a:xfrm>
            <a:off x="9194051" y="3422022"/>
            <a:ext cx="73050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A8D8"/>
              </a:buClr>
              <a:buSzPts val="1486"/>
              <a:buFont typeface="Calibri"/>
              <a:buNone/>
            </a:pPr>
            <a:r>
              <a:rPr lang="en-US" sz="2000" b="1" i="0" u="none" strike="noStrike" cap="none">
                <a:solidFill>
                  <a:srgbClr val="7EA8D8"/>
                </a:solidFill>
                <a:latin typeface="Calibri"/>
                <a:ea typeface="Calibri"/>
                <a:cs typeface="Calibri"/>
                <a:sym typeface="Calibri"/>
              </a:rPr>
              <a:t>Expected Output + GTKWave Signals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dac5effadd_0_76"/>
          <p:cNvSpPr/>
          <p:nvPr/>
        </p:nvSpPr>
        <p:spPr>
          <a:xfrm>
            <a:off x="9194051" y="4130102"/>
            <a:ext cx="72174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411"/>
              <a:buFont typeface="Consolas"/>
              <a:buNone/>
            </a:pPr>
            <a:r>
              <a:rPr lang="en-US" sz="2000" b="0" i="0" u="none" strike="noStrike" cap="none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rPr>
              <a:t>[TB] RX byte: H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dac5effadd_0_76"/>
          <p:cNvSpPr/>
          <p:nvPr/>
        </p:nvSpPr>
        <p:spPr>
          <a:xfrm>
            <a:off x="9194051" y="4634608"/>
            <a:ext cx="72174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411"/>
              <a:buFont typeface="Consolas"/>
              <a:buNone/>
            </a:pPr>
            <a:r>
              <a:rPr lang="en-US" sz="2000" b="0" i="0" u="none" strike="noStrike" cap="none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rPr>
              <a:t>[TB] RX byte: e  ...  (10 greetings)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dac5effadd_0_76"/>
          <p:cNvSpPr/>
          <p:nvPr/>
        </p:nvSpPr>
        <p:spPr>
          <a:xfrm>
            <a:off x="9194051" y="5139115"/>
            <a:ext cx="72174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411"/>
              <a:buFont typeface="Consolas"/>
              <a:buNone/>
            </a:pPr>
            <a:r>
              <a:rPr lang="en-US" sz="2000" b="0" i="0" u="none" strike="noStrike" cap="none">
                <a:solidFill>
                  <a:srgbClr val="FFD54F"/>
                </a:solidFill>
                <a:latin typeface="Consolas"/>
                <a:ea typeface="Consolas"/>
                <a:cs typeface="Consolas"/>
                <a:sym typeface="Consolas"/>
              </a:rPr>
              <a:t>[TB] FIFO flushed – sending: PING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dac5effadd_0_76"/>
          <p:cNvSpPr/>
          <p:nvPr/>
        </p:nvSpPr>
        <p:spPr>
          <a:xfrm>
            <a:off x="9194051" y="5643622"/>
            <a:ext cx="72174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411"/>
              <a:buFont typeface="Consolas"/>
              <a:buNone/>
            </a:pPr>
            <a:r>
              <a:rPr lang="en-US" sz="2000" b="0" i="0" u="none" strike="noStrike" cap="none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rPr>
              <a:t>[TB] RX byte: P  I  N  G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g3dac5effadd_0_76"/>
          <p:cNvSpPr/>
          <p:nvPr/>
        </p:nvSpPr>
        <p:spPr>
          <a:xfrm>
            <a:off x="9194051" y="6148128"/>
            <a:ext cx="72174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9F0AE"/>
              </a:buClr>
              <a:buSzPts val="1411"/>
              <a:buFont typeface="Consolas"/>
              <a:buNone/>
            </a:pPr>
            <a:r>
              <a:rPr lang="en-US" sz="2000" b="0" i="0" u="none" strike="noStrike" cap="none">
                <a:solidFill>
                  <a:srgbClr val="69F0AE"/>
                </a:solidFill>
                <a:latin typeface="Consolas"/>
                <a:ea typeface="Consolas"/>
                <a:cs typeface="Consolas"/>
                <a:sym typeface="Consolas"/>
              </a:rPr>
              <a:t>TEST PASSED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g3dac5effadd_0_76"/>
          <p:cNvSpPr/>
          <p:nvPr/>
        </p:nvSpPr>
        <p:spPr>
          <a:xfrm>
            <a:off x="9194051" y="7157142"/>
            <a:ext cx="72174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A8D8"/>
              </a:buClr>
              <a:buSzPts val="1411"/>
              <a:buFont typeface="Consolas"/>
              <a:buNone/>
            </a:pPr>
            <a:r>
              <a:rPr lang="en-US" sz="2000" b="0" i="0" u="none" strike="noStrike" cap="none">
                <a:solidFill>
                  <a:srgbClr val="7EA8D8"/>
                </a:solidFill>
                <a:latin typeface="Consolas"/>
                <a:ea typeface="Consolas"/>
                <a:cs typeface="Consolas"/>
                <a:sym typeface="Consolas"/>
              </a:rPr>
              <a:t>GTKWave key signals: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g3dac5effadd_0_76"/>
          <p:cNvSpPr/>
          <p:nvPr/>
        </p:nvSpPr>
        <p:spPr>
          <a:xfrm>
            <a:off x="9194051" y="7661648"/>
            <a:ext cx="72174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411"/>
              <a:buFont typeface="Consolas"/>
              <a:buNone/>
            </a:pPr>
            <a:r>
              <a:rPr lang="en-US" sz="20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cpu_mem_addr  → 0x1000_0000 (TX writes)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dac5effadd_0_76"/>
          <p:cNvSpPr/>
          <p:nvPr/>
        </p:nvSpPr>
        <p:spPr>
          <a:xfrm>
            <a:off x="9194051" y="8166155"/>
            <a:ext cx="72174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411"/>
              <a:buFont typeface="Consolas"/>
              <a:buNone/>
            </a:pPr>
            <a:r>
              <a:rPr lang="en-US" sz="20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cpu_mem_wstrb → 4'h1 (SB byte store)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3dac5effadd_0_76"/>
          <p:cNvSpPr/>
          <p:nvPr/>
        </p:nvSpPr>
        <p:spPr>
          <a:xfrm>
            <a:off x="9194051" y="8670662"/>
            <a:ext cx="72174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411"/>
              <a:buFont typeface="Consolas"/>
              <a:buNone/>
            </a:pPr>
            <a:r>
              <a:rPr lang="en-US" sz="20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cpu_mem_wdata → 0x48 = 'H'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dac5effadd_0_76"/>
          <p:cNvSpPr/>
          <p:nvPr/>
        </p:nvSpPr>
        <p:spPr>
          <a:xfrm>
            <a:off x="9194051" y="9175168"/>
            <a:ext cx="72174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411"/>
              <a:buFont typeface="Consolas"/>
              <a:buNone/>
            </a:pPr>
            <a:r>
              <a:rPr lang="en-US" sz="20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uart_tx       → serial bitstream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dac5effadd_0_80"/>
          <p:cNvSpPr/>
          <p:nvPr/>
        </p:nvSpPr>
        <p:spPr>
          <a:xfrm>
            <a:off x="706850" y="1145900"/>
            <a:ext cx="16417200" cy="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3644"/>
              <a:buFont typeface="Calibri"/>
              <a:buNone/>
            </a:pPr>
            <a:r>
              <a:rPr lang="en-US" sz="40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Design Rules — MMIO Best Practices</a:t>
            </a:r>
            <a:endParaRPr sz="4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3dac5effadd_0_80"/>
          <p:cNvSpPr/>
          <p:nvPr/>
        </p:nvSpPr>
        <p:spPr>
          <a:xfrm>
            <a:off x="706850" y="2329083"/>
            <a:ext cx="8057400" cy="2260200"/>
          </a:xfrm>
          <a:prstGeom prst="rect">
            <a:avLst/>
          </a:prstGeom>
          <a:solidFill>
            <a:srgbClr val="F4F8FF"/>
          </a:solidFill>
          <a:ln w="21325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88991" dist="35596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28125" tIns="128125" rIns="128125" bIns="128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34" name="Google Shape;534;g3dac5effadd_0_80"/>
          <p:cNvSpPr/>
          <p:nvPr/>
        </p:nvSpPr>
        <p:spPr>
          <a:xfrm>
            <a:off x="706850" y="2329083"/>
            <a:ext cx="973800" cy="2260200"/>
          </a:xfrm>
          <a:prstGeom prst="rect">
            <a:avLst/>
          </a:prstGeom>
          <a:solidFill>
            <a:srgbClr val="1565C0"/>
          </a:solidFill>
          <a:ln w="178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8125" tIns="128125" rIns="128125" bIns="128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35" name="Google Shape;535;g3dac5effadd_0_80"/>
          <p:cNvSpPr/>
          <p:nvPr/>
        </p:nvSpPr>
        <p:spPr>
          <a:xfrm>
            <a:off x="706850" y="2329083"/>
            <a:ext cx="973800" cy="22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2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dac5effadd_0_80"/>
          <p:cNvSpPr/>
          <p:nvPr/>
        </p:nvSpPr>
        <p:spPr>
          <a:xfrm>
            <a:off x="1857970" y="2470359"/>
            <a:ext cx="67293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542"/>
              <a:buFont typeface="Calibri"/>
              <a:buNone/>
            </a:pPr>
            <a:r>
              <a:rPr lang="en-US" sz="24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volatile is Mandatory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g3dac5effadd_0_80"/>
          <p:cNvSpPr/>
          <p:nvPr/>
        </p:nvSpPr>
        <p:spPr>
          <a:xfrm>
            <a:off x="1857970" y="3035461"/>
            <a:ext cx="672930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1331"/>
              <a:buFont typeface="Calibri"/>
              <a:buNone/>
            </a:pPr>
            <a:r>
              <a:rPr lang="en-US" sz="2000" b="0" i="0" u="none" strike="noStrike" cap="none">
                <a:solidFill>
                  <a:srgbClr val="1A2E52"/>
                </a:solidFill>
                <a:latin typeface="Calibri"/>
                <a:ea typeface="Calibri"/>
                <a:cs typeface="Calibri"/>
                <a:sym typeface="Calibri"/>
              </a:rPr>
              <a:t>Prevents compiler from caching MMIO register reads/writes. Without it, CPU may never re-read STATUS register inside while loop — the C optimizer will hoist it out of the loop.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dac5effadd_0_80"/>
          <p:cNvSpPr/>
          <p:nvPr/>
        </p:nvSpPr>
        <p:spPr>
          <a:xfrm>
            <a:off x="706850" y="4889703"/>
            <a:ext cx="8057400" cy="2260200"/>
          </a:xfrm>
          <a:prstGeom prst="rect">
            <a:avLst/>
          </a:prstGeom>
          <a:solidFill>
            <a:srgbClr val="F4F8FF"/>
          </a:solidFill>
          <a:ln w="21325" cap="flat" cmpd="sng">
            <a:solidFill>
              <a:srgbClr val="00897B"/>
            </a:solidFill>
            <a:prstDash val="solid"/>
            <a:round/>
            <a:headEnd type="none" w="sm" len="sm"/>
            <a:tailEnd type="none" w="sm" len="sm"/>
          </a:ln>
          <a:effectLst>
            <a:outerShdw blurRad="88991" dist="35596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28125" tIns="128125" rIns="128125" bIns="128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39" name="Google Shape;539;g3dac5effadd_0_80"/>
          <p:cNvSpPr/>
          <p:nvPr/>
        </p:nvSpPr>
        <p:spPr>
          <a:xfrm>
            <a:off x="706850" y="4889703"/>
            <a:ext cx="973800" cy="2260200"/>
          </a:xfrm>
          <a:prstGeom prst="rect">
            <a:avLst/>
          </a:prstGeom>
          <a:solidFill>
            <a:srgbClr val="00897B"/>
          </a:solidFill>
          <a:ln w="17800" cap="flat" cmpd="sng">
            <a:solidFill>
              <a:srgbClr val="0089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8125" tIns="128125" rIns="128125" bIns="128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40" name="Google Shape;540;g3dac5effadd_0_80"/>
          <p:cNvSpPr/>
          <p:nvPr/>
        </p:nvSpPr>
        <p:spPr>
          <a:xfrm>
            <a:off x="706850" y="4889703"/>
            <a:ext cx="973800" cy="22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2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1T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dac5effadd_0_80"/>
          <p:cNvSpPr/>
          <p:nvPr/>
        </p:nvSpPr>
        <p:spPr>
          <a:xfrm>
            <a:off x="1857970" y="5030979"/>
            <a:ext cx="67293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542"/>
              <a:buFont typeface="Calibri"/>
              <a:buNone/>
            </a:pPr>
            <a:r>
              <a:rPr lang="en-US" sz="2400" b="1" i="0" u="none" strike="noStrike" cap="non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One Outstanding Transaction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dac5effadd_0_80"/>
          <p:cNvSpPr/>
          <p:nvPr/>
        </p:nvSpPr>
        <p:spPr>
          <a:xfrm>
            <a:off x="1857970" y="5596081"/>
            <a:ext cx="672930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1331"/>
              <a:buFont typeface="Calibri"/>
              <a:buNone/>
            </a:pPr>
            <a:r>
              <a:rPr lang="en-US" sz="2000" b="0" i="0" u="none" strike="noStrike" cap="none">
                <a:solidFill>
                  <a:srgbClr val="1A2E52"/>
                </a:solidFill>
                <a:latin typeface="Calibri"/>
                <a:ea typeface="Calibri"/>
                <a:cs typeface="Calibri"/>
                <a:sym typeface="Calibri"/>
              </a:rPr>
              <a:t>PicoRV32 is single-issue non-pipelined. Only one mem_valid can be outstanding at any time. No out-of-order or speculative memory access. Keeps AXI handshake straightforward.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3dac5effadd_0_80"/>
          <p:cNvSpPr/>
          <p:nvPr/>
        </p:nvSpPr>
        <p:spPr>
          <a:xfrm>
            <a:off x="706850" y="7450323"/>
            <a:ext cx="8057400" cy="2260200"/>
          </a:xfrm>
          <a:prstGeom prst="rect">
            <a:avLst/>
          </a:prstGeom>
          <a:solidFill>
            <a:srgbClr val="F4F8FF"/>
          </a:solidFill>
          <a:ln w="21325" cap="flat" cmpd="sng">
            <a:solidFill>
              <a:srgbClr val="7B1FA2"/>
            </a:solidFill>
            <a:prstDash val="solid"/>
            <a:round/>
            <a:headEnd type="none" w="sm" len="sm"/>
            <a:tailEnd type="none" w="sm" len="sm"/>
          </a:ln>
          <a:effectLst>
            <a:outerShdw blurRad="88991" dist="35596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28125" tIns="128125" rIns="128125" bIns="128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44" name="Google Shape;544;g3dac5effadd_0_80"/>
          <p:cNvSpPr/>
          <p:nvPr/>
        </p:nvSpPr>
        <p:spPr>
          <a:xfrm>
            <a:off x="706850" y="7450323"/>
            <a:ext cx="973800" cy="2260200"/>
          </a:xfrm>
          <a:prstGeom prst="rect">
            <a:avLst/>
          </a:prstGeom>
          <a:solidFill>
            <a:srgbClr val="7B1FA2"/>
          </a:solidFill>
          <a:ln w="17800" cap="flat" cmpd="sng">
            <a:solidFill>
              <a:srgbClr val="7B1F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8125" tIns="128125" rIns="128125" bIns="128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45" name="Google Shape;545;g3dac5effadd_0_80"/>
          <p:cNvSpPr/>
          <p:nvPr/>
        </p:nvSpPr>
        <p:spPr>
          <a:xfrm>
            <a:off x="706850" y="7450323"/>
            <a:ext cx="973800" cy="22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2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AX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3dac5effadd_0_80"/>
          <p:cNvSpPr/>
          <p:nvPr/>
        </p:nvSpPr>
        <p:spPr>
          <a:xfrm>
            <a:off x="1857970" y="7591599"/>
            <a:ext cx="67293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542"/>
              <a:buFont typeface="Calibri"/>
              <a:buNone/>
            </a:pPr>
            <a:r>
              <a:rPr lang="en-US" sz="2400" b="1" i="0" u="none" strike="noStrike" cap="non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AXI Backpressure Rule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3dac5effadd_0_80"/>
          <p:cNvSpPr/>
          <p:nvPr/>
        </p:nvSpPr>
        <p:spPr>
          <a:xfrm>
            <a:off x="1857970" y="8156701"/>
            <a:ext cx="672930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1331"/>
              <a:buFont typeface="Calibri"/>
              <a:buNone/>
            </a:pPr>
            <a:r>
              <a:rPr lang="en-US" sz="2000" b="0" i="0" u="none" strike="noStrike" cap="none">
                <a:solidFill>
                  <a:srgbClr val="1A2E52"/>
                </a:solidFill>
                <a:latin typeface="Calibri"/>
                <a:ea typeface="Calibri"/>
                <a:cs typeface="Calibri"/>
                <a:sym typeface="Calibri"/>
              </a:rPr>
              <a:t>AWREADY/WREADY go LOW when uart_axi.buf_valid=1. CPU bridge stalls — no data loss without a FIFO. No explicit wait() needed in firmware; hardware handles flow control.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dac5effadd_0_80"/>
          <p:cNvSpPr/>
          <p:nvPr/>
        </p:nvSpPr>
        <p:spPr>
          <a:xfrm>
            <a:off x="9242847" y="2329083"/>
            <a:ext cx="8057400" cy="2260200"/>
          </a:xfrm>
          <a:prstGeom prst="rect">
            <a:avLst/>
          </a:prstGeom>
          <a:solidFill>
            <a:srgbClr val="F4F8FF"/>
          </a:solidFill>
          <a:ln w="21325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  <a:effectLst>
            <a:outerShdw blurRad="88991" dist="35596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28125" tIns="128125" rIns="128125" bIns="128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49" name="Google Shape;549;g3dac5effadd_0_80"/>
          <p:cNvSpPr/>
          <p:nvPr/>
        </p:nvSpPr>
        <p:spPr>
          <a:xfrm>
            <a:off x="9242847" y="2329083"/>
            <a:ext cx="973800" cy="2260200"/>
          </a:xfrm>
          <a:prstGeom prst="rect">
            <a:avLst/>
          </a:prstGeom>
          <a:solidFill>
            <a:srgbClr val="C62828"/>
          </a:solidFill>
          <a:ln w="178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8125" tIns="128125" rIns="128125" bIns="128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50" name="Google Shape;550;g3dac5effadd_0_80"/>
          <p:cNvSpPr/>
          <p:nvPr/>
        </p:nvSpPr>
        <p:spPr>
          <a:xfrm>
            <a:off x="9242847" y="2329083"/>
            <a:ext cx="973800" cy="22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2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RT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dac5effadd_0_80"/>
          <p:cNvSpPr/>
          <p:nvPr/>
        </p:nvSpPr>
        <p:spPr>
          <a:xfrm>
            <a:off x="10393967" y="2470359"/>
            <a:ext cx="67293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542"/>
              <a:buFont typeface="Calibri"/>
              <a:buNone/>
            </a:pPr>
            <a:r>
              <a:rPr lang="en-US" sz="2400" b="1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ASIC-Clean RTL Rule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dac5effadd_0_80"/>
          <p:cNvSpPr/>
          <p:nvPr/>
        </p:nvSpPr>
        <p:spPr>
          <a:xfrm>
            <a:off x="10393967" y="3035461"/>
            <a:ext cx="672930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1331"/>
              <a:buFont typeface="Calibri"/>
              <a:buNone/>
            </a:pPr>
            <a:r>
              <a:rPr lang="en-US" sz="2000" b="0" i="0" u="none" strike="noStrike" cap="none">
                <a:solidFill>
                  <a:srgbClr val="1A2E52"/>
                </a:solidFill>
                <a:latin typeface="Calibri"/>
                <a:ea typeface="Calibri"/>
                <a:cs typeface="Calibri"/>
                <a:sym typeface="Calibri"/>
              </a:rPr>
              <a:t>No initial blocks in RTL. All state must be reset-driven (posedge clk, negedge rst_n). initial blocks are simulation-only; they are ignored by synthesis tools for ASIC.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dac5effadd_0_80"/>
          <p:cNvSpPr/>
          <p:nvPr/>
        </p:nvSpPr>
        <p:spPr>
          <a:xfrm>
            <a:off x="9242847" y="4889703"/>
            <a:ext cx="8057400" cy="2260200"/>
          </a:xfrm>
          <a:prstGeom prst="rect">
            <a:avLst/>
          </a:prstGeom>
          <a:solidFill>
            <a:srgbClr val="F4F8FF"/>
          </a:solidFill>
          <a:ln w="21325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  <a:effectLst>
            <a:outerShdw blurRad="88991" dist="35596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28125" tIns="128125" rIns="128125" bIns="128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54" name="Google Shape;554;g3dac5effadd_0_80"/>
          <p:cNvSpPr/>
          <p:nvPr/>
        </p:nvSpPr>
        <p:spPr>
          <a:xfrm>
            <a:off x="9242847" y="4889703"/>
            <a:ext cx="973800" cy="2260200"/>
          </a:xfrm>
          <a:prstGeom prst="rect">
            <a:avLst/>
          </a:prstGeom>
          <a:solidFill>
            <a:srgbClr val="E65100"/>
          </a:solidFill>
          <a:ln w="178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8125" tIns="128125" rIns="128125" bIns="128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55" name="Google Shape;555;g3dac5effadd_0_80"/>
          <p:cNvSpPr/>
          <p:nvPr/>
        </p:nvSpPr>
        <p:spPr>
          <a:xfrm>
            <a:off x="9242847" y="4889703"/>
            <a:ext cx="973800" cy="22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2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dac5effadd_0_80"/>
          <p:cNvSpPr/>
          <p:nvPr/>
        </p:nvSpPr>
        <p:spPr>
          <a:xfrm>
            <a:off x="10393967" y="5030979"/>
            <a:ext cx="67293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542"/>
              <a:buFont typeface="Calibri"/>
              <a:buNone/>
            </a:pPr>
            <a:r>
              <a:rPr lang="en-US" sz="2400" b="1" i="0" u="none" strike="noStrike" cap="non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Address Alignment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dac5effadd_0_80"/>
          <p:cNvSpPr/>
          <p:nvPr/>
        </p:nvSpPr>
        <p:spPr>
          <a:xfrm>
            <a:off x="10393967" y="5596081"/>
            <a:ext cx="672930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E52"/>
              </a:buClr>
              <a:buSzPts val="1331"/>
              <a:buFont typeface="Calibri"/>
              <a:buNone/>
            </a:pPr>
            <a:r>
              <a:rPr lang="en-US" sz="2000" b="0" i="0" u="none" strike="noStrike" cap="none">
                <a:solidFill>
                  <a:srgbClr val="1A2E52"/>
                </a:solidFill>
                <a:latin typeface="Calibri"/>
                <a:ea typeface="Calibri"/>
                <a:cs typeface="Calibri"/>
                <a:sym typeface="Calibri"/>
              </a:rPr>
              <a:t>AXI-Lite requires word-aligned addresses — bits[1:0] must be 00. Unaligned accesses cause undefined behavior. UART_STATUS at 0x1000_0008 (divisible by 4) is compliant.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6" name="Google Shape;566;p13"/>
          <p:cNvGrpSpPr/>
          <p:nvPr/>
        </p:nvGrpSpPr>
        <p:grpSpPr>
          <a:xfrm>
            <a:off x="838200" y="1062038"/>
            <a:ext cx="15727725" cy="1231650"/>
            <a:chOff x="0" y="-57150"/>
            <a:chExt cx="20970300" cy="1642200"/>
          </a:xfrm>
        </p:grpSpPr>
        <p:sp>
          <p:nvSpPr>
            <p:cNvPr id="567" name="Google Shape;567;p13"/>
            <p:cNvSpPr/>
            <p:nvPr/>
          </p:nvSpPr>
          <p:spPr>
            <a:xfrm>
              <a:off x="0" y="0"/>
              <a:ext cx="20970239" cy="1584960"/>
            </a:xfrm>
            <a:custGeom>
              <a:avLst/>
              <a:gdLst/>
              <a:ahLst/>
              <a:cxnLst/>
              <a:rect l="l" t="t" r="r" b="b"/>
              <a:pathLst>
                <a:path w="20970239" h="1584960" extrusionOk="0">
                  <a:moveTo>
                    <a:pt x="0" y="0"/>
                  </a:moveTo>
                  <a:lnTo>
                    <a:pt x="20970239" y="0"/>
                  </a:lnTo>
                  <a:lnTo>
                    <a:pt x="20970239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07812" b="-2078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13"/>
            <p:cNvSpPr txBox="1"/>
            <p:nvPr/>
          </p:nvSpPr>
          <p:spPr>
            <a:xfrm>
              <a:off x="0" y="-57150"/>
              <a:ext cx="20970300" cy="16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400"/>
                <a:buFont typeface="Arial"/>
                <a:buNone/>
              </a:pPr>
              <a:r>
                <a:rPr lang="en-US" sz="6400" b="1" dirty="0">
                  <a:latin typeface="Poppins"/>
                  <a:ea typeface="Poppins"/>
                  <a:cs typeface="Poppins"/>
                  <a:sym typeface="Poppins"/>
                </a:rPr>
                <a:t>Sub-module 4 - </a:t>
              </a:r>
              <a:r>
                <a:rPr lang="en-US" sz="6400" b="1" i="0" u="none" strike="noStrike" cap="none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Key Takeaways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9" name="Google Shape;569;p13"/>
          <p:cNvSpPr/>
          <p:nvPr/>
        </p:nvSpPr>
        <p:spPr>
          <a:xfrm>
            <a:off x="838200" y="2712146"/>
            <a:ext cx="15727800" cy="1245000"/>
          </a:xfrm>
          <a:prstGeom prst="rect">
            <a:avLst/>
          </a:prstGeom>
          <a:noFill/>
          <a:ln w="18025" cap="flat" cmpd="sng">
            <a:solidFill>
              <a:srgbClr val="1E4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70" name="Google Shape;570;p13"/>
          <p:cNvSpPr/>
          <p:nvPr/>
        </p:nvSpPr>
        <p:spPr>
          <a:xfrm>
            <a:off x="838200" y="2712146"/>
            <a:ext cx="103800" cy="1245000"/>
          </a:xfrm>
          <a:prstGeom prst="rect">
            <a:avLst/>
          </a:prstGeom>
          <a:solidFill>
            <a:srgbClr val="1E88E5"/>
          </a:solidFill>
          <a:ln w="24025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71" name="Google Shape;571;p13"/>
          <p:cNvSpPr/>
          <p:nvPr/>
        </p:nvSpPr>
        <p:spPr>
          <a:xfrm>
            <a:off x="1132014" y="2798563"/>
            <a:ext cx="36294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2079"/>
              <a:buFont typeface="Calibri"/>
              <a:buNone/>
            </a:pPr>
            <a:r>
              <a:rPr lang="en-US" sz="2079" b="1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MMIO Core Principle: </a:t>
            </a:r>
            <a:endParaRPr sz="2079" b="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3"/>
          <p:cNvSpPr/>
          <p:nvPr/>
        </p:nvSpPr>
        <p:spPr>
          <a:xfrm>
            <a:off x="1132014" y="3317063"/>
            <a:ext cx="151227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CAE9"/>
              </a:buClr>
              <a:buSzPts val="1890"/>
              <a:buFont typeface="Calibri"/>
              <a:buNone/>
            </a:pPr>
            <a:r>
              <a:rPr lang="en-US" sz="18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 uses standard load/store to talk to hardware — no special I/O instructions in RISC-V.</a:t>
            </a:r>
            <a:endParaRPr sz="18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3"/>
          <p:cNvSpPr/>
          <p:nvPr/>
        </p:nvSpPr>
        <p:spPr>
          <a:xfrm>
            <a:off x="838200" y="4163945"/>
            <a:ext cx="15727800" cy="1245000"/>
          </a:xfrm>
          <a:prstGeom prst="rect">
            <a:avLst/>
          </a:prstGeom>
          <a:noFill/>
          <a:ln w="18025" cap="flat" cmpd="sng">
            <a:solidFill>
              <a:srgbClr val="1E4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74" name="Google Shape;574;p13"/>
          <p:cNvSpPr/>
          <p:nvPr/>
        </p:nvSpPr>
        <p:spPr>
          <a:xfrm>
            <a:off x="838200" y="4163945"/>
            <a:ext cx="103800" cy="1245000"/>
          </a:xfrm>
          <a:prstGeom prst="rect">
            <a:avLst/>
          </a:prstGeom>
          <a:solidFill>
            <a:srgbClr val="1E88E5"/>
          </a:solidFill>
          <a:ln w="24025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75" name="Google Shape;575;p13"/>
          <p:cNvSpPr/>
          <p:nvPr/>
        </p:nvSpPr>
        <p:spPr>
          <a:xfrm>
            <a:off x="1132014" y="4250362"/>
            <a:ext cx="36294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2079"/>
              <a:buFont typeface="Calibri"/>
              <a:buNone/>
            </a:pPr>
            <a:r>
              <a:rPr lang="en-US" sz="2079" b="1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Register Map: </a:t>
            </a:r>
            <a:endParaRPr sz="2079" b="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3"/>
          <p:cNvSpPr/>
          <p:nvPr/>
        </p:nvSpPr>
        <p:spPr>
          <a:xfrm>
            <a:off x="1132014" y="4768862"/>
            <a:ext cx="151227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CAE9"/>
              </a:buClr>
              <a:buSzPts val="1890"/>
              <a:buFont typeface="Calibri"/>
              <a:buNone/>
            </a:pPr>
            <a:r>
              <a:rPr lang="en-US" sz="18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0x1000_0000 → UART TX  |  0x1000_0004 → UART RX  |  0x1000_0008 → STATUS (bit[1]=rx_buf_valid)</a:t>
            </a:r>
            <a:endParaRPr sz="18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3"/>
          <p:cNvSpPr/>
          <p:nvPr/>
        </p:nvSpPr>
        <p:spPr>
          <a:xfrm>
            <a:off x="838200" y="5615745"/>
            <a:ext cx="15727800" cy="1245000"/>
          </a:xfrm>
          <a:prstGeom prst="rect">
            <a:avLst/>
          </a:prstGeom>
          <a:noFill/>
          <a:ln w="18025" cap="flat" cmpd="sng">
            <a:solidFill>
              <a:srgbClr val="1E4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78" name="Google Shape;578;p13"/>
          <p:cNvSpPr/>
          <p:nvPr/>
        </p:nvSpPr>
        <p:spPr>
          <a:xfrm>
            <a:off x="838200" y="5615745"/>
            <a:ext cx="103800" cy="1245000"/>
          </a:xfrm>
          <a:prstGeom prst="rect">
            <a:avLst/>
          </a:prstGeom>
          <a:solidFill>
            <a:srgbClr val="1E88E5"/>
          </a:solidFill>
          <a:ln w="24025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79" name="Google Shape;579;p13"/>
          <p:cNvSpPr/>
          <p:nvPr/>
        </p:nvSpPr>
        <p:spPr>
          <a:xfrm>
            <a:off x="1132014" y="5702161"/>
            <a:ext cx="36294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2079"/>
              <a:buFont typeface="Calibri"/>
              <a:buNone/>
            </a:pPr>
            <a:r>
              <a:rPr lang="en-US" sz="2079" b="1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volatile is Non-Negotiable: </a:t>
            </a:r>
            <a:endParaRPr sz="2079" b="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3"/>
          <p:cNvSpPr/>
          <p:nvPr/>
        </p:nvSpPr>
        <p:spPr>
          <a:xfrm>
            <a:off x="1132014" y="6220661"/>
            <a:ext cx="151227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CAE9"/>
              </a:buClr>
              <a:buSzPts val="1890"/>
              <a:buFont typeface="Calibri"/>
              <a:buNone/>
            </a:pPr>
            <a:r>
              <a:rPr lang="en-US" sz="18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Prevents compiler from optimizing away hardware register accesses — required for all MMIO pointers.</a:t>
            </a:r>
            <a:endParaRPr sz="18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3"/>
          <p:cNvSpPr/>
          <p:nvPr/>
        </p:nvSpPr>
        <p:spPr>
          <a:xfrm>
            <a:off x="838200" y="7067544"/>
            <a:ext cx="15727800" cy="1245000"/>
          </a:xfrm>
          <a:prstGeom prst="rect">
            <a:avLst/>
          </a:prstGeom>
          <a:noFill/>
          <a:ln w="18025" cap="flat" cmpd="sng">
            <a:solidFill>
              <a:srgbClr val="1E4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82" name="Google Shape;582;p13"/>
          <p:cNvSpPr/>
          <p:nvPr/>
        </p:nvSpPr>
        <p:spPr>
          <a:xfrm>
            <a:off x="838200" y="7067544"/>
            <a:ext cx="103800" cy="1245000"/>
          </a:xfrm>
          <a:prstGeom prst="rect">
            <a:avLst/>
          </a:prstGeom>
          <a:solidFill>
            <a:srgbClr val="1E88E5"/>
          </a:solidFill>
          <a:ln w="24025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83" name="Google Shape;583;p13"/>
          <p:cNvSpPr/>
          <p:nvPr/>
        </p:nvSpPr>
        <p:spPr>
          <a:xfrm>
            <a:off x="1132014" y="7153960"/>
            <a:ext cx="36294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2079"/>
              <a:buFont typeface="Calibri"/>
              <a:buNone/>
            </a:pPr>
            <a:r>
              <a:rPr lang="en-US" sz="2079" b="1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Firmware Polling: </a:t>
            </a:r>
            <a:endParaRPr sz="2079" b="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3"/>
          <p:cNvSpPr/>
          <p:nvPr/>
        </p:nvSpPr>
        <p:spPr>
          <a:xfrm>
            <a:off x="1132014" y="7672460"/>
            <a:ext cx="151227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CAE9"/>
              </a:buClr>
              <a:buSzPts val="1890"/>
              <a:buFont typeface="Calibri"/>
              <a:buNone/>
            </a:pPr>
            <a:r>
              <a:rPr lang="en-US" sz="18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(!(UART_STATUS &amp; 0x2));  — polls STATUS register until RX byte is available.</a:t>
            </a:r>
            <a:endParaRPr sz="18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3"/>
          <p:cNvSpPr/>
          <p:nvPr/>
        </p:nvSpPr>
        <p:spPr>
          <a:xfrm>
            <a:off x="838200" y="8519343"/>
            <a:ext cx="15727800" cy="1245000"/>
          </a:xfrm>
          <a:prstGeom prst="rect">
            <a:avLst/>
          </a:prstGeom>
          <a:noFill/>
          <a:ln w="18025" cap="flat" cmpd="sng">
            <a:solidFill>
              <a:srgbClr val="1E4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86" name="Google Shape;586;p13"/>
          <p:cNvSpPr/>
          <p:nvPr/>
        </p:nvSpPr>
        <p:spPr>
          <a:xfrm>
            <a:off x="838200" y="8519343"/>
            <a:ext cx="103800" cy="1245000"/>
          </a:xfrm>
          <a:prstGeom prst="rect">
            <a:avLst/>
          </a:prstGeom>
          <a:solidFill>
            <a:srgbClr val="1E88E5"/>
          </a:solidFill>
          <a:ln w="24025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87" name="Google Shape;587;p13"/>
          <p:cNvSpPr/>
          <p:nvPr/>
        </p:nvSpPr>
        <p:spPr>
          <a:xfrm>
            <a:off x="1132014" y="8605759"/>
            <a:ext cx="36294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2079"/>
              <a:buFont typeface="Calibri"/>
              <a:buNone/>
            </a:pPr>
            <a:r>
              <a:rPr lang="en-US" sz="2079" b="1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Lab Command: </a:t>
            </a:r>
            <a:endParaRPr sz="2079" b="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3"/>
          <p:cNvSpPr/>
          <p:nvPr/>
        </p:nvSpPr>
        <p:spPr>
          <a:xfrm>
            <a:off x="1132014" y="9124259"/>
            <a:ext cx="151227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CAE9"/>
              </a:buClr>
              <a:buSzPts val="1890"/>
              <a:buFont typeface="Calibri"/>
              <a:buNone/>
            </a:pPr>
            <a:r>
              <a:rPr lang="en-US" sz="18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 soc_pico_uart_mem  →  direct native bus SoC (no AXI)  |  make soc  →  full AXI-Lite SoC.</a:t>
            </a:r>
            <a:endParaRPr sz="18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1554</Words>
  <Application>Microsoft Office PowerPoint</Application>
  <PresentationFormat>Custom</PresentationFormat>
  <Paragraphs>262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Poppins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acer</cp:lastModifiedBy>
  <cp:revision>2</cp:revision>
  <dcterms:created xsi:type="dcterms:W3CDTF">2006-08-16T00:00:00Z</dcterms:created>
  <dcterms:modified xsi:type="dcterms:W3CDTF">2026-05-09T13:08:54Z</dcterms:modified>
</cp:coreProperties>
</file>