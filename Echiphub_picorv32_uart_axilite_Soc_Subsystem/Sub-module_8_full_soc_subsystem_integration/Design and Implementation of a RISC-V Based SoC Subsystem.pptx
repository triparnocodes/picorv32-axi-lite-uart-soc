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8" r:id="rId11"/>
    <p:sldId id="289" r:id="rId12"/>
    <p:sldId id="285" r:id="rId13"/>
    <p:sldId id="286" r:id="rId14"/>
    <p:sldId id="287" r:id="rId15"/>
    <p:sldId id="265" r:id="rId16"/>
    <p:sldId id="266" r:id="rId17"/>
    <p:sldId id="267" r:id="rId18"/>
    <p:sldId id="291" r:id="rId19"/>
    <p:sldId id="292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93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94" r:id="rId37"/>
    <p:sldId id="295" r:id="rId38"/>
    <p:sldId id="283" r:id="rId39"/>
    <p:sldId id="284" r:id="rId40"/>
  </p:sldIdLst>
  <p:sldSz cx="12192000" cy="6858000"/>
  <p:notesSz cx="6858000" cy="12192000"/>
  <p:embeddedFontLst>
    <p:embeddedFont>
      <p:font typeface="Noto Sans KR" panose="020B0604020202020204" charset="-128"/>
      <p:regular r:id="rId42"/>
      <p:bold r:id="rId43"/>
    </p:embeddedFont>
    <p:embeddedFont>
      <p:font typeface="Arial Black" panose="020B0A04020102020204" pitchFamily="34" charset="0"/>
      <p:regular r:id="rId44"/>
      <p:bold r:id="rId45"/>
    </p:embeddedFont>
    <p:embeddedFont>
      <p:font typeface="Arial Narrow" panose="020B0606020202030204" pitchFamily="34" charset="0"/>
      <p:regular r:id="rId46"/>
      <p:bold r:id="rId47"/>
      <p:italic r:id="rId48"/>
      <p:boldItalic r:id="rId49"/>
    </p:embeddedFont>
    <p:embeddedFont>
      <p:font typeface="Consolas" panose="020B0609020204030204" pitchFamily="49" charset="0"/>
      <p:regular r:id="rId50"/>
      <p:bold r:id="rId51"/>
      <p:italic r:id="rId52"/>
      <p:boldItalic r:id="rId53"/>
    </p:embeddedFont>
    <p:embeddedFont>
      <p:font typeface="Poppins" panose="00000500000000000000" pitchFamily="2" charset="0"/>
      <p:regular r:id="rId54"/>
      <p:bold r:id="rId55"/>
      <p:italic r:id="rId56"/>
      <p:boldItalic r:id="rId57"/>
    </p:embeddedFont>
    <p:embeddedFont>
      <p:font typeface="Roboto" panose="02000000000000000000" pitchFamily="2" charset="0"/>
      <p:regular r:id="rId58"/>
      <p:bold r:id="rId59"/>
      <p:italic r:id="rId60"/>
      <p:boldItalic r:id="rId61"/>
    </p:embeddedFont>
    <p:embeddedFont>
      <p:font typeface="Roboto Condensed" panose="02000000000000000000" pitchFamily="2" charset="0"/>
      <p:regular r:id="rId62"/>
      <p:bold r:id="rId63"/>
      <p:italic r:id="rId64"/>
      <p:boldItalic r:id="rId6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6" roundtripDataSignature="AMtx7mj5pJEqxRjK22KRNu/T64DOm/C6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6BE4FAF-359A-4B38-81AF-187DD1290381}">
  <a:tblStyle styleId="{36BE4FAF-359A-4B38-81AF-187DD129038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rgbClr val="E9EFF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9EFF7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A1471D7-64E4-42A9-A1CD-48542FBC2C40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9C062AA-4478-4A29-BC63-D315CF8DB60F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B836444-E394-4ABB-8EDF-56764B5F1768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63" Type="http://schemas.openxmlformats.org/officeDocument/2006/relationships/font" Target="fonts/font22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font" Target="fonts/font17.fntdata"/><Relationship Id="rId66" Type="http://customschemas.google.com/relationships/presentationmetadata" Target="metadata"/><Relationship Id="rId5" Type="http://schemas.openxmlformats.org/officeDocument/2006/relationships/slide" Target="slides/slide4.xml"/><Relationship Id="rId61" Type="http://schemas.openxmlformats.org/officeDocument/2006/relationships/font" Target="fonts/font20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font" Target="fonts/font15.fntdata"/><Relationship Id="rId64" Type="http://schemas.openxmlformats.org/officeDocument/2006/relationships/font" Target="fonts/font23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59" Type="http://schemas.openxmlformats.org/officeDocument/2006/relationships/font" Target="fonts/font18.fntdata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3.fntdata"/><Relationship Id="rId62" Type="http://schemas.openxmlformats.org/officeDocument/2006/relationships/font" Target="fonts/font21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openxmlformats.org/officeDocument/2006/relationships/font" Target="fonts/font1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font" Target="fonts/font11.fntdata"/><Relationship Id="rId60" Type="http://schemas.openxmlformats.org/officeDocument/2006/relationships/font" Target="fonts/font19.fntdata"/><Relationship Id="rId65" Type="http://schemas.openxmlformats.org/officeDocument/2006/relationships/font" Target="fonts/font2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9.fntdata"/><Relationship Id="rId55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" name="Google Shape;52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8" name="Google Shape;57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3" name="Google Shape;33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5" name="Google Shape;47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1" name="Google Shape;78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5" name="Google Shape;84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4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6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1" name="Google Shape;401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8" name="Google Shape;408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8" name="Google Shape;458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4" name="Google Shape;474;p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9" name="Google Shape;1079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0" name="Google Shape;1080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0" name="Google Shape;500;p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2" name="Google Shape;532;p2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0" name="Google Shape;580;p2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3" name="Google Shape;613;p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7" name="Google Shape;647;p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0" name="Google Shape;680;p2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3" name="Google Shape;723;p2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2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7" name="Google Shape;1147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0" name="Google Shape;102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3" name="Google Shape;743;p2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2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8" name="Google Shape;768;p2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2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3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2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26" Type="http://schemas.openxmlformats.org/officeDocument/2006/relationships/image" Target="../media/image65.png"/><Relationship Id="rId3" Type="http://schemas.openxmlformats.org/officeDocument/2006/relationships/image" Target="../media/image42.png"/><Relationship Id="rId21" Type="http://schemas.openxmlformats.org/officeDocument/2006/relationships/image" Target="../media/image60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5" Type="http://schemas.openxmlformats.org/officeDocument/2006/relationships/image" Target="../media/image64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29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24" Type="http://schemas.openxmlformats.org/officeDocument/2006/relationships/image" Target="../media/image63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23" Type="http://schemas.openxmlformats.org/officeDocument/2006/relationships/image" Target="../media/image62.png"/><Relationship Id="rId28" Type="http://schemas.openxmlformats.org/officeDocument/2006/relationships/image" Target="../media/image67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Relationship Id="rId22" Type="http://schemas.openxmlformats.org/officeDocument/2006/relationships/image" Target="../media/image61.png"/><Relationship Id="rId27" Type="http://schemas.openxmlformats.org/officeDocument/2006/relationships/image" Target="../media/image66.png"/><Relationship Id="rId30" Type="http://schemas.openxmlformats.org/officeDocument/2006/relationships/image" Target="../media/image6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3" Type="http://schemas.openxmlformats.org/officeDocument/2006/relationships/image" Target="../media/image71.png"/><Relationship Id="rId21" Type="http://schemas.openxmlformats.org/officeDocument/2006/relationships/image" Target="../media/image89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5" Type="http://schemas.openxmlformats.org/officeDocument/2006/relationships/image" Target="../media/image83.png"/><Relationship Id="rId23" Type="http://schemas.openxmlformats.org/officeDocument/2006/relationships/image" Target="../media/image91.png"/><Relationship Id="rId10" Type="http://schemas.openxmlformats.org/officeDocument/2006/relationships/image" Target="../media/image78.png"/><Relationship Id="rId19" Type="http://schemas.openxmlformats.org/officeDocument/2006/relationships/image" Target="../media/image87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Relationship Id="rId22" Type="http://schemas.openxmlformats.org/officeDocument/2006/relationships/image" Target="../media/image9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5" Type="http://schemas.openxmlformats.org/officeDocument/2006/relationships/image" Target="../media/image96.png"/><Relationship Id="rId10" Type="http://schemas.openxmlformats.org/officeDocument/2006/relationships/image" Target="../media/image101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21.png"/><Relationship Id="rId18" Type="http://schemas.openxmlformats.org/officeDocument/2006/relationships/image" Target="../media/image126.png"/><Relationship Id="rId3" Type="http://schemas.openxmlformats.org/officeDocument/2006/relationships/image" Target="../media/image111.png"/><Relationship Id="rId21" Type="http://schemas.openxmlformats.org/officeDocument/2006/relationships/image" Target="../media/image129.png"/><Relationship Id="rId7" Type="http://schemas.openxmlformats.org/officeDocument/2006/relationships/image" Target="../media/image115.png"/><Relationship Id="rId12" Type="http://schemas.openxmlformats.org/officeDocument/2006/relationships/image" Target="../media/image120.png"/><Relationship Id="rId17" Type="http://schemas.openxmlformats.org/officeDocument/2006/relationships/image" Target="../media/image125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124.png"/><Relationship Id="rId20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11" Type="http://schemas.openxmlformats.org/officeDocument/2006/relationships/image" Target="../media/image119.png"/><Relationship Id="rId5" Type="http://schemas.openxmlformats.org/officeDocument/2006/relationships/image" Target="../media/image113.png"/><Relationship Id="rId15" Type="http://schemas.openxmlformats.org/officeDocument/2006/relationships/image" Target="../media/image123.png"/><Relationship Id="rId23" Type="http://schemas.openxmlformats.org/officeDocument/2006/relationships/image" Target="../media/image131.png"/><Relationship Id="rId10" Type="http://schemas.openxmlformats.org/officeDocument/2006/relationships/image" Target="../media/image118.png"/><Relationship Id="rId19" Type="http://schemas.openxmlformats.org/officeDocument/2006/relationships/image" Target="../media/image127.png"/><Relationship Id="rId4" Type="http://schemas.openxmlformats.org/officeDocument/2006/relationships/image" Target="../media/image112.png"/><Relationship Id="rId9" Type="http://schemas.openxmlformats.org/officeDocument/2006/relationships/image" Target="../media/image117.png"/><Relationship Id="rId14" Type="http://schemas.openxmlformats.org/officeDocument/2006/relationships/image" Target="../media/image122.png"/><Relationship Id="rId22" Type="http://schemas.openxmlformats.org/officeDocument/2006/relationships/image" Target="../media/image1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3" Type="http://schemas.openxmlformats.org/officeDocument/2006/relationships/image" Target="../media/image150.png"/><Relationship Id="rId18" Type="http://schemas.openxmlformats.org/officeDocument/2006/relationships/image" Target="../media/image155.png"/><Relationship Id="rId3" Type="http://schemas.openxmlformats.org/officeDocument/2006/relationships/image" Target="../media/image140.png"/><Relationship Id="rId21" Type="http://schemas.openxmlformats.org/officeDocument/2006/relationships/image" Target="../media/image158.png"/><Relationship Id="rId7" Type="http://schemas.openxmlformats.org/officeDocument/2006/relationships/image" Target="../media/image144.png"/><Relationship Id="rId12" Type="http://schemas.openxmlformats.org/officeDocument/2006/relationships/image" Target="../media/image149.png"/><Relationship Id="rId17" Type="http://schemas.openxmlformats.org/officeDocument/2006/relationships/image" Target="../media/image154.pn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153.png"/><Relationship Id="rId20" Type="http://schemas.openxmlformats.org/officeDocument/2006/relationships/image" Target="../media/image1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3.png"/><Relationship Id="rId11" Type="http://schemas.openxmlformats.org/officeDocument/2006/relationships/image" Target="../media/image148.png"/><Relationship Id="rId24" Type="http://schemas.openxmlformats.org/officeDocument/2006/relationships/image" Target="../media/image161.png"/><Relationship Id="rId5" Type="http://schemas.openxmlformats.org/officeDocument/2006/relationships/image" Target="../media/image142.png"/><Relationship Id="rId15" Type="http://schemas.openxmlformats.org/officeDocument/2006/relationships/image" Target="../media/image152.png"/><Relationship Id="rId23" Type="http://schemas.openxmlformats.org/officeDocument/2006/relationships/image" Target="../media/image160.png"/><Relationship Id="rId10" Type="http://schemas.openxmlformats.org/officeDocument/2006/relationships/image" Target="../media/image147.png"/><Relationship Id="rId19" Type="http://schemas.openxmlformats.org/officeDocument/2006/relationships/image" Target="../media/image156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Relationship Id="rId14" Type="http://schemas.openxmlformats.org/officeDocument/2006/relationships/image" Target="../media/image151.png"/><Relationship Id="rId22" Type="http://schemas.openxmlformats.org/officeDocument/2006/relationships/image" Target="../media/image15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3" Type="http://schemas.openxmlformats.org/officeDocument/2006/relationships/image" Target="../media/image163.png"/><Relationship Id="rId7" Type="http://schemas.openxmlformats.org/officeDocument/2006/relationships/image" Target="../media/image16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6.png"/><Relationship Id="rId5" Type="http://schemas.openxmlformats.org/officeDocument/2006/relationships/image" Target="../media/image165.png"/><Relationship Id="rId4" Type="http://schemas.openxmlformats.org/officeDocument/2006/relationships/image" Target="../media/image16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3" Type="http://schemas.openxmlformats.org/officeDocument/2006/relationships/image" Target="../media/image169.png"/><Relationship Id="rId7" Type="http://schemas.openxmlformats.org/officeDocument/2006/relationships/image" Target="../media/image17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2.png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3516"/>
            <a:ext cx="12192000" cy="6581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 descr="preencoded.png"/>
          <p:cNvPicPr preferRelativeResize="0"/>
          <p:nvPr/>
        </p:nvPicPr>
        <p:blipFill rotWithShape="1">
          <a:blip r:embed="rId4">
            <a:alphaModFix/>
          </a:blip>
          <a:srcRect l="6890" t="75194" r="6686" b="9527"/>
          <a:stretch/>
        </p:blipFill>
        <p:spPr>
          <a:xfrm>
            <a:off x="839972" y="4321076"/>
            <a:ext cx="10536865" cy="104785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733647" y="1706665"/>
            <a:ext cx="10536865" cy="1802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75"/>
              <a:buFont typeface="Poppins"/>
              <a:buNone/>
            </a:pPr>
            <a:r>
              <a:rPr lang="en-US" sz="3975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Design and Implementation of a RISC-V</a:t>
            </a:r>
            <a:br>
              <a:rPr lang="en-US" sz="3975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3975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Based SoC Subsystem with AXI</a:t>
            </a:r>
            <a:br>
              <a:rPr lang="en-US" sz="3975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3975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Interconnect for Embedded Application</a:t>
            </a:r>
            <a:endParaRPr sz="39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524000" y="4498286"/>
            <a:ext cx="8252460" cy="197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Poppins"/>
              <a:buNone/>
            </a:pPr>
            <a:r>
              <a:rPr lang="en-US" sz="1425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RISC-V ISA (Open-source, Royalty-free)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524000" y="4974536"/>
            <a:ext cx="4809083" cy="394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Poppins"/>
              <a:buNone/>
            </a:pPr>
            <a:r>
              <a:rPr lang="en-US" sz="1425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OpenLane RTL-to-GDSII flow, SkyWater 130nm</a:t>
            </a:r>
            <a:br>
              <a:rPr lang="en-US" sz="1425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425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PDK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058025" y="4498286"/>
            <a:ext cx="5133975" cy="197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Poppins"/>
              <a:buNone/>
            </a:pPr>
            <a:r>
              <a:rPr lang="en-US" sz="1425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AXI4-Lite VALID/READY handshake.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058025" y="4974536"/>
            <a:ext cx="5133975" cy="197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Poppins"/>
              <a:buNone/>
            </a:pPr>
            <a:r>
              <a:rPr lang="en-US" sz="1425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Ensures reliable master-slave communication.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2" descr="preencoded.png"/>
          <p:cNvPicPr preferRelativeResize="0"/>
          <p:nvPr/>
        </p:nvPicPr>
        <p:blipFill rotWithShape="1">
          <a:blip r:embed="rId3">
            <a:alphaModFix/>
          </a:blip>
          <a:srcRect t="26139"/>
          <a:stretch/>
        </p:blipFill>
        <p:spPr>
          <a:xfrm>
            <a:off x="0" y="1792486"/>
            <a:ext cx="12192000" cy="50655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31" name="Google Shape;31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0157" y="1933873"/>
            <a:ext cx="10582573" cy="1369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0157" y="1933873"/>
            <a:ext cx="781050" cy="1369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61207" y="1933873"/>
            <a:ext cx="4510236" cy="1369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71443" y="1933873"/>
            <a:ext cx="781050" cy="1369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52493" y="1933873"/>
            <a:ext cx="4510235" cy="1369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80157" y="3303091"/>
            <a:ext cx="10582572" cy="1369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0157" y="3303091"/>
            <a:ext cx="781050" cy="1369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2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561207" y="3303091"/>
            <a:ext cx="4510235" cy="1369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2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071443" y="3303091"/>
            <a:ext cx="781050" cy="1369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2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852493" y="3303091"/>
            <a:ext cx="4510235" cy="1369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0157" y="4672310"/>
            <a:ext cx="781050" cy="1369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2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561207" y="4672310"/>
            <a:ext cx="4510235" cy="1369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2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071443" y="4672310"/>
            <a:ext cx="781050" cy="1369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2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852493" y="4672310"/>
            <a:ext cx="4510235" cy="136936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780157" y="1933873"/>
            <a:ext cx="762000" cy="1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alibri"/>
              <a:buNone/>
            </a:pPr>
            <a:r>
              <a:rPr lang="en-US" sz="19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846957" y="2224236"/>
            <a:ext cx="79629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alibri"/>
              <a:buNone/>
            </a:pPr>
            <a:r>
              <a:rPr lang="en-US" sz="165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RISC-V ISA Fundamentals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846957" y="2586186"/>
            <a:ext cx="39387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Overview of RISC-V architecture, its open-source model, and comparison with ARM and x86 ISAs.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071443" y="1933873"/>
            <a:ext cx="762000" cy="1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alibri"/>
              <a:buNone/>
            </a:pPr>
            <a:r>
              <a:rPr lang="en-US" sz="19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138243" y="2224236"/>
            <a:ext cx="50538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alibri"/>
              <a:buNone/>
            </a:pPr>
            <a:r>
              <a:rPr lang="en-US" sz="165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Physical Design Flow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7138243" y="2586186"/>
            <a:ext cx="39387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Step-by-step RTL-to-GDSII flow using OpenLane toolchain and SkyWater 130nm open-source PDK.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80157" y="3303091"/>
            <a:ext cx="762000" cy="1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alibri"/>
              <a:buNone/>
            </a:pPr>
            <a:r>
              <a:rPr lang="en-US" sz="19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846957" y="3593455"/>
            <a:ext cx="79629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alibri"/>
              <a:buNone/>
            </a:pPr>
            <a:r>
              <a:rPr lang="en-US" sz="165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 System Architecture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846957" y="3955405"/>
            <a:ext cx="39387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Introduction to the PicoRV32 core, AXI4-Lite interconnect fabric, SRAM, and UART peripheral integration.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071443" y="3303091"/>
            <a:ext cx="762000" cy="1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alibri"/>
              <a:buNone/>
            </a:pPr>
            <a:r>
              <a:rPr lang="en-US" sz="19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7138243" y="3593455"/>
            <a:ext cx="50538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alibri"/>
              <a:buNone/>
            </a:pPr>
            <a:r>
              <a:rPr lang="en-US" sz="165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Verification &amp; Results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7138243" y="3955405"/>
            <a:ext cx="39387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Design rule checks, LVS verification, synthesis results, and final GDSII layout evaluation.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780157" y="4672310"/>
            <a:ext cx="762000" cy="13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alibri"/>
              <a:buNone/>
            </a:pPr>
            <a:r>
              <a:rPr lang="en-US" sz="19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846957" y="4962674"/>
            <a:ext cx="87174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alibri"/>
              <a:buNone/>
            </a:pPr>
            <a:r>
              <a:rPr lang="en-US" sz="165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RTL Implementation Details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846957" y="5324624"/>
            <a:ext cx="39387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Deep dive into AXI4-Lite handshake signals, UART protocol framing, and Verilog module design.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071443" y="4672310"/>
            <a:ext cx="762000" cy="13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alibri"/>
              <a:buNone/>
            </a:pPr>
            <a:r>
              <a:rPr lang="en-US" sz="19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7138243" y="4962674"/>
            <a:ext cx="50538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alibri"/>
              <a:buNone/>
            </a:pPr>
            <a:r>
              <a:rPr lang="en-US" sz="165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Conclusions &amp; Future Work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7138243" y="5324624"/>
            <a:ext cx="39387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Summary of key findings and potential extensions for the RISC-V SoC subsystem design.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962025" y="1219200"/>
            <a:ext cx="3497700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5"/>
              <a:buFont typeface="Noto Sans KR"/>
              <a:buNone/>
            </a:pPr>
            <a:r>
              <a:rPr lang="en-US" sz="3825" b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Agenda</a:t>
            </a:r>
            <a:endParaRPr sz="3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3" descr="preencoded.png"/>
          <p:cNvPicPr preferRelativeResize="0"/>
          <p:nvPr/>
        </p:nvPicPr>
        <p:blipFill rotWithShape="1">
          <a:blip r:embed="rId3">
            <a:alphaModFix/>
          </a:blip>
          <a:srcRect t="44205" b="49167"/>
          <a:stretch/>
        </p:blipFill>
        <p:spPr>
          <a:xfrm>
            <a:off x="0" y="4625279"/>
            <a:ext cx="12192000" cy="454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3" descr="preencoded.png"/>
          <p:cNvPicPr preferRelativeResize="0"/>
          <p:nvPr/>
        </p:nvPicPr>
        <p:blipFill rotWithShape="1">
          <a:blip r:embed="rId3">
            <a:alphaModFix/>
          </a:blip>
          <a:srcRect t="27445" b="49166"/>
          <a:stretch/>
        </p:blipFill>
        <p:spPr>
          <a:xfrm>
            <a:off x="0" y="1882080"/>
            <a:ext cx="12192000" cy="1604072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/>
          <p:nvPr/>
        </p:nvSpPr>
        <p:spPr>
          <a:xfrm>
            <a:off x="895349" y="742950"/>
            <a:ext cx="104775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 Black"/>
              <a:buNone/>
            </a:pPr>
            <a:r>
              <a:rPr lang="en-US" sz="345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What is RISC-V? (Reduced Instruction Set</a:t>
            </a:r>
            <a:br>
              <a:rPr lang="en-US" sz="345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345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Computer – V)</a:t>
            </a:r>
            <a:endParaRPr sz="3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962025" y="3067050"/>
            <a:ext cx="5520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 &amp; Royalty-Free ISA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172200" y="3067050"/>
            <a:ext cx="39432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Arial"/>
              <a:buNone/>
            </a:pPr>
            <a:r>
              <a:rPr lang="en-US" sz="17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RISC Philosophy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962025" y="4676775"/>
            <a:ext cx="4800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Modular Architecture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172200" y="4676775"/>
            <a:ext cx="58407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PicoRV32 Implementation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895350" y="2076450"/>
            <a:ext cx="104775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-US" sz="150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RISC-V is a free, open-source Instruction Set Architecture (ISA) — it defines the set of instructions</a:t>
            </a:r>
            <a:br>
              <a:rPr lang="en-US" sz="150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processor must understand, without requiring any license fees or proprietary restrictions.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895350" y="3486150"/>
            <a:ext cx="5961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Anyone can design a RISC-V chip without royalties.</a:t>
            </a:r>
            <a:b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Ideal for custom silicon, academic research, and ulike</a:t>
            </a:r>
            <a:b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licensed or proprietary ISAs like ARM or Intel. Used</a:t>
            </a:r>
            <a:b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 companies like Google, SiFive, Western Digital.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895350" y="5095875"/>
            <a:ext cx="5752200" cy="8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Modular architecture: mandatory base plus optional</a:t>
            </a:r>
            <a:b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extensions. Enables tailoring to specific application</a:t>
            </a:r>
            <a:b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needs. 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172200" y="3486150"/>
            <a:ext cx="57939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Simple, fixed-length instructions enable efficient</a:t>
            </a:r>
            <a:b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pipelining. Focuses on instructions-per-cycle (IPC) to</a:t>
            </a:r>
            <a:b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lower hardware complexity and power consumption.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172200" y="5095875"/>
            <a:ext cx="5888100" cy="11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SoC implements PicoRV32 core with RV32IMC</a:t>
            </a:r>
            <a:b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configuration. Adds multiply/divide (M) and</a:t>
            </a:r>
            <a:b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compressed (C) instruction extensions. Optimized for</a:t>
            </a:r>
            <a:b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minimal area.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/>
          <p:nvPr/>
        </p:nvSpPr>
        <p:spPr>
          <a:xfrm>
            <a:off x="962025" y="933450"/>
            <a:ext cx="112299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 Black"/>
              <a:buNone/>
            </a:pPr>
            <a:r>
              <a:rPr lang="en-US" sz="375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SoC Subsystem Architecture</a:t>
            </a:r>
            <a:endParaRPr sz="3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1019175" y="2559695"/>
            <a:ext cx="4880700" cy="285000"/>
          </a:xfrm>
          <a:prstGeom prst="rect">
            <a:avLst/>
          </a:prstGeom>
          <a:solidFill>
            <a:srgbClr val="8DA9D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 Black"/>
              <a:buNone/>
            </a:pPr>
            <a:r>
              <a:rPr lang="en-US" sz="1575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PicoRV32 AXI Master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492625" y="2558802"/>
            <a:ext cx="5440800" cy="285900"/>
          </a:xfrm>
          <a:prstGeom prst="rect">
            <a:avLst/>
          </a:prstGeom>
          <a:solidFill>
            <a:srgbClr val="8DA9D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 Black"/>
              <a:buNone/>
            </a:pPr>
            <a:r>
              <a:rPr lang="en-US" sz="1575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AXI4-Lite Interconnect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7848600" y="2568327"/>
            <a:ext cx="3360300" cy="285000"/>
          </a:xfrm>
          <a:prstGeom prst="rect">
            <a:avLst/>
          </a:prstGeom>
          <a:solidFill>
            <a:srgbClr val="8DA9D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 Black"/>
              <a:buNone/>
            </a:pPr>
            <a:r>
              <a:rPr lang="en-US" sz="165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Address Mapping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1019175" y="4410075"/>
            <a:ext cx="5280600" cy="285000"/>
          </a:xfrm>
          <a:prstGeom prst="rect">
            <a:avLst/>
          </a:prstGeom>
          <a:solidFill>
            <a:srgbClr val="8DA9D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 Black"/>
              <a:buNone/>
            </a:pPr>
            <a:r>
              <a:rPr lang="en-US" sz="165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VALID/READY Handshake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429125" y="4410075"/>
            <a:ext cx="3840600" cy="285000"/>
          </a:xfrm>
          <a:prstGeom prst="rect">
            <a:avLst/>
          </a:prstGeom>
          <a:solidFill>
            <a:srgbClr val="8DA9D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 Black"/>
              <a:buNone/>
            </a:pPr>
            <a:r>
              <a:rPr lang="en-US" sz="1575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Core Peripherals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7848600" y="4410075"/>
            <a:ext cx="3360300" cy="285000"/>
          </a:xfrm>
          <a:prstGeom prst="rect">
            <a:avLst/>
          </a:prstGeom>
          <a:solidFill>
            <a:srgbClr val="8DA9D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 Black"/>
              <a:buNone/>
            </a:pPr>
            <a:r>
              <a:rPr lang="en-US" sz="1575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Modular Design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1019175" y="2990850"/>
            <a:ext cx="36984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The 'picoRV32_axi' variant</a:t>
            </a:r>
            <a:b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features a standard AXI4-Lite</a:t>
            </a:r>
            <a:b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master interface.</a:t>
            </a:r>
            <a:b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CPU directly initiates read/write</a:t>
            </a:r>
            <a:b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transactions across the fabric.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429125" y="2990850"/>
            <a:ext cx="35832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 lightweight bus fabric</a:t>
            </a:r>
            <a:b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efficiently routes transactions.</a:t>
            </a:r>
            <a:b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Performs address decoding to</a:t>
            </a:r>
            <a:b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simplify control and data register</a:t>
            </a:r>
            <a:b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7848600" y="2990850"/>
            <a:ext cx="3562200" cy="12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ROM, 2KB SRAM, and UART</a:t>
            </a:r>
            <a:b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 memory-mapped to unique</a:t>
            </a:r>
            <a:b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address ranges.</a:t>
            </a:r>
            <a:b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Simplifies uniform access via</a:t>
            </a:r>
            <a:b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standard AXI4-Lite operations.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019175" y="4819650"/>
            <a:ext cx="3698400" cy="1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Uses the VALID/READY signals</a:t>
            </a:r>
            <a:b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across all AXI channels.</a:t>
            </a:r>
            <a:b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Ensures master and slave are</a:t>
            </a:r>
            <a:b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synchronized before any data</a:t>
            </a:r>
            <a:b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transfer occurs.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429125" y="4819650"/>
            <a:ext cx="3803400" cy="1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en-US" sz="157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Integrated modules include Boot</a:t>
            </a:r>
            <a:br>
              <a:rPr lang="en-US" sz="157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7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ROM, 2KB SRAM, and UART for</a:t>
            </a:r>
            <a:br>
              <a:rPr lang="en-US" sz="157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7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essential services.</a:t>
            </a:r>
            <a:br>
              <a:rPr lang="en-US" sz="157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7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Provides program storage, data</a:t>
            </a:r>
            <a:br>
              <a:rPr lang="en-US" sz="157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7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memory, and external</a:t>
            </a:r>
            <a:br>
              <a:rPr lang="en-US" sz="157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7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communication.</a:t>
            </a:r>
            <a:endParaRPr sz="157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7848600" y="4819650"/>
            <a:ext cx="3614700" cy="1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Address-mapped architecture</a:t>
            </a:r>
            <a:b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allows easy addition of new</a:t>
            </a:r>
            <a:b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peripherals.</a:t>
            </a:r>
            <a:b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New AXI4-Lite slaves or</a:t>
            </a:r>
            <a:b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accelerators integrated without</a:t>
            </a:r>
            <a:b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 modifications.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019175" y="1800225"/>
            <a:ext cx="11074500" cy="5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SoC Subsystem integrates the PicoRV32 CPU with an AXI4-Lite interconnect fabric, ROM,</a:t>
            </a:r>
            <a:br>
              <a:rPr lang="en-US" sz="165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5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SRAM, and UART into a single cohesive unit for embedded applications.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6364188"/>
            <a:ext cx="255984" cy="239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74282" y="6364188"/>
            <a:ext cx="255984" cy="239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84377" y="6364188"/>
            <a:ext cx="243780" cy="239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94471" y="6364188"/>
            <a:ext cx="243780" cy="233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11796" y="1707505"/>
            <a:ext cx="9204871" cy="499943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/>
          <p:nvPr/>
        </p:nvSpPr>
        <p:spPr>
          <a:xfrm>
            <a:off x="962025" y="962025"/>
            <a:ext cx="10058400" cy="536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Poppins"/>
              <a:buNone/>
            </a:pPr>
            <a:r>
              <a:rPr lang="en-US" sz="33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System Block Diagram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1419671" y="6353175"/>
            <a:ext cx="618083" cy="148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Poppins"/>
              <a:buNone/>
            </a:pPr>
            <a:r>
              <a:rPr lang="en-US" sz="97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Legend: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2429843" y="6360169"/>
            <a:ext cx="1236315" cy="303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lang="en-US" sz="10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PicoRV32 CPU</a:t>
            </a:r>
            <a:br>
              <a:rPr lang="en-US" sz="10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0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3943350" y="6381750"/>
            <a:ext cx="796230" cy="239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39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Poppins"/>
              <a:buNone/>
            </a:pPr>
            <a:r>
              <a:rPr lang="en-US" sz="8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AXI4-Lite</a:t>
            </a:r>
            <a:br>
              <a:rPr lang="en-US" sz="8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8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Interconnect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324475" y="6381750"/>
            <a:ext cx="2057400" cy="13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None/>
            </a:pPr>
            <a:r>
              <a:rPr lang="en-US" sz="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Address Decoder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6686550" y="6381750"/>
            <a:ext cx="1691640" cy="13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None/>
            </a:pPr>
            <a:r>
              <a:rPr lang="en-US" sz="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ROM (64 KB)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8067675" y="6381750"/>
            <a:ext cx="1733550" cy="148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Poppins"/>
              <a:buNone/>
            </a:pPr>
            <a:r>
              <a:rPr lang="en-US" sz="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SRAM (2 KB)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9448800" y="6381750"/>
            <a:ext cx="670471" cy="260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None/>
            </a:pPr>
            <a:r>
              <a:rPr lang="en-US" sz="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UART AXI</a:t>
            </a:r>
            <a:br>
              <a:rPr lang="en-US" sz="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Peripheral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6" descr="preencoded.png"/>
          <p:cNvPicPr preferRelativeResize="0"/>
          <p:nvPr/>
        </p:nvPicPr>
        <p:blipFill rotWithShape="1">
          <a:blip r:embed="rId3">
            <a:alphaModFix/>
          </a:blip>
          <a:srcRect t="21240"/>
          <a:stretch/>
        </p:blipFill>
        <p:spPr>
          <a:xfrm>
            <a:off x="0" y="1456660"/>
            <a:ext cx="12192000" cy="5401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1984" y="4149030"/>
            <a:ext cx="438894" cy="383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34486" y="3161407"/>
            <a:ext cx="2462659" cy="822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51984" y="1632198"/>
            <a:ext cx="438894" cy="308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3694" y="4135338"/>
            <a:ext cx="365671" cy="390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43694" y="1590973"/>
            <a:ext cx="390079" cy="39082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/>
          <p:nvPr/>
        </p:nvSpPr>
        <p:spPr>
          <a:xfrm>
            <a:off x="638354" y="838200"/>
            <a:ext cx="10955547" cy="468660"/>
          </a:xfrm>
          <a:prstGeom prst="rect">
            <a:avLst/>
          </a:prstGeom>
          <a:solidFill>
            <a:srgbClr val="8DA9D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5"/>
              <a:buFont typeface="Poppins"/>
              <a:buNone/>
            </a:pPr>
            <a:r>
              <a:rPr lang="en-US" sz="307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PART 1: HANDSHAKE &amp; RTL IMPLEMENTATION</a:t>
            </a:r>
            <a:endParaRPr sz="30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1266825" y="1628775"/>
            <a:ext cx="542925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Poppins"/>
              <a:buNone/>
            </a:pPr>
            <a:r>
              <a:rPr lang="en-US" sz="1875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RTL DESIGN OVERVIEW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867525" y="1628775"/>
            <a:ext cx="5324475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Poppins"/>
              <a:buNone/>
            </a:pPr>
            <a:r>
              <a:rPr lang="en-US" sz="1875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AXI-LITE HANDSHAKE PROTOCOL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1200150" y="4171950"/>
            <a:ext cx="866775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Poppins"/>
              <a:buNone/>
            </a:pPr>
            <a:r>
              <a:rPr lang="en-US" sz="1875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PicoRV32 AXI MASTER INTERFACE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6867525" y="4171950"/>
            <a:ext cx="5324475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Poppins"/>
              <a:buNone/>
            </a:pPr>
            <a:r>
              <a:rPr lang="en-US" sz="1875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COMPONENT RTL STRUCTURE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962025" y="2143125"/>
            <a:ext cx="5678686" cy="1314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Poppins"/>
              <a:buNone/>
            </a:pPr>
            <a:r>
              <a:rPr lang="en-US" sz="17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Detailed Verilog implementation of</a:t>
            </a:r>
            <a:br>
              <a:rPr lang="en-US" sz="17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7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PicoRV32 core, AXI interconnect, SRAM, and</a:t>
            </a:r>
            <a:br>
              <a:rPr lang="en-US" sz="17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7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UART modules.</a:t>
            </a:r>
            <a:br>
              <a:rPr lang="en-US" sz="17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7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Synthesis-friendly and optimized RTL</a:t>
            </a:r>
            <a:br>
              <a:rPr lang="en-US" sz="17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7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code.</a:t>
            </a:r>
            <a:endParaRPr sz="17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505575" y="2143125"/>
            <a:ext cx="5249168" cy="1051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Poppins"/>
              <a:buNone/>
            </a:pPr>
            <a:r>
              <a:rPr lang="en-US" sz="1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Data transfers only when both VALID and</a:t>
            </a:r>
            <a:br>
              <a:rPr lang="en-US" sz="1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READY are asserted high.</a:t>
            </a:r>
            <a:br>
              <a:rPr lang="en-US" sz="1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Source-destination synchronization</a:t>
            </a:r>
            <a:br>
              <a:rPr lang="en-US" sz="1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mechanism.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857250" y="4676775"/>
            <a:ext cx="5532090" cy="1051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Poppins"/>
              <a:buNone/>
            </a:pPr>
            <a:r>
              <a:rPr lang="en-US" sz="1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Utilizes 'picorv32_axi' variant with a native</a:t>
            </a:r>
            <a:br>
              <a:rPr lang="en-US" sz="1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AXI4-Lite master port.</a:t>
            </a:r>
            <a:br>
              <a:rPr lang="en-US" sz="1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Direct connection to interconnect without</a:t>
            </a:r>
            <a:br>
              <a:rPr lang="en-US" sz="1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bridges.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505575" y="4676775"/>
            <a:ext cx="5647283" cy="1839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Poppins"/>
              <a:buNone/>
            </a:pPr>
            <a:r>
              <a:rPr lang="en-US" sz="1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SRAM and UART peripherals implement AXI-</a:t>
            </a:r>
            <a:br>
              <a:rPr lang="en-US" sz="1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Lite slave interfaces.</a:t>
            </a:r>
            <a:br>
              <a:rPr lang="en-US" sz="1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Interconnect routes transactions based on</a:t>
            </a:r>
            <a:br>
              <a:rPr lang="en-US" sz="1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address decoding.</a:t>
            </a:r>
            <a:br>
              <a:rPr lang="en-US" sz="1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Monospace signals like AWVALID, AWREADY,</a:t>
            </a:r>
            <a:br>
              <a:rPr lang="en-US" sz="1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WVALID, WREADY, BVALID, BREADY used in</a:t>
            </a:r>
            <a:br>
              <a:rPr lang="en-US" sz="1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Courier New font.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7" descr="preencoded.png"/>
          <p:cNvPicPr preferRelativeResize="0"/>
          <p:nvPr/>
        </p:nvPicPr>
        <p:blipFill rotWithShape="1">
          <a:blip r:embed="rId3">
            <a:alphaModFix/>
          </a:blip>
          <a:srcRect t="22791"/>
          <a:stretch/>
        </p:blipFill>
        <p:spPr>
          <a:xfrm>
            <a:off x="0" y="1562986"/>
            <a:ext cx="12192000" cy="529501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/>
          <p:nvPr/>
        </p:nvSpPr>
        <p:spPr>
          <a:xfrm>
            <a:off x="962025" y="876300"/>
            <a:ext cx="11229975" cy="530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Poppins"/>
              <a:buNone/>
            </a:pPr>
            <a:r>
              <a:rPr lang="en-US" sz="36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Core Compoment Overview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962024" y="1733550"/>
            <a:ext cx="11229975" cy="521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Roboto"/>
              <a:buNone/>
            </a:pPr>
            <a:r>
              <a:rPr lang="en-US" sz="172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lang="en-US" sz="1725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PicoRV32 Core: </a:t>
            </a:r>
            <a:r>
              <a:rPr lang="en-US" sz="172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Role &amp; Configuration - A size-optimized RV32IMC CPU core; configurable as</a:t>
            </a:r>
            <a:br>
              <a:rPr lang="en-US" sz="172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72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RV32I/IM/IMC; the picoRV32_axi variant exposes an AXI4-Lite master interface for SoC integration.</a:t>
            </a:r>
            <a:endParaRPr sz="17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962024" y="2457450"/>
            <a:ext cx="11229976" cy="521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Roboto"/>
              <a:buNone/>
            </a:pPr>
            <a:r>
              <a:rPr lang="en-US" sz="172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lang="en-US" sz="1725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PicoRV32 Key RTL Signals </a:t>
            </a:r>
            <a:r>
              <a:rPr lang="en-US" sz="172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Primary signals include </a:t>
            </a:r>
            <a:r>
              <a:rPr lang="en-US" sz="1725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mem_valid</a:t>
            </a:r>
            <a:r>
              <a:rPr lang="en-US" sz="172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725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mem_ready</a:t>
            </a:r>
            <a:r>
              <a:rPr lang="en-US" sz="172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725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mem_addr</a:t>
            </a:r>
            <a:r>
              <a:rPr lang="en-US" sz="172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br>
              <a:rPr lang="en-US" sz="172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725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mem_wdata</a:t>
            </a:r>
            <a:r>
              <a:rPr lang="en-US" sz="172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725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mem_rdata</a:t>
            </a:r>
            <a:r>
              <a:rPr lang="en-US" sz="172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-US" sz="1725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mem_wstrb</a:t>
            </a:r>
            <a:r>
              <a:rPr lang="en-US" sz="172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forming the native memory interface before AXI bridging.</a:t>
            </a:r>
            <a:endParaRPr sz="17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962025" y="3124200"/>
            <a:ext cx="11229975" cy="816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None/>
            </a:pPr>
            <a:r>
              <a:rPr lang="en-US" sz="18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lang="en-US" sz="18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AXI Bridge: </a:t>
            </a:r>
            <a:r>
              <a:rPr lang="en-US" sz="18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Adapting Core to Fabric - The AXI bridge wraps PicoRV32 native signals into</a:t>
            </a:r>
            <a:br>
              <a:rPr lang="en-US" sz="18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8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standard AXI4-Lite channels, translating </a:t>
            </a:r>
            <a:r>
              <a:rPr lang="en-US" sz="18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mem_valid</a:t>
            </a:r>
            <a:r>
              <a:rPr lang="en-US" sz="18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en-US" sz="18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mem_ready</a:t>
            </a:r>
            <a:r>
              <a:rPr lang="en-US" sz="18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handshakes into AVALID,</a:t>
            </a:r>
            <a:br>
              <a:rPr lang="en-US" sz="18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8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WVALID, ARVALID, and response signals.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941039" y="4076700"/>
            <a:ext cx="11229976" cy="782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Roboto"/>
              <a:buNone/>
            </a:pPr>
            <a:r>
              <a:rPr lang="en-US" sz="172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lang="en-US" sz="1725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AXI4-Lite Interconnect Signals </a:t>
            </a:r>
            <a:r>
              <a:rPr lang="en-US" sz="172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Five channels operate via VALID/READY handshake: Write</a:t>
            </a:r>
            <a:br>
              <a:rPr lang="en-US" sz="172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72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Address (AWVALID/AWREADY), Write Data (WVALID/WREADY), Write Response</a:t>
            </a:r>
            <a:br>
              <a:rPr lang="en-US" sz="172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72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(BVALID/BREADY), and Read Address/Data equivalents.</a:t>
            </a:r>
            <a:endParaRPr sz="17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962024" y="5029200"/>
            <a:ext cx="11229975" cy="521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Roboto"/>
              <a:buNone/>
            </a:pPr>
            <a:r>
              <a:rPr lang="en-US" sz="172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lang="en-US" sz="1725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SRAM Peripheral Module </a:t>
            </a:r>
            <a:r>
              <a:rPr lang="en-US" sz="172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A 2KB SRAM serves as instruction and data storage; it acts as an AXI4-</a:t>
            </a:r>
            <a:br>
              <a:rPr lang="en-US" sz="172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72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Lite slave, responding to read/write transactions from the processor via the interconnect fabric.</a:t>
            </a:r>
            <a:endParaRPr sz="17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962024" y="5753100"/>
            <a:ext cx="11229975" cy="521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Roboto"/>
              <a:buNone/>
            </a:pPr>
            <a:r>
              <a:rPr lang="en-US" sz="172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lang="en-US" sz="1725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UART Peripheral Module </a:t>
            </a:r>
            <a:r>
              <a:rPr lang="en-US" sz="172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The UART module is an AXI4-Lite slave exposing control/status registers;</a:t>
            </a:r>
            <a:br>
              <a:rPr lang="en-US" sz="172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72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 converts parallel bus data into asynchronous serial frames for external debug and communication.</a:t>
            </a:r>
            <a:endParaRPr sz="17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8" descr="preencoded.png"/>
          <p:cNvPicPr preferRelativeResize="0"/>
          <p:nvPr/>
        </p:nvPicPr>
        <p:blipFill rotWithShape="1">
          <a:blip r:embed="rId3">
            <a:alphaModFix/>
          </a:blip>
          <a:srcRect t="24186"/>
          <a:stretch/>
        </p:blipFill>
        <p:spPr>
          <a:xfrm>
            <a:off x="0" y="1658678"/>
            <a:ext cx="12192000" cy="5199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55082" y="5383411"/>
            <a:ext cx="5279082" cy="133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"/>
          <p:cNvSpPr/>
          <p:nvPr/>
        </p:nvSpPr>
        <p:spPr>
          <a:xfrm>
            <a:off x="962025" y="933450"/>
            <a:ext cx="11229975" cy="626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Poppins"/>
              <a:buNone/>
            </a:pPr>
            <a:r>
              <a:rPr lang="en-US" sz="36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System-Level Data Flow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136303" y="2200275"/>
            <a:ext cx="146596" cy="245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oppins"/>
              <a:buNone/>
            </a:pPr>
            <a:r>
              <a:rPr lang="en-US" sz="15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1125736" y="3343275"/>
            <a:ext cx="167580" cy="2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8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Poppins"/>
              <a:buNone/>
            </a:pPr>
            <a:r>
              <a:rPr lang="en-US" sz="1725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1125736" y="4505325"/>
            <a:ext cx="167580" cy="2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8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Poppins"/>
              <a:buNone/>
            </a:pPr>
            <a:r>
              <a:rPr lang="en-US" sz="1725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6317903" y="2200275"/>
            <a:ext cx="146596" cy="245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oppins"/>
              <a:buNone/>
            </a:pPr>
            <a:r>
              <a:rPr lang="en-US" sz="15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6317903" y="3343275"/>
            <a:ext cx="146596" cy="245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oppins"/>
              <a:buNone/>
            </a:pPr>
            <a:r>
              <a:rPr lang="en-US" sz="15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6317903" y="4505325"/>
            <a:ext cx="146596" cy="245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oppins"/>
              <a:buNone/>
            </a:pPr>
            <a:r>
              <a:rPr lang="en-US" sz="15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590675" y="1943100"/>
            <a:ext cx="3566160" cy="14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Poppins"/>
              <a:buNone/>
            </a:pPr>
            <a:r>
              <a:rPr lang="en-US" sz="97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Boot &amp; Instruction Fetch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1590675" y="3067050"/>
            <a:ext cx="4320540" cy="158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0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lang="en-US" sz="105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AXI Handshake &amp; Data Return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590675" y="4210050"/>
            <a:ext cx="3566160" cy="14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Poppins"/>
              <a:buNone/>
            </a:pPr>
            <a:r>
              <a:rPr lang="en-US" sz="97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Decode &amp; Execute in Core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6686550" y="1943100"/>
            <a:ext cx="4800600" cy="158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0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lang="en-US" sz="105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Address Decode by Interconnect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6686550" y="3067050"/>
            <a:ext cx="4000500" cy="158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0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lang="en-US" sz="105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Peripheral Write via UART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686550" y="4210050"/>
            <a:ext cx="4320540" cy="158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0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lang="en-US" sz="105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Write Response &amp; Next Cycle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1628775" y="2238375"/>
            <a:ext cx="4798665" cy="479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Poppins"/>
              <a:buNone/>
            </a:pPr>
            <a:r>
              <a:rPr lang="en-US" sz="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 power-on, PicoRV32 core is reset and drives a read address onto</a:t>
            </a:r>
            <a:br>
              <a:rPr lang="en-US" sz="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AXI Read Address (m_axi_araddr) channel, asserting ARVALID</a:t>
            </a:r>
            <a:br>
              <a:rPr lang="en-US" sz="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ARVALID to fetch the first instruction from SRAM (mapped memory).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1628775" y="3314700"/>
            <a:ext cx="4735711" cy="638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Poppins"/>
              <a:buNone/>
            </a:pPr>
            <a:r>
              <a:rPr lang="en-US" sz="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SRAM asserts ARREADY to complete the read address handshake.</a:t>
            </a:r>
            <a:br>
              <a:rPr lang="en-US" sz="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then returns the fetched instruction data (m_axi_rdata) on the</a:t>
            </a:r>
            <a:br>
              <a:rPr lang="en-US" sz="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Read Data channel. The transfer completes when both RVALID and</a:t>
            </a:r>
            <a:br>
              <a:rPr lang="en-US" sz="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RREADY are high.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628775" y="4505325"/>
            <a:ext cx="4662488" cy="479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Poppins"/>
              <a:buNone/>
            </a:pPr>
            <a:r>
              <a:rPr lang="en-US" sz="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PicoRV32 decodes the received RV32IMC instruction internally. It</a:t>
            </a:r>
            <a:br>
              <a:rPr lang="en-US" sz="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then performs the specified ALU operation or generates a new bus</a:t>
            </a:r>
            <a:br>
              <a:rPr lang="en-US" sz="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address for a subsequent memory or peripheral access.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6724650" y="2238375"/>
            <a:ext cx="4735711" cy="442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None/>
            </a:pPr>
            <a:r>
              <a:rPr lang="en-US" sz="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central AXI4-Lite interconnect inspects the generated transaction</a:t>
            </a:r>
            <a:br>
              <a:rPr lang="en-US" sz="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address. It decodes the address to route the transaction to the correct</a:t>
            </a:r>
            <a:br>
              <a:rPr lang="en-US" sz="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slave device: SRAM for data memory or UART for serial output.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724650" y="3362325"/>
            <a:ext cx="4494758" cy="442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None/>
            </a:pPr>
            <a:r>
              <a:rPr lang="en-US" sz="9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a UART transmission, the core asserts AWVALID with the UART</a:t>
            </a:r>
            <a:br>
              <a:rPr lang="en-US" sz="9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9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base address (</a:t>
            </a:r>
            <a:r>
              <a:rPr lang="en-US" sz="9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m_axi_awaddr</a:t>
            </a:r>
            <a:r>
              <a:rPr lang="en-US" sz="9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 and WVALID with the data</a:t>
            </a:r>
            <a:br>
              <a:rPr lang="en-US" sz="9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9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payload (</a:t>
            </a:r>
            <a:r>
              <a:rPr lang="en-US" sz="9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m_axi_wdata</a:t>
            </a:r>
            <a:r>
              <a:rPr lang="en-US" sz="9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). The UART module accepts the data.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6724650" y="4505325"/>
            <a:ext cx="4547146" cy="58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None/>
            </a:pPr>
            <a:r>
              <a:rPr lang="en-US" sz="9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UART module frames the data and transmits it. It returns a write</a:t>
            </a:r>
            <a:br>
              <a:rPr lang="en-US" sz="9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9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response on the AXI channel, asserting BVALID, BREADY with an</a:t>
            </a:r>
            <a:br>
              <a:rPr lang="en-US" sz="9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9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'OKAY' response. The core asserts 'BREADY', then loops back to</a:t>
            </a:r>
            <a:br>
              <a:rPr lang="en-US" sz="9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9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fetch the next instruction.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9" descr="preencoded.png"/>
          <p:cNvPicPr preferRelativeResize="0"/>
          <p:nvPr/>
        </p:nvPicPr>
        <p:blipFill rotWithShape="1">
          <a:blip r:embed="rId3">
            <a:alphaModFix/>
          </a:blip>
          <a:srcRect t="22040"/>
          <a:stretch/>
        </p:blipFill>
        <p:spPr>
          <a:xfrm>
            <a:off x="0" y="1511498"/>
            <a:ext cx="12192000" cy="534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99984" y="2071092"/>
            <a:ext cx="2523679" cy="431363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9"/>
          <p:cNvSpPr/>
          <p:nvPr/>
        </p:nvSpPr>
        <p:spPr>
          <a:xfrm>
            <a:off x="523875" y="933450"/>
            <a:ext cx="6915150" cy="491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5"/>
              <a:buFont typeface="Poppins"/>
              <a:buNone/>
            </a:pPr>
            <a:r>
              <a:rPr lang="en-US" sz="322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PicoRV32 CPU Architecture</a:t>
            </a:r>
            <a:endParaRPr sz="32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749998" y="2286000"/>
            <a:ext cx="2367855" cy="24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575"/>
              <a:buFont typeface="Poppins"/>
              <a:buNone/>
            </a:pPr>
            <a:r>
              <a:rPr lang="en-US" sz="1575" b="1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PicoRV32 CPU Core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4751040" y="2771775"/>
            <a:ext cx="2346871" cy="38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4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Poppins"/>
              <a:buNone/>
            </a:pPr>
            <a:r>
              <a:rPr lang="en-US" sz="142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Instruction Decoder</a:t>
            </a:r>
            <a:br>
              <a:rPr lang="en-US" sz="142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42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(RV32IMC Support)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5442049" y="3314700"/>
            <a:ext cx="974378" cy="13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4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5"/>
              <a:buFont typeface="Poppins"/>
              <a:buNone/>
            </a:pPr>
            <a:r>
              <a:rPr lang="en-US" sz="52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ALU</a:t>
            </a:r>
            <a:br>
              <a:rPr lang="en-US" sz="52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52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(Integer &amp; Multiplier)</a:t>
            </a:r>
            <a:endParaRPr sz="5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5136803" y="3848100"/>
            <a:ext cx="1613446" cy="239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None/>
            </a:pPr>
            <a:r>
              <a:rPr lang="en-US" sz="9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Register File</a:t>
            </a:r>
            <a:br>
              <a:rPr lang="en-US" sz="9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9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(x0-x31, Configurable)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752975" y="4457700"/>
            <a:ext cx="2305050" cy="419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Poppins"/>
              <a:buNone/>
            </a:pPr>
            <a:r>
              <a:rPr lang="en-US" sz="157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Memory Controller</a:t>
            </a:r>
            <a:br>
              <a:rPr lang="en-US" sz="157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57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(Native Interface)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5046762" y="5086350"/>
            <a:ext cx="1707803" cy="26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Poppins"/>
              <a:buNone/>
            </a:pPr>
            <a:r>
              <a:rPr lang="en-US" sz="97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IRQ Handler</a:t>
            </a:r>
            <a:br>
              <a:rPr lang="en-US" sz="97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97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(Up to 32 interrupts)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66725" y="1628775"/>
            <a:ext cx="6400800" cy="217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Roboto Condensed"/>
              <a:buNone/>
            </a:pPr>
            <a:r>
              <a:rPr lang="en-US" sz="15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Key Features &amp; Configuration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9734550" y="1628775"/>
            <a:ext cx="2457450" cy="217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Roboto Condensed"/>
              <a:buNone/>
            </a:pPr>
            <a:r>
              <a:rPr lang="en-US" sz="15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AXI Integration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466725" y="5029200"/>
            <a:ext cx="3657600" cy="217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Roboto Condensed"/>
              <a:buNone/>
            </a:pPr>
            <a:r>
              <a:rPr lang="en-US" sz="15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Memory Interface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466725" y="2038350"/>
            <a:ext cx="2986088" cy="1036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RV32IMC Instruction Set Support:</a:t>
            </a:r>
            <a:b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Implements full RV32IMC for</a:t>
            </a:r>
            <a:b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integer, multiply, and compressed</a:t>
            </a:r>
            <a:b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instructions for efficient embedded</a:t>
            </a:r>
            <a:b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66725" y="3067050"/>
            <a:ext cx="3227040" cy="660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Roboto"/>
              <a:buNone/>
            </a:pPr>
            <a:r>
              <a:rPr lang="en-US" sz="12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Size-Optimized 32-bit Core:</a:t>
            </a:r>
            <a:br>
              <a:rPr lang="en-US" sz="12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2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Designed for minimal footprint,</a:t>
            </a:r>
            <a:br>
              <a:rPr lang="en-US" sz="12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2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configurable as RV32E, I, IM, or IMC.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466725" y="3848100"/>
            <a:ext cx="4044255" cy="88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Roboto"/>
              <a:buNone/>
            </a:pPr>
            <a:r>
              <a:rPr lang="en-US" sz="12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Configurable Core Parameters:</a:t>
            </a:r>
            <a:br>
              <a:rPr lang="en-US" sz="12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2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Enable or disable hardware 32 interrupt </a:t>
            </a:r>
            <a:endParaRPr/>
          </a:p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Roboto"/>
              <a:buNone/>
            </a:pPr>
            <a:r>
              <a:rPr lang="en-US" sz="12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Lines multi/compressed via top-level</a:t>
            </a:r>
            <a:br>
              <a:rPr lang="en-US" sz="12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2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Verilog parameters.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466725" y="5400675"/>
            <a:ext cx="2986088" cy="621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Simple mem_valid/mem_ready from </a:t>
            </a:r>
            <a:endParaRPr/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Memory handshake for native transactions.</a:t>
            </a:r>
            <a:b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Sole AXI Master initiating</a:t>
            </a:r>
            <a:b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reads/writes to SRAM &amp; UART.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3514725" y="2114550"/>
            <a:ext cx="10287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Poppins"/>
              <a:buNone/>
            </a:pPr>
            <a:r>
              <a:rPr lang="en-US" sz="112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INPUTS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3686175" y="2476500"/>
            <a:ext cx="61722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Poppins"/>
              <a:buNone/>
            </a:pPr>
            <a:r>
              <a:rPr lang="en-US" sz="135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clk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3638550" y="2686050"/>
            <a:ext cx="7429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Poppins"/>
              <a:buNone/>
            </a:pPr>
            <a:r>
              <a:rPr lang="en-US" sz="97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Clock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3514725" y="3143250"/>
            <a:ext cx="10287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Poppins"/>
              <a:buNone/>
            </a:pPr>
            <a:r>
              <a:rPr lang="en-US" sz="112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resetn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3415665" y="3342057"/>
            <a:ext cx="133731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Poppins"/>
              <a:buNone/>
            </a:pPr>
            <a:r>
              <a:rPr lang="en-US" sz="97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Low reset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3480435" y="4020003"/>
            <a:ext cx="164592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None/>
            </a:pPr>
            <a:r>
              <a:rPr lang="en-US" sz="9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irq [31:0]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3452813" y="4495800"/>
            <a:ext cx="15430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Poppins"/>
              <a:buNone/>
            </a:pPr>
            <a:r>
              <a:rPr lang="en-US" sz="112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mem_ready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3443258" y="4735711"/>
            <a:ext cx="237744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Poppins"/>
              <a:buNone/>
            </a:pPr>
            <a:r>
              <a:rPr lang="en-US" sz="97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Memory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Poppins"/>
              <a:buNone/>
            </a:pPr>
            <a:r>
              <a:rPr lang="en-US" sz="97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handshake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3688189" y="5385675"/>
            <a:ext cx="288036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lang="en-US" sz="105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mem_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lang="en-US" sz="105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rdata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lang="en-US" sz="105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[31:0]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7667625" y="2114550"/>
            <a:ext cx="12001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Poppins"/>
              <a:buNone/>
            </a:pPr>
            <a:r>
              <a:rPr lang="en-US" sz="112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OUTPUTS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7753350" y="2476500"/>
            <a:ext cx="15430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Poppins"/>
              <a:buNone/>
            </a:pPr>
            <a:r>
              <a:rPr lang="en-US" sz="112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mem_valid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7753350" y="2686050"/>
            <a:ext cx="208026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Poppins"/>
              <a:buNone/>
            </a:pPr>
            <a:r>
              <a:rPr lang="en-US" sz="97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Request active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7753350" y="3086100"/>
            <a:ext cx="272034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lang="en-US" sz="105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mem_addr [31:0]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7753350" y="3286125"/>
            <a:ext cx="272034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Poppins"/>
              <a:buNone/>
            </a:pPr>
            <a:r>
              <a:rPr lang="en-US" sz="127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Target address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7753350" y="3609975"/>
            <a:ext cx="288036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lang="en-US" sz="105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mem_wdata [31:0]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7753350" y="3829050"/>
            <a:ext cx="237744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lang="en-US" sz="1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to write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7753350" y="4171950"/>
            <a:ext cx="261366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lang="en-US" sz="105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mem_wstrb [3:0]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7753350" y="4381500"/>
            <a:ext cx="192024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lang="en-US" sz="105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Byte enables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7753350" y="4724400"/>
            <a:ext cx="192024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lang="en-US" sz="105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eoi [31:0]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7753350" y="4933950"/>
            <a:ext cx="256032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lang="en-US" sz="105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End of interrupt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7753350" y="5324475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125"/>
              <a:buFont typeface="Poppins"/>
              <a:buNone/>
            </a:pPr>
            <a:r>
              <a:rPr lang="en-US" sz="1125" b="1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trap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7753350" y="5543550"/>
            <a:ext cx="336042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lang="en-US" sz="105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CPU halted — red flag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4495800" y="1552575"/>
            <a:ext cx="220027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ENABLE_MUL=1</a:t>
            </a:r>
            <a:b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ENABLE_COMPRESSED=1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9" descr="preencoded.png"/>
          <p:cNvPicPr preferRelativeResize="0"/>
          <p:nvPr/>
        </p:nvPicPr>
        <p:blipFill rotWithShape="1">
          <a:blip r:embed="rId3">
            <a:alphaModFix/>
          </a:blip>
          <a:srcRect l="60117" t="20417" r="25000" b="75833"/>
          <a:stretch/>
        </p:blipFill>
        <p:spPr>
          <a:xfrm>
            <a:off x="1538288" y="4767263"/>
            <a:ext cx="1814512" cy="124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2"/>
          <p:cNvSpPr/>
          <p:nvPr/>
        </p:nvSpPr>
        <p:spPr>
          <a:xfrm>
            <a:off x="365753" y="499833"/>
            <a:ext cx="11338400" cy="8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FFFFF"/>
              </a:buClr>
              <a:buSzPts val="2000"/>
            </a:pPr>
            <a:r>
              <a:rPr lang="en-US" sz="2667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 Decoder — axi_decoder.v</a:t>
            </a:r>
            <a:endParaRPr sz="26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2"/>
          <p:cNvSpPr/>
          <p:nvPr/>
        </p:nvSpPr>
        <p:spPr>
          <a:xfrm>
            <a:off x="365760" y="1280160"/>
            <a:ext cx="6461760" cy="475488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 dirty="0"/>
          </a:p>
        </p:txBody>
      </p:sp>
      <p:sp>
        <p:nvSpPr>
          <p:cNvPr id="527" name="Google Shape;527;p12"/>
          <p:cNvSpPr/>
          <p:nvPr/>
        </p:nvSpPr>
        <p:spPr>
          <a:xfrm>
            <a:off x="548640" y="1341120"/>
            <a:ext cx="609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B7280"/>
              </a:buClr>
              <a:buSzPts val="900"/>
            </a:pPr>
            <a:r>
              <a:rPr lang="en-US" sz="120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// axi_decoder.v — casez address matching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2"/>
          <p:cNvSpPr/>
          <p:nvPr/>
        </p:nvSpPr>
        <p:spPr>
          <a:xfrm>
            <a:off x="548640" y="1767840"/>
            <a:ext cx="609600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E2E8F0"/>
              </a:buClr>
              <a:buSzPts val="900"/>
            </a:pPr>
            <a:r>
              <a:rPr lang="en-US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always @(*) begin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2"/>
          <p:cNvSpPr/>
          <p:nvPr/>
        </p:nvSpPr>
        <p:spPr>
          <a:xfrm>
            <a:off x="548640" y="2133600"/>
            <a:ext cx="609600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E2E8F0"/>
              </a:buClr>
              <a:buSzPts val="900"/>
            </a:pPr>
            <a:r>
              <a:rPr lang="en-US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casez (addr)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2"/>
          <p:cNvSpPr/>
          <p:nvPr/>
        </p:nvSpPr>
        <p:spPr>
          <a:xfrm>
            <a:off x="548640" y="2499360"/>
            <a:ext cx="609600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FCD34D"/>
              </a:buClr>
              <a:buSzPts val="900"/>
            </a:pPr>
            <a:r>
              <a:rPr lang="en-US" sz="12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    32'h0000_????: begin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2"/>
          <p:cNvSpPr/>
          <p:nvPr/>
        </p:nvSpPr>
        <p:spPr>
          <a:xfrm>
            <a:off x="548640" y="2865120"/>
            <a:ext cx="609600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86EFAC"/>
              </a:buClr>
              <a:buSzPts val="900"/>
            </a:pPr>
            <a:r>
              <a:rPr lang="en-US" sz="120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      sel = 3'b001;  // ROM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2"/>
          <p:cNvSpPr/>
          <p:nvPr/>
        </p:nvSpPr>
        <p:spPr>
          <a:xfrm>
            <a:off x="548640" y="3230880"/>
            <a:ext cx="609600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FCD34D"/>
              </a:buClr>
              <a:buSzPts val="900"/>
            </a:pPr>
            <a:r>
              <a:rPr lang="en-US" sz="12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    end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2"/>
          <p:cNvSpPr/>
          <p:nvPr/>
        </p:nvSpPr>
        <p:spPr>
          <a:xfrm>
            <a:off x="548640" y="3596640"/>
            <a:ext cx="609600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FCD34D"/>
              </a:buClr>
              <a:buSzPts val="900"/>
            </a:pPr>
            <a:r>
              <a:rPr lang="en-US" sz="12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    32'h0001_????: begin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2"/>
          <p:cNvSpPr/>
          <p:nvPr/>
        </p:nvSpPr>
        <p:spPr>
          <a:xfrm>
            <a:off x="548640" y="3962400"/>
            <a:ext cx="609600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86EFAC"/>
              </a:buClr>
              <a:buSzPts val="900"/>
            </a:pPr>
            <a:r>
              <a:rPr lang="en-US" sz="120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      sel = 3'b010;  // SRAM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2"/>
          <p:cNvSpPr/>
          <p:nvPr/>
        </p:nvSpPr>
        <p:spPr>
          <a:xfrm>
            <a:off x="548640" y="4328160"/>
            <a:ext cx="609600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FCD34D"/>
              </a:buClr>
              <a:buSzPts val="900"/>
            </a:pPr>
            <a:r>
              <a:rPr lang="en-US" sz="12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    end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2"/>
          <p:cNvSpPr/>
          <p:nvPr/>
        </p:nvSpPr>
        <p:spPr>
          <a:xfrm>
            <a:off x="548640" y="4693920"/>
            <a:ext cx="609600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FCD34D"/>
              </a:buClr>
              <a:buSzPts val="900"/>
            </a:pPr>
            <a:r>
              <a:rPr lang="en-US" sz="12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    32'h1000_000?: begin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2"/>
          <p:cNvSpPr/>
          <p:nvPr/>
        </p:nvSpPr>
        <p:spPr>
          <a:xfrm>
            <a:off x="548640" y="5059680"/>
            <a:ext cx="609600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86EFAC"/>
              </a:buClr>
              <a:buSzPts val="900"/>
            </a:pPr>
            <a:r>
              <a:rPr lang="en-US" sz="120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      sel = 3'b100;  // UART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2"/>
          <p:cNvSpPr/>
          <p:nvPr/>
        </p:nvSpPr>
        <p:spPr>
          <a:xfrm>
            <a:off x="548640" y="5425440"/>
            <a:ext cx="609600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FCD34D"/>
              </a:buClr>
              <a:buSzPts val="900"/>
            </a:pPr>
            <a:r>
              <a:rPr lang="en-US" sz="12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    end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2"/>
          <p:cNvSpPr/>
          <p:nvPr/>
        </p:nvSpPr>
        <p:spPr>
          <a:xfrm>
            <a:off x="548640" y="5791200"/>
            <a:ext cx="609600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F87171"/>
              </a:buClr>
              <a:buSzPts val="900"/>
            </a:pPr>
            <a:r>
              <a:rPr lang="en-US" sz="1200" dirty="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    default: </a:t>
            </a:r>
            <a:r>
              <a:rPr lang="en-US" sz="1200" dirty="0" err="1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sel</a:t>
            </a:r>
            <a:r>
              <a:rPr lang="en-US" sz="1200" dirty="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 = 3'b001; // ROM (safe)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2"/>
          <p:cNvSpPr/>
          <p:nvPr/>
        </p:nvSpPr>
        <p:spPr>
          <a:xfrm>
            <a:off x="548640" y="6156960"/>
            <a:ext cx="609600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E2E8F0"/>
              </a:buClr>
              <a:buSzPts val="900"/>
            </a:pPr>
            <a:r>
              <a:rPr lang="en-US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endcase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2"/>
          <p:cNvSpPr/>
          <p:nvPr/>
        </p:nvSpPr>
        <p:spPr>
          <a:xfrm>
            <a:off x="548640" y="6522720"/>
            <a:ext cx="609600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E2E8F0"/>
              </a:buClr>
              <a:buSzPts val="900"/>
            </a:pPr>
            <a:r>
              <a:rPr lang="en-US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2"/>
          <p:cNvSpPr/>
          <p:nvPr/>
        </p:nvSpPr>
        <p:spPr>
          <a:xfrm>
            <a:off x="7193280" y="1280160"/>
            <a:ext cx="4632960" cy="4754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43" name="Google Shape;543;p12"/>
          <p:cNvSpPr/>
          <p:nvPr/>
        </p:nvSpPr>
        <p:spPr>
          <a:xfrm>
            <a:off x="7193280" y="1280160"/>
            <a:ext cx="4632960" cy="4876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 dirty="0"/>
          </a:p>
        </p:txBody>
      </p:sp>
      <p:sp>
        <p:nvSpPr>
          <p:cNvPr id="544" name="Google Shape;544;p12"/>
          <p:cNvSpPr/>
          <p:nvPr/>
        </p:nvSpPr>
        <p:spPr>
          <a:xfrm>
            <a:off x="7193280" y="1280160"/>
            <a:ext cx="463296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en-U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Address Map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2"/>
          <p:cNvSpPr/>
          <p:nvPr/>
        </p:nvSpPr>
        <p:spPr>
          <a:xfrm>
            <a:off x="7290816" y="1828800"/>
            <a:ext cx="1048512" cy="426720"/>
          </a:xfrm>
          <a:prstGeom prst="rect">
            <a:avLst/>
          </a:prstGeom>
          <a:solidFill>
            <a:srgbClr val="EFF6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46" name="Google Shape;546;p12"/>
          <p:cNvSpPr/>
          <p:nvPr/>
        </p:nvSpPr>
        <p:spPr>
          <a:xfrm>
            <a:off x="7290816" y="1828800"/>
            <a:ext cx="1048512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1E293B"/>
              </a:buClr>
              <a:buSzPts val="800"/>
            </a:pPr>
            <a:r>
              <a:rPr lang="en-US" sz="1067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Base Addr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2"/>
          <p:cNvSpPr/>
          <p:nvPr/>
        </p:nvSpPr>
        <p:spPr>
          <a:xfrm>
            <a:off x="8363712" y="1828800"/>
            <a:ext cx="1048512" cy="426720"/>
          </a:xfrm>
          <a:prstGeom prst="rect">
            <a:avLst/>
          </a:prstGeom>
          <a:solidFill>
            <a:srgbClr val="EFF6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48" name="Google Shape;548;p12"/>
          <p:cNvSpPr/>
          <p:nvPr/>
        </p:nvSpPr>
        <p:spPr>
          <a:xfrm>
            <a:off x="8363712" y="1828800"/>
            <a:ext cx="1048512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1E293B"/>
              </a:buClr>
              <a:buSzPts val="800"/>
            </a:pPr>
            <a:r>
              <a:rPr lang="en-US" sz="1067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Slave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2"/>
          <p:cNvSpPr/>
          <p:nvPr/>
        </p:nvSpPr>
        <p:spPr>
          <a:xfrm>
            <a:off x="9436608" y="1828800"/>
            <a:ext cx="1048512" cy="426720"/>
          </a:xfrm>
          <a:prstGeom prst="rect">
            <a:avLst/>
          </a:prstGeom>
          <a:solidFill>
            <a:srgbClr val="EFF6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50" name="Google Shape;550;p12"/>
          <p:cNvSpPr/>
          <p:nvPr/>
        </p:nvSpPr>
        <p:spPr>
          <a:xfrm>
            <a:off x="9436608" y="1828800"/>
            <a:ext cx="1048512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1E293B"/>
              </a:buClr>
              <a:buSzPts val="800"/>
            </a:pPr>
            <a:r>
              <a:rPr lang="en-US" sz="1067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sel[2:0]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2"/>
          <p:cNvSpPr/>
          <p:nvPr/>
        </p:nvSpPr>
        <p:spPr>
          <a:xfrm>
            <a:off x="10509504" y="1828800"/>
            <a:ext cx="1048512" cy="426720"/>
          </a:xfrm>
          <a:prstGeom prst="rect">
            <a:avLst/>
          </a:prstGeom>
          <a:solidFill>
            <a:srgbClr val="EFF6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52" name="Google Shape;552;p12"/>
          <p:cNvSpPr/>
          <p:nvPr/>
        </p:nvSpPr>
        <p:spPr>
          <a:xfrm>
            <a:off x="10509504" y="1828800"/>
            <a:ext cx="1048512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1E293B"/>
              </a:buClr>
              <a:buSzPts val="800"/>
            </a:pPr>
            <a:r>
              <a:rPr lang="en-US" sz="1067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Actual Size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2"/>
          <p:cNvSpPr/>
          <p:nvPr/>
        </p:nvSpPr>
        <p:spPr>
          <a:xfrm>
            <a:off x="7290816" y="2316480"/>
            <a:ext cx="4437888" cy="6827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54" name="Google Shape;554;p12"/>
          <p:cNvSpPr/>
          <p:nvPr/>
        </p:nvSpPr>
        <p:spPr>
          <a:xfrm>
            <a:off x="7290816" y="2316480"/>
            <a:ext cx="73152" cy="6827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1580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 dirty="0"/>
          </a:p>
        </p:txBody>
      </p:sp>
      <p:sp>
        <p:nvSpPr>
          <p:cNvPr id="555" name="Google Shape;555;p12"/>
          <p:cNvSpPr/>
          <p:nvPr/>
        </p:nvSpPr>
        <p:spPr>
          <a:xfrm>
            <a:off x="7388352" y="2353056"/>
            <a:ext cx="999744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0x0000_0000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2"/>
          <p:cNvSpPr/>
          <p:nvPr/>
        </p:nvSpPr>
        <p:spPr>
          <a:xfrm>
            <a:off x="8461248" y="2353056"/>
            <a:ext cx="999744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5803D"/>
              </a:buClr>
              <a:buSzPts val="900"/>
            </a:pPr>
            <a:r>
              <a:rPr lang="en-US" sz="1200" b="1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ROM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2"/>
          <p:cNvSpPr/>
          <p:nvPr/>
        </p:nvSpPr>
        <p:spPr>
          <a:xfrm>
            <a:off x="9534144" y="2353056"/>
            <a:ext cx="999744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1E293B"/>
              </a:buClr>
              <a:buSzPts val="800"/>
            </a:pPr>
            <a:r>
              <a:rPr lang="en-US" sz="1067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001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2"/>
          <p:cNvSpPr/>
          <p:nvPr/>
        </p:nvSpPr>
        <p:spPr>
          <a:xfrm>
            <a:off x="10558272" y="2353056"/>
            <a:ext cx="1170432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00"/>
            </a:pPr>
            <a:r>
              <a:rPr lang="en-US" sz="1067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8KB (2048w)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2"/>
          <p:cNvSpPr/>
          <p:nvPr/>
        </p:nvSpPr>
        <p:spPr>
          <a:xfrm>
            <a:off x="7290816" y="3048000"/>
            <a:ext cx="4437888" cy="68275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60" name="Google Shape;560;p12"/>
          <p:cNvSpPr/>
          <p:nvPr/>
        </p:nvSpPr>
        <p:spPr>
          <a:xfrm>
            <a:off x="7290816" y="3048000"/>
            <a:ext cx="73152" cy="6827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 dirty="0"/>
          </a:p>
        </p:txBody>
      </p:sp>
      <p:sp>
        <p:nvSpPr>
          <p:cNvPr id="561" name="Google Shape;561;p12"/>
          <p:cNvSpPr/>
          <p:nvPr/>
        </p:nvSpPr>
        <p:spPr>
          <a:xfrm>
            <a:off x="7388352" y="3084576"/>
            <a:ext cx="999744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0x0001_0000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2"/>
          <p:cNvSpPr/>
          <p:nvPr/>
        </p:nvSpPr>
        <p:spPr>
          <a:xfrm>
            <a:off x="8461248" y="3084576"/>
            <a:ext cx="999744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7C3AED"/>
              </a:buClr>
              <a:buSzPts val="900"/>
            </a:pPr>
            <a:r>
              <a:rPr lang="en-US" sz="1200" b="1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SRAM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2"/>
          <p:cNvSpPr/>
          <p:nvPr/>
        </p:nvSpPr>
        <p:spPr>
          <a:xfrm>
            <a:off x="9534144" y="3084576"/>
            <a:ext cx="999744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1E293B"/>
              </a:buClr>
              <a:buSzPts val="800"/>
            </a:pPr>
            <a:r>
              <a:rPr lang="en-US" sz="1067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010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2"/>
          <p:cNvSpPr/>
          <p:nvPr/>
        </p:nvSpPr>
        <p:spPr>
          <a:xfrm>
            <a:off x="10558272" y="3084576"/>
            <a:ext cx="1170432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00"/>
            </a:pPr>
            <a:r>
              <a:rPr lang="en-US" sz="1067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256B (64w)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2"/>
          <p:cNvSpPr/>
          <p:nvPr/>
        </p:nvSpPr>
        <p:spPr>
          <a:xfrm>
            <a:off x="7290816" y="3779520"/>
            <a:ext cx="4437888" cy="6827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66" name="Google Shape;566;p12"/>
          <p:cNvSpPr/>
          <p:nvPr/>
        </p:nvSpPr>
        <p:spPr>
          <a:xfrm>
            <a:off x="7290816" y="3779520"/>
            <a:ext cx="73152" cy="6827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B4530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67" name="Google Shape;567;p12"/>
          <p:cNvSpPr/>
          <p:nvPr/>
        </p:nvSpPr>
        <p:spPr>
          <a:xfrm>
            <a:off x="7388352" y="3816096"/>
            <a:ext cx="999744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0x1000_0000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2"/>
          <p:cNvSpPr/>
          <p:nvPr/>
        </p:nvSpPr>
        <p:spPr>
          <a:xfrm>
            <a:off x="8461248" y="3816096"/>
            <a:ext cx="999744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B45309"/>
              </a:buClr>
              <a:buSzPts val="900"/>
            </a:pPr>
            <a:r>
              <a:rPr lang="en-US" sz="1200" b="1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UART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2"/>
          <p:cNvSpPr/>
          <p:nvPr/>
        </p:nvSpPr>
        <p:spPr>
          <a:xfrm>
            <a:off x="9534144" y="3816096"/>
            <a:ext cx="999744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1E293B"/>
              </a:buClr>
              <a:buSzPts val="800"/>
            </a:pPr>
            <a:r>
              <a:rPr lang="en-US" sz="1067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2"/>
          <p:cNvSpPr/>
          <p:nvPr/>
        </p:nvSpPr>
        <p:spPr>
          <a:xfrm>
            <a:off x="10558272" y="3816096"/>
            <a:ext cx="1170432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00"/>
            </a:pPr>
            <a:r>
              <a:rPr lang="en-US" sz="1067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 registers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2"/>
          <p:cNvSpPr/>
          <p:nvPr/>
        </p:nvSpPr>
        <p:spPr>
          <a:xfrm>
            <a:off x="7193280" y="4450080"/>
            <a:ext cx="4632960" cy="1584960"/>
          </a:xfrm>
          <a:prstGeom prst="rect">
            <a:avLst/>
          </a:prstGeom>
          <a:solidFill>
            <a:srgbClr val="FEF3C7"/>
          </a:solidFill>
          <a:ln w="12700" cap="flat" cmpd="sng">
            <a:solidFill>
              <a:srgbClr val="FCD3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72" name="Google Shape;572;p12"/>
          <p:cNvSpPr/>
          <p:nvPr/>
        </p:nvSpPr>
        <p:spPr>
          <a:xfrm>
            <a:off x="7376160" y="4511040"/>
            <a:ext cx="426720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B45309"/>
              </a:buClr>
              <a:buSzPts val="900"/>
            </a:pPr>
            <a:r>
              <a:rPr lang="en-US" sz="1200" b="1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⚠  Important Distinction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2"/>
          <p:cNvSpPr/>
          <p:nvPr/>
        </p:nvSpPr>
        <p:spPr>
          <a:xfrm>
            <a:off x="7376160" y="4901184"/>
            <a:ext cx="4267200" cy="1072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B45309"/>
              </a:buClr>
              <a:buSzPts val="850"/>
            </a:pPr>
            <a:r>
              <a:rPr lang="en-US" sz="1133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64KB address WINDOW ≠ physical memory size.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B45309"/>
              </a:buClr>
              <a:buSzPts val="850"/>
            </a:pPr>
            <a:r>
              <a:rPr lang="en-US" sz="1133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• ROM window = 64KB, actual depth = 8KB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B45309"/>
              </a:buClr>
              <a:buSzPts val="850"/>
            </a:pPr>
            <a:r>
              <a:rPr lang="en-US" sz="1133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• SRAM window = 64KB, actual depth = 256B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B45309"/>
              </a:buClr>
              <a:buSzPts val="850"/>
            </a:pPr>
            <a:r>
              <a:rPr lang="en-US" sz="1133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• UART: only 3 × 32-bit registers exist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2"/>
          <p:cNvSpPr/>
          <p:nvPr/>
        </p:nvSpPr>
        <p:spPr>
          <a:xfrm>
            <a:off x="365760" y="6217920"/>
            <a:ext cx="6461760" cy="463296"/>
          </a:xfrm>
          <a:prstGeom prst="rect">
            <a:avLst/>
          </a:prstGeom>
          <a:solidFill>
            <a:srgbClr val="E0E7FF"/>
          </a:solidFill>
          <a:ln w="12700" cap="flat" cmpd="sng">
            <a:solidFill>
              <a:srgbClr val="A5B4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75" name="Google Shape;575;p12"/>
          <p:cNvSpPr/>
          <p:nvPr/>
        </p:nvSpPr>
        <p:spPr>
          <a:xfrm>
            <a:off x="548640" y="6217920"/>
            <a:ext cx="609600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4338CA"/>
              </a:buClr>
              <a:buSzPts val="900"/>
            </a:pPr>
            <a:r>
              <a:rPr lang="en-US" sz="1200">
                <a:solidFill>
                  <a:srgbClr val="4338CA"/>
                </a:solidFill>
                <a:latin typeface="Consolas"/>
                <a:ea typeface="Consolas"/>
                <a:cs typeface="Consolas"/>
                <a:sym typeface="Consolas"/>
              </a:rPr>
              <a:t>casez uses '?' as wildcard — matches any nibble → covers full 64KB windows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3"/>
          <p:cNvSpPr/>
          <p:nvPr/>
        </p:nvSpPr>
        <p:spPr>
          <a:xfrm>
            <a:off x="365753" y="402333"/>
            <a:ext cx="11338400" cy="8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FFFFF"/>
              </a:buClr>
              <a:buSzPts val="2000"/>
            </a:pPr>
            <a:r>
              <a:rPr lang="en-US" sz="2667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SRAM Module — </a:t>
            </a:r>
            <a:r>
              <a:rPr lang="en-US" sz="2667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sram.v</a:t>
            </a:r>
            <a:endParaRPr sz="26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3"/>
          <p:cNvSpPr/>
          <p:nvPr/>
        </p:nvSpPr>
        <p:spPr>
          <a:xfrm>
            <a:off x="365760" y="1280160"/>
            <a:ext cx="11460480" cy="5120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83" name="Google Shape;583;p13"/>
          <p:cNvSpPr/>
          <p:nvPr/>
        </p:nvSpPr>
        <p:spPr>
          <a:xfrm>
            <a:off x="365760" y="1280160"/>
            <a:ext cx="11460480" cy="487680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 dirty="0"/>
          </a:p>
        </p:txBody>
      </p:sp>
      <p:sp>
        <p:nvSpPr>
          <p:cNvPr id="584" name="Google Shape;584;p13"/>
          <p:cNvSpPr/>
          <p:nvPr/>
        </p:nvSpPr>
        <p:spPr>
          <a:xfrm>
            <a:off x="365760" y="1280160"/>
            <a:ext cx="1146048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SRAM Module — Key Parameters &amp; </a:t>
            </a:r>
            <a:r>
              <a:rPr lang="en-US" sz="1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Behaviour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3"/>
          <p:cNvSpPr/>
          <p:nvPr/>
        </p:nvSpPr>
        <p:spPr>
          <a:xfrm>
            <a:off x="463296" y="1853184"/>
            <a:ext cx="5486400" cy="6096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86" name="Google Shape;586;p13"/>
          <p:cNvSpPr/>
          <p:nvPr/>
        </p:nvSpPr>
        <p:spPr>
          <a:xfrm>
            <a:off x="548640" y="1901952"/>
            <a:ext cx="219456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950"/>
            </a:pPr>
            <a:r>
              <a:rPr lang="en-US" sz="1267" b="1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Depth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3"/>
          <p:cNvSpPr/>
          <p:nvPr/>
        </p:nvSpPr>
        <p:spPr>
          <a:xfrm>
            <a:off x="2779776" y="1901952"/>
            <a:ext cx="3072384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950"/>
            </a:pPr>
            <a:r>
              <a:rPr lang="en-US" sz="1267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64 words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3"/>
          <p:cNvSpPr/>
          <p:nvPr/>
        </p:nvSpPr>
        <p:spPr>
          <a:xfrm>
            <a:off x="463296" y="2523744"/>
            <a:ext cx="5486400" cy="609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89" name="Google Shape;589;p13"/>
          <p:cNvSpPr/>
          <p:nvPr/>
        </p:nvSpPr>
        <p:spPr>
          <a:xfrm>
            <a:off x="548640" y="2572512"/>
            <a:ext cx="219456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950"/>
            </a:pPr>
            <a:r>
              <a:rPr lang="en-US" sz="1267" b="1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Width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3"/>
          <p:cNvSpPr/>
          <p:nvPr/>
        </p:nvSpPr>
        <p:spPr>
          <a:xfrm>
            <a:off x="2779776" y="2572512"/>
            <a:ext cx="3072384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950"/>
            </a:pPr>
            <a:r>
              <a:rPr lang="en-US" sz="1267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32 bits (4 bytes)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3"/>
          <p:cNvSpPr/>
          <p:nvPr/>
        </p:nvSpPr>
        <p:spPr>
          <a:xfrm>
            <a:off x="463296" y="3194304"/>
            <a:ext cx="5486400" cy="6096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92" name="Google Shape;592;p13"/>
          <p:cNvSpPr/>
          <p:nvPr/>
        </p:nvSpPr>
        <p:spPr>
          <a:xfrm>
            <a:off x="548640" y="3243072"/>
            <a:ext cx="219456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950"/>
            </a:pPr>
            <a:r>
              <a:rPr lang="en-US" sz="1267" b="1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Physical Size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3"/>
          <p:cNvSpPr/>
          <p:nvPr/>
        </p:nvSpPr>
        <p:spPr>
          <a:xfrm>
            <a:off x="2779776" y="3243072"/>
            <a:ext cx="3072384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950"/>
            </a:pPr>
            <a:r>
              <a:rPr lang="en-US" sz="1267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64 × 4 = 256 Bytes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3"/>
          <p:cNvSpPr/>
          <p:nvPr/>
        </p:nvSpPr>
        <p:spPr>
          <a:xfrm>
            <a:off x="463296" y="3864864"/>
            <a:ext cx="5486400" cy="609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95" name="Google Shape;595;p13"/>
          <p:cNvSpPr/>
          <p:nvPr/>
        </p:nvSpPr>
        <p:spPr>
          <a:xfrm>
            <a:off x="548640" y="3913632"/>
            <a:ext cx="219456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950"/>
            </a:pPr>
            <a:r>
              <a:rPr lang="en-US" sz="1267" b="1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Address Window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3"/>
          <p:cNvSpPr/>
          <p:nvPr/>
        </p:nvSpPr>
        <p:spPr>
          <a:xfrm>
            <a:off x="2779776" y="3913632"/>
            <a:ext cx="3072384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950"/>
            </a:pPr>
            <a:r>
              <a:rPr lang="en-US" sz="1267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0x0001_0000 – 0x0001_FFFF (64KB)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3"/>
          <p:cNvSpPr/>
          <p:nvPr/>
        </p:nvSpPr>
        <p:spPr>
          <a:xfrm>
            <a:off x="463296" y="4535424"/>
            <a:ext cx="5486400" cy="6096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98" name="Google Shape;598;p13"/>
          <p:cNvSpPr/>
          <p:nvPr/>
        </p:nvSpPr>
        <p:spPr>
          <a:xfrm>
            <a:off x="548640" y="4584192"/>
            <a:ext cx="219456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950"/>
            </a:pPr>
            <a:r>
              <a:rPr lang="en-US" sz="1267" b="1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Stack Top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3"/>
          <p:cNvSpPr/>
          <p:nvPr/>
        </p:nvSpPr>
        <p:spPr>
          <a:xfrm>
            <a:off x="2779776" y="4584192"/>
            <a:ext cx="3072384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950"/>
            </a:pPr>
            <a:r>
              <a:rPr lang="en-US" sz="1267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0x0001_00FC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3"/>
          <p:cNvSpPr/>
          <p:nvPr/>
        </p:nvSpPr>
        <p:spPr>
          <a:xfrm>
            <a:off x="463296" y="5205984"/>
            <a:ext cx="5486400" cy="609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601" name="Google Shape;601;p13"/>
          <p:cNvSpPr/>
          <p:nvPr/>
        </p:nvSpPr>
        <p:spPr>
          <a:xfrm>
            <a:off x="548640" y="5254752"/>
            <a:ext cx="219456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950"/>
            </a:pPr>
            <a:r>
              <a:rPr lang="en-US" sz="1267" b="1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ASIC-Clean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3"/>
          <p:cNvSpPr/>
          <p:nvPr/>
        </p:nvSpPr>
        <p:spPr>
          <a:xfrm>
            <a:off x="2779776" y="5254752"/>
            <a:ext cx="3072384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950"/>
            </a:pPr>
            <a:r>
              <a:rPr lang="en-US" sz="1267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No initial block — reset-driven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3"/>
          <p:cNvSpPr/>
          <p:nvPr/>
        </p:nvSpPr>
        <p:spPr>
          <a:xfrm>
            <a:off x="6096000" y="1853184"/>
            <a:ext cx="5632704" cy="4364736"/>
          </a:xfrm>
          <a:prstGeom prst="rect">
            <a:avLst/>
          </a:prstGeom>
          <a:solidFill>
            <a:schemeClr val="tx1"/>
          </a:solidFill>
          <a:ln w="12700" cap="flat" cmpd="sng">
            <a:solidFill>
              <a:srgbClr val="3741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 dirty="0"/>
          </a:p>
        </p:txBody>
      </p:sp>
      <p:sp>
        <p:nvSpPr>
          <p:cNvPr id="604" name="Google Shape;604;p13"/>
          <p:cNvSpPr/>
          <p:nvPr/>
        </p:nvSpPr>
        <p:spPr>
          <a:xfrm>
            <a:off x="6242304" y="1926336"/>
            <a:ext cx="5340096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B7280"/>
              </a:buClr>
              <a:buSzPts val="850"/>
            </a:pPr>
            <a:r>
              <a:rPr lang="en-US" sz="1133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// Write with byte enable (sram.v)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3"/>
          <p:cNvSpPr/>
          <p:nvPr/>
        </p:nvSpPr>
        <p:spPr>
          <a:xfrm>
            <a:off x="6242304" y="2316480"/>
            <a:ext cx="534009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E2E8F0"/>
              </a:buClr>
              <a:buSzPts val="800"/>
            </a:pPr>
            <a:r>
              <a:rPr lang="en-US" sz="1067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always @(posedge clk) begin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3"/>
          <p:cNvSpPr/>
          <p:nvPr/>
        </p:nvSpPr>
        <p:spPr>
          <a:xfrm>
            <a:off x="6242304" y="2670048"/>
            <a:ext cx="534009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E2E8F0"/>
              </a:buClr>
              <a:buSzPts val="800"/>
            </a:pPr>
            <a:r>
              <a:rPr lang="en-US" sz="1067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if (we &amp;&amp; valid) begin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3"/>
          <p:cNvSpPr/>
          <p:nvPr/>
        </p:nvSpPr>
        <p:spPr>
          <a:xfrm>
            <a:off x="6242304" y="3023616"/>
            <a:ext cx="534009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86EFAC"/>
              </a:buClr>
              <a:buSzPts val="800"/>
            </a:pPr>
            <a:r>
              <a:rPr lang="en-US" sz="1067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    if (wstrb[0]) mem[addr][7:0]   &lt;= wdata[7:0];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3"/>
          <p:cNvSpPr/>
          <p:nvPr/>
        </p:nvSpPr>
        <p:spPr>
          <a:xfrm>
            <a:off x="6242304" y="3377184"/>
            <a:ext cx="534009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86EFAC"/>
              </a:buClr>
              <a:buSzPts val="800"/>
            </a:pPr>
            <a:r>
              <a:rPr lang="en-US" sz="1067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    if (wstrb[1]) mem[addr][15:8]  &lt;= wdata[15:8];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3"/>
          <p:cNvSpPr/>
          <p:nvPr/>
        </p:nvSpPr>
        <p:spPr>
          <a:xfrm>
            <a:off x="6242304" y="3730752"/>
            <a:ext cx="534009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86EFAC"/>
              </a:buClr>
              <a:buSzPts val="800"/>
            </a:pPr>
            <a:r>
              <a:rPr lang="en-US" sz="1067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    if (wstrb[2]) mem[addr][23:16] &lt;= wdata[23:16];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3"/>
          <p:cNvSpPr/>
          <p:nvPr/>
        </p:nvSpPr>
        <p:spPr>
          <a:xfrm>
            <a:off x="6242304" y="4084320"/>
            <a:ext cx="534009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86EFAC"/>
              </a:buClr>
              <a:buSzPts val="800"/>
            </a:pPr>
            <a:r>
              <a:rPr lang="en-US" sz="1067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    if (wstrb[3]) mem[addr][31:24] &lt;= wdata[31:24];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3"/>
          <p:cNvSpPr/>
          <p:nvPr/>
        </p:nvSpPr>
        <p:spPr>
          <a:xfrm>
            <a:off x="6242304" y="4437888"/>
            <a:ext cx="534009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E2E8F0"/>
              </a:buClr>
              <a:buSzPts val="800"/>
            </a:pPr>
            <a:r>
              <a:rPr lang="en-US" sz="1067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end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3"/>
          <p:cNvSpPr/>
          <p:nvPr/>
        </p:nvSpPr>
        <p:spPr>
          <a:xfrm>
            <a:off x="6242304" y="4791456"/>
            <a:ext cx="534009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E2E8F0"/>
              </a:buClr>
              <a:buSzPts val="800"/>
            </a:pPr>
            <a:r>
              <a:rPr lang="en-US" sz="1067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3"/>
          <p:cNvSpPr/>
          <p:nvPr/>
        </p:nvSpPr>
        <p:spPr>
          <a:xfrm>
            <a:off x="6242304" y="5145024"/>
            <a:ext cx="534009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chemeClr val="dk1"/>
              </a:buClr>
              <a:buSzPts val="800"/>
            </a:pP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3"/>
          <p:cNvSpPr/>
          <p:nvPr/>
        </p:nvSpPr>
        <p:spPr>
          <a:xfrm>
            <a:off x="6242304" y="5498592"/>
            <a:ext cx="534009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B7280"/>
              </a:buClr>
              <a:buSzPts val="800"/>
            </a:pPr>
            <a:r>
              <a:rPr lang="en-US" sz="1067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// Read (combinational)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3"/>
          <p:cNvSpPr/>
          <p:nvPr/>
        </p:nvSpPr>
        <p:spPr>
          <a:xfrm>
            <a:off x="6242304" y="5852160"/>
            <a:ext cx="534009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93C5FD"/>
              </a:buClr>
              <a:buSzPts val="800"/>
            </a:pPr>
            <a:r>
              <a:rPr lang="en-US" sz="1067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assign rdata = mem[addr];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3"/>
          <p:cNvSpPr/>
          <p:nvPr/>
        </p:nvSpPr>
        <p:spPr>
          <a:xfrm>
            <a:off x="365760" y="6217920"/>
            <a:ext cx="11460480" cy="463296"/>
          </a:xfrm>
          <a:prstGeom prst="rect">
            <a:avLst/>
          </a:prstGeom>
          <a:solidFill>
            <a:srgbClr val="DCFCE7"/>
          </a:solidFill>
          <a:ln w="12700" cap="flat" cmpd="sng">
            <a:solidFill>
              <a:srgbClr val="86EF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617" name="Google Shape;617;p13"/>
          <p:cNvSpPr/>
          <p:nvPr/>
        </p:nvSpPr>
        <p:spPr>
          <a:xfrm>
            <a:off x="548640" y="6217920"/>
            <a:ext cx="1109472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5803D"/>
              </a:buClr>
              <a:buSzPts val="1000"/>
            </a:pPr>
            <a:r>
              <a:rPr lang="en-US" sz="1333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✓  Reset-driven init (all zeros via reset loop) — NO 'initial begin' block — fully ASIC-clean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9"/>
          <p:cNvSpPr/>
          <p:nvPr/>
        </p:nvSpPr>
        <p:spPr>
          <a:xfrm>
            <a:off x="304820" y="597400"/>
            <a:ext cx="11338400" cy="8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FFFFF"/>
              </a:buClr>
              <a:buSzPts val="2000"/>
            </a:pPr>
            <a:r>
              <a:rPr lang="en-US" sz="2667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Native Memory Interface &amp; AXI Bridge Signals</a:t>
            </a:r>
            <a:endParaRPr sz="26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2438400" y="1341120"/>
            <a:ext cx="7315200" cy="304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 dirty="0"/>
          </a:p>
        </p:txBody>
      </p:sp>
      <p:sp>
        <p:nvSpPr>
          <p:cNvPr id="337" name="Google Shape;337;p9"/>
          <p:cNvSpPr/>
          <p:nvPr/>
        </p:nvSpPr>
        <p:spPr>
          <a:xfrm>
            <a:off x="2438400" y="1341120"/>
            <a:ext cx="73152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300"/>
            </a:pPr>
            <a:r>
              <a:rPr lang="en-US" sz="1733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PicoRV32 CPU Core (RV32I)</a:t>
            </a:r>
            <a:endParaRPr sz="1733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2560320" y="1950720"/>
            <a:ext cx="1828800" cy="2316480"/>
          </a:xfrm>
          <a:prstGeom prst="rect">
            <a:avLst/>
          </a:prstGeom>
          <a:solidFill>
            <a:srgbClr val="1E40AF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 dirty="0"/>
          </a:p>
        </p:txBody>
      </p:sp>
      <p:sp>
        <p:nvSpPr>
          <p:cNvPr id="339" name="Google Shape;339;p9"/>
          <p:cNvSpPr/>
          <p:nvPr/>
        </p:nvSpPr>
        <p:spPr>
          <a:xfrm>
            <a:off x="2560320" y="1950720"/>
            <a:ext cx="182880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800"/>
            </a:pPr>
            <a:r>
              <a:rPr lang="en-US" sz="1067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Fetch Unit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2560320" y="2462784"/>
            <a:ext cx="1828800" cy="1706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93C5FD"/>
              </a:buClr>
              <a:buSzPts val="750"/>
            </a:pPr>
            <a:r>
              <a:rPr lang="en-US" sz="100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PC=0x0_0000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93C5FD"/>
              </a:buClr>
              <a:buSzPts val="750"/>
            </a:pPr>
            <a:r>
              <a:rPr lang="en-US" sz="100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mem_instr=1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4511040" y="1950720"/>
            <a:ext cx="1828800" cy="2316480"/>
          </a:xfrm>
          <a:prstGeom prst="rect">
            <a:avLst/>
          </a:prstGeom>
          <a:solidFill>
            <a:srgbClr val="1E40AF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342" name="Google Shape;342;p9"/>
          <p:cNvSpPr/>
          <p:nvPr/>
        </p:nvSpPr>
        <p:spPr>
          <a:xfrm>
            <a:off x="4511040" y="1950720"/>
            <a:ext cx="182880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800"/>
            </a:pPr>
            <a:r>
              <a:rPr lang="en-US" sz="1067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Decode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4511040" y="2462784"/>
            <a:ext cx="1828800" cy="1706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93C5FD"/>
              </a:buClr>
              <a:buSzPts val="750"/>
            </a:pPr>
            <a:r>
              <a:rPr lang="en-US" sz="100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32-bit opcode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93C5FD"/>
              </a:buClr>
              <a:buSzPts val="750"/>
            </a:pPr>
            <a:r>
              <a:rPr lang="en-US" sz="100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RV32I only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6461760" y="1950720"/>
            <a:ext cx="1828800" cy="2316480"/>
          </a:xfrm>
          <a:prstGeom prst="rect">
            <a:avLst/>
          </a:prstGeom>
          <a:solidFill>
            <a:srgbClr val="1E40AF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345" name="Google Shape;345;p9"/>
          <p:cNvSpPr/>
          <p:nvPr/>
        </p:nvSpPr>
        <p:spPr>
          <a:xfrm>
            <a:off x="6461760" y="1950720"/>
            <a:ext cx="182880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800"/>
            </a:pPr>
            <a:r>
              <a:rPr lang="en-US" sz="1067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Execute / ALU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6461760" y="2462784"/>
            <a:ext cx="1828800" cy="1706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93C5FD"/>
              </a:buClr>
              <a:buSzPts val="750"/>
            </a:pPr>
            <a:r>
              <a:rPr lang="en-US" sz="100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ALU + shift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93C5FD"/>
              </a:buClr>
              <a:buSzPts val="750"/>
            </a:pPr>
            <a:r>
              <a:rPr lang="en-US" sz="100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TWO_STAGE=0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8412480" y="1950720"/>
            <a:ext cx="1828800" cy="2316480"/>
          </a:xfrm>
          <a:prstGeom prst="rect">
            <a:avLst/>
          </a:prstGeom>
          <a:solidFill>
            <a:srgbClr val="1E40AF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 dirty="0"/>
          </a:p>
        </p:txBody>
      </p:sp>
      <p:sp>
        <p:nvSpPr>
          <p:cNvPr id="348" name="Google Shape;348;p9"/>
          <p:cNvSpPr/>
          <p:nvPr/>
        </p:nvSpPr>
        <p:spPr>
          <a:xfrm>
            <a:off x="8412480" y="1950720"/>
            <a:ext cx="182880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800"/>
            </a:pPr>
            <a:r>
              <a:rPr lang="en-US" sz="1067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Register File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8412480" y="2462784"/>
            <a:ext cx="1828800" cy="1706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93C5FD"/>
              </a:buClr>
              <a:buSzPts val="750"/>
            </a:pPr>
            <a:r>
              <a:rPr lang="en-US" sz="100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x0–x31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93C5FD"/>
              </a:buClr>
              <a:buSzPts val="750"/>
            </a:pPr>
            <a:r>
              <a:rPr lang="en-US" sz="100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32×32-bit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365760" y="1828800"/>
            <a:ext cx="1950720" cy="2438400"/>
          </a:xfrm>
          <a:prstGeom prst="rect">
            <a:avLst/>
          </a:prstGeom>
          <a:solidFill>
            <a:srgbClr val="E0E7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351" name="Google Shape;351;p9"/>
          <p:cNvSpPr/>
          <p:nvPr/>
        </p:nvSpPr>
        <p:spPr>
          <a:xfrm>
            <a:off x="365760" y="1828800"/>
            <a:ext cx="1950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4F46E5"/>
              </a:buClr>
              <a:buSzPts val="900"/>
            </a:pPr>
            <a:r>
              <a:rPr lang="en-US" sz="1200" b="1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Native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4F46E5"/>
              </a:buClr>
              <a:buSzPts val="900"/>
            </a:pPr>
            <a:r>
              <a:rPr lang="en-US" sz="1200" b="1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Memory I/F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426720" y="2414016"/>
            <a:ext cx="182880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338CA"/>
              </a:buClr>
              <a:buSzPts val="800"/>
            </a:pPr>
            <a:r>
              <a:rPr lang="en-US" sz="1067">
                <a:solidFill>
                  <a:srgbClr val="4338CA"/>
                </a:solidFill>
                <a:latin typeface="Consolas"/>
                <a:ea typeface="Consolas"/>
                <a:cs typeface="Consolas"/>
                <a:sym typeface="Consolas"/>
              </a:rPr>
              <a:t>mem_valid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426720" y="2682240"/>
            <a:ext cx="182880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338CA"/>
              </a:buClr>
              <a:buSzPts val="800"/>
            </a:pPr>
            <a:r>
              <a:rPr lang="en-US" sz="1067">
                <a:solidFill>
                  <a:srgbClr val="4338CA"/>
                </a:solidFill>
                <a:latin typeface="Consolas"/>
                <a:ea typeface="Consolas"/>
                <a:cs typeface="Consolas"/>
                <a:sym typeface="Consolas"/>
              </a:rPr>
              <a:t>mem_instr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426720" y="2950464"/>
            <a:ext cx="182880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338CA"/>
              </a:buClr>
              <a:buSzPts val="800"/>
            </a:pPr>
            <a:r>
              <a:rPr lang="en-US" sz="1067">
                <a:solidFill>
                  <a:srgbClr val="4338CA"/>
                </a:solidFill>
                <a:latin typeface="Consolas"/>
                <a:ea typeface="Consolas"/>
                <a:cs typeface="Consolas"/>
                <a:sym typeface="Consolas"/>
              </a:rPr>
              <a:t>mem_ready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426720" y="3218688"/>
            <a:ext cx="182880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338CA"/>
              </a:buClr>
              <a:buSzPts val="800"/>
            </a:pPr>
            <a:r>
              <a:rPr lang="en-US" sz="1067">
                <a:solidFill>
                  <a:srgbClr val="4338CA"/>
                </a:solidFill>
                <a:latin typeface="Consolas"/>
                <a:ea typeface="Consolas"/>
                <a:cs typeface="Consolas"/>
                <a:sym typeface="Consolas"/>
              </a:rPr>
              <a:t>mem_addr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426720" y="3486912"/>
            <a:ext cx="182880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338CA"/>
              </a:buClr>
              <a:buSzPts val="800"/>
            </a:pPr>
            <a:r>
              <a:rPr lang="en-US" sz="1067">
                <a:solidFill>
                  <a:srgbClr val="4338CA"/>
                </a:solidFill>
                <a:latin typeface="Consolas"/>
                <a:ea typeface="Consolas"/>
                <a:cs typeface="Consolas"/>
                <a:sym typeface="Consolas"/>
              </a:rPr>
              <a:t>mem_wdata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426720" y="3755136"/>
            <a:ext cx="182880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338CA"/>
              </a:buClr>
              <a:buSzPts val="800"/>
            </a:pPr>
            <a:r>
              <a:rPr lang="en-US" sz="1067">
                <a:solidFill>
                  <a:srgbClr val="4338CA"/>
                </a:solidFill>
                <a:latin typeface="Consolas"/>
                <a:ea typeface="Consolas"/>
                <a:cs typeface="Consolas"/>
                <a:sym typeface="Consolas"/>
              </a:rPr>
              <a:t>mem_wstrb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426720" y="4023360"/>
            <a:ext cx="182880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338CA"/>
              </a:buClr>
              <a:buSzPts val="800"/>
            </a:pPr>
            <a:r>
              <a:rPr lang="en-US" sz="1067">
                <a:solidFill>
                  <a:srgbClr val="4338CA"/>
                </a:solidFill>
                <a:latin typeface="Consolas"/>
                <a:ea typeface="Consolas"/>
                <a:cs typeface="Consolas"/>
                <a:sym typeface="Consolas"/>
              </a:rPr>
              <a:t>mem_rdata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" name="Google Shape;359;p9"/>
          <p:cNvCxnSpPr/>
          <p:nvPr/>
        </p:nvCxnSpPr>
        <p:spPr>
          <a:xfrm>
            <a:off x="2316480" y="3048000"/>
            <a:ext cx="121920" cy="0"/>
          </a:xfrm>
          <a:prstGeom prst="straightConnector1">
            <a:avLst/>
          </a:prstGeom>
          <a:noFill/>
          <a:ln w="254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0" name="Google Shape;360;p9"/>
          <p:cNvSpPr/>
          <p:nvPr/>
        </p:nvSpPr>
        <p:spPr>
          <a:xfrm>
            <a:off x="9875520" y="1341120"/>
            <a:ext cx="1950800" cy="304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6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361" name="Google Shape;361;p9"/>
          <p:cNvSpPr/>
          <p:nvPr/>
        </p:nvSpPr>
        <p:spPr>
          <a:xfrm>
            <a:off x="9875520" y="1341120"/>
            <a:ext cx="195072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900"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9875520" y="1341120"/>
            <a:ext cx="1950720" cy="4632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1E40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 dirty="0"/>
          </a:p>
        </p:txBody>
      </p:sp>
      <p:sp>
        <p:nvSpPr>
          <p:cNvPr id="363" name="Google Shape;363;p9"/>
          <p:cNvSpPr/>
          <p:nvPr/>
        </p:nvSpPr>
        <p:spPr>
          <a:xfrm>
            <a:off x="9899904" y="1853184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750"/>
            </a:pPr>
            <a:r>
              <a:rPr lang="en-US" sz="1000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ENABLE_MUL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11155680" y="1853184"/>
            <a:ext cx="48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DC2626"/>
              </a:buClr>
              <a:buSzPts val="750"/>
            </a:pPr>
            <a:r>
              <a:rPr lang="en-US" sz="10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9899904" y="2267712"/>
            <a:ext cx="12192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750"/>
            </a:pPr>
            <a:r>
              <a:rPr lang="en-US" sz="1000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ENABLE_DIV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11155680" y="2267712"/>
            <a:ext cx="4876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DC2626"/>
              </a:buClr>
              <a:buSzPts val="750"/>
            </a:pPr>
            <a:r>
              <a:rPr lang="en-US" sz="10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9899904" y="2682240"/>
            <a:ext cx="12192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750"/>
            </a:pPr>
            <a:r>
              <a:rPr lang="en-US" sz="1000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COMPR_ISA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11155680" y="2682240"/>
            <a:ext cx="4876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DC2626"/>
              </a:buClr>
              <a:buSzPts val="750"/>
            </a:pPr>
            <a:r>
              <a:rPr lang="en-US" sz="10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9899904" y="3096768"/>
            <a:ext cx="12192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750"/>
            </a:pPr>
            <a:r>
              <a:rPr lang="en-US" sz="1000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ENABLE_IRQ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11155680" y="3096768"/>
            <a:ext cx="4876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DC2626"/>
              </a:buClr>
              <a:buSzPts val="750"/>
            </a:pPr>
            <a:r>
              <a:rPr lang="en-US" sz="10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9899904" y="3511296"/>
            <a:ext cx="12192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750"/>
            </a:pPr>
            <a:r>
              <a:rPr lang="en-US" sz="1000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COUNTERS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11155680" y="3511296"/>
            <a:ext cx="4876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5803D"/>
              </a:buClr>
              <a:buSzPts val="750"/>
            </a:pPr>
            <a:r>
              <a:rPr lang="en-US" sz="1000" b="1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9899904" y="3925824"/>
            <a:ext cx="12192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750"/>
            </a:pPr>
            <a:r>
              <a:rPr lang="en-US" sz="1000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CATCH_ILL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11155680" y="3925824"/>
            <a:ext cx="4876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5803D"/>
              </a:buClr>
              <a:buSzPts val="750"/>
            </a:pPr>
            <a:r>
              <a:rPr lang="en-US" sz="1000" b="1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365760" y="4572000"/>
            <a:ext cx="11460480" cy="1889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376" name="Google Shape;376;p9"/>
          <p:cNvSpPr/>
          <p:nvPr/>
        </p:nvSpPr>
        <p:spPr>
          <a:xfrm>
            <a:off x="365760" y="4572000"/>
            <a:ext cx="11460480" cy="4632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 dirty="0"/>
          </a:p>
        </p:txBody>
      </p:sp>
      <p:sp>
        <p:nvSpPr>
          <p:cNvPr id="377" name="Google Shape;377;p9"/>
          <p:cNvSpPr/>
          <p:nvPr/>
        </p:nvSpPr>
        <p:spPr>
          <a:xfrm>
            <a:off x="365760" y="4572000"/>
            <a:ext cx="1146048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100"/>
            </a:pPr>
            <a:r>
              <a:rPr lang="en-US" sz="1467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Key Interface Signals — PicoRV32 ↔ AXI Bridge FSM</a:t>
            </a:r>
            <a:endParaRPr sz="1467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548640" y="5084064"/>
            <a:ext cx="2438400" cy="41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50"/>
            </a:pPr>
            <a:r>
              <a:rPr lang="en-US" sz="1133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mem_valid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3023616" y="5084064"/>
            <a:ext cx="2804160" cy="41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 = CPU has valid address/data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6278880" y="5084064"/>
            <a:ext cx="2438400" cy="41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50"/>
            </a:pPr>
            <a:r>
              <a:rPr lang="en-US" sz="1133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mem_ready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8753856" y="5084064"/>
            <a:ext cx="2804160" cy="41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 = memory accepted request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548640" y="5522976"/>
            <a:ext cx="2438400" cy="41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50"/>
            </a:pPr>
            <a:r>
              <a:rPr lang="en-US" sz="1133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mem_instr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3023616" y="5522976"/>
            <a:ext cx="2804160" cy="41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 = instruction fetch (not data)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6278880" y="5522976"/>
            <a:ext cx="2438400" cy="41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50"/>
            </a:pPr>
            <a:r>
              <a:rPr lang="en-US" sz="1133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mem_addr[31:0]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8753856" y="5522976"/>
            <a:ext cx="2804160" cy="41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Target address (ROM/SRAM/UART)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548640" y="5961888"/>
            <a:ext cx="2438400" cy="41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50"/>
            </a:pPr>
            <a:r>
              <a:rPr lang="en-US" sz="1133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mem_wstrb[3:0]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3023616" y="5961888"/>
            <a:ext cx="2804160" cy="41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Byte-enable: 0=read, 1111=32b write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6278880" y="5961888"/>
            <a:ext cx="2438400" cy="41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50"/>
            </a:pPr>
            <a:r>
              <a:rPr lang="en-US" sz="1133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mem_rdata[31:0]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8753856" y="5961888"/>
            <a:ext cx="2804160" cy="41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Read data returned to CPU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0"/>
          <p:cNvSpPr/>
          <p:nvPr/>
        </p:nvSpPr>
        <p:spPr>
          <a:xfrm>
            <a:off x="396237" y="426733"/>
            <a:ext cx="11338400" cy="8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FFFFF"/>
              </a:buClr>
              <a:buSzPts val="2000"/>
            </a:pPr>
            <a:r>
              <a:rPr lang="en-US" sz="2667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RTL Signals Deep-Dive — AXI4-Lite Channel Signals</a:t>
            </a:r>
            <a:endParaRPr sz="26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365760" y="1280160"/>
            <a:ext cx="3596640" cy="23774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397" name="Google Shape;397;p10"/>
          <p:cNvSpPr/>
          <p:nvPr/>
        </p:nvSpPr>
        <p:spPr>
          <a:xfrm>
            <a:off x="365760" y="1280160"/>
            <a:ext cx="3596640" cy="463296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398" name="Google Shape;398;p10"/>
          <p:cNvSpPr/>
          <p:nvPr/>
        </p:nvSpPr>
        <p:spPr>
          <a:xfrm>
            <a:off x="365760" y="1280160"/>
            <a:ext cx="359664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950"/>
            </a:pPr>
            <a:r>
              <a:rPr lang="en-US" sz="1267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 — Write Address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426720" y="1792224"/>
            <a:ext cx="3474720" cy="43891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00" name="Google Shape;400;p10"/>
          <p:cNvSpPr/>
          <p:nvPr/>
        </p:nvSpPr>
        <p:spPr>
          <a:xfrm>
            <a:off x="487680" y="1816608"/>
            <a:ext cx="15849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awvalid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2133600" y="1816608"/>
            <a:ext cx="1731264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750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Master: valid write address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426720" y="2255520"/>
            <a:ext cx="3474720" cy="4389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03" name="Google Shape;403;p10"/>
          <p:cNvSpPr/>
          <p:nvPr/>
        </p:nvSpPr>
        <p:spPr>
          <a:xfrm>
            <a:off x="487680" y="2279904"/>
            <a:ext cx="15849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awready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2133600" y="2279904"/>
            <a:ext cx="1731264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750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Slave: ready to accept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426720" y="2718816"/>
            <a:ext cx="3474720" cy="43891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06" name="Google Shape;406;p10"/>
          <p:cNvSpPr/>
          <p:nvPr/>
        </p:nvSpPr>
        <p:spPr>
          <a:xfrm>
            <a:off x="487680" y="2743200"/>
            <a:ext cx="15849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awaddr[31:0]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2133600" y="2743200"/>
            <a:ext cx="1731264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750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Write target address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426720" y="3182112"/>
            <a:ext cx="3474720" cy="4389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09" name="Google Shape;409;p10"/>
          <p:cNvSpPr/>
          <p:nvPr/>
        </p:nvSpPr>
        <p:spPr>
          <a:xfrm>
            <a:off x="487680" y="3206496"/>
            <a:ext cx="15849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awprot[2:0]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2133600" y="3206496"/>
            <a:ext cx="1731264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750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Protection type (ignored)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4267200" y="1280160"/>
            <a:ext cx="3596640" cy="23774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12" name="Google Shape;412;p10"/>
          <p:cNvSpPr/>
          <p:nvPr/>
        </p:nvSpPr>
        <p:spPr>
          <a:xfrm>
            <a:off x="4267200" y="1280160"/>
            <a:ext cx="3596640" cy="463296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13" name="Google Shape;413;p10"/>
          <p:cNvSpPr/>
          <p:nvPr/>
        </p:nvSpPr>
        <p:spPr>
          <a:xfrm>
            <a:off x="4267200" y="1280160"/>
            <a:ext cx="359664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950"/>
            </a:pPr>
            <a:r>
              <a:rPr lang="en-US" sz="1267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 — Write Data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4328160" y="1792224"/>
            <a:ext cx="3474720" cy="43891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15" name="Google Shape;415;p10"/>
          <p:cNvSpPr/>
          <p:nvPr/>
        </p:nvSpPr>
        <p:spPr>
          <a:xfrm>
            <a:off x="4389120" y="1816608"/>
            <a:ext cx="15849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wvalid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6035040" y="1816608"/>
            <a:ext cx="1731264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750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Master: valid write data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4328160" y="2255520"/>
            <a:ext cx="3474720" cy="4389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18" name="Google Shape;418;p10"/>
          <p:cNvSpPr/>
          <p:nvPr/>
        </p:nvSpPr>
        <p:spPr>
          <a:xfrm>
            <a:off x="4389120" y="2279904"/>
            <a:ext cx="15849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wready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6035040" y="2279904"/>
            <a:ext cx="1731264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750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Slave: ready to accept data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4328160" y="2718816"/>
            <a:ext cx="3474720" cy="43891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21" name="Google Shape;421;p10"/>
          <p:cNvSpPr/>
          <p:nvPr/>
        </p:nvSpPr>
        <p:spPr>
          <a:xfrm>
            <a:off x="4389120" y="2743200"/>
            <a:ext cx="15849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wdata[31:0]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6035040" y="2743200"/>
            <a:ext cx="1731264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750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Write data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4328160" y="3182112"/>
            <a:ext cx="3474720" cy="4389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24" name="Google Shape;424;p10"/>
          <p:cNvSpPr/>
          <p:nvPr/>
        </p:nvSpPr>
        <p:spPr>
          <a:xfrm>
            <a:off x="4389120" y="3206496"/>
            <a:ext cx="15849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wstrb[3:0]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6035040" y="3206496"/>
            <a:ext cx="1731264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750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Byte enable strobe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8168640" y="1280160"/>
            <a:ext cx="3596640" cy="23774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27" name="Google Shape;427;p10"/>
          <p:cNvSpPr/>
          <p:nvPr/>
        </p:nvSpPr>
        <p:spPr>
          <a:xfrm>
            <a:off x="8168640" y="1280160"/>
            <a:ext cx="3596640" cy="463296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28" name="Google Shape;428;p10"/>
          <p:cNvSpPr/>
          <p:nvPr/>
        </p:nvSpPr>
        <p:spPr>
          <a:xfrm>
            <a:off x="8168640" y="1280160"/>
            <a:ext cx="359664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950"/>
            </a:pPr>
            <a:r>
              <a:rPr lang="en-US" sz="1267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 — Write Response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8229600" y="1792224"/>
            <a:ext cx="3474720" cy="43891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30" name="Google Shape;430;p10"/>
          <p:cNvSpPr/>
          <p:nvPr/>
        </p:nvSpPr>
        <p:spPr>
          <a:xfrm>
            <a:off x="8290560" y="1816608"/>
            <a:ext cx="15849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bvalid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9936480" y="1816608"/>
            <a:ext cx="1731264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750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Slave: write complete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8229600" y="2255520"/>
            <a:ext cx="3474720" cy="4389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33" name="Google Shape;433;p10"/>
          <p:cNvSpPr/>
          <p:nvPr/>
        </p:nvSpPr>
        <p:spPr>
          <a:xfrm>
            <a:off x="8290560" y="2279904"/>
            <a:ext cx="15849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bready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9936480" y="2279904"/>
            <a:ext cx="1731264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750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Master: accepts response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8229600" y="2718816"/>
            <a:ext cx="3474720" cy="43891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36" name="Google Shape;436;p10"/>
          <p:cNvSpPr/>
          <p:nvPr/>
        </p:nvSpPr>
        <p:spPr>
          <a:xfrm>
            <a:off x="8290560" y="2743200"/>
            <a:ext cx="15849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bresp[1:0]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0"/>
          <p:cNvSpPr/>
          <p:nvPr/>
        </p:nvSpPr>
        <p:spPr>
          <a:xfrm>
            <a:off x="9936480" y="2743200"/>
            <a:ext cx="1731264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750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2'b00 = OKAY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8229600" y="3182112"/>
            <a:ext cx="3474720" cy="4389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39" name="Google Shape;439;p10"/>
          <p:cNvSpPr/>
          <p:nvPr/>
        </p:nvSpPr>
        <p:spPr>
          <a:xfrm>
            <a:off x="8290560" y="3206496"/>
            <a:ext cx="15849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0"/>
          <p:cNvSpPr/>
          <p:nvPr/>
        </p:nvSpPr>
        <p:spPr>
          <a:xfrm>
            <a:off x="9936480" y="3206496"/>
            <a:ext cx="1731264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750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0"/>
          <p:cNvSpPr/>
          <p:nvPr/>
        </p:nvSpPr>
        <p:spPr>
          <a:xfrm>
            <a:off x="2316480" y="3840480"/>
            <a:ext cx="3596640" cy="23774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42" name="Google Shape;442;p10"/>
          <p:cNvSpPr/>
          <p:nvPr/>
        </p:nvSpPr>
        <p:spPr>
          <a:xfrm>
            <a:off x="2316480" y="3840480"/>
            <a:ext cx="3596640" cy="463296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43" name="Google Shape;443;p10"/>
          <p:cNvSpPr/>
          <p:nvPr/>
        </p:nvSpPr>
        <p:spPr>
          <a:xfrm>
            <a:off x="2316480" y="3840480"/>
            <a:ext cx="359664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950"/>
            </a:pPr>
            <a:r>
              <a:rPr lang="en-US" sz="1267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 — Read Address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0"/>
          <p:cNvSpPr/>
          <p:nvPr/>
        </p:nvSpPr>
        <p:spPr>
          <a:xfrm>
            <a:off x="2377440" y="4352544"/>
            <a:ext cx="3474720" cy="43891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45" name="Google Shape;445;p10"/>
          <p:cNvSpPr/>
          <p:nvPr/>
        </p:nvSpPr>
        <p:spPr>
          <a:xfrm>
            <a:off x="2438400" y="4376928"/>
            <a:ext cx="15849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arvalid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0"/>
          <p:cNvSpPr/>
          <p:nvPr/>
        </p:nvSpPr>
        <p:spPr>
          <a:xfrm>
            <a:off x="4084320" y="4376928"/>
            <a:ext cx="1731264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750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Master: valid read address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2377440" y="4815840"/>
            <a:ext cx="3474720" cy="4389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48" name="Google Shape;448;p10"/>
          <p:cNvSpPr/>
          <p:nvPr/>
        </p:nvSpPr>
        <p:spPr>
          <a:xfrm>
            <a:off x="2438400" y="4840224"/>
            <a:ext cx="15849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arready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0"/>
          <p:cNvSpPr/>
          <p:nvPr/>
        </p:nvSpPr>
        <p:spPr>
          <a:xfrm>
            <a:off x="4084320" y="4840224"/>
            <a:ext cx="1731264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750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Slave: ready to accept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/>
          <p:nvPr/>
        </p:nvSpPr>
        <p:spPr>
          <a:xfrm>
            <a:off x="2377440" y="5279136"/>
            <a:ext cx="3474720" cy="43891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51" name="Google Shape;451;p10"/>
          <p:cNvSpPr/>
          <p:nvPr/>
        </p:nvSpPr>
        <p:spPr>
          <a:xfrm>
            <a:off x="2438400" y="5303520"/>
            <a:ext cx="15849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araddr[31:0]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0"/>
          <p:cNvSpPr/>
          <p:nvPr/>
        </p:nvSpPr>
        <p:spPr>
          <a:xfrm>
            <a:off x="4084320" y="5303520"/>
            <a:ext cx="1731264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750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Read target address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0"/>
          <p:cNvSpPr/>
          <p:nvPr/>
        </p:nvSpPr>
        <p:spPr>
          <a:xfrm>
            <a:off x="2377440" y="5742432"/>
            <a:ext cx="3474720" cy="4389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54" name="Google Shape;454;p10"/>
          <p:cNvSpPr/>
          <p:nvPr/>
        </p:nvSpPr>
        <p:spPr>
          <a:xfrm>
            <a:off x="2438400" y="5766816"/>
            <a:ext cx="15849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arprot[2:0]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0"/>
          <p:cNvSpPr/>
          <p:nvPr/>
        </p:nvSpPr>
        <p:spPr>
          <a:xfrm>
            <a:off x="4084320" y="5766816"/>
            <a:ext cx="1731264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750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Protection (ignored)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0"/>
          <p:cNvSpPr/>
          <p:nvPr/>
        </p:nvSpPr>
        <p:spPr>
          <a:xfrm>
            <a:off x="6217920" y="3840480"/>
            <a:ext cx="3596640" cy="23774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57" name="Google Shape;457;p10"/>
          <p:cNvSpPr/>
          <p:nvPr/>
        </p:nvSpPr>
        <p:spPr>
          <a:xfrm>
            <a:off x="6217920" y="3840480"/>
            <a:ext cx="3596640" cy="463296"/>
          </a:xfrm>
          <a:prstGeom prst="rect">
            <a:avLst/>
          </a:prstGeom>
          <a:solidFill>
            <a:srgbClr val="15803D"/>
          </a:solidFill>
          <a:ln w="12700" cap="flat" cmpd="sng">
            <a:solidFill>
              <a:srgbClr val="1580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58" name="Google Shape;458;p10"/>
          <p:cNvSpPr/>
          <p:nvPr/>
        </p:nvSpPr>
        <p:spPr>
          <a:xfrm>
            <a:off x="6217920" y="3840480"/>
            <a:ext cx="359664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950"/>
            </a:pPr>
            <a:r>
              <a:rPr lang="en-US" sz="1267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 — Read Data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0"/>
          <p:cNvSpPr/>
          <p:nvPr/>
        </p:nvSpPr>
        <p:spPr>
          <a:xfrm>
            <a:off x="6278880" y="4352544"/>
            <a:ext cx="3474720" cy="43891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60" name="Google Shape;460;p10"/>
          <p:cNvSpPr/>
          <p:nvPr/>
        </p:nvSpPr>
        <p:spPr>
          <a:xfrm>
            <a:off x="6339840" y="4376928"/>
            <a:ext cx="15849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rvalid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0"/>
          <p:cNvSpPr/>
          <p:nvPr/>
        </p:nvSpPr>
        <p:spPr>
          <a:xfrm>
            <a:off x="7985760" y="4376928"/>
            <a:ext cx="1731264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750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Slave: valid read data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0"/>
          <p:cNvSpPr/>
          <p:nvPr/>
        </p:nvSpPr>
        <p:spPr>
          <a:xfrm>
            <a:off x="6278880" y="4815840"/>
            <a:ext cx="3474720" cy="4389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63" name="Google Shape;463;p10"/>
          <p:cNvSpPr/>
          <p:nvPr/>
        </p:nvSpPr>
        <p:spPr>
          <a:xfrm>
            <a:off x="6339840" y="4840224"/>
            <a:ext cx="15849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rready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0"/>
          <p:cNvSpPr/>
          <p:nvPr/>
        </p:nvSpPr>
        <p:spPr>
          <a:xfrm>
            <a:off x="7985760" y="4840224"/>
            <a:ext cx="1731264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750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Master: accepts data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0"/>
          <p:cNvSpPr/>
          <p:nvPr/>
        </p:nvSpPr>
        <p:spPr>
          <a:xfrm>
            <a:off x="6278880" y="5279136"/>
            <a:ext cx="3474720" cy="43891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66" name="Google Shape;466;p10"/>
          <p:cNvSpPr/>
          <p:nvPr/>
        </p:nvSpPr>
        <p:spPr>
          <a:xfrm>
            <a:off x="6339840" y="5303520"/>
            <a:ext cx="15849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rdata[31:0]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0"/>
          <p:cNvSpPr/>
          <p:nvPr/>
        </p:nvSpPr>
        <p:spPr>
          <a:xfrm>
            <a:off x="7985760" y="5303520"/>
            <a:ext cx="1731264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750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Read data from slave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0"/>
          <p:cNvSpPr/>
          <p:nvPr/>
        </p:nvSpPr>
        <p:spPr>
          <a:xfrm>
            <a:off x="6278880" y="5742432"/>
            <a:ext cx="3474720" cy="4389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69" name="Google Shape;469;p10"/>
          <p:cNvSpPr/>
          <p:nvPr/>
        </p:nvSpPr>
        <p:spPr>
          <a:xfrm>
            <a:off x="6339840" y="5766816"/>
            <a:ext cx="15849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rresp[1:0]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0"/>
          <p:cNvSpPr/>
          <p:nvPr/>
        </p:nvSpPr>
        <p:spPr>
          <a:xfrm>
            <a:off x="7985760" y="5766816"/>
            <a:ext cx="1731264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750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2'b00 = OKAY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0"/>
          <p:cNvSpPr/>
          <p:nvPr/>
        </p:nvSpPr>
        <p:spPr>
          <a:xfrm>
            <a:off x="365760" y="6217920"/>
            <a:ext cx="11460480" cy="463296"/>
          </a:xfrm>
          <a:prstGeom prst="rect">
            <a:avLst/>
          </a:prstGeom>
          <a:solidFill>
            <a:srgbClr val="E0E7FF"/>
          </a:solidFill>
          <a:ln w="12700" cap="flat" cmpd="sng">
            <a:solidFill>
              <a:srgbClr val="A5B4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72" name="Google Shape;472;p10"/>
          <p:cNvSpPr/>
          <p:nvPr/>
        </p:nvSpPr>
        <p:spPr>
          <a:xfrm>
            <a:off x="548640" y="6217920"/>
            <a:ext cx="1109472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4338CA"/>
              </a:buClr>
              <a:buSzPts val="1000"/>
            </a:pPr>
            <a:r>
              <a:rPr lang="en-US" sz="1333" i="1">
                <a:solidFill>
                  <a:srgbClr val="4338CA"/>
                </a:solidFill>
                <a:latin typeface="Calibri"/>
                <a:ea typeface="Calibri"/>
                <a:cs typeface="Calibri"/>
                <a:sym typeface="Calibri"/>
              </a:rPr>
              <a:t>Handshake rule: transfer occurs when BOTH valid AND ready are HIGH in the same clock cycle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1"/>
          <p:cNvSpPr/>
          <p:nvPr/>
        </p:nvSpPr>
        <p:spPr>
          <a:xfrm>
            <a:off x="365753" y="467967"/>
            <a:ext cx="11338400" cy="8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FFFFF"/>
              </a:buClr>
              <a:buSzPts val="2000"/>
            </a:pPr>
            <a:r>
              <a:rPr lang="en-US" sz="2667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AXI4-Lite Handshake Protocol — Timing &amp; Rules</a:t>
            </a:r>
            <a:endParaRPr sz="26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1"/>
          <p:cNvSpPr/>
          <p:nvPr/>
        </p:nvSpPr>
        <p:spPr>
          <a:xfrm>
            <a:off x="365760" y="1280160"/>
            <a:ext cx="5242560" cy="5120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80" name="Google Shape;480;p11"/>
          <p:cNvSpPr/>
          <p:nvPr/>
        </p:nvSpPr>
        <p:spPr>
          <a:xfrm>
            <a:off x="365760" y="1280160"/>
            <a:ext cx="5242560" cy="487680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81" name="Google Shape;481;p11"/>
          <p:cNvSpPr/>
          <p:nvPr/>
        </p:nvSpPr>
        <p:spPr>
          <a:xfrm>
            <a:off x="365760" y="1280160"/>
            <a:ext cx="524256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Handshake Rules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1"/>
          <p:cNvSpPr/>
          <p:nvPr/>
        </p:nvSpPr>
        <p:spPr>
          <a:xfrm>
            <a:off x="585216" y="1914144"/>
            <a:ext cx="195072" cy="195072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83" name="Google Shape;483;p11"/>
          <p:cNvSpPr/>
          <p:nvPr/>
        </p:nvSpPr>
        <p:spPr>
          <a:xfrm>
            <a:off x="877824" y="1853184"/>
            <a:ext cx="4535424" cy="536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950"/>
            </a:pPr>
            <a:r>
              <a:rPr lang="en-US" sz="1267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Transfer occurs ONLY when valid=1 AND ready=1 simultaneously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1"/>
          <p:cNvSpPr/>
          <p:nvPr/>
        </p:nvSpPr>
        <p:spPr>
          <a:xfrm>
            <a:off x="585216" y="2523744"/>
            <a:ext cx="195072" cy="195072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85" name="Google Shape;485;p11"/>
          <p:cNvSpPr/>
          <p:nvPr/>
        </p:nvSpPr>
        <p:spPr>
          <a:xfrm>
            <a:off x="877824" y="2462784"/>
            <a:ext cx="4535424" cy="536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950"/>
            </a:pPr>
            <a:r>
              <a:rPr lang="en-US" sz="1267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Master asserts valid and HOLDS it until ready goes high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1"/>
          <p:cNvSpPr/>
          <p:nvPr/>
        </p:nvSpPr>
        <p:spPr>
          <a:xfrm>
            <a:off x="585216" y="3133344"/>
            <a:ext cx="195072" cy="195072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87" name="Google Shape;487;p11"/>
          <p:cNvSpPr/>
          <p:nvPr/>
        </p:nvSpPr>
        <p:spPr>
          <a:xfrm>
            <a:off x="877824" y="3072384"/>
            <a:ext cx="4535424" cy="536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950"/>
            </a:pPr>
            <a:r>
              <a:rPr lang="en-US" sz="1267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Slave may assert ready before or after valid — both are legal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1"/>
          <p:cNvSpPr/>
          <p:nvPr/>
        </p:nvSpPr>
        <p:spPr>
          <a:xfrm>
            <a:off x="585216" y="3742944"/>
            <a:ext cx="195072" cy="195072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89" name="Google Shape;489;p11"/>
          <p:cNvSpPr/>
          <p:nvPr/>
        </p:nvSpPr>
        <p:spPr>
          <a:xfrm>
            <a:off x="877824" y="3681984"/>
            <a:ext cx="4535424" cy="536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950"/>
            </a:pPr>
            <a:r>
              <a:rPr lang="en-US" sz="1267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Master must NOT deassert valid once asserted (until handshake)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1"/>
          <p:cNvSpPr/>
          <p:nvPr/>
        </p:nvSpPr>
        <p:spPr>
          <a:xfrm>
            <a:off x="585216" y="4352544"/>
            <a:ext cx="195072" cy="195072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91" name="Google Shape;491;p11"/>
          <p:cNvSpPr/>
          <p:nvPr/>
        </p:nvSpPr>
        <p:spPr>
          <a:xfrm>
            <a:off x="877824" y="4291584"/>
            <a:ext cx="4535424" cy="536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950"/>
            </a:pPr>
            <a:r>
              <a:rPr lang="en-US" sz="1267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Write requires 2 handshakes: AW+W channels (may be concurrent)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1"/>
          <p:cNvSpPr/>
          <p:nvPr/>
        </p:nvSpPr>
        <p:spPr>
          <a:xfrm>
            <a:off x="585216" y="4962144"/>
            <a:ext cx="195072" cy="195072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93" name="Google Shape;493;p11"/>
          <p:cNvSpPr/>
          <p:nvPr/>
        </p:nvSpPr>
        <p:spPr>
          <a:xfrm>
            <a:off x="877824" y="4901184"/>
            <a:ext cx="4535424" cy="536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950"/>
            </a:pPr>
            <a:r>
              <a:rPr lang="en-US" sz="1267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Write response B-channel must be accepted by master (bready=1)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1"/>
          <p:cNvSpPr/>
          <p:nvPr/>
        </p:nvSpPr>
        <p:spPr>
          <a:xfrm>
            <a:off x="585216" y="5571744"/>
            <a:ext cx="195072" cy="195072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95" name="Google Shape;495;p11"/>
          <p:cNvSpPr/>
          <p:nvPr/>
        </p:nvSpPr>
        <p:spPr>
          <a:xfrm>
            <a:off x="877824" y="5510784"/>
            <a:ext cx="4535424" cy="536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950"/>
            </a:pPr>
            <a:r>
              <a:rPr lang="en-US" sz="1267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Read uses 2 handshakes: AR channel then R channel (sequential)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1"/>
          <p:cNvSpPr/>
          <p:nvPr/>
        </p:nvSpPr>
        <p:spPr>
          <a:xfrm>
            <a:off x="5974080" y="1280160"/>
            <a:ext cx="5852160" cy="5120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97" name="Google Shape;497;p11"/>
          <p:cNvSpPr/>
          <p:nvPr/>
        </p:nvSpPr>
        <p:spPr>
          <a:xfrm>
            <a:off x="5974080" y="1280160"/>
            <a:ext cx="5852160" cy="48768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98" name="Google Shape;498;p11"/>
          <p:cNvSpPr/>
          <p:nvPr/>
        </p:nvSpPr>
        <p:spPr>
          <a:xfrm>
            <a:off x="5974080" y="1280160"/>
            <a:ext cx="585216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100"/>
            </a:pPr>
            <a:r>
              <a:rPr lang="en-US" sz="1467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Bridge FSM — 5 States (top.v L91–224)</a:t>
            </a:r>
            <a:endParaRPr sz="14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1"/>
          <p:cNvSpPr/>
          <p:nvPr/>
        </p:nvSpPr>
        <p:spPr>
          <a:xfrm>
            <a:off x="6096000" y="1853184"/>
            <a:ext cx="1889760" cy="707136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rgbClr val="1E3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 dirty="0"/>
          </a:p>
        </p:txBody>
      </p:sp>
      <p:sp>
        <p:nvSpPr>
          <p:cNvPr id="500" name="Google Shape;500;p11"/>
          <p:cNvSpPr/>
          <p:nvPr/>
        </p:nvSpPr>
        <p:spPr>
          <a:xfrm>
            <a:off x="6096000" y="1853184"/>
            <a:ext cx="1889760" cy="70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900"/>
            </a:pPr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ST_IDLE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1"/>
          <p:cNvSpPr/>
          <p:nvPr/>
        </p:nvSpPr>
        <p:spPr>
          <a:xfrm>
            <a:off x="8071104" y="1889760"/>
            <a:ext cx="3633216" cy="633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Wait for mem_valid from CPU. Check mem_wstrb to route write vs read.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2" name="Google Shape;502;p11"/>
          <p:cNvCxnSpPr/>
          <p:nvPr/>
        </p:nvCxnSpPr>
        <p:spPr>
          <a:xfrm>
            <a:off x="7046976" y="2560320"/>
            <a:ext cx="0" cy="170688"/>
          </a:xfrm>
          <a:prstGeom prst="straightConnector1">
            <a:avLst/>
          </a:prstGeom>
          <a:noFill/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3" name="Google Shape;503;p11"/>
          <p:cNvSpPr/>
          <p:nvPr/>
        </p:nvSpPr>
        <p:spPr>
          <a:xfrm>
            <a:off x="6096000" y="2731008"/>
            <a:ext cx="1889760" cy="707136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rgbClr val="1E40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 dirty="0"/>
          </a:p>
        </p:txBody>
      </p:sp>
      <p:sp>
        <p:nvSpPr>
          <p:cNvPr id="504" name="Google Shape;504;p11"/>
          <p:cNvSpPr/>
          <p:nvPr/>
        </p:nvSpPr>
        <p:spPr>
          <a:xfrm>
            <a:off x="6096000" y="2731008"/>
            <a:ext cx="1889760" cy="70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900"/>
            </a:pPr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ST_WR_AW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1"/>
          <p:cNvSpPr/>
          <p:nvPr/>
        </p:nvSpPr>
        <p:spPr>
          <a:xfrm>
            <a:off x="8071104" y="2767584"/>
            <a:ext cx="3633216" cy="633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Assert awvalid. Wait for awready from interconnect.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6" name="Google Shape;506;p11"/>
          <p:cNvCxnSpPr/>
          <p:nvPr/>
        </p:nvCxnSpPr>
        <p:spPr>
          <a:xfrm>
            <a:off x="7046976" y="3438144"/>
            <a:ext cx="0" cy="170688"/>
          </a:xfrm>
          <a:prstGeom prst="straightConnector1">
            <a:avLst/>
          </a:prstGeom>
          <a:noFill/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7" name="Google Shape;507;p11"/>
          <p:cNvSpPr/>
          <p:nvPr/>
        </p:nvSpPr>
        <p:spPr>
          <a:xfrm>
            <a:off x="6096000" y="3608832"/>
            <a:ext cx="1889760" cy="707136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08" name="Google Shape;508;p11"/>
          <p:cNvSpPr/>
          <p:nvPr/>
        </p:nvSpPr>
        <p:spPr>
          <a:xfrm>
            <a:off x="6096000" y="3608832"/>
            <a:ext cx="1889760" cy="70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900"/>
            </a:pPr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ST_WR_B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1"/>
          <p:cNvSpPr/>
          <p:nvPr/>
        </p:nvSpPr>
        <p:spPr>
          <a:xfrm>
            <a:off x="8071104" y="3645408"/>
            <a:ext cx="3633216" cy="633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Assert wvalid. Collect bresp. Assert mem_ready to CPU.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0" name="Google Shape;510;p11"/>
          <p:cNvCxnSpPr/>
          <p:nvPr/>
        </p:nvCxnSpPr>
        <p:spPr>
          <a:xfrm>
            <a:off x="7046976" y="4315968"/>
            <a:ext cx="0" cy="170688"/>
          </a:xfrm>
          <a:prstGeom prst="straightConnector1">
            <a:avLst/>
          </a:prstGeom>
          <a:noFill/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1" name="Google Shape;511;p11"/>
          <p:cNvSpPr/>
          <p:nvPr/>
        </p:nvSpPr>
        <p:spPr>
          <a:xfrm>
            <a:off x="6096000" y="4486656"/>
            <a:ext cx="1889760" cy="707136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12" name="Google Shape;512;p11"/>
          <p:cNvSpPr/>
          <p:nvPr/>
        </p:nvSpPr>
        <p:spPr>
          <a:xfrm>
            <a:off x="6096000" y="4486656"/>
            <a:ext cx="1889760" cy="70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900"/>
            </a:pPr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ST_RD_AR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1"/>
          <p:cNvSpPr/>
          <p:nvPr/>
        </p:nvSpPr>
        <p:spPr>
          <a:xfrm>
            <a:off x="8071104" y="4523232"/>
            <a:ext cx="3633216" cy="633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Assert arvalid. Wait for arready from interconnect.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4" name="Google Shape;514;p11"/>
          <p:cNvCxnSpPr/>
          <p:nvPr/>
        </p:nvCxnSpPr>
        <p:spPr>
          <a:xfrm>
            <a:off x="7046976" y="5193792"/>
            <a:ext cx="0" cy="170688"/>
          </a:xfrm>
          <a:prstGeom prst="straightConnector1">
            <a:avLst/>
          </a:prstGeom>
          <a:noFill/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5" name="Google Shape;515;p11"/>
          <p:cNvSpPr/>
          <p:nvPr/>
        </p:nvSpPr>
        <p:spPr>
          <a:xfrm>
            <a:off x="6096000" y="5364480"/>
            <a:ext cx="1889760" cy="707136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 dirty="0"/>
          </a:p>
        </p:txBody>
      </p:sp>
      <p:sp>
        <p:nvSpPr>
          <p:cNvPr id="516" name="Google Shape;516;p11"/>
          <p:cNvSpPr/>
          <p:nvPr/>
        </p:nvSpPr>
        <p:spPr>
          <a:xfrm>
            <a:off x="6096000" y="5364480"/>
            <a:ext cx="1889760" cy="70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900"/>
            </a:pPr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ST_RD_R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1"/>
          <p:cNvSpPr/>
          <p:nvPr/>
        </p:nvSpPr>
        <p:spPr>
          <a:xfrm>
            <a:off x="8071104" y="5401056"/>
            <a:ext cx="3633216" cy="633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Wait for rvalid. Capture rdata. Assert mem_ready to CPU.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1"/>
          <p:cNvSpPr/>
          <p:nvPr/>
        </p:nvSpPr>
        <p:spPr>
          <a:xfrm>
            <a:off x="365760" y="6217920"/>
            <a:ext cx="11460480" cy="463296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19" name="Google Shape;519;p11"/>
          <p:cNvSpPr/>
          <p:nvPr/>
        </p:nvSpPr>
        <p:spPr>
          <a:xfrm>
            <a:off x="548640" y="6217920"/>
            <a:ext cx="1109472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2563EB"/>
              </a:buClr>
              <a:buSzPts val="950"/>
            </a:pPr>
            <a:r>
              <a:rPr lang="en-US" sz="1267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Write path: ST_IDLE → ST_WR_AW → ST_WR_B → ST_IDLE  |  Read path: ST_IDLE → ST_RD_AR → ST_RD_R → ST_IDLE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3200" b="1"/>
              <a:t>                                             </a:t>
            </a:r>
            <a:br>
              <a:rPr lang="en-US" sz="3200" b="1"/>
            </a:br>
            <a:br>
              <a:rPr lang="en-US" sz="3200" b="1"/>
            </a:br>
            <a:r>
              <a:rPr lang="en-US" sz="3200" b="1"/>
              <a:t>                     											</a:t>
            </a:r>
            <a:endParaRPr sz="3200" b="1"/>
          </a:p>
        </p:txBody>
      </p:sp>
      <p:sp>
        <p:nvSpPr>
          <p:cNvPr id="227" name="Google Shape;227;p10"/>
          <p:cNvSpPr txBox="1"/>
          <p:nvPr/>
        </p:nvSpPr>
        <p:spPr>
          <a:xfrm>
            <a:off x="838200" y="1690688"/>
            <a:ext cx="10515600" cy="646331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AXI (Advanced eXtensible Interface) is ARM's AMBA bus standard. AXI-Lite is the simplified version — fixed 32-bit data width, no bursts. Used here to connect the CPU to ROM, SRAM, and UART.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8" name="Google Shape;228;p10"/>
          <p:cNvGraphicFramePr/>
          <p:nvPr/>
        </p:nvGraphicFramePr>
        <p:xfrm>
          <a:off x="838200" y="2536187"/>
          <a:ext cx="10515625" cy="4011188"/>
        </p:xfrm>
        <a:graphic>
          <a:graphicData uri="http://schemas.openxmlformats.org/drawingml/2006/table">
            <a:tbl>
              <a:tblPr firstRow="1" bandRow="1">
                <a:noFill/>
                <a:tableStyleId>{36BE4FAF-359A-4B38-81AF-187DD1290381}</a:tableStyleId>
              </a:tblPr>
              <a:tblGrid>
                <a:gridCol w="210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strike="noStrike" cap="none"/>
                        <a:t>AW</a:t>
                      </a:r>
                      <a:endParaRPr sz="18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/>
                        <a:t>Write Address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strike="noStrike" cap="none"/>
                        <a:t>W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/>
                        <a:t>Write Data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lt1"/>
                          </a:solidFill>
                        </a:rPr>
                        <a:t>B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Write Response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u="none" strike="noStrike" cap="none"/>
                        <a:t>AR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/>
                        <a:t>Read Address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lt1"/>
                          </a:solidFill>
                        </a:rPr>
                        <a:t>R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Read Data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1A1A2E"/>
                          </a:solidFill>
                        </a:rPr>
                        <a:t>Master sends: AWADDR (32-bit), AWVALID</a:t>
                      </a: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1A1A2E"/>
                          </a:solidFill>
                        </a:rPr>
                        <a:t>Slave responds: AWREADY</a:t>
                      </a: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1A1A2E"/>
                          </a:solidFill>
                        </a:rPr>
                        <a:t>→ Tells slave WHERE to write</a:t>
                      </a:r>
                      <a:endParaRPr sz="18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1A1A2E"/>
                          </a:solidFill>
                        </a:rPr>
                        <a:t>Master sends: WDATA (32-bit), WSTRB (4-bit byte enables), WVALID</a:t>
                      </a:r>
                      <a:endParaRPr sz="1800"/>
                    </a:p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1A1A2E"/>
                          </a:solidFill>
                        </a:rPr>
                        <a:t>Slave responds: WREADY</a:t>
                      </a:r>
                      <a:endParaRPr sz="1800"/>
                    </a:p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1A1A2E"/>
                          </a:solidFill>
                        </a:rPr>
                        <a:t>→ Sends the DATA to write</a:t>
                      </a: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1A1A2E"/>
                          </a:solidFill>
                        </a:rPr>
                        <a:t>Slave sends: BRESP (2-bit: 00=OK), BVALID</a:t>
                      </a:r>
                      <a:endParaRPr sz="1800"/>
                    </a:p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1A1A2E"/>
                          </a:solidFill>
                        </a:rPr>
                        <a:t>Master responds: BREADY</a:t>
                      </a:r>
                      <a:endParaRPr sz="1800"/>
                    </a:p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1A1A2E"/>
                          </a:solidFill>
                        </a:rPr>
                        <a:t>→ Confirms write completed</a:t>
                      </a: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1A1A2E"/>
                          </a:solidFill>
                        </a:rPr>
                        <a:t>Master sends: ARADDR (32-bit), ARVALID</a:t>
                      </a:r>
                      <a:endParaRPr sz="1800"/>
                    </a:p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1A1A2E"/>
                          </a:solidFill>
                        </a:rPr>
                        <a:t>Slave responds: ARREADY</a:t>
                      </a:r>
                      <a:endParaRPr sz="1800"/>
                    </a:p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1A1A2E"/>
                          </a:solidFill>
                        </a:rPr>
                        <a:t>→ Tells slave WHERE to read from</a:t>
                      </a: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1A1A2E"/>
                          </a:solidFill>
                        </a:rPr>
                        <a:t>Slave sends: RDATA (32-bit), RRESP, RVALID</a:t>
                      </a:r>
                      <a:endParaRPr sz="1800"/>
                    </a:p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1A1A2E"/>
                          </a:solidFill>
                        </a:rPr>
                        <a:t>Master responds: RREADY</a:t>
                      </a:r>
                      <a:endParaRPr sz="1800"/>
                    </a:p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1A1A2E"/>
                          </a:solidFill>
                        </a:rPr>
                        <a:t>→ Slave returns the READ data</a:t>
                      </a: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9" name="Google Shape;229;p10"/>
          <p:cNvGraphicFramePr/>
          <p:nvPr/>
        </p:nvGraphicFramePr>
        <p:xfrm>
          <a:off x="838200" y="719665"/>
          <a:ext cx="10515600" cy="944890"/>
        </p:xfrm>
        <a:graphic>
          <a:graphicData uri="http://schemas.openxmlformats.org/drawingml/2006/table">
            <a:tbl>
              <a:tblPr firstRow="1" bandRow="1">
                <a:noFill/>
                <a:tableStyleId>{CA1471D7-64E4-42A9-A1CD-48542FBC2C40}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53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AXI-Lite Bus Protocol — How the CPU Talks to Peripherals</a:t>
                      </a:r>
                      <a:endParaRPr sz="28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0784" y="3737521"/>
            <a:ext cx="3486894" cy="2647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73467" y="1844725"/>
            <a:ext cx="3876973" cy="168696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1"/>
          <p:cNvSpPr/>
          <p:nvPr/>
        </p:nvSpPr>
        <p:spPr>
          <a:xfrm>
            <a:off x="962025" y="933450"/>
            <a:ext cx="11229975" cy="616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75"/>
              <a:buFont typeface="Arial Black"/>
              <a:buNone/>
            </a:pPr>
            <a:r>
              <a:rPr lang="en-US" sz="3675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AXI VALID/READY Handshake</a:t>
            </a:r>
            <a:endParaRPr sz="3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1333500" y="1943100"/>
            <a:ext cx="7019925" cy="525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Calibri"/>
              <a:buNone/>
            </a:pPr>
            <a:r>
              <a:rPr lang="en-US" sz="1725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Handshake Occurs: </a:t>
            </a:r>
            <a:r>
              <a:rPr lang="en-US" sz="17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Both VALID and READY must be</a:t>
            </a:r>
            <a:br>
              <a:rPr lang="en-US" sz="17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7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 at rising clock edge.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1333500" y="2657475"/>
            <a:ext cx="7082730" cy="48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alibri"/>
              <a:buNone/>
            </a:pPr>
            <a:r>
              <a:rPr lang="en-US" sz="1575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VALID Behavior: </a:t>
            </a: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 must hold VALID high until</a:t>
            </a:r>
            <a:b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handshake completes. Cannot deassert before READY.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1333500" y="3371850"/>
            <a:ext cx="6988373" cy="48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alibri"/>
              <a:buNone/>
            </a:pPr>
            <a:r>
              <a:rPr lang="en-US" sz="1575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READY Behavior: </a:t>
            </a: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Destination asserts to indicate it can</a:t>
            </a:r>
            <a:b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accept data. May assert before or after VALID.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1333500" y="4095750"/>
            <a:ext cx="7376071" cy="66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alibri"/>
              <a:buNone/>
            </a:pPr>
            <a:r>
              <a:rPr lang="en-US" sz="1575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Five Independent Channels</a:t>
            </a: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Applies separately for Write</a:t>
            </a:r>
            <a:b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Address, Write Data, Write Response, Read Address, and</a:t>
            </a:r>
            <a:b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Read Data.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1333500" y="5067300"/>
            <a:ext cx="7250311" cy="48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alibri"/>
              <a:buNone/>
            </a:pPr>
            <a:r>
              <a:rPr lang="en-US" sz="1575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Deadlock Prevention: </a:t>
            </a: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Rules prohibit VALID from waiting</a:t>
            </a:r>
            <a:b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READY, preventing circular dependency deadlocks.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1333500" y="5781675"/>
            <a:ext cx="7459861" cy="444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alibri"/>
              <a:buNone/>
            </a:pPr>
            <a:r>
              <a:rPr lang="en-US" sz="1575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Handshake Types</a:t>
            </a: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Governs individual channel transactions</a:t>
            </a:r>
            <a:b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(Address, Data, Response), each completing independently.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956667" y="2000250"/>
            <a:ext cx="115193" cy="17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Narrow"/>
              <a:buNone/>
            </a:pPr>
            <a:r>
              <a:rPr lang="en-US" sz="12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956667" y="2724150"/>
            <a:ext cx="115193" cy="17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Narrow"/>
              <a:buNone/>
            </a:pPr>
            <a:r>
              <a:rPr lang="en-US" sz="12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956667" y="3438525"/>
            <a:ext cx="115193" cy="17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Narrow"/>
              <a:buNone/>
            </a:pPr>
            <a:r>
              <a:rPr lang="en-US" sz="12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956667" y="4162425"/>
            <a:ext cx="115193" cy="17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Narrow"/>
              <a:buNone/>
            </a:pPr>
            <a:r>
              <a:rPr lang="en-US" sz="12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956667" y="5143500"/>
            <a:ext cx="115193" cy="17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Narrow"/>
              <a:buNone/>
            </a:pPr>
            <a:r>
              <a:rPr lang="en-US" sz="12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956667" y="5848350"/>
            <a:ext cx="115193" cy="17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Narrow"/>
              <a:buNone/>
            </a:pPr>
            <a:r>
              <a:rPr lang="en-US" sz="12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1935"/>
              <a:buFont typeface="Calibri"/>
              <a:buNone/>
            </a:pPr>
            <a:r>
              <a:rPr lang="en-US" b="1"/>
              <a:t>																</a:t>
            </a:r>
            <a:br>
              <a:rPr lang="en-US" b="1"/>
            </a:br>
            <a:r>
              <a:rPr lang="en-US" b="1"/>
              <a:t>														</a:t>
            </a:r>
            <a:br>
              <a:rPr lang="en-US" b="1"/>
            </a:br>
            <a:r>
              <a:rPr lang="en-US" b="1"/>
              <a:t>														</a:t>
            </a:r>
            <a:endParaRPr sz="3100" b="1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5" name="Google Shape;255;p12"/>
          <p:cNvSpPr txBox="1"/>
          <p:nvPr/>
        </p:nvSpPr>
        <p:spPr>
          <a:xfrm>
            <a:off x="952500" y="1820435"/>
            <a:ext cx="10121900" cy="646331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UART is a serial communication protocol. Data is sent one bit at a time over a single wire (TX or RX), with no shared clock — both sides must agree on the baud rate in advance.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 txBox="1"/>
          <p:nvPr/>
        </p:nvSpPr>
        <p:spPr>
          <a:xfrm>
            <a:off x="952500" y="2519068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8N1 Frame Format  (8 data bits, No parity, 1 stop bit)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7" name="Google Shape;257;p12"/>
          <p:cNvGraphicFramePr/>
          <p:nvPr/>
        </p:nvGraphicFramePr>
        <p:xfrm>
          <a:off x="952500" y="3918883"/>
          <a:ext cx="10401300" cy="2834680"/>
        </p:xfrm>
        <a:graphic>
          <a:graphicData uri="http://schemas.openxmlformats.org/drawingml/2006/table">
            <a:tbl>
              <a:tblPr>
                <a:noFill/>
                <a:tableStyleId>{99C062AA-4478-4A29-BC63-D315CF8DB60F}</a:tableStyleId>
              </a:tblPr>
              <a:tblGrid>
                <a:gridCol w="520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Baud Rate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98A8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/>
                        <a:t>TX (Transmit)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98A8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9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1A1A2E"/>
                          </a:solidFill>
                        </a:rPr>
                        <a:t>Bits per second. Both sides must match.</a:t>
                      </a:r>
                      <a:endParaRPr sz="16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1A1A2E"/>
                          </a:solidFill>
                        </a:rPr>
                        <a:t>This project: 115,200 baud @ 50 MHz clock.</a:t>
                      </a:r>
                      <a:endParaRPr sz="16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1A1A2E"/>
                          </a:solidFill>
                        </a:rPr>
                        <a:t>CLKS_PER_BIT = 50,000,000 / 115,200 = 434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1A1A2E"/>
                          </a:solidFill>
                        </a:rPr>
                        <a:t>PicoRV32 writes byte to UART AXI register.</a:t>
                      </a:r>
                      <a:endParaRPr sz="16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1A1A2E"/>
                          </a:solidFill>
                        </a:rPr>
                        <a:t>uart_tx.v shifts it out serially:</a:t>
                      </a:r>
                      <a:endParaRPr sz="16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1A1A2E"/>
                          </a:solidFill>
                        </a:rPr>
                        <a:t>START → D0..D7 → STOP</a:t>
                      </a:r>
                      <a:endParaRPr sz="16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</a:rPr>
                        <a:t>RX (Receive)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98A8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</a:rPr>
                        <a:t>AXI-Lite Interface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98A8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9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1A1A2E"/>
                          </a:solidFill>
                        </a:rPr>
                        <a:t>uart_rx samples incoming bit stream.</a:t>
                      </a:r>
                      <a:endParaRPr sz="16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1A1A2E"/>
                          </a:solidFill>
                        </a:rPr>
                        <a:t>Detects START bit, then clocks in 8 data bits.</a:t>
                      </a:r>
                      <a:endParaRPr sz="16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1A1A2E"/>
                          </a:solidFill>
                        </a:rPr>
                        <a:t>Outputs valid byte when STOP received.</a:t>
                      </a:r>
                      <a:endParaRPr sz="16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1A1A2E"/>
                          </a:solidFill>
                        </a:rPr>
                        <a:t>CPU writes to 0x10000000 (UART TX reg).</a:t>
                      </a:r>
                      <a:endParaRPr sz="16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1A1A2E"/>
                          </a:solidFill>
                        </a:rPr>
                        <a:t>uart_axi.v bridges AXI bus to uart_tx.</a:t>
                      </a:r>
                      <a:endParaRPr sz="16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1A1A2E"/>
                          </a:solidFill>
                        </a:rPr>
                        <a:t>CPU can poll ready flag to know when done.</a:t>
                      </a:r>
                      <a:endParaRPr sz="16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8" name="Google Shape;258;p12"/>
          <p:cNvGraphicFramePr/>
          <p:nvPr/>
        </p:nvGraphicFramePr>
        <p:xfrm>
          <a:off x="952500" y="1114909"/>
          <a:ext cx="11168625" cy="601355"/>
        </p:xfrm>
        <a:graphic>
          <a:graphicData uri="http://schemas.openxmlformats.org/drawingml/2006/table">
            <a:tbl>
              <a:tblPr firstRow="1" bandRow="1">
                <a:noFill/>
                <a:tableStyleId>{CA1471D7-64E4-42A9-A1CD-48542FBC2C40}</a:tableStyleId>
              </a:tblPr>
              <a:tblGrid>
                <a:gridCol w="1116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1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 Black"/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UART Communication Module</a:t>
                      </a:r>
                      <a:endParaRPr sz="28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6455" y="2948880"/>
            <a:ext cx="1045964" cy="445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72419" y="2948880"/>
            <a:ext cx="1045964" cy="445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18383" y="2948880"/>
            <a:ext cx="1045964" cy="445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64347" y="2948880"/>
            <a:ext cx="1045964" cy="445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10311" y="2948880"/>
            <a:ext cx="1045964" cy="445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56275" y="2948880"/>
            <a:ext cx="1045964" cy="445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02239" y="2948880"/>
            <a:ext cx="1045964" cy="445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48204" y="2948880"/>
            <a:ext cx="1045964" cy="445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294168" y="2948880"/>
            <a:ext cx="1045964" cy="445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340132" y="2948880"/>
            <a:ext cx="1047006" cy="445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983409" y="3522910"/>
            <a:ext cx="6321196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2"/>
          <p:cNvSpPr/>
          <p:nvPr/>
        </p:nvSpPr>
        <p:spPr>
          <a:xfrm>
            <a:off x="926455" y="2948880"/>
            <a:ext cx="1045964" cy="44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1972419" y="2948880"/>
            <a:ext cx="1045964" cy="44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3018383" y="2948880"/>
            <a:ext cx="1045964" cy="44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4064347" y="2948880"/>
            <a:ext cx="1045964" cy="44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5110311" y="2948880"/>
            <a:ext cx="1045964" cy="44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6156275" y="2948880"/>
            <a:ext cx="1045964" cy="44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7202239" y="2948880"/>
            <a:ext cx="1045964" cy="44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8248204" y="2948880"/>
            <a:ext cx="1045964" cy="44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9294168" y="2948880"/>
            <a:ext cx="1045964" cy="44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10340132" y="2948880"/>
            <a:ext cx="1047006" cy="44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956593" y="3303545"/>
            <a:ext cx="1045964" cy="44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Always 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2067669" y="3442246"/>
            <a:ext cx="181698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LSB first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9593907" y="3442246"/>
            <a:ext cx="41284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MSB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10320431" y="3363123"/>
            <a:ext cx="1045964" cy="44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Always 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7"/>
          <p:cNvSpPr/>
          <p:nvPr/>
        </p:nvSpPr>
        <p:spPr>
          <a:xfrm>
            <a:off x="426804" y="414367"/>
            <a:ext cx="11338400" cy="8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FFFFF"/>
              </a:buClr>
              <a:buSzPts val="2000"/>
            </a:pPr>
            <a:r>
              <a:rPr lang="en-US" sz="2667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Firmware / Software Stack — fw/main.c</a:t>
            </a:r>
            <a:endParaRPr sz="26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7"/>
          <p:cNvSpPr/>
          <p:nvPr/>
        </p:nvSpPr>
        <p:spPr>
          <a:xfrm>
            <a:off x="365760" y="1280160"/>
            <a:ext cx="3413760" cy="42672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 dirty="0"/>
          </a:p>
        </p:txBody>
      </p:sp>
      <p:sp>
        <p:nvSpPr>
          <p:cNvPr id="786" name="Google Shape;786;p17"/>
          <p:cNvSpPr/>
          <p:nvPr/>
        </p:nvSpPr>
        <p:spPr>
          <a:xfrm>
            <a:off x="463296" y="1341120"/>
            <a:ext cx="3169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B7280"/>
              </a:buClr>
              <a:buSzPts val="900"/>
            </a:pPr>
            <a:r>
              <a:rPr lang="en-US" sz="120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fw/ directory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17"/>
          <p:cNvSpPr/>
          <p:nvPr/>
        </p:nvSpPr>
        <p:spPr>
          <a:xfrm>
            <a:off x="512064" y="1755648"/>
            <a:ext cx="316992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93C5FD"/>
              </a:buClr>
              <a:buSzPts val="950"/>
            </a:pPr>
            <a:r>
              <a:rPr lang="en-US" sz="1267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fw/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7"/>
          <p:cNvSpPr/>
          <p:nvPr/>
        </p:nvSpPr>
        <p:spPr>
          <a:xfrm>
            <a:off x="512064" y="2206752"/>
            <a:ext cx="316992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E2E8F0"/>
              </a:buClr>
              <a:buSzPts val="950"/>
            </a:pPr>
            <a:r>
              <a:rPr lang="en-US" sz="1267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├── main.c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17"/>
          <p:cNvSpPr/>
          <p:nvPr/>
        </p:nvSpPr>
        <p:spPr>
          <a:xfrm>
            <a:off x="512064" y="2657856"/>
            <a:ext cx="316992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E2E8F0"/>
              </a:buClr>
              <a:buSzPts val="950"/>
            </a:pPr>
            <a:r>
              <a:rPr lang="en-US" sz="1267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├── start.S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7"/>
          <p:cNvSpPr/>
          <p:nvPr/>
        </p:nvSpPr>
        <p:spPr>
          <a:xfrm>
            <a:off x="512064" y="3108960"/>
            <a:ext cx="316992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E2E8F0"/>
              </a:buClr>
              <a:buSzPts val="950"/>
            </a:pPr>
            <a:r>
              <a:rPr lang="en-US" sz="1267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├── link.ld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7"/>
          <p:cNvSpPr/>
          <p:nvPr/>
        </p:nvSpPr>
        <p:spPr>
          <a:xfrm>
            <a:off x="512064" y="3560064"/>
            <a:ext cx="316992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E2E8F0"/>
              </a:buClr>
              <a:buSzPts val="950"/>
            </a:pPr>
            <a:r>
              <a:rPr lang="en-US" sz="1267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├── firmware.bin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7"/>
          <p:cNvSpPr/>
          <p:nvPr/>
        </p:nvSpPr>
        <p:spPr>
          <a:xfrm>
            <a:off x="512064" y="4011168"/>
            <a:ext cx="316992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86EFAC"/>
              </a:buClr>
              <a:buSzPts val="950"/>
            </a:pPr>
            <a:r>
              <a:rPr lang="en-US" sz="1267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└── rom.hex  ← output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7"/>
          <p:cNvSpPr/>
          <p:nvPr/>
        </p:nvSpPr>
        <p:spPr>
          <a:xfrm>
            <a:off x="4023360" y="1280160"/>
            <a:ext cx="3901440" cy="426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794" name="Google Shape;794;p17"/>
          <p:cNvSpPr/>
          <p:nvPr/>
        </p:nvSpPr>
        <p:spPr>
          <a:xfrm>
            <a:off x="4023360" y="1280160"/>
            <a:ext cx="3901440" cy="487680"/>
          </a:xfrm>
          <a:prstGeom prst="rect">
            <a:avLst/>
          </a:prstGeom>
          <a:solidFill>
            <a:srgbClr val="4F46E5"/>
          </a:solidFill>
          <a:ln w="12700" cap="flat" cmpd="sng">
            <a:solidFill>
              <a:srgbClr val="4F46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795" name="Google Shape;795;p17"/>
          <p:cNvSpPr/>
          <p:nvPr/>
        </p:nvSpPr>
        <p:spPr>
          <a:xfrm>
            <a:off x="4023360" y="1280160"/>
            <a:ext cx="390144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000"/>
            </a:pPr>
            <a:r>
              <a:rPr lang="en-US" sz="1333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Linker Memory Map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7"/>
          <p:cNvSpPr/>
          <p:nvPr/>
        </p:nvSpPr>
        <p:spPr>
          <a:xfrm>
            <a:off x="4120896" y="1853184"/>
            <a:ext cx="3681984" cy="56083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797" name="Google Shape;797;p17"/>
          <p:cNvSpPr/>
          <p:nvPr/>
        </p:nvSpPr>
        <p:spPr>
          <a:xfrm>
            <a:off x="4120896" y="1853184"/>
            <a:ext cx="73152" cy="560832"/>
          </a:xfrm>
          <a:prstGeom prst="rect">
            <a:avLst/>
          </a:prstGeom>
          <a:solidFill>
            <a:srgbClr val="15803D"/>
          </a:solidFill>
          <a:ln w="12700" cap="flat" cmpd="sng">
            <a:solidFill>
              <a:srgbClr val="1580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798" name="Google Shape;798;p17"/>
          <p:cNvSpPr/>
          <p:nvPr/>
        </p:nvSpPr>
        <p:spPr>
          <a:xfrm>
            <a:off x="4242816" y="1901952"/>
            <a:ext cx="146304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ROM  (text)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17"/>
          <p:cNvSpPr/>
          <p:nvPr/>
        </p:nvSpPr>
        <p:spPr>
          <a:xfrm>
            <a:off x="5754624" y="1901952"/>
            <a:ext cx="1560576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0x0000_0000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17"/>
          <p:cNvSpPr/>
          <p:nvPr/>
        </p:nvSpPr>
        <p:spPr>
          <a:xfrm>
            <a:off x="7339584" y="1901952"/>
            <a:ext cx="36576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4748B"/>
              </a:buClr>
              <a:buSzPts val="750"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8KB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17"/>
          <p:cNvSpPr/>
          <p:nvPr/>
        </p:nvSpPr>
        <p:spPr>
          <a:xfrm>
            <a:off x="4120896" y="2462784"/>
            <a:ext cx="3681984" cy="56083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02" name="Google Shape;802;p17"/>
          <p:cNvSpPr/>
          <p:nvPr/>
        </p:nvSpPr>
        <p:spPr>
          <a:xfrm>
            <a:off x="4120896" y="2462784"/>
            <a:ext cx="73152" cy="560832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03" name="Google Shape;803;p17"/>
          <p:cNvSpPr/>
          <p:nvPr/>
        </p:nvSpPr>
        <p:spPr>
          <a:xfrm>
            <a:off x="4242816" y="2511552"/>
            <a:ext cx="146304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SRAM (data)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17"/>
          <p:cNvSpPr/>
          <p:nvPr/>
        </p:nvSpPr>
        <p:spPr>
          <a:xfrm>
            <a:off x="5754624" y="2511552"/>
            <a:ext cx="1560576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0x0001_0000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17"/>
          <p:cNvSpPr/>
          <p:nvPr/>
        </p:nvSpPr>
        <p:spPr>
          <a:xfrm>
            <a:off x="7339584" y="2511552"/>
            <a:ext cx="36576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4748B"/>
              </a:buClr>
              <a:buSzPts val="750"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256B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17"/>
          <p:cNvSpPr/>
          <p:nvPr/>
        </p:nvSpPr>
        <p:spPr>
          <a:xfrm>
            <a:off x="4120896" y="3072384"/>
            <a:ext cx="3681984" cy="56083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07" name="Google Shape;807;p17"/>
          <p:cNvSpPr/>
          <p:nvPr/>
        </p:nvSpPr>
        <p:spPr>
          <a:xfrm>
            <a:off x="4120896" y="3072384"/>
            <a:ext cx="73152" cy="560832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08" name="Google Shape;808;p17"/>
          <p:cNvSpPr/>
          <p:nvPr/>
        </p:nvSpPr>
        <p:spPr>
          <a:xfrm>
            <a:off x="4242816" y="3121152"/>
            <a:ext cx="146304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17"/>
          <p:cNvSpPr/>
          <p:nvPr/>
        </p:nvSpPr>
        <p:spPr>
          <a:xfrm>
            <a:off x="5754624" y="3121152"/>
            <a:ext cx="1560576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0x0001_00FC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7"/>
          <p:cNvSpPr/>
          <p:nvPr/>
        </p:nvSpPr>
        <p:spPr>
          <a:xfrm>
            <a:off x="7339584" y="3121152"/>
            <a:ext cx="36576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4748B"/>
              </a:buClr>
              <a:buSzPts val="750"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 grows down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7"/>
          <p:cNvSpPr/>
          <p:nvPr/>
        </p:nvSpPr>
        <p:spPr>
          <a:xfrm>
            <a:off x="4120896" y="3681984"/>
            <a:ext cx="3681984" cy="56083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12" name="Google Shape;812;p17"/>
          <p:cNvSpPr/>
          <p:nvPr/>
        </p:nvSpPr>
        <p:spPr>
          <a:xfrm>
            <a:off x="4120896" y="3681984"/>
            <a:ext cx="73152" cy="560832"/>
          </a:xfrm>
          <a:prstGeom prst="rect">
            <a:avLst/>
          </a:prstGeom>
          <a:solidFill>
            <a:srgbClr val="B45309"/>
          </a:solidFill>
          <a:ln w="12700" cap="flat" cmpd="sng">
            <a:solidFill>
              <a:srgbClr val="B4530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13" name="Google Shape;813;p17"/>
          <p:cNvSpPr/>
          <p:nvPr/>
        </p:nvSpPr>
        <p:spPr>
          <a:xfrm>
            <a:off x="4242816" y="3730752"/>
            <a:ext cx="146304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UART TX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7"/>
          <p:cNvSpPr/>
          <p:nvPr/>
        </p:nvSpPr>
        <p:spPr>
          <a:xfrm>
            <a:off x="5754624" y="3730752"/>
            <a:ext cx="1560576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0x1000_0000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7"/>
          <p:cNvSpPr/>
          <p:nvPr/>
        </p:nvSpPr>
        <p:spPr>
          <a:xfrm>
            <a:off x="7339584" y="3730752"/>
            <a:ext cx="36576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4748B"/>
              </a:buClr>
              <a:buSzPts val="750"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17"/>
          <p:cNvSpPr/>
          <p:nvPr/>
        </p:nvSpPr>
        <p:spPr>
          <a:xfrm>
            <a:off x="4120896" y="4291584"/>
            <a:ext cx="3681984" cy="56083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17" name="Google Shape;817;p17"/>
          <p:cNvSpPr/>
          <p:nvPr/>
        </p:nvSpPr>
        <p:spPr>
          <a:xfrm>
            <a:off x="4120896" y="4291584"/>
            <a:ext cx="73152" cy="560832"/>
          </a:xfrm>
          <a:prstGeom prst="rect">
            <a:avLst/>
          </a:prstGeom>
          <a:solidFill>
            <a:srgbClr val="B45309"/>
          </a:solidFill>
          <a:ln w="12700" cap="flat" cmpd="sng">
            <a:solidFill>
              <a:srgbClr val="B4530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18" name="Google Shape;818;p17"/>
          <p:cNvSpPr/>
          <p:nvPr/>
        </p:nvSpPr>
        <p:spPr>
          <a:xfrm>
            <a:off x="4242816" y="4340352"/>
            <a:ext cx="146304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UART RX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7"/>
          <p:cNvSpPr/>
          <p:nvPr/>
        </p:nvSpPr>
        <p:spPr>
          <a:xfrm>
            <a:off x="5754624" y="4340352"/>
            <a:ext cx="1560576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0x1000_0004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17"/>
          <p:cNvSpPr/>
          <p:nvPr/>
        </p:nvSpPr>
        <p:spPr>
          <a:xfrm>
            <a:off x="7339584" y="4340352"/>
            <a:ext cx="36576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4748B"/>
              </a:buClr>
              <a:buSzPts val="750"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17"/>
          <p:cNvSpPr/>
          <p:nvPr/>
        </p:nvSpPr>
        <p:spPr>
          <a:xfrm>
            <a:off x="4120896" y="4901184"/>
            <a:ext cx="3681984" cy="56083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22" name="Google Shape;822;p17"/>
          <p:cNvSpPr/>
          <p:nvPr/>
        </p:nvSpPr>
        <p:spPr>
          <a:xfrm>
            <a:off x="4120896" y="4901184"/>
            <a:ext cx="73152" cy="560832"/>
          </a:xfrm>
          <a:prstGeom prst="rect">
            <a:avLst/>
          </a:prstGeom>
          <a:solidFill>
            <a:srgbClr val="B45309"/>
          </a:solidFill>
          <a:ln w="12700" cap="flat" cmpd="sng">
            <a:solidFill>
              <a:srgbClr val="B4530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23" name="Google Shape;823;p17"/>
          <p:cNvSpPr/>
          <p:nvPr/>
        </p:nvSpPr>
        <p:spPr>
          <a:xfrm>
            <a:off x="4242816" y="4949952"/>
            <a:ext cx="146304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UART STATUS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17"/>
          <p:cNvSpPr/>
          <p:nvPr/>
        </p:nvSpPr>
        <p:spPr>
          <a:xfrm>
            <a:off x="5754624" y="4949952"/>
            <a:ext cx="1560576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00"/>
            </a:pPr>
            <a:r>
              <a:rPr lang="en-US" sz="1067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0x1000_0008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17"/>
          <p:cNvSpPr/>
          <p:nvPr/>
        </p:nvSpPr>
        <p:spPr>
          <a:xfrm>
            <a:off x="7339584" y="4949952"/>
            <a:ext cx="36576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4748B"/>
              </a:buClr>
              <a:buSzPts val="750"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17"/>
          <p:cNvSpPr/>
          <p:nvPr/>
        </p:nvSpPr>
        <p:spPr>
          <a:xfrm>
            <a:off x="8168640" y="1280160"/>
            <a:ext cx="3657600" cy="42672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 dirty="0"/>
          </a:p>
        </p:txBody>
      </p:sp>
      <p:sp>
        <p:nvSpPr>
          <p:cNvPr id="827" name="Google Shape;827;p17"/>
          <p:cNvSpPr/>
          <p:nvPr/>
        </p:nvSpPr>
        <p:spPr>
          <a:xfrm>
            <a:off x="8314944" y="1341120"/>
            <a:ext cx="336499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B7280"/>
              </a:buClr>
              <a:buSzPts val="800"/>
            </a:pPr>
            <a:r>
              <a:rPr lang="en-US" sz="1067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// fw/main.c  (key macros)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17"/>
          <p:cNvSpPr/>
          <p:nvPr/>
        </p:nvSpPr>
        <p:spPr>
          <a:xfrm>
            <a:off x="8314944" y="1755648"/>
            <a:ext cx="3364992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93C5FD"/>
              </a:buClr>
              <a:buSzPts val="800"/>
            </a:pPr>
            <a:r>
              <a:rPr lang="en-US" sz="1067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#define UART_TX \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17"/>
          <p:cNvSpPr/>
          <p:nvPr/>
        </p:nvSpPr>
        <p:spPr>
          <a:xfrm>
            <a:off x="8314944" y="2084832"/>
            <a:ext cx="3364992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93C5FD"/>
              </a:buClr>
              <a:buSzPts val="800"/>
            </a:pPr>
            <a:r>
              <a:rPr lang="en-US" sz="1067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(*((volatile uint32_t*)\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17"/>
          <p:cNvSpPr/>
          <p:nvPr/>
        </p:nvSpPr>
        <p:spPr>
          <a:xfrm>
            <a:off x="8314944" y="2414016"/>
            <a:ext cx="3364992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FCD34D"/>
              </a:buClr>
              <a:buSzPts val="800"/>
            </a:pPr>
            <a:r>
              <a:rPr lang="en-US" sz="1067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    0x10000000))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17"/>
          <p:cNvSpPr/>
          <p:nvPr/>
        </p:nvSpPr>
        <p:spPr>
          <a:xfrm>
            <a:off x="8314944" y="2743200"/>
            <a:ext cx="3364992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chemeClr val="dk1"/>
              </a:buClr>
              <a:buSzPts val="800"/>
            </a:pP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17"/>
          <p:cNvSpPr/>
          <p:nvPr/>
        </p:nvSpPr>
        <p:spPr>
          <a:xfrm>
            <a:off x="8314944" y="3072384"/>
            <a:ext cx="3364992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E2E8F0"/>
              </a:buClr>
              <a:buSzPts val="800"/>
            </a:pPr>
            <a:r>
              <a:rPr lang="en-US" sz="1067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void uart_putc(char c) {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17"/>
          <p:cNvSpPr/>
          <p:nvPr/>
        </p:nvSpPr>
        <p:spPr>
          <a:xfrm>
            <a:off x="8314944" y="3401568"/>
            <a:ext cx="3364992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86EFAC"/>
              </a:buClr>
              <a:buSzPts val="800"/>
            </a:pPr>
            <a:r>
              <a:rPr lang="en-US" sz="1067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  UART_TX = c;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7"/>
          <p:cNvSpPr/>
          <p:nvPr/>
        </p:nvSpPr>
        <p:spPr>
          <a:xfrm>
            <a:off x="8314944" y="3730752"/>
            <a:ext cx="3364992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E2E8F0"/>
              </a:buClr>
              <a:buSzPts val="800"/>
            </a:pPr>
            <a:r>
              <a:rPr lang="en-US" sz="1067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17"/>
          <p:cNvSpPr/>
          <p:nvPr/>
        </p:nvSpPr>
        <p:spPr>
          <a:xfrm>
            <a:off x="8314944" y="4059936"/>
            <a:ext cx="3364992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chemeClr val="dk1"/>
              </a:buClr>
              <a:buSzPts val="800"/>
            </a:pP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17"/>
          <p:cNvSpPr/>
          <p:nvPr/>
        </p:nvSpPr>
        <p:spPr>
          <a:xfrm>
            <a:off x="8314944" y="4389120"/>
            <a:ext cx="3364992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E2E8F0"/>
              </a:buClr>
              <a:buSzPts val="800"/>
            </a:pPr>
            <a:r>
              <a:rPr lang="en-US" sz="1067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void main() {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17"/>
          <p:cNvSpPr/>
          <p:nvPr/>
        </p:nvSpPr>
        <p:spPr>
          <a:xfrm>
            <a:off x="8314944" y="4718304"/>
            <a:ext cx="3364992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E2E8F0"/>
              </a:buClr>
              <a:buSzPts val="800"/>
            </a:pPr>
            <a:r>
              <a:rPr lang="en-US" sz="1067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uart_puts(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17"/>
          <p:cNvSpPr/>
          <p:nvPr/>
        </p:nvSpPr>
        <p:spPr>
          <a:xfrm>
            <a:off x="8314944" y="5047488"/>
            <a:ext cx="3364992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86EFAC"/>
              </a:buClr>
              <a:buSzPts val="800"/>
            </a:pPr>
            <a:r>
              <a:rPr lang="en-US" sz="1067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   "Hello Deepak\n");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17"/>
          <p:cNvSpPr/>
          <p:nvPr/>
        </p:nvSpPr>
        <p:spPr>
          <a:xfrm>
            <a:off x="8314944" y="5376672"/>
            <a:ext cx="3364992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E2E8F0"/>
              </a:buClr>
              <a:buSzPts val="800"/>
            </a:pPr>
            <a:r>
              <a:rPr lang="en-US" sz="1067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echo_loop();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17"/>
          <p:cNvSpPr/>
          <p:nvPr/>
        </p:nvSpPr>
        <p:spPr>
          <a:xfrm>
            <a:off x="8314944" y="5705856"/>
            <a:ext cx="3364992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E2E8F0"/>
              </a:buClr>
              <a:buSzPts val="800"/>
            </a:pPr>
            <a:r>
              <a:rPr lang="en-US" sz="1067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7"/>
          <p:cNvSpPr/>
          <p:nvPr/>
        </p:nvSpPr>
        <p:spPr>
          <a:xfrm>
            <a:off x="365760" y="5754624"/>
            <a:ext cx="11460480" cy="731520"/>
          </a:xfrm>
          <a:prstGeom prst="rect">
            <a:avLst/>
          </a:prstGeom>
          <a:solidFill>
            <a:srgbClr val="E0E7FF"/>
          </a:solidFill>
          <a:ln w="12700" cap="flat" cmpd="sng">
            <a:solidFill>
              <a:srgbClr val="A5B4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42" name="Google Shape;842;p17"/>
          <p:cNvSpPr/>
          <p:nvPr/>
        </p:nvSpPr>
        <p:spPr>
          <a:xfrm>
            <a:off x="548640" y="5754624"/>
            <a:ext cx="110947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4338CA"/>
              </a:buClr>
              <a:buSzPts val="1000"/>
            </a:pPr>
            <a:r>
              <a:rPr lang="en-US" sz="1333">
                <a:solidFill>
                  <a:srgbClr val="4338CA"/>
                </a:solidFill>
                <a:latin typeface="Calibri"/>
                <a:ea typeface="Calibri"/>
                <a:cs typeface="Calibri"/>
                <a:sym typeface="Calibri"/>
              </a:rPr>
              <a:t>Build flow: gcc → firmware.elf → objcopy → firmware.bin → bin2hex → rom.hex  |  make fw runs all steps automatically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8"/>
          <p:cNvSpPr/>
          <p:nvPr/>
        </p:nvSpPr>
        <p:spPr>
          <a:xfrm>
            <a:off x="414537" y="467933"/>
            <a:ext cx="11338400" cy="8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FFFFF"/>
              </a:buClr>
              <a:buSzPts val="2000"/>
            </a:pPr>
            <a:r>
              <a:rPr lang="en-US" sz="2667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Simulation — Verilator Flow</a:t>
            </a:r>
            <a:endParaRPr sz="26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18"/>
          <p:cNvSpPr/>
          <p:nvPr/>
        </p:nvSpPr>
        <p:spPr>
          <a:xfrm>
            <a:off x="365760" y="1280160"/>
            <a:ext cx="2133600" cy="1950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50" name="Google Shape;850;p18"/>
          <p:cNvSpPr/>
          <p:nvPr/>
        </p:nvSpPr>
        <p:spPr>
          <a:xfrm>
            <a:off x="365760" y="1280160"/>
            <a:ext cx="2133600" cy="512064"/>
          </a:xfrm>
          <a:prstGeom prst="rect">
            <a:avLst/>
          </a:prstGeom>
          <a:solidFill>
            <a:srgbClr val="15803D"/>
          </a:solidFill>
          <a:ln w="12700" cap="flat" cmpd="sng">
            <a:solidFill>
              <a:srgbClr val="1580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51" name="Google Shape;851;p18"/>
          <p:cNvSpPr/>
          <p:nvPr/>
        </p:nvSpPr>
        <p:spPr>
          <a:xfrm>
            <a:off x="365760" y="1280160"/>
            <a:ext cx="21336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000"/>
            </a:pPr>
            <a:r>
              <a:rPr lang="en-US" sz="1333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make fw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18"/>
          <p:cNvSpPr/>
          <p:nvPr/>
        </p:nvSpPr>
        <p:spPr>
          <a:xfrm>
            <a:off x="365760" y="1853184"/>
            <a:ext cx="2133600" cy="134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1E293B"/>
              </a:buClr>
              <a:buSzPts val="900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gcc → firmware.elf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1E293B"/>
              </a:buClr>
              <a:buSzPts val="900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rom.hex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3" name="Google Shape;853;p18"/>
          <p:cNvCxnSpPr/>
          <p:nvPr/>
        </p:nvCxnSpPr>
        <p:spPr>
          <a:xfrm>
            <a:off x="2499360" y="2255520"/>
            <a:ext cx="207264" cy="0"/>
          </a:xfrm>
          <a:prstGeom prst="straightConnector1">
            <a:avLst/>
          </a:prstGeom>
          <a:noFill/>
          <a:ln w="254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54" name="Google Shape;854;p18"/>
          <p:cNvSpPr/>
          <p:nvPr/>
        </p:nvSpPr>
        <p:spPr>
          <a:xfrm>
            <a:off x="2706624" y="1280160"/>
            <a:ext cx="2133600" cy="1950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55" name="Google Shape;855;p18"/>
          <p:cNvSpPr/>
          <p:nvPr/>
        </p:nvSpPr>
        <p:spPr>
          <a:xfrm>
            <a:off x="2706624" y="1280160"/>
            <a:ext cx="2133600" cy="512064"/>
          </a:xfrm>
          <a:prstGeom prst="rect">
            <a:avLst/>
          </a:prstGeom>
          <a:solidFill>
            <a:srgbClr val="1E40AF"/>
          </a:solidFill>
          <a:ln w="12700" cap="flat" cmpd="sng">
            <a:solidFill>
              <a:srgbClr val="1E40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56" name="Google Shape;856;p18"/>
          <p:cNvSpPr/>
          <p:nvPr/>
        </p:nvSpPr>
        <p:spPr>
          <a:xfrm>
            <a:off x="2706624" y="1280160"/>
            <a:ext cx="21336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000"/>
            </a:pPr>
            <a:r>
              <a:rPr lang="en-US" sz="1333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make soc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18"/>
          <p:cNvSpPr/>
          <p:nvPr/>
        </p:nvSpPr>
        <p:spPr>
          <a:xfrm>
            <a:off x="2706624" y="1853184"/>
            <a:ext cx="2133600" cy="134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1E293B"/>
              </a:buClr>
              <a:buSzPts val="900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Verilator compiles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1E293B"/>
              </a:buClr>
              <a:buSzPts val="900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9 RTL + tb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8" name="Google Shape;858;p18"/>
          <p:cNvCxnSpPr/>
          <p:nvPr/>
        </p:nvCxnSpPr>
        <p:spPr>
          <a:xfrm>
            <a:off x="4840224" y="2255520"/>
            <a:ext cx="207264" cy="0"/>
          </a:xfrm>
          <a:prstGeom prst="straightConnector1">
            <a:avLst/>
          </a:prstGeom>
          <a:noFill/>
          <a:ln w="254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59" name="Google Shape;859;p18"/>
          <p:cNvSpPr/>
          <p:nvPr/>
        </p:nvSpPr>
        <p:spPr>
          <a:xfrm>
            <a:off x="5047488" y="1280160"/>
            <a:ext cx="2133600" cy="1950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60" name="Google Shape;860;p18"/>
          <p:cNvSpPr/>
          <p:nvPr/>
        </p:nvSpPr>
        <p:spPr>
          <a:xfrm>
            <a:off x="5047488" y="1280160"/>
            <a:ext cx="2133600" cy="512064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61" name="Google Shape;861;p18"/>
          <p:cNvSpPr/>
          <p:nvPr/>
        </p:nvSpPr>
        <p:spPr>
          <a:xfrm>
            <a:off x="5047488" y="1280160"/>
            <a:ext cx="21336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000"/>
            </a:pPr>
            <a:r>
              <a:rPr lang="en-US" sz="1333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./sim_soc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18"/>
          <p:cNvSpPr/>
          <p:nvPr/>
        </p:nvSpPr>
        <p:spPr>
          <a:xfrm>
            <a:off x="5047488" y="1853184"/>
            <a:ext cx="2133600" cy="134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1E293B"/>
              </a:buClr>
              <a:buSzPts val="900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Runs simulation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1E293B"/>
              </a:buClr>
              <a:buSzPts val="900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~23ms sim time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3" name="Google Shape;863;p18"/>
          <p:cNvCxnSpPr/>
          <p:nvPr/>
        </p:nvCxnSpPr>
        <p:spPr>
          <a:xfrm>
            <a:off x="7181088" y="2255520"/>
            <a:ext cx="207264" cy="0"/>
          </a:xfrm>
          <a:prstGeom prst="straightConnector1">
            <a:avLst/>
          </a:prstGeom>
          <a:noFill/>
          <a:ln w="254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4" name="Google Shape;864;p18"/>
          <p:cNvSpPr/>
          <p:nvPr/>
        </p:nvSpPr>
        <p:spPr>
          <a:xfrm>
            <a:off x="7388352" y="1280160"/>
            <a:ext cx="2133600" cy="1950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65" name="Google Shape;865;p18"/>
          <p:cNvSpPr/>
          <p:nvPr/>
        </p:nvSpPr>
        <p:spPr>
          <a:xfrm>
            <a:off x="7388352" y="1280160"/>
            <a:ext cx="2133600" cy="512064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66" name="Google Shape;866;p18"/>
          <p:cNvSpPr/>
          <p:nvPr/>
        </p:nvSpPr>
        <p:spPr>
          <a:xfrm>
            <a:off x="7388352" y="1280160"/>
            <a:ext cx="21336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000"/>
            </a:pPr>
            <a:r>
              <a:rPr lang="en-US" sz="1333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PASSED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18"/>
          <p:cNvSpPr/>
          <p:nvPr/>
        </p:nvSpPr>
        <p:spPr>
          <a:xfrm>
            <a:off x="7388352" y="1853184"/>
            <a:ext cx="2133600" cy="134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1E293B"/>
              </a:buClr>
              <a:buSzPts val="900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PING echo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1E293B"/>
              </a:buClr>
              <a:buSzPts val="900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verified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8" name="Google Shape;868;p18"/>
          <p:cNvCxnSpPr/>
          <p:nvPr/>
        </p:nvCxnSpPr>
        <p:spPr>
          <a:xfrm>
            <a:off x="9521952" y="2255520"/>
            <a:ext cx="207264" cy="0"/>
          </a:xfrm>
          <a:prstGeom prst="straightConnector1">
            <a:avLst/>
          </a:prstGeom>
          <a:noFill/>
          <a:ln w="254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9" name="Google Shape;869;p18"/>
          <p:cNvSpPr/>
          <p:nvPr/>
        </p:nvSpPr>
        <p:spPr>
          <a:xfrm>
            <a:off x="9729216" y="1280160"/>
            <a:ext cx="2133600" cy="1950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70" name="Google Shape;870;p18"/>
          <p:cNvSpPr/>
          <p:nvPr/>
        </p:nvSpPr>
        <p:spPr>
          <a:xfrm>
            <a:off x="9729216" y="1280160"/>
            <a:ext cx="2133600" cy="512064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71" name="Google Shape;871;p18"/>
          <p:cNvSpPr/>
          <p:nvPr/>
        </p:nvSpPr>
        <p:spPr>
          <a:xfrm>
            <a:off x="9729216" y="1280160"/>
            <a:ext cx="21336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000"/>
            </a:pPr>
            <a:r>
              <a:rPr lang="en-US" sz="1333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make wave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18"/>
          <p:cNvSpPr/>
          <p:nvPr/>
        </p:nvSpPr>
        <p:spPr>
          <a:xfrm>
            <a:off x="9729216" y="1853184"/>
            <a:ext cx="2133600" cy="134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1E293B"/>
              </a:buClr>
              <a:buSzPts val="900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vcd2fst → .fst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1E293B"/>
              </a:buClr>
              <a:buSzPts val="900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GTKWave opens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18"/>
          <p:cNvSpPr/>
          <p:nvPr/>
        </p:nvSpPr>
        <p:spPr>
          <a:xfrm>
            <a:off x="365760" y="3438144"/>
            <a:ext cx="11460480" cy="29870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74" name="Google Shape;874;p18"/>
          <p:cNvSpPr/>
          <p:nvPr/>
        </p:nvSpPr>
        <p:spPr>
          <a:xfrm>
            <a:off x="365760" y="3438144"/>
            <a:ext cx="11460480" cy="487680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75" name="Google Shape;875;p18"/>
          <p:cNvSpPr/>
          <p:nvPr/>
        </p:nvSpPr>
        <p:spPr>
          <a:xfrm>
            <a:off x="365760" y="3438144"/>
            <a:ext cx="1146048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100"/>
            </a:pPr>
            <a:r>
              <a:rPr lang="en-US" sz="1467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GTKWave Signal Layers — Hierarchical Inspection</a:t>
            </a:r>
            <a:endParaRPr sz="14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18"/>
          <p:cNvSpPr/>
          <p:nvPr/>
        </p:nvSpPr>
        <p:spPr>
          <a:xfrm>
            <a:off x="463296" y="3998976"/>
            <a:ext cx="11241024" cy="42672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77" name="Google Shape;877;p18"/>
          <p:cNvSpPr/>
          <p:nvPr/>
        </p:nvSpPr>
        <p:spPr>
          <a:xfrm>
            <a:off x="463296" y="3998976"/>
            <a:ext cx="73152" cy="426720"/>
          </a:xfrm>
          <a:prstGeom prst="rect">
            <a:avLst/>
          </a:prstGeom>
          <a:solidFill>
            <a:srgbClr val="1E3A6E"/>
          </a:solidFill>
          <a:ln w="12700" cap="flat" cmpd="sng">
            <a:solidFill>
              <a:srgbClr val="1E3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78" name="Google Shape;878;p18"/>
          <p:cNvSpPr/>
          <p:nvPr/>
        </p:nvSpPr>
        <p:spPr>
          <a:xfrm>
            <a:off x="609600" y="4023360"/>
            <a:ext cx="103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3A6E"/>
              </a:buClr>
              <a:buSzPts val="850"/>
            </a:pPr>
            <a:r>
              <a:rPr lang="en-US" sz="1133" b="1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Layer 1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18"/>
          <p:cNvSpPr/>
          <p:nvPr/>
        </p:nvSpPr>
        <p:spPr>
          <a:xfrm>
            <a:off x="1706880" y="4023360"/>
            <a:ext cx="4511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50"/>
            </a:pPr>
            <a:r>
              <a:rPr lang="en-US" sz="1133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clk, reset, uart_tx_pin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18"/>
          <p:cNvSpPr/>
          <p:nvPr/>
        </p:nvSpPr>
        <p:spPr>
          <a:xfrm>
            <a:off x="6278880" y="4023360"/>
            <a:ext cx="534009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 i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System alive? Clock toggling? Reset released?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18"/>
          <p:cNvSpPr/>
          <p:nvPr/>
        </p:nvSpPr>
        <p:spPr>
          <a:xfrm>
            <a:off x="463296" y="4462272"/>
            <a:ext cx="11241024" cy="426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82" name="Google Shape;882;p18"/>
          <p:cNvSpPr/>
          <p:nvPr/>
        </p:nvSpPr>
        <p:spPr>
          <a:xfrm>
            <a:off x="463296" y="4462272"/>
            <a:ext cx="73152" cy="426720"/>
          </a:xfrm>
          <a:prstGeom prst="rect">
            <a:avLst/>
          </a:prstGeom>
          <a:solidFill>
            <a:srgbClr val="1E40AF"/>
          </a:solidFill>
          <a:ln w="12700" cap="flat" cmpd="sng">
            <a:solidFill>
              <a:srgbClr val="1E40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83" name="Google Shape;883;p18"/>
          <p:cNvSpPr/>
          <p:nvPr/>
        </p:nvSpPr>
        <p:spPr>
          <a:xfrm>
            <a:off x="609600" y="4486656"/>
            <a:ext cx="103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40AF"/>
              </a:buClr>
              <a:buSzPts val="850"/>
            </a:pPr>
            <a:r>
              <a:rPr lang="en-US" sz="1133" b="1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Layer 2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18"/>
          <p:cNvSpPr/>
          <p:nvPr/>
        </p:nvSpPr>
        <p:spPr>
          <a:xfrm>
            <a:off x="1706880" y="4486656"/>
            <a:ext cx="4511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50"/>
            </a:pPr>
            <a:r>
              <a:rPr lang="en-US" sz="1133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cpu_mem_valid, mem_addr, mem_instr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18"/>
          <p:cNvSpPr/>
          <p:nvPr/>
        </p:nvSpPr>
        <p:spPr>
          <a:xfrm>
            <a:off x="6278880" y="4486656"/>
            <a:ext cx="534009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 i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CPU activity? Fetching from ROM?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18"/>
          <p:cNvSpPr/>
          <p:nvPr/>
        </p:nvSpPr>
        <p:spPr>
          <a:xfrm>
            <a:off x="463296" y="4925568"/>
            <a:ext cx="11241024" cy="42672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87" name="Google Shape;887;p18"/>
          <p:cNvSpPr/>
          <p:nvPr/>
        </p:nvSpPr>
        <p:spPr>
          <a:xfrm>
            <a:off x="463296" y="4925568"/>
            <a:ext cx="73152" cy="426720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88" name="Google Shape;888;p18"/>
          <p:cNvSpPr/>
          <p:nvPr/>
        </p:nvSpPr>
        <p:spPr>
          <a:xfrm>
            <a:off x="609600" y="4949952"/>
            <a:ext cx="103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2563EB"/>
              </a:buClr>
              <a:buSzPts val="850"/>
            </a:pPr>
            <a:r>
              <a:rPr lang="en-US" sz="1133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Layer 3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18"/>
          <p:cNvSpPr/>
          <p:nvPr/>
        </p:nvSpPr>
        <p:spPr>
          <a:xfrm>
            <a:off x="1706880" y="4949952"/>
            <a:ext cx="4511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50"/>
            </a:pPr>
            <a:r>
              <a:rPr lang="en-US" sz="1133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b_state[2:0]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18"/>
          <p:cNvSpPr/>
          <p:nvPr/>
        </p:nvSpPr>
        <p:spPr>
          <a:xfrm>
            <a:off x="6278880" y="4949952"/>
            <a:ext cx="534009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 i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Bridge FSM cycling? IDLE→RD_AR→RD_R?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18"/>
          <p:cNvSpPr/>
          <p:nvPr/>
        </p:nvSpPr>
        <p:spPr>
          <a:xfrm>
            <a:off x="463296" y="5388864"/>
            <a:ext cx="11241024" cy="426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92" name="Google Shape;892;p18"/>
          <p:cNvSpPr/>
          <p:nvPr/>
        </p:nvSpPr>
        <p:spPr>
          <a:xfrm>
            <a:off x="463296" y="5388864"/>
            <a:ext cx="73152" cy="42672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93" name="Google Shape;893;p18"/>
          <p:cNvSpPr/>
          <p:nvPr/>
        </p:nvSpPr>
        <p:spPr>
          <a:xfrm>
            <a:off x="609600" y="5413248"/>
            <a:ext cx="103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0891B2"/>
              </a:buClr>
              <a:buSzPts val="850"/>
            </a:pPr>
            <a:r>
              <a:rPr lang="en-US" sz="1133" b="1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Layer 4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18"/>
          <p:cNvSpPr/>
          <p:nvPr/>
        </p:nvSpPr>
        <p:spPr>
          <a:xfrm>
            <a:off x="1706880" y="5413248"/>
            <a:ext cx="4511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50"/>
            </a:pPr>
            <a:r>
              <a:rPr lang="en-US" sz="1133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wr_sel[2:0], rd_sel[2:0]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18"/>
          <p:cNvSpPr/>
          <p:nvPr/>
        </p:nvSpPr>
        <p:spPr>
          <a:xfrm>
            <a:off x="6278880" y="5413248"/>
            <a:ext cx="534009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 i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Interconnect routing correct? ROM=001?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18"/>
          <p:cNvSpPr/>
          <p:nvPr/>
        </p:nvSpPr>
        <p:spPr>
          <a:xfrm>
            <a:off x="463296" y="5852160"/>
            <a:ext cx="11241024" cy="42672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97" name="Google Shape;897;p18"/>
          <p:cNvSpPr/>
          <p:nvPr/>
        </p:nvSpPr>
        <p:spPr>
          <a:xfrm>
            <a:off x="463296" y="5852160"/>
            <a:ext cx="73152" cy="426720"/>
          </a:xfrm>
          <a:prstGeom prst="rect">
            <a:avLst/>
          </a:prstGeom>
          <a:solidFill>
            <a:srgbClr val="B45309"/>
          </a:solidFill>
          <a:ln w="12700" cap="flat" cmpd="sng">
            <a:solidFill>
              <a:srgbClr val="B4530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98" name="Google Shape;898;p18"/>
          <p:cNvSpPr/>
          <p:nvPr/>
        </p:nvSpPr>
        <p:spPr>
          <a:xfrm>
            <a:off x="609600" y="5876544"/>
            <a:ext cx="103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B45309"/>
              </a:buClr>
              <a:buSzPts val="850"/>
            </a:pPr>
            <a:r>
              <a:rPr lang="en-US" sz="1133" b="1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Layer 5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18"/>
          <p:cNvSpPr/>
          <p:nvPr/>
        </p:nvSpPr>
        <p:spPr>
          <a:xfrm>
            <a:off x="1706880" y="5876544"/>
            <a:ext cx="4511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F46E5"/>
              </a:buClr>
              <a:buSzPts val="850"/>
            </a:pPr>
            <a:r>
              <a:rPr lang="en-US" sz="1133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uart_axi.buf_valid, u_tx.state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18"/>
          <p:cNvSpPr/>
          <p:nvPr/>
        </p:nvSpPr>
        <p:spPr>
          <a:xfrm>
            <a:off x="6278880" y="5876544"/>
            <a:ext cx="534009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 i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UART serializing? Bytes transmitted?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18"/>
          <p:cNvSpPr/>
          <p:nvPr/>
        </p:nvSpPr>
        <p:spPr>
          <a:xfrm>
            <a:off x="365760" y="6522720"/>
            <a:ext cx="11460480" cy="463296"/>
          </a:xfrm>
          <a:prstGeom prst="rect">
            <a:avLst/>
          </a:prstGeom>
          <a:solidFill>
            <a:srgbClr val="E0E7FF"/>
          </a:solidFill>
          <a:ln w="12700" cap="flat" cmpd="sng">
            <a:solidFill>
              <a:srgbClr val="A5B4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902" name="Google Shape;902;p18"/>
          <p:cNvSpPr/>
          <p:nvPr/>
        </p:nvSpPr>
        <p:spPr>
          <a:xfrm>
            <a:off x="548640" y="6522720"/>
            <a:ext cx="1109472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4338CA"/>
              </a:buClr>
              <a:buSzPts val="950"/>
            </a:pPr>
            <a:r>
              <a:rPr lang="en-US" sz="1267">
                <a:solidFill>
                  <a:srgbClr val="4338CA"/>
                </a:solidFill>
                <a:latin typeface="Calibri"/>
                <a:ea typeface="Calibri"/>
                <a:cs typeface="Calibri"/>
                <a:sym typeface="Calibri"/>
              </a:rPr>
              <a:t>VCD file: tb_top.vcd ~147 MB  →  vcd2fst compression  →  tb_top.fst ~5 MB (32× smaller, faster GTKWave load)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769" y="1810494"/>
            <a:ext cx="10521696" cy="4511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6769" y="1810494"/>
            <a:ext cx="3261613" cy="216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78381" y="1810494"/>
            <a:ext cx="3472058" cy="216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50440" y="1810494"/>
            <a:ext cx="3788025" cy="216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6769" y="2027031"/>
            <a:ext cx="10521696" cy="750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6769" y="2027031"/>
            <a:ext cx="3261613" cy="750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3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78381" y="2027031"/>
            <a:ext cx="3472058" cy="750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3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550440" y="2027031"/>
            <a:ext cx="3788025" cy="750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3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16769" y="2777101"/>
            <a:ext cx="10521696" cy="750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3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16769" y="2777101"/>
            <a:ext cx="3261613" cy="750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3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078381" y="2777101"/>
            <a:ext cx="3472058" cy="750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3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550440" y="2777101"/>
            <a:ext cx="3788025" cy="750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3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16769" y="3527171"/>
            <a:ext cx="10521696" cy="750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3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16769" y="3527171"/>
            <a:ext cx="3261613" cy="750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3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078381" y="3527171"/>
            <a:ext cx="3472058" cy="750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3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550440" y="3527171"/>
            <a:ext cx="3788025" cy="750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3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16769" y="4277241"/>
            <a:ext cx="10521696" cy="750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3" descr="preencoded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16769" y="4277241"/>
            <a:ext cx="3261613" cy="750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3" descr="preencoded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4078381" y="4277241"/>
            <a:ext cx="3472058" cy="750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3" descr="preencoded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7550440" y="4277241"/>
            <a:ext cx="3788025" cy="750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3" descr="preencoded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816769" y="5027311"/>
            <a:ext cx="10521696" cy="750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3" descr="preencoded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816769" y="5027311"/>
            <a:ext cx="3261613" cy="750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3" descr="preencoded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4078381" y="5027311"/>
            <a:ext cx="3472058" cy="750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3" descr="preencoded.png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7550440" y="5027311"/>
            <a:ext cx="3788025" cy="750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3" descr="preencoded.png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816769" y="5777381"/>
            <a:ext cx="10521696" cy="544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3" descr="preencoded.png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16769" y="5777381"/>
            <a:ext cx="3261613" cy="544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3" descr="preencoded.png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4078381" y="5777381"/>
            <a:ext cx="3472058" cy="544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3" descr="preencoded.png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7550440" y="5777381"/>
            <a:ext cx="3788025" cy="54446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3"/>
          <p:cNvSpPr/>
          <p:nvPr/>
        </p:nvSpPr>
        <p:spPr>
          <a:xfrm>
            <a:off x="959646" y="1810494"/>
            <a:ext cx="4129732" cy="216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libri"/>
              <a:buNone/>
            </a:pPr>
            <a:r>
              <a:rPr lang="en-US" sz="16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Region / Component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4221258" y="1810494"/>
            <a:ext cx="4846062" cy="216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libri"/>
              <a:buNone/>
            </a:pPr>
            <a:r>
              <a:rPr lang="en-US" sz="16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Address Range Details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7693317" y="1810494"/>
            <a:ext cx="3952349" cy="216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libri"/>
              <a:buNone/>
            </a:pPr>
            <a:r>
              <a:rPr lang="en-US" sz="16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Functionality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959646" y="2027031"/>
            <a:ext cx="3566587" cy="75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Calibri"/>
              <a:buNone/>
            </a:pPr>
            <a:r>
              <a:rPr lang="en-US" sz="14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ROM Address Region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4221258" y="2027031"/>
            <a:ext cx="7772580" cy="75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Calibri"/>
              <a:buNone/>
            </a:pPr>
            <a:r>
              <a:rPr lang="en-US" sz="14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0x00000000 - 0x00003FFF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7693317" y="2027031"/>
            <a:ext cx="3502275" cy="75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Calibri"/>
              <a:buNone/>
            </a:pPr>
            <a:r>
              <a:rPr lang="en-US" sz="14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Fixed base address; stores boot code and firmware. Accessible via standard load instructions.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959646" y="2777101"/>
            <a:ext cx="3764731" cy="75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Calibri"/>
              <a:buNone/>
            </a:pPr>
            <a:r>
              <a:rPr lang="en-US" sz="14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SRAM Address Region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4221258" y="2777101"/>
            <a:ext cx="7970742" cy="75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Calibri"/>
              <a:buNone/>
            </a:pPr>
            <a:r>
              <a:rPr lang="en-US" sz="14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0x10000000 - 0x100007FF (2KB)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7693317" y="2777101"/>
            <a:ext cx="3502275" cy="75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Calibri"/>
              <a:buNone/>
            </a:pPr>
            <a:r>
              <a:rPr lang="en-US" sz="14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Dedicated R/W range for data and runtime instructions. Supported via standard load/store.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959646" y="3527171"/>
            <a:ext cx="4161018" cy="75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Calibri"/>
              <a:buNone/>
            </a:pPr>
            <a:r>
              <a:rPr lang="en-US" sz="14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UART Register Mapping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4221258" y="3527171"/>
            <a:ext cx="7970742" cy="75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Calibri"/>
              <a:buNone/>
            </a:pPr>
            <a:r>
              <a:rPr lang="en-US" sz="14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0x40001000 - 0x4000100F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7693317" y="3527171"/>
            <a:ext cx="3502275" cy="75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Calibri"/>
              <a:buNone/>
            </a:pPr>
            <a:r>
              <a:rPr lang="en-US" sz="14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Memory-mapped for TX, RX, Status. CPU performs serial I/O via store/load operations.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959646" y="4277241"/>
            <a:ext cx="4359162" cy="75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Calibri"/>
              <a:buNone/>
            </a:pPr>
            <a:r>
              <a:rPr lang="en-US" sz="14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Address Decoding Logic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4221258" y="4277241"/>
            <a:ext cx="7174690" cy="75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Calibri"/>
              <a:buNone/>
            </a:pPr>
            <a:r>
              <a:rPr lang="en-US" sz="14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Upper address bits used for decoding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7693317" y="4277241"/>
            <a:ext cx="3502275" cy="75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Calibri"/>
              <a:buNone/>
            </a:pPr>
            <a:r>
              <a:rPr lang="en-US" sz="14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AXI interconnect decodes address bits to route transactions to correct peripheral/memory slave.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959646" y="5027311"/>
            <a:ext cx="4161018" cy="75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Calibri"/>
              <a:buNone/>
            </a:pPr>
            <a:r>
              <a:rPr lang="en-US" sz="14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CPU Interaction Model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4221258" y="5027311"/>
            <a:ext cx="3186308" cy="75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Calibri"/>
              <a:buNone/>
            </a:pPr>
            <a:r>
              <a:rPr lang="en-US" sz="14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Uniform access across all mapped regions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7693317" y="5027311"/>
            <a:ext cx="3502275" cy="75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Calibri"/>
              <a:buNone/>
            </a:pPr>
            <a:r>
              <a:rPr lang="en-US" sz="14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PicoRV32 uses standard RV32I load/store instructions for all mapped regions, simplifying software development.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959646" y="5777381"/>
            <a:ext cx="4359162" cy="544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Calibri"/>
              <a:buNone/>
            </a:pPr>
            <a:r>
              <a:rPr lang="en-US" sz="14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Non-Overlapping Spaces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4221258" y="5777381"/>
            <a:ext cx="3186308" cy="544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Calibri"/>
              <a:buNone/>
            </a:pPr>
            <a:r>
              <a:rPr lang="en-US" sz="14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Unique, non-overlapping address ranges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7693317" y="5777381"/>
            <a:ext cx="3502275" cy="544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Calibri"/>
              <a:buNone/>
            </a:pPr>
            <a:r>
              <a:rPr lang="en-US" sz="14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Ensures correct data routing and prevents bus conflicts between different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895350" y="923925"/>
            <a:ext cx="11109960" cy="612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Poppins"/>
              <a:buNone/>
            </a:pPr>
            <a:r>
              <a:rPr lang="en-US" sz="405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SoC Memory Mapping</a:t>
            </a:r>
            <a:endParaRPr sz="4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							</a:t>
            </a:r>
            <a:br>
              <a:rPr lang="en-US"/>
            </a:br>
            <a:br>
              <a:rPr lang="en-US"/>
            </a:br>
            <a:r>
              <a:rPr lang="en-US"/>
              <a:t>					</a:t>
            </a:r>
            <a:endParaRPr/>
          </a:p>
        </p:txBody>
      </p:sp>
      <p:graphicFrame>
        <p:nvGraphicFramePr>
          <p:cNvPr id="344" name="Google Shape;344;p14"/>
          <p:cNvGraphicFramePr/>
          <p:nvPr/>
        </p:nvGraphicFramePr>
        <p:xfrm>
          <a:off x="838200" y="2241973"/>
          <a:ext cx="10515600" cy="1524050"/>
        </p:xfrm>
        <a:graphic>
          <a:graphicData uri="http://schemas.openxmlformats.org/drawingml/2006/table">
            <a:tbl>
              <a:tblPr firstRow="1" bandRow="1">
                <a:noFill/>
                <a:tableStyleId>{AB836444-E394-4ABB-8EDF-56764B5F1768}</a:tableStyleId>
              </a:tblPr>
              <a:tblGrid>
                <a:gridCol w="2157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Signal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Dir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Width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Description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clk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IN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1-bit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System clock — drives CPU, bridge, UART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reset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IN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1-bit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Active-high reset (CPU uses active-low internally)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uart_tx</a:t>
                      </a:r>
                      <a:endParaRPr sz="14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OUT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1-bit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Serial transmit output (connect to terminal)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uart_rx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IN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1-bit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Serial receive input (not used here)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45" name="Google Shape;345;p14"/>
          <p:cNvGraphicFramePr/>
          <p:nvPr/>
        </p:nvGraphicFramePr>
        <p:xfrm>
          <a:off x="838199" y="4317259"/>
          <a:ext cx="10515600" cy="2438480"/>
        </p:xfrm>
        <a:graphic>
          <a:graphicData uri="http://schemas.openxmlformats.org/drawingml/2006/table">
            <a:tbl>
              <a:tblPr firstRow="1" bandRow="1">
                <a:noFill/>
                <a:tableStyleId>{AB836444-E394-4ABB-8EDF-56764B5F1768}</a:tableStyleId>
              </a:tblPr>
              <a:tblGrid>
                <a:gridCol w="206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33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Signal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Dir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Width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Description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cpu_mem_valid</a:t>
                      </a:r>
                      <a:endParaRPr sz="14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OUT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1-bit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CPU says memory request is active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cpu_mem_instr</a:t>
                      </a:r>
                      <a:endParaRPr sz="14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OUT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1-bit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1 = instruction fetch, 0 = data access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cpu_mem_ready</a:t>
                      </a:r>
                      <a:endParaRPr sz="14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IN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1-bit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Bridge says request is complete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cpu_mem_addr</a:t>
                      </a:r>
                      <a:endParaRPr sz="14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OUT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32-bit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Address to access memory/peripheral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cpu_mem_wdata</a:t>
                      </a:r>
                      <a:endParaRPr sz="14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OUT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32-bit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Data to write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cpu_mem_wstrb</a:t>
                      </a:r>
                      <a:endParaRPr sz="14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OUT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4-bit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Byte enable (0 = read, non-zero = write)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cpu_mem_rdata</a:t>
                      </a:r>
                      <a:endParaRPr sz="14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IN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32-bit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Data received from memory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46" name="Google Shape;346;p14"/>
          <p:cNvSpPr txBox="1"/>
          <p:nvPr/>
        </p:nvSpPr>
        <p:spPr>
          <a:xfrm>
            <a:off x="838198" y="1844257"/>
            <a:ext cx="34594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Top Module</a:t>
            </a:r>
            <a:endParaRPr sz="180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 txBox="1"/>
          <p:nvPr/>
        </p:nvSpPr>
        <p:spPr>
          <a:xfrm>
            <a:off x="838198" y="3910769"/>
            <a:ext cx="43373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CPU Memory Bus (picorv32 ↔bridge)</a:t>
            </a:r>
            <a:endParaRPr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8" name="Google Shape;348;p14"/>
          <p:cNvGraphicFramePr/>
          <p:nvPr/>
        </p:nvGraphicFramePr>
        <p:xfrm>
          <a:off x="838200" y="1134303"/>
          <a:ext cx="9321800" cy="518170"/>
        </p:xfrm>
        <a:graphic>
          <a:graphicData uri="http://schemas.openxmlformats.org/drawingml/2006/table">
            <a:tbl>
              <a:tblPr firstRow="1" bandRow="1">
                <a:noFill/>
                <a:tableStyleId>{CA1471D7-64E4-42A9-A1CD-48542FBC2C40}</a:tableStyleId>
              </a:tblPr>
              <a:tblGrid>
                <a:gridCol w="932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dirty="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Signal Reference — Top Module &amp; CPU Ports</a:t>
                      </a:r>
                      <a:endParaRPr sz="2800" dirty="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en-US"/>
            </a:br>
            <a:r>
              <a:rPr lang="en-US"/>
              <a:t>					</a:t>
            </a:r>
            <a:endParaRPr/>
          </a:p>
        </p:txBody>
      </p:sp>
      <p:graphicFrame>
        <p:nvGraphicFramePr>
          <p:cNvPr id="354" name="Google Shape;354;p15"/>
          <p:cNvGraphicFramePr/>
          <p:nvPr/>
        </p:nvGraphicFramePr>
        <p:xfrm>
          <a:off x="838200" y="2520569"/>
          <a:ext cx="10515600" cy="3708500"/>
        </p:xfrm>
        <a:graphic>
          <a:graphicData uri="http://schemas.openxmlformats.org/drawingml/2006/table">
            <a:tbl>
              <a:tblPr firstRow="1" bandRow="1">
                <a:noFill/>
                <a:tableStyleId>{AB836444-E394-4ABB-8EDF-56764B5F1768}</a:tableStyleId>
              </a:tblPr>
              <a:tblGrid>
                <a:gridCol w="185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Signal Name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Direction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Width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Description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m_axi_awaddr</a:t>
                      </a:r>
                      <a:endParaRPr sz="18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OUT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32-bit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Write address channel: target address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m_axi_awvalid</a:t>
                      </a:r>
                      <a:endParaRPr sz="18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OUT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1-bit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Write address valid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m_axi_awready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IN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1-bit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Slave ready to accept write address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m_axi_wdata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OUT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32-bit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Write data channel: data to write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m_axi_wstrb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OUT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4-bit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Write byte strobe (which bytes are valid)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m_axi_bvalid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IN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1-bit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Write response valid (slave confirms write done)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m_axi_araddr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OUT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32-bit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Read address channel: address to read from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m_axi_rdata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IN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32-bit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Read data returned by the slave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m_axi_rvalid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IN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1-bit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Read data is valid and can be captured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55" name="Google Shape;355;p15"/>
          <p:cNvSpPr txBox="1"/>
          <p:nvPr/>
        </p:nvSpPr>
        <p:spPr>
          <a:xfrm>
            <a:off x="905256" y="1911096"/>
            <a:ext cx="7379208" cy="36933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637D9C"/>
                </a:solidFill>
                <a:latin typeface="Consolas"/>
                <a:ea typeface="Consolas"/>
                <a:cs typeface="Consolas"/>
                <a:sym typeface="Consolas"/>
              </a:rPr>
              <a:t>AXI-Lite Master Signals (bridge → decoder/peripherals)</a:t>
            </a:r>
            <a:endParaRPr sz="1800">
              <a:solidFill>
                <a:srgbClr val="637D9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6" name="Google Shape;356;p15"/>
          <p:cNvGraphicFramePr/>
          <p:nvPr/>
        </p:nvGraphicFramePr>
        <p:xfrm>
          <a:off x="838200" y="1213213"/>
          <a:ext cx="9321800" cy="518170"/>
        </p:xfrm>
        <a:graphic>
          <a:graphicData uri="http://schemas.openxmlformats.org/drawingml/2006/table">
            <a:tbl>
              <a:tblPr firstRow="1" bandRow="1">
                <a:noFill/>
                <a:tableStyleId>{CA1471D7-64E4-42A9-A1CD-48542FBC2C40}</a:tableStyleId>
              </a:tblPr>
              <a:tblGrid>
                <a:gridCol w="932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dirty="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Signal Reference — Top Module &amp; CPU Ports</a:t>
                      </a:r>
                      <a:endParaRPr sz="2800" dirty="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br>
              <a:rPr lang="en-US"/>
            </a:br>
            <a:br>
              <a:rPr lang="en-US"/>
            </a:br>
            <a:r>
              <a:rPr lang="en-US"/>
              <a:t>				</a:t>
            </a:r>
            <a:endParaRPr/>
          </a:p>
        </p:txBody>
      </p:sp>
      <p:sp>
        <p:nvSpPr>
          <p:cNvPr id="362" name="Google Shape;362;p16"/>
          <p:cNvSpPr/>
          <p:nvPr/>
        </p:nvSpPr>
        <p:spPr>
          <a:xfrm>
            <a:off x="1510284" y="2147316"/>
            <a:ext cx="4206240" cy="9144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127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6"/>
          <p:cNvSpPr/>
          <p:nvPr/>
        </p:nvSpPr>
        <p:spPr>
          <a:xfrm>
            <a:off x="1569657" y="2135124"/>
            <a:ext cx="457200" cy="914400"/>
          </a:xfrm>
          <a:prstGeom prst="rect">
            <a:avLst/>
          </a:prstGeom>
          <a:solidFill>
            <a:srgbClr val="8DA9DB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1662684" y="2261616"/>
            <a:ext cx="45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2040509" y="2163826"/>
            <a:ext cx="358394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Boot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6"/>
          <p:cNvSpPr/>
          <p:nvPr/>
        </p:nvSpPr>
        <p:spPr>
          <a:xfrm>
            <a:off x="2040509" y="2474976"/>
            <a:ext cx="35839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CPU starts at address 0x0000_0000 (PROGADDR_RESET). Issues mem_valid with mem_addr=0. Bridge translates to AXI AR channel.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1510284" y="3153156"/>
            <a:ext cx="4206240" cy="9144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127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1572705" y="3140964"/>
            <a:ext cx="457200" cy="914400"/>
          </a:xfrm>
          <a:prstGeom prst="rect">
            <a:avLst/>
          </a:prstGeom>
          <a:solidFill>
            <a:srgbClr val="8DA9DB"/>
          </a:solidFill>
          <a:ln w="127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1662684" y="3267456"/>
            <a:ext cx="45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6"/>
          <p:cNvSpPr/>
          <p:nvPr/>
        </p:nvSpPr>
        <p:spPr>
          <a:xfrm>
            <a:off x="2040509" y="3169666"/>
            <a:ext cx="358394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Fetch Instruction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2040509" y="3480816"/>
            <a:ext cx="35839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AXI decoder routes address to ROM. ROM returns 32-bit instruction. Bridge returns it to CPU as mem_rdata. CPU decodes it.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1510284" y="4158996"/>
            <a:ext cx="4206240" cy="9144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897B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127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1569657" y="4158996"/>
            <a:ext cx="457200" cy="914400"/>
          </a:xfrm>
          <a:prstGeom prst="rect">
            <a:avLst/>
          </a:prstGeom>
          <a:solidFill>
            <a:srgbClr val="8DA9DB"/>
          </a:solidFill>
          <a:ln w="12700" cap="flat" cmpd="sng">
            <a:solidFill>
              <a:srgbClr val="00897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1662684" y="4273296"/>
            <a:ext cx="45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2040509" y="4175506"/>
            <a:ext cx="358394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Execute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2040509" y="4486656"/>
            <a:ext cx="35839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CPU ALU executes instruction (add, load, store, branch). May need to read/write data memory (SRAM at 0x0001_0000).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1510284" y="5164836"/>
            <a:ext cx="4206240" cy="9144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A1B9A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127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6"/>
          <p:cNvSpPr/>
          <p:nvPr/>
        </p:nvSpPr>
        <p:spPr>
          <a:xfrm>
            <a:off x="1569657" y="5164836"/>
            <a:ext cx="457200" cy="914400"/>
          </a:xfrm>
          <a:prstGeom prst="rect">
            <a:avLst/>
          </a:prstGeom>
          <a:solidFill>
            <a:srgbClr val="8DA9DB"/>
          </a:solidFill>
          <a:ln w="12700" cap="flat" cmpd="sng">
            <a:solidFill>
              <a:srgbClr val="6A1B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1662684" y="5279136"/>
            <a:ext cx="45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6"/>
          <p:cNvSpPr/>
          <p:nvPr/>
        </p:nvSpPr>
        <p:spPr>
          <a:xfrm>
            <a:off x="2040509" y="5181346"/>
            <a:ext cx="358394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SRAM Access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2040509" y="5492496"/>
            <a:ext cx="35839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For data: bridge drives AXI W or AR to SRAM. SRAM returns/accepts data. Bridge signals mem_ready to CPU.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6"/>
          <p:cNvSpPr/>
          <p:nvPr/>
        </p:nvSpPr>
        <p:spPr>
          <a:xfrm>
            <a:off x="5945124" y="2147316"/>
            <a:ext cx="4206240" cy="9144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127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6"/>
          <p:cNvSpPr/>
          <p:nvPr/>
        </p:nvSpPr>
        <p:spPr>
          <a:xfrm>
            <a:off x="5990972" y="2135124"/>
            <a:ext cx="457200" cy="914400"/>
          </a:xfrm>
          <a:prstGeom prst="rect">
            <a:avLst/>
          </a:prstGeom>
          <a:solidFill>
            <a:srgbClr val="8DA9DB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6097524" y="2261616"/>
            <a:ext cx="45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6475349" y="2163826"/>
            <a:ext cx="358394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Send via UART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6475349" y="2474976"/>
            <a:ext cx="35839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CPU writes a byte to address 0x1000_0000 via AXI W channel. UART AXI module receives it and starts </a:t>
            </a:r>
            <a:r>
              <a:rPr lang="en-US" sz="1200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uart_tx</a:t>
            </a:r>
            <a:r>
              <a:rPr lang="en-US" sz="12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5945124" y="3153156"/>
            <a:ext cx="4206240" cy="9144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C62828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127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6002274" y="3160776"/>
            <a:ext cx="457200" cy="914400"/>
          </a:xfrm>
          <a:prstGeom prst="rect">
            <a:avLst/>
          </a:prstGeom>
          <a:solidFill>
            <a:srgbClr val="8DA9DB"/>
          </a:solidFill>
          <a:ln w="12700" cap="flat" cmpd="sng">
            <a:solidFill>
              <a:srgbClr val="C628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6097524" y="3267456"/>
            <a:ext cx="45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6475349" y="3169666"/>
            <a:ext cx="358394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UART Transmit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6475349" y="3480816"/>
            <a:ext cx="35839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uart_tx.v shifts: START bit → 8 data bits (LSB first) → STOP bit at 115200 baud. Byte appears on uart_tx pin.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5945124" y="4158996"/>
            <a:ext cx="4206240" cy="9144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127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6"/>
          <p:cNvSpPr/>
          <p:nvPr/>
        </p:nvSpPr>
        <p:spPr>
          <a:xfrm>
            <a:off x="6012815" y="4151376"/>
            <a:ext cx="457200" cy="914400"/>
          </a:xfrm>
          <a:prstGeom prst="rect">
            <a:avLst/>
          </a:prstGeom>
          <a:solidFill>
            <a:srgbClr val="8DA9DB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6097524" y="4273296"/>
            <a:ext cx="45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6475349" y="4175506"/>
            <a:ext cx="358394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Repeat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6475349" y="4486656"/>
            <a:ext cx="35839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CPU loops back to fetch next instruction. Stack in SRAM grows/shrinks as functions are called. Cycle continues.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7" name="Google Shape;397;p16"/>
          <p:cNvCxnSpPr/>
          <p:nvPr/>
        </p:nvCxnSpPr>
        <p:spPr>
          <a:xfrm>
            <a:off x="5743829" y="2109216"/>
            <a:ext cx="0" cy="3977640"/>
          </a:xfrm>
          <a:prstGeom prst="straightConnector1">
            <a:avLst/>
          </a:prstGeom>
          <a:noFill/>
          <a:ln w="12700" cap="flat" cmpd="sng">
            <a:solidFill>
              <a:srgbClr val="90A4AE"/>
            </a:solidFill>
            <a:prstDash val="dash"/>
            <a:round/>
            <a:headEnd type="none" w="sm" len="sm"/>
            <a:tailEnd type="none" w="sm" len="sm"/>
          </a:ln>
        </p:spPr>
      </p:cxnSp>
      <p:graphicFrame>
        <p:nvGraphicFramePr>
          <p:cNvPr id="398" name="Google Shape;398;p16"/>
          <p:cNvGraphicFramePr/>
          <p:nvPr/>
        </p:nvGraphicFramePr>
        <p:xfrm>
          <a:off x="1340884" y="1170061"/>
          <a:ext cx="8128000" cy="518170"/>
        </p:xfrm>
        <a:graphic>
          <a:graphicData uri="http://schemas.openxmlformats.org/drawingml/2006/table">
            <a:tbl>
              <a:tblPr firstRow="1" bandRow="1">
                <a:noFill/>
                <a:tableStyleId>{CA1471D7-64E4-42A9-A1CD-48542FBC2C40}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How the SoC Works Step by Step</a:t>
                      </a:r>
                      <a:endParaRPr sz="28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769" y="1741884"/>
            <a:ext cx="10570369" cy="4539853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7"/>
          <p:cNvSpPr/>
          <p:nvPr/>
        </p:nvSpPr>
        <p:spPr>
          <a:xfrm>
            <a:off x="895350" y="933450"/>
            <a:ext cx="8572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lang="en-US" sz="3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RTL Signal Flow</a:t>
            </a:r>
            <a:endParaRPr sz="3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769" y="2715667"/>
            <a:ext cx="2636520" cy="379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3289" y="2715667"/>
            <a:ext cx="4429324" cy="379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1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82613" y="2715667"/>
            <a:ext cx="3480236" cy="379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1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6769" y="3095130"/>
            <a:ext cx="2636520" cy="572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1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53289" y="3095130"/>
            <a:ext cx="4429324" cy="572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1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82613" y="3095130"/>
            <a:ext cx="3480236" cy="572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18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6769" y="3668032"/>
            <a:ext cx="2636520" cy="572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18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53289" y="3668032"/>
            <a:ext cx="4429324" cy="572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18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882613" y="3668032"/>
            <a:ext cx="3480236" cy="572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18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16769" y="4240934"/>
            <a:ext cx="2636520" cy="580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18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453289" y="4240934"/>
            <a:ext cx="4429324" cy="580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18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882613" y="4240934"/>
            <a:ext cx="3480236" cy="580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18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16769" y="4820969"/>
            <a:ext cx="2636520" cy="572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18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453289" y="4820969"/>
            <a:ext cx="4429324" cy="572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18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882613" y="4820969"/>
            <a:ext cx="3480236" cy="572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18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16769" y="5393870"/>
            <a:ext cx="2636520" cy="572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18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3453289" y="5393870"/>
            <a:ext cx="4429324" cy="572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18" descr="preencoded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882613" y="5393870"/>
            <a:ext cx="3480236" cy="572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18" descr="preencoded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16769" y="5966772"/>
            <a:ext cx="2636520" cy="572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8" descr="preencoded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3453289" y="5966772"/>
            <a:ext cx="4429324" cy="572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8" descr="preencoded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7882613" y="5966772"/>
            <a:ext cx="3480236" cy="572902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8"/>
          <p:cNvSpPr/>
          <p:nvPr/>
        </p:nvSpPr>
        <p:spPr>
          <a:xfrm>
            <a:off x="959645" y="2715667"/>
            <a:ext cx="3811509" cy="37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libri"/>
              <a:buNone/>
            </a:pPr>
            <a:r>
              <a:rPr lang="en-US" sz="16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/ Component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3596165" y="2715667"/>
            <a:ext cx="5175225" cy="37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libri"/>
              <a:buNone/>
            </a:pPr>
            <a:r>
              <a:rPr lang="en-US" sz="16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Description / Activity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/>
          <p:nvPr/>
        </p:nvSpPr>
        <p:spPr>
          <a:xfrm>
            <a:off x="8025489" y="2715667"/>
            <a:ext cx="4166511" cy="37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libri"/>
              <a:buNone/>
            </a:pPr>
            <a:r>
              <a:rPr lang="en-US" sz="16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Outputs / Tools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959645" y="3095130"/>
            <a:ext cx="4076480" cy="57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Verilator Simulation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3596165" y="3095130"/>
            <a:ext cx="4143574" cy="57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Compiles synthesizable Verilog RTL to a fast, cycle-accurate C++ model.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8025489" y="3095130"/>
            <a:ext cx="4166511" cy="57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Compiled Executable, C++ Model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959645" y="3668032"/>
            <a:ext cx="4076480" cy="57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Testbench &amp; Stimulus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3596165" y="3668032"/>
            <a:ext cx="4143574" cy="57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Verilog and C++ Testbench drives top-level SoC, applies reset and peripheral transactions.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8025489" y="3668032"/>
            <a:ext cx="4166511" cy="57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Verilog and C++ Testbench, System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Stimulus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8"/>
          <p:cNvSpPr/>
          <p:nvPr/>
        </p:nvSpPr>
        <p:spPr>
          <a:xfrm>
            <a:off x="959645" y="4240934"/>
            <a:ext cx="3261184" cy="58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Waveform Capture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3596165" y="4240934"/>
            <a:ext cx="4143574" cy="58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Simulation outputs a Value Change Dump (VCD) file. Records all signal transitions.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8025489" y="4240934"/>
            <a:ext cx="3194486" cy="58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FST, VCD Waveform File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959645" y="4820969"/>
            <a:ext cx="3465008" cy="57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Waveform Analysis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3596165" y="4820969"/>
            <a:ext cx="4143574" cy="57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GTKWave loads VCD to display and visually analyze waveforms.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8025489" y="4820969"/>
            <a:ext cx="3194486" cy="57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GTKWave Viewer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959645" y="5393870"/>
            <a:ext cx="4484128" cy="57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Verification Checklist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3596165" y="5393870"/>
            <a:ext cx="4143574" cy="57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Key checks: CPU boot, memory responses, UART integrity, bus health.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8025489" y="5393870"/>
            <a:ext cx="4166511" cy="57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Verification Report, Validation Results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959645" y="5966772"/>
            <a:ext cx="4076480" cy="57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OpenLane Integration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3596165" y="5966772"/>
            <a:ext cx="4143574" cy="57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Passing simulation enables synthesis in OpenLane, reducing design iterations.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8025489" y="5966772"/>
            <a:ext cx="3194486" cy="57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Confirmed RTL Code, Ready for Synthesis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962025" y="981075"/>
            <a:ext cx="11229975" cy="528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 Black"/>
              <a:buNone/>
            </a:pPr>
            <a:r>
              <a:rPr lang="en-US" sz="3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Functional Simulation Flow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962025" y="2352675"/>
            <a:ext cx="5783580" cy="29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985"/>
              </a:lnSpc>
              <a:spcBef>
                <a:spcPts val="0"/>
              </a:spcBef>
              <a:spcAft>
                <a:spcPts val="0"/>
              </a:spcAft>
              <a:buClr>
                <a:srgbClr val="1F618D"/>
              </a:buClr>
              <a:buSzPts val="1725"/>
              <a:buFont typeface="Arial Black"/>
              <a:buNone/>
            </a:pPr>
            <a:r>
              <a:rPr lang="en-US" sz="1725">
                <a:solidFill>
                  <a:srgbClr val="1F618D"/>
                </a:solidFill>
                <a:latin typeface="Arial Black"/>
                <a:ea typeface="Arial Black"/>
                <a:cs typeface="Arial Black"/>
                <a:sym typeface="Arial Black"/>
              </a:rPr>
              <a:t>Simulation Flow Stages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959645" y="1771650"/>
            <a:ext cx="11410057" cy="282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1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en-US" sz="1575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Comprehensive verification flow to confirm RTL correctness before synthesis in OpenLane.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24886" y="4539853"/>
            <a:ext cx="4364682" cy="1899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24886" y="2304157"/>
            <a:ext cx="4364682" cy="1940719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19"/>
          <p:cNvSpPr/>
          <p:nvPr/>
        </p:nvSpPr>
        <p:spPr>
          <a:xfrm>
            <a:off x="962025" y="933450"/>
            <a:ext cx="11229975" cy="512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 Black"/>
              <a:buNone/>
            </a:pPr>
            <a:r>
              <a:rPr lang="en-US" sz="315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Verification and Waveforms</a:t>
            </a:r>
            <a:endParaRPr sz="3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9"/>
          <p:cNvSpPr/>
          <p:nvPr/>
        </p:nvSpPr>
        <p:spPr>
          <a:xfrm>
            <a:off x="962025" y="1647825"/>
            <a:ext cx="5486400" cy="31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Verification Summary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9"/>
          <p:cNvSpPr/>
          <p:nvPr/>
        </p:nvSpPr>
        <p:spPr>
          <a:xfrm>
            <a:off x="7296150" y="1647825"/>
            <a:ext cx="4895850" cy="31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Representative Waveforms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9"/>
          <p:cNvSpPr/>
          <p:nvPr/>
        </p:nvSpPr>
        <p:spPr>
          <a:xfrm>
            <a:off x="838200" y="2114550"/>
            <a:ext cx="7386638" cy="87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n-US" sz="1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AXI Write Handshake: Synchronous AWVALID/AWREADY &amp;</a:t>
            </a:r>
            <a:br>
              <a:rPr lang="en-US" sz="1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Timing diagrams confirm simultaneously-asserted signals</a:t>
            </a:r>
            <a:br>
              <a:rPr lang="en-US" sz="1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complete write transactions within expected cycles.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9"/>
          <p:cNvSpPr/>
          <p:nvPr/>
        </p:nvSpPr>
        <p:spPr>
          <a:xfrm>
            <a:off x="838200" y="3095625"/>
            <a:ext cx="7040761" cy="622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19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n-US" sz="1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Signal Synchronization: Data transfer only occurs when</a:t>
            </a:r>
            <a:br>
              <a:rPr lang="en-US" sz="1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VALID/READY are both high.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9"/>
          <p:cNvSpPr/>
          <p:nvPr/>
        </p:nvSpPr>
        <p:spPr>
          <a:xfrm>
            <a:off x="838200" y="3800475"/>
            <a:ext cx="6726436" cy="582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n-US" sz="1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Write Response Channel: Captured BVALID/BREADY</a:t>
            </a:r>
            <a:br>
              <a:rPr lang="en-US" sz="1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handshake confirming slave write responses.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9"/>
          <p:cNvSpPr/>
          <p:nvPr/>
        </p:nvSpPr>
        <p:spPr>
          <a:xfrm>
            <a:off x="838200" y="4486275"/>
            <a:ext cx="6034980" cy="582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n-US" sz="1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UART Transmission Frame: Waveform analysis</a:t>
            </a:r>
            <a:br>
              <a:rPr lang="en-US" sz="1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confirms start, 8 data, and stop bit sequences.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9"/>
          <p:cNvSpPr/>
          <p:nvPr/>
        </p:nvSpPr>
        <p:spPr>
          <a:xfrm>
            <a:off x="838200" y="5172075"/>
            <a:ext cx="6621661" cy="582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n-US" sz="1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Baud Rate &amp; Frame Integrity: Simulation verifies bit</a:t>
            </a:r>
            <a:br>
              <a:rPr lang="en-US" sz="1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timing matches the target baud rate with no errors.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9"/>
          <p:cNvSpPr/>
          <p:nvPr/>
        </p:nvSpPr>
        <p:spPr>
          <a:xfrm>
            <a:off x="838200" y="5857875"/>
            <a:ext cx="6935986" cy="582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n-US" sz="1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End-to-End Data Flow: Combined AXI &amp; UART</a:t>
            </a:r>
            <a:br>
              <a:rPr lang="en-US" sz="1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waveforms validate full CPU-to-AXI-to-UART data path.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20" descr="preencoded.png"/>
          <p:cNvPicPr preferRelativeResize="0"/>
          <p:nvPr/>
        </p:nvPicPr>
        <p:blipFill rotWithShape="1">
          <a:blip r:embed="rId3">
            <a:alphaModFix/>
          </a:blip>
          <a:srcRect t="12248"/>
          <a:stretch/>
        </p:blipFill>
        <p:spPr>
          <a:xfrm>
            <a:off x="0" y="839972"/>
            <a:ext cx="12192000" cy="601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43765" y="4992588"/>
            <a:ext cx="1414165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2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25294" y="5102275"/>
            <a:ext cx="707082" cy="994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2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76800" y="5335488"/>
            <a:ext cx="877788" cy="761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2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72086" y="5335488"/>
            <a:ext cx="755898" cy="761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2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279577" y="5335488"/>
            <a:ext cx="767953" cy="761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20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497294" y="2544217"/>
            <a:ext cx="1255663" cy="1302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20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59153" y="2468761"/>
            <a:ext cx="1304479" cy="1323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20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669977" y="2482453"/>
            <a:ext cx="1267867" cy="1337221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20"/>
          <p:cNvSpPr/>
          <p:nvPr/>
        </p:nvSpPr>
        <p:spPr>
          <a:xfrm>
            <a:off x="1130498" y="962025"/>
            <a:ext cx="9911655" cy="43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75"/>
              <a:buFont typeface="Poppins"/>
              <a:buNone/>
            </a:pPr>
            <a:r>
              <a:rPr lang="en-US" sz="2775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PART 2: PHYSICAL DESIGN IMPLEMENTATION</a:t>
            </a:r>
            <a:endParaRPr sz="27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0"/>
          <p:cNvSpPr/>
          <p:nvPr/>
        </p:nvSpPr>
        <p:spPr>
          <a:xfrm>
            <a:off x="834330" y="1905000"/>
            <a:ext cx="2807940" cy="307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Poppins"/>
              <a:buNone/>
            </a:pPr>
            <a:r>
              <a:rPr lang="en-US" sz="195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From RTL to GDSII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0"/>
          <p:cNvSpPr/>
          <p:nvPr/>
        </p:nvSpPr>
        <p:spPr>
          <a:xfrm>
            <a:off x="4534793" y="1905000"/>
            <a:ext cx="312226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Poppins"/>
              <a:buNone/>
            </a:pPr>
            <a:r>
              <a:rPr lang="en-US" sz="1875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OpenLane Toolchain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0"/>
          <p:cNvSpPr/>
          <p:nvPr/>
        </p:nvSpPr>
        <p:spPr>
          <a:xfrm>
            <a:off x="8367117" y="1905000"/>
            <a:ext cx="325844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Poppins"/>
              <a:buNone/>
            </a:pPr>
            <a:r>
              <a:rPr lang="en-US" sz="1875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SkyWater 130nm PDK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0"/>
          <p:cNvSpPr/>
          <p:nvPr/>
        </p:nvSpPr>
        <p:spPr>
          <a:xfrm>
            <a:off x="1498699" y="4400550"/>
            <a:ext cx="411762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Poppins"/>
              <a:buNone/>
            </a:pPr>
            <a:r>
              <a:rPr lang="en-US" sz="1875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Implementation Stages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0"/>
          <p:cNvSpPr/>
          <p:nvPr/>
        </p:nvSpPr>
        <p:spPr>
          <a:xfrm>
            <a:off x="7958584" y="4400550"/>
            <a:ext cx="2818358" cy="28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None/>
            </a:pPr>
            <a:r>
              <a:rPr lang="en-US" sz="18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Design Verification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0"/>
          <p:cNvSpPr/>
          <p:nvPr/>
        </p:nvSpPr>
        <p:spPr>
          <a:xfrm>
            <a:off x="10914608" y="5029200"/>
            <a:ext cx="859036" cy="1089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Poppins"/>
              <a:buNone/>
            </a:pPr>
            <a:r>
              <a:rPr lang="en-US" sz="195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DRC</a:t>
            </a:r>
            <a:br>
              <a:rPr lang="en-US" sz="195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95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&amp;</a:t>
            </a:r>
            <a:br>
              <a:rPr lang="en-US" sz="195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95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LVS</a:t>
            </a:r>
            <a:br>
              <a:rPr lang="en-US" sz="195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95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PASS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0"/>
          <p:cNvSpPr/>
          <p:nvPr/>
        </p:nvSpPr>
        <p:spPr>
          <a:xfrm>
            <a:off x="533400" y="2362200"/>
            <a:ext cx="2409825" cy="1559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Poppins"/>
              <a:buNone/>
            </a:pP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Transforming Verilog</a:t>
            </a:r>
            <a:b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RTL code into a</a:t>
            </a:r>
            <a:b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manufacturable</a:t>
            </a:r>
            <a:b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physical layout using</a:t>
            </a:r>
            <a:b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using the OpenLane</a:t>
            </a:r>
            <a:b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automated flow.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0"/>
          <p:cNvSpPr/>
          <p:nvPr/>
        </p:nvSpPr>
        <p:spPr>
          <a:xfrm>
            <a:off x="4371975" y="2362200"/>
            <a:ext cx="2472630" cy="148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Poppins"/>
              <a:buNone/>
            </a:pPr>
            <a:r>
              <a:rPr lang="en-US" sz="15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 open-source EDA</a:t>
            </a:r>
            <a:br>
              <a:rPr lang="en-US" sz="15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5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flow integrating</a:t>
            </a:r>
            <a:br>
              <a:rPr lang="en-US" sz="15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5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synthesis, placement,</a:t>
            </a:r>
            <a:br>
              <a:rPr lang="en-US" sz="15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5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routing, and</a:t>
            </a:r>
            <a:br>
              <a:rPr lang="en-US" sz="15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5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verification into a</a:t>
            </a:r>
            <a:br>
              <a:rPr lang="en-US" sz="15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5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unified pipeline.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0"/>
          <p:cNvSpPr/>
          <p:nvPr/>
        </p:nvSpPr>
        <p:spPr>
          <a:xfrm>
            <a:off x="8334375" y="2362200"/>
            <a:ext cx="2430661" cy="1559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Poppins"/>
              <a:buNone/>
            </a:pP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Open-source process</a:t>
            </a:r>
            <a:b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design kit providing</a:t>
            </a:r>
            <a:b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technology rules</a:t>
            </a:r>
            <a:b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libraries for</a:t>
            </a:r>
            <a:b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physical</a:t>
            </a:r>
            <a:b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implementation.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0"/>
          <p:cNvSpPr/>
          <p:nvPr/>
        </p:nvSpPr>
        <p:spPr>
          <a:xfrm>
            <a:off x="571500" y="4972050"/>
            <a:ext cx="2587823" cy="1240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Poppins"/>
              <a:buNone/>
            </a:pPr>
            <a:r>
              <a:rPr lang="en-US" sz="15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Covers synthesis,</a:t>
            </a:r>
            <a:br>
              <a:rPr lang="en-US" sz="15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5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floorplanning,</a:t>
            </a:r>
            <a:br>
              <a:rPr lang="en-US" sz="15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5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placement, clock tree</a:t>
            </a:r>
            <a:br>
              <a:rPr lang="en-US" sz="15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5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synthesis, routing, and</a:t>
            </a:r>
            <a:br>
              <a:rPr lang="en-US" sz="15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5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final GDSII generation.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0"/>
          <p:cNvSpPr/>
          <p:nvPr/>
        </p:nvSpPr>
        <p:spPr>
          <a:xfrm>
            <a:off x="7172325" y="4972050"/>
            <a:ext cx="2462213" cy="129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Poppins"/>
              <a:buNone/>
            </a:pP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DRC and LVS checks</a:t>
            </a:r>
            <a:b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ensure the physical</a:t>
            </a:r>
            <a:b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layout is functionally</a:t>
            </a:r>
            <a:b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correct and ready</a:t>
            </a:r>
            <a:b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fabrication.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23"/>
          <p:cNvSpPr/>
          <p:nvPr/>
        </p:nvSpPr>
        <p:spPr>
          <a:xfrm>
            <a:off x="365753" y="390133"/>
            <a:ext cx="11338400" cy="8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FFFFF"/>
              </a:buClr>
              <a:buSzPts val="2000"/>
            </a:pPr>
            <a:r>
              <a:rPr lang="en-US" sz="2667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Implementation Results</a:t>
            </a:r>
            <a:endParaRPr sz="26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23"/>
          <p:cNvSpPr/>
          <p:nvPr/>
        </p:nvSpPr>
        <p:spPr>
          <a:xfrm>
            <a:off x="365760" y="1280160"/>
            <a:ext cx="11460480" cy="512064"/>
          </a:xfrm>
          <a:prstGeom prst="rect">
            <a:avLst/>
          </a:prstGeom>
          <a:solidFill>
            <a:srgbClr val="FEF3C7"/>
          </a:solidFill>
          <a:ln w="12700" cap="flat" cmpd="sng">
            <a:solidFill>
              <a:srgbClr val="FCD3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084" name="Google Shape;1084;p23"/>
          <p:cNvSpPr/>
          <p:nvPr/>
        </p:nvSpPr>
        <p:spPr>
          <a:xfrm>
            <a:off x="548640" y="1280160"/>
            <a:ext cx="110947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B45309"/>
              </a:buClr>
              <a:buSzPts val="1000"/>
            </a:pPr>
            <a:r>
              <a:rPr lang="en-US" sz="1333" i="1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⚠  Note: Numbers below are illustrative design targets. Mark as TBD until full OpenLane2 run completes.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23"/>
          <p:cNvSpPr/>
          <p:nvPr/>
        </p:nvSpPr>
        <p:spPr>
          <a:xfrm>
            <a:off x="365760" y="1950720"/>
            <a:ext cx="5608320" cy="2255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086" name="Google Shape;1086;p23"/>
          <p:cNvSpPr/>
          <p:nvPr/>
        </p:nvSpPr>
        <p:spPr>
          <a:xfrm>
            <a:off x="365760" y="1950720"/>
            <a:ext cx="5608320" cy="463296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087" name="Google Shape;1087;p23"/>
          <p:cNvSpPr/>
          <p:nvPr/>
        </p:nvSpPr>
        <p:spPr>
          <a:xfrm>
            <a:off x="365760" y="1950720"/>
            <a:ext cx="560832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100"/>
            </a:pPr>
            <a:r>
              <a:rPr lang="en-US" sz="1467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Timing</a:t>
            </a:r>
            <a:endParaRPr sz="14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23"/>
          <p:cNvSpPr/>
          <p:nvPr/>
        </p:nvSpPr>
        <p:spPr>
          <a:xfrm>
            <a:off x="463296" y="2462784"/>
            <a:ext cx="5413248" cy="390144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089" name="Google Shape;1089;p23"/>
          <p:cNvSpPr/>
          <p:nvPr/>
        </p:nvSpPr>
        <p:spPr>
          <a:xfrm>
            <a:off x="536448" y="2499360"/>
            <a:ext cx="25603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Target Frequency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23"/>
          <p:cNvSpPr/>
          <p:nvPr/>
        </p:nvSpPr>
        <p:spPr>
          <a:xfrm>
            <a:off x="3145536" y="2499360"/>
            <a:ext cx="268224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4748B"/>
              </a:buClr>
              <a:buSzPts val="850"/>
            </a:pPr>
            <a:r>
              <a:rPr lang="en-US" sz="1133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~50–100 MHz (TBD)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23"/>
          <p:cNvSpPr/>
          <p:nvPr/>
        </p:nvSpPr>
        <p:spPr>
          <a:xfrm>
            <a:off x="463296" y="2889504"/>
            <a:ext cx="5413248" cy="39014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092" name="Google Shape;1092;p23"/>
          <p:cNvSpPr/>
          <p:nvPr/>
        </p:nvSpPr>
        <p:spPr>
          <a:xfrm>
            <a:off x="536448" y="2926080"/>
            <a:ext cx="25603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Critical Path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23"/>
          <p:cNvSpPr/>
          <p:nvPr/>
        </p:nvSpPr>
        <p:spPr>
          <a:xfrm>
            <a:off x="3145536" y="2926080"/>
            <a:ext cx="268224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4748B"/>
              </a:buClr>
              <a:buSzPts val="850"/>
            </a:pPr>
            <a:r>
              <a:rPr lang="en-US" sz="1133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SRAM read + interconnect mux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23"/>
          <p:cNvSpPr/>
          <p:nvPr/>
        </p:nvSpPr>
        <p:spPr>
          <a:xfrm>
            <a:off x="463296" y="3316224"/>
            <a:ext cx="5413248" cy="390144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095" name="Google Shape;1095;p23"/>
          <p:cNvSpPr/>
          <p:nvPr/>
        </p:nvSpPr>
        <p:spPr>
          <a:xfrm>
            <a:off x="536448" y="3352800"/>
            <a:ext cx="25603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Setup Slack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23"/>
          <p:cNvSpPr/>
          <p:nvPr/>
        </p:nvSpPr>
        <p:spPr>
          <a:xfrm>
            <a:off x="3145536" y="3352800"/>
            <a:ext cx="268224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4748B"/>
              </a:buClr>
              <a:buSzPts val="850"/>
            </a:pPr>
            <a:r>
              <a:rPr lang="en-US" sz="1133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&gt; 0 ns (target)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23"/>
          <p:cNvSpPr/>
          <p:nvPr/>
        </p:nvSpPr>
        <p:spPr>
          <a:xfrm>
            <a:off x="463296" y="3742944"/>
            <a:ext cx="5413248" cy="39014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098" name="Google Shape;1098;p23"/>
          <p:cNvSpPr/>
          <p:nvPr/>
        </p:nvSpPr>
        <p:spPr>
          <a:xfrm>
            <a:off x="536448" y="3779520"/>
            <a:ext cx="25603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Hold Slack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23"/>
          <p:cNvSpPr/>
          <p:nvPr/>
        </p:nvSpPr>
        <p:spPr>
          <a:xfrm>
            <a:off x="3145536" y="3779520"/>
            <a:ext cx="268224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4748B"/>
              </a:buClr>
              <a:buSzPts val="850"/>
            </a:pPr>
            <a:r>
              <a:rPr lang="en-US" sz="1133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&gt; 0 ns (target)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23"/>
          <p:cNvSpPr/>
          <p:nvPr/>
        </p:nvSpPr>
        <p:spPr>
          <a:xfrm>
            <a:off x="6339840" y="1950720"/>
            <a:ext cx="5608320" cy="2255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01" name="Google Shape;1101;p23"/>
          <p:cNvSpPr/>
          <p:nvPr/>
        </p:nvSpPr>
        <p:spPr>
          <a:xfrm>
            <a:off x="6339840" y="1950720"/>
            <a:ext cx="5608320" cy="463296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02" name="Google Shape;1102;p23"/>
          <p:cNvSpPr/>
          <p:nvPr/>
        </p:nvSpPr>
        <p:spPr>
          <a:xfrm>
            <a:off x="6339840" y="1950720"/>
            <a:ext cx="560832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100"/>
            </a:pPr>
            <a:r>
              <a:rPr lang="en-US" sz="1467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Area</a:t>
            </a:r>
            <a:endParaRPr sz="14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23"/>
          <p:cNvSpPr/>
          <p:nvPr/>
        </p:nvSpPr>
        <p:spPr>
          <a:xfrm>
            <a:off x="6437376" y="2462784"/>
            <a:ext cx="5413248" cy="390144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04" name="Google Shape;1104;p23"/>
          <p:cNvSpPr/>
          <p:nvPr/>
        </p:nvSpPr>
        <p:spPr>
          <a:xfrm>
            <a:off x="6510528" y="2499360"/>
            <a:ext cx="25603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Total Cell Area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23"/>
          <p:cNvSpPr/>
          <p:nvPr/>
        </p:nvSpPr>
        <p:spPr>
          <a:xfrm>
            <a:off x="9119616" y="2499360"/>
            <a:ext cx="268224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4748B"/>
              </a:buClr>
              <a:buSzPts val="850"/>
            </a:pPr>
            <a:r>
              <a:rPr lang="en-US" sz="1133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~0.08–0.15 mm² (TBD)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23"/>
          <p:cNvSpPr/>
          <p:nvPr/>
        </p:nvSpPr>
        <p:spPr>
          <a:xfrm>
            <a:off x="6437376" y="2889504"/>
            <a:ext cx="5413248" cy="39014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07" name="Google Shape;1107;p23"/>
          <p:cNvSpPr/>
          <p:nvPr/>
        </p:nvSpPr>
        <p:spPr>
          <a:xfrm>
            <a:off x="6510528" y="2926080"/>
            <a:ext cx="25603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Core Utilization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23"/>
          <p:cNvSpPr/>
          <p:nvPr/>
        </p:nvSpPr>
        <p:spPr>
          <a:xfrm>
            <a:off x="9119616" y="2926080"/>
            <a:ext cx="268224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4748B"/>
              </a:buClr>
              <a:buSzPts val="850"/>
            </a:pPr>
            <a:r>
              <a:rPr lang="en-US" sz="1133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~40–60% (target)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23"/>
          <p:cNvSpPr/>
          <p:nvPr/>
        </p:nvSpPr>
        <p:spPr>
          <a:xfrm>
            <a:off x="6437376" y="3316224"/>
            <a:ext cx="5413248" cy="390144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10" name="Google Shape;1110;p23"/>
          <p:cNvSpPr/>
          <p:nvPr/>
        </p:nvSpPr>
        <p:spPr>
          <a:xfrm>
            <a:off x="6510528" y="3352800"/>
            <a:ext cx="25603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Standard Cells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23"/>
          <p:cNvSpPr/>
          <p:nvPr/>
        </p:nvSpPr>
        <p:spPr>
          <a:xfrm>
            <a:off x="9119616" y="3352800"/>
            <a:ext cx="268224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4748B"/>
              </a:buClr>
              <a:buSzPts val="850"/>
            </a:pPr>
            <a:r>
              <a:rPr lang="en-US" sz="1133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~15,000–25,000 (TBD)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23"/>
          <p:cNvSpPr/>
          <p:nvPr/>
        </p:nvSpPr>
        <p:spPr>
          <a:xfrm>
            <a:off x="6437376" y="3742944"/>
            <a:ext cx="5413248" cy="39014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13" name="Google Shape;1113;p23"/>
          <p:cNvSpPr/>
          <p:nvPr/>
        </p:nvSpPr>
        <p:spPr>
          <a:xfrm>
            <a:off x="6510528" y="3779520"/>
            <a:ext cx="25603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Die Size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23"/>
          <p:cNvSpPr/>
          <p:nvPr/>
        </p:nvSpPr>
        <p:spPr>
          <a:xfrm>
            <a:off x="9119616" y="3779520"/>
            <a:ext cx="268224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4748B"/>
              </a:buClr>
              <a:buSzPts val="850"/>
            </a:pPr>
            <a:r>
              <a:rPr lang="en-US" sz="1133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TBD after floorplan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23"/>
          <p:cNvSpPr/>
          <p:nvPr/>
        </p:nvSpPr>
        <p:spPr>
          <a:xfrm>
            <a:off x="365760" y="4413504"/>
            <a:ext cx="5608320" cy="2255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16" name="Google Shape;1116;p23"/>
          <p:cNvSpPr/>
          <p:nvPr/>
        </p:nvSpPr>
        <p:spPr>
          <a:xfrm>
            <a:off x="365760" y="4413504"/>
            <a:ext cx="5608320" cy="463296"/>
          </a:xfrm>
          <a:prstGeom prst="rect">
            <a:avLst/>
          </a:prstGeom>
          <a:solidFill>
            <a:srgbClr val="15803D"/>
          </a:solidFill>
          <a:ln w="12700" cap="flat" cmpd="sng">
            <a:solidFill>
              <a:srgbClr val="1580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17" name="Google Shape;1117;p23"/>
          <p:cNvSpPr/>
          <p:nvPr/>
        </p:nvSpPr>
        <p:spPr>
          <a:xfrm>
            <a:off x="365760" y="4413504"/>
            <a:ext cx="560832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100"/>
            </a:pPr>
            <a:r>
              <a:rPr lang="en-US" sz="1467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DRC/LVS</a:t>
            </a:r>
            <a:endParaRPr sz="14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23"/>
          <p:cNvSpPr/>
          <p:nvPr/>
        </p:nvSpPr>
        <p:spPr>
          <a:xfrm>
            <a:off x="463296" y="4925568"/>
            <a:ext cx="5413248" cy="390144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19" name="Google Shape;1119;p23"/>
          <p:cNvSpPr/>
          <p:nvPr/>
        </p:nvSpPr>
        <p:spPr>
          <a:xfrm>
            <a:off x="536448" y="4962144"/>
            <a:ext cx="25603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DRC Violations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23"/>
          <p:cNvSpPr/>
          <p:nvPr/>
        </p:nvSpPr>
        <p:spPr>
          <a:xfrm>
            <a:off x="3145536" y="4962144"/>
            <a:ext cx="268224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4748B"/>
              </a:buClr>
              <a:buSzPts val="850"/>
            </a:pPr>
            <a:r>
              <a:rPr lang="en-US" sz="1133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 (target — clean)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23"/>
          <p:cNvSpPr/>
          <p:nvPr/>
        </p:nvSpPr>
        <p:spPr>
          <a:xfrm>
            <a:off x="463296" y="5352288"/>
            <a:ext cx="5413248" cy="39014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22" name="Google Shape;1122;p23"/>
          <p:cNvSpPr/>
          <p:nvPr/>
        </p:nvSpPr>
        <p:spPr>
          <a:xfrm>
            <a:off x="536448" y="5388864"/>
            <a:ext cx="25603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LVS Status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23"/>
          <p:cNvSpPr/>
          <p:nvPr/>
        </p:nvSpPr>
        <p:spPr>
          <a:xfrm>
            <a:off x="3145536" y="5388864"/>
            <a:ext cx="268224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4748B"/>
              </a:buClr>
              <a:buSzPts val="850"/>
            </a:pPr>
            <a:r>
              <a:rPr lang="en-US" sz="1133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Pass (target)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23"/>
          <p:cNvSpPr/>
          <p:nvPr/>
        </p:nvSpPr>
        <p:spPr>
          <a:xfrm>
            <a:off x="463296" y="5779008"/>
            <a:ext cx="5413248" cy="390144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25" name="Google Shape;1125;p23"/>
          <p:cNvSpPr/>
          <p:nvPr/>
        </p:nvSpPr>
        <p:spPr>
          <a:xfrm>
            <a:off x="536448" y="5815584"/>
            <a:ext cx="25603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Antenna Violations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23"/>
          <p:cNvSpPr/>
          <p:nvPr/>
        </p:nvSpPr>
        <p:spPr>
          <a:xfrm>
            <a:off x="3145536" y="5815584"/>
            <a:ext cx="268224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4748B"/>
              </a:buClr>
              <a:buSzPts val="850"/>
            </a:pPr>
            <a:r>
              <a:rPr lang="en-US" sz="1133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 (after diodes)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23"/>
          <p:cNvSpPr/>
          <p:nvPr/>
        </p:nvSpPr>
        <p:spPr>
          <a:xfrm>
            <a:off x="463296" y="6205728"/>
            <a:ext cx="5413248" cy="39014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28" name="Google Shape;1128;p23"/>
          <p:cNvSpPr/>
          <p:nvPr/>
        </p:nvSpPr>
        <p:spPr>
          <a:xfrm>
            <a:off x="536448" y="6242304"/>
            <a:ext cx="25603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ERC Errors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23"/>
          <p:cNvSpPr/>
          <p:nvPr/>
        </p:nvSpPr>
        <p:spPr>
          <a:xfrm>
            <a:off x="3145536" y="6242304"/>
            <a:ext cx="268224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4748B"/>
              </a:buClr>
              <a:buSzPts val="850"/>
            </a:pPr>
            <a:r>
              <a:rPr lang="en-US" sz="1133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 (target)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23"/>
          <p:cNvSpPr/>
          <p:nvPr/>
        </p:nvSpPr>
        <p:spPr>
          <a:xfrm>
            <a:off x="6339840" y="4413504"/>
            <a:ext cx="5608320" cy="2255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31" name="Google Shape;1131;p23"/>
          <p:cNvSpPr/>
          <p:nvPr/>
        </p:nvSpPr>
        <p:spPr>
          <a:xfrm>
            <a:off x="6339840" y="4413504"/>
            <a:ext cx="5608320" cy="463296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32" name="Google Shape;1132;p23"/>
          <p:cNvSpPr/>
          <p:nvPr/>
        </p:nvSpPr>
        <p:spPr>
          <a:xfrm>
            <a:off x="6339840" y="4413504"/>
            <a:ext cx="560832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100"/>
            </a:pPr>
            <a:r>
              <a:rPr lang="en-US" sz="1467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PPA</a:t>
            </a:r>
            <a:endParaRPr sz="14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23"/>
          <p:cNvSpPr/>
          <p:nvPr/>
        </p:nvSpPr>
        <p:spPr>
          <a:xfrm>
            <a:off x="6437376" y="4925568"/>
            <a:ext cx="5413248" cy="390144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34" name="Google Shape;1134;p23"/>
          <p:cNvSpPr/>
          <p:nvPr/>
        </p:nvSpPr>
        <p:spPr>
          <a:xfrm>
            <a:off x="6510528" y="4962144"/>
            <a:ext cx="25603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Power (typical)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23"/>
          <p:cNvSpPr/>
          <p:nvPr/>
        </p:nvSpPr>
        <p:spPr>
          <a:xfrm>
            <a:off x="9119616" y="4962144"/>
            <a:ext cx="268224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4748B"/>
              </a:buClr>
              <a:buSzPts val="850"/>
            </a:pPr>
            <a:r>
              <a:rPr lang="en-US" sz="1133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~5–20 mW (TBD)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23"/>
          <p:cNvSpPr/>
          <p:nvPr/>
        </p:nvSpPr>
        <p:spPr>
          <a:xfrm>
            <a:off x="6437376" y="5352288"/>
            <a:ext cx="5413248" cy="39014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37" name="Google Shape;1137;p23"/>
          <p:cNvSpPr/>
          <p:nvPr/>
        </p:nvSpPr>
        <p:spPr>
          <a:xfrm>
            <a:off x="6510528" y="5388864"/>
            <a:ext cx="25603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23"/>
          <p:cNvSpPr/>
          <p:nvPr/>
        </p:nvSpPr>
        <p:spPr>
          <a:xfrm>
            <a:off x="9119616" y="5388864"/>
            <a:ext cx="268224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4748B"/>
              </a:buClr>
              <a:buSzPts val="850"/>
            </a:pPr>
            <a:r>
              <a:rPr lang="en-US" sz="1133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SkyWater 130nm (SKY130B)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23"/>
          <p:cNvSpPr/>
          <p:nvPr/>
        </p:nvSpPr>
        <p:spPr>
          <a:xfrm>
            <a:off x="6437376" y="5779008"/>
            <a:ext cx="5413248" cy="390144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40" name="Google Shape;1140;p23"/>
          <p:cNvSpPr/>
          <p:nvPr/>
        </p:nvSpPr>
        <p:spPr>
          <a:xfrm>
            <a:off x="6510528" y="5815584"/>
            <a:ext cx="25603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Metal Layers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23"/>
          <p:cNvSpPr/>
          <p:nvPr/>
        </p:nvSpPr>
        <p:spPr>
          <a:xfrm>
            <a:off x="9119616" y="5815584"/>
            <a:ext cx="268224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4748B"/>
              </a:buClr>
              <a:buSzPts val="850"/>
            </a:pPr>
            <a:r>
              <a:rPr lang="en-US" sz="1133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 layers utilized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23"/>
          <p:cNvSpPr/>
          <p:nvPr/>
        </p:nvSpPr>
        <p:spPr>
          <a:xfrm>
            <a:off x="6437376" y="6205728"/>
            <a:ext cx="5413248" cy="39014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43" name="Google Shape;1143;p23"/>
          <p:cNvSpPr/>
          <p:nvPr/>
        </p:nvSpPr>
        <p:spPr>
          <a:xfrm>
            <a:off x="6510528" y="6242304"/>
            <a:ext cx="25603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Clock Tree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23"/>
          <p:cNvSpPr/>
          <p:nvPr/>
        </p:nvSpPr>
        <p:spPr>
          <a:xfrm>
            <a:off x="9119616" y="6242304"/>
            <a:ext cx="268224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4748B"/>
              </a:buClr>
              <a:buSzPts val="850"/>
            </a:pPr>
            <a:r>
              <a:rPr lang="en-US" sz="1133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H-tree (auto CTS)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21" descr="preencoded.png"/>
          <p:cNvPicPr preferRelativeResize="0"/>
          <p:nvPr/>
        </p:nvPicPr>
        <p:blipFill rotWithShape="1">
          <a:blip r:embed="rId3">
            <a:alphaModFix/>
          </a:blip>
          <a:srcRect t="25116"/>
          <a:stretch/>
        </p:blipFill>
        <p:spPr>
          <a:xfrm>
            <a:off x="0" y="1722474"/>
            <a:ext cx="12192000" cy="513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2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48392" y="5506938"/>
            <a:ext cx="341263" cy="459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2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31475" y="5479405"/>
            <a:ext cx="828973" cy="562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2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74282" y="5260032"/>
            <a:ext cx="926455" cy="912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2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77773" y="3723829"/>
            <a:ext cx="950863" cy="96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2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949875" y="3723829"/>
            <a:ext cx="950863" cy="96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2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82659" y="2269927"/>
            <a:ext cx="1158180" cy="884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2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49875" y="2235696"/>
            <a:ext cx="877788" cy="870942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21"/>
          <p:cNvSpPr/>
          <p:nvPr/>
        </p:nvSpPr>
        <p:spPr>
          <a:xfrm>
            <a:off x="962025" y="933450"/>
            <a:ext cx="11229975" cy="61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69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25"/>
              <a:buFont typeface="Poppins"/>
              <a:buNone/>
            </a:pPr>
            <a:r>
              <a:rPr lang="en-US" sz="352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RTL to GDSII Flow Overview</a:t>
            </a:r>
            <a:endParaRPr sz="35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1"/>
          <p:cNvSpPr/>
          <p:nvPr/>
        </p:nvSpPr>
        <p:spPr>
          <a:xfrm>
            <a:off x="1191518" y="2495550"/>
            <a:ext cx="188565" cy="32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Poppins"/>
              <a:buNone/>
            </a:pPr>
            <a:r>
              <a:rPr lang="en-US" sz="195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1"/>
          <p:cNvSpPr/>
          <p:nvPr/>
        </p:nvSpPr>
        <p:spPr>
          <a:xfrm>
            <a:off x="6495455" y="2495550"/>
            <a:ext cx="219968" cy="37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Poppins"/>
              <a:buNone/>
            </a:pPr>
            <a:r>
              <a:rPr lang="en-US" sz="225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1"/>
          <p:cNvSpPr/>
          <p:nvPr/>
        </p:nvSpPr>
        <p:spPr>
          <a:xfrm>
            <a:off x="1191518" y="3990975"/>
            <a:ext cx="188565" cy="32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Poppins"/>
              <a:buNone/>
            </a:pPr>
            <a:r>
              <a:rPr lang="en-US" sz="195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1"/>
          <p:cNvSpPr/>
          <p:nvPr/>
        </p:nvSpPr>
        <p:spPr>
          <a:xfrm>
            <a:off x="6495455" y="3990975"/>
            <a:ext cx="219968" cy="37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Poppins"/>
              <a:buNone/>
            </a:pPr>
            <a:r>
              <a:rPr lang="en-US" sz="225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1"/>
          <p:cNvSpPr/>
          <p:nvPr/>
        </p:nvSpPr>
        <p:spPr>
          <a:xfrm>
            <a:off x="1191518" y="5467350"/>
            <a:ext cx="188565" cy="32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Poppins"/>
              <a:buNone/>
            </a:pPr>
            <a:r>
              <a:rPr lang="en-US" sz="195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1"/>
          <p:cNvSpPr/>
          <p:nvPr/>
        </p:nvSpPr>
        <p:spPr>
          <a:xfrm>
            <a:off x="6495455" y="5467350"/>
            <a:ext cx="219968" cy="37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Poppins"/>
              <a:buNone/>
            </a:pPr>
            <a:r>
              <a:rPr lang="en-US" sz="225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1"/>
          <p:cNvSpPr/>
          <p:nvPr/>
        </p:nvSpPr>
        <p:spPr>
          <a:xfrm>
            <a:off x="1752600" y="2181225"/>
            <a:ext cx="6583680" cy="19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lang="en-US" sz="1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Synthesis: RTL to Gate-Level Netlist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1"/>
          <p:cNvSpPr/>
          <p:nvPr/>
        </p:nvSpPr>
        <p:spPr>
          <a:xfrm>
            <a:off x="7058025" y="2181225"/>
            <a:ext cx="5052060" cy="204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60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Poppins"/>
              <a:buNone/>
            </a:pPr>
            <a:r>
              <a:rPr lang="en-US" sz="127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Clock Tree Synthesis (CTS)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1"/>
          <p:cNvSpPr/>
          <p:nvPr/>
        </p:nvSpPr>
        <p:spPr>
          <a:xfrm>
            <a:off x="1752600" y="3667125"/>
            <a:ext cx="6800850" cy="204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60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Poppins"/>
              <a:buNone/>
            </a:pPr>
            <a:r>
              <a:rPr lang="en-US" sz="127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Floorplanning: Chip Area Definition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1"/>
          <p:cNvSpPr/>
          <p:nvPr/>
        </p:nvSpPr>
        <p:spPr>
          <a:xfrm>
            <a:off x="7058025" y="3667125"/>
            <a:ext cx="5133975" cy="204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60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Poppins"/>
              <a:buNone/>
            </a:pPr>
            <a:r>
              <a:rPr lang="en-US" sz="127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Routing: Physical Interconnect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1"/>
          <p:cNvSpPr/>
          <p:nvPr/>
        </p:nvSpPr>
        <p:spPr>
          <a:xfrm>
            <a:off x="1752600" y="5162550"/>
            <a:ext cx="6995160" cy="204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60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Poppins"/>
              <a:buNone/>
            </a:pPr>
            <a:r>
              <a:rPr lang="en-US" sz="127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Placement: Standard Cell Positioning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1"/>
          <p:cNvSpPr/>
          <p:nvPr/>
        </p:nvSpPr>
        <p:spPr>
          <a:xfrm>
            <a:off x="7058025" y="5143500"/>
            <a:ext cx="5133975" cy="204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60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Poppins"/>
              <a:buNone/>
            </a:pPr>
            <a:r>
              <a:rPr lang="en-US" sz="127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Signoff: DRC, LVS, and GDSII Export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1"/>
          <p:cNvSpPr/>
          <p:nvPr/>
        </p:nvSpPr>
        <p:spPr>
          <a:xfrm>
            <a:off x="1752600" y="2533650"/>
            <a:ext cx="310128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Yosys translates Verilog RTL into a</a:t>
            </a:r>
            <a:b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gate-level netlist. Utilizes SkyWater</a:t>
            </a:r>
            <a:b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130nm standard cell libraries.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1"/>
          <p:cNvSpPr/>
          <p:nvPr/>
        </p:nvSpPr>
        <p:spPr>
          <a:xfrm>
            <a:off x="7058025" y="2533650"/>
            <a:ext cx="3227040" cy="641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Poppins"/>
              <a:buNone/>
            </a:pPr>
            <a:r>
              <a:rPr lang="en-US" sz="12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Builds a balanced clock distribution</a:t>
            </a:r>
            <a:br>
              <a:rPr lang="en-US" sz="12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network to minimize skew across all</a:t>
            </a:r>
            <a:br>
              <a:rPr lang="en-US" sz="12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sequential elements.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1"/>
          <p:cNvSpPr/>
          <p:nvPr/>
        </p:nvSpPr>
        <p:spPr>
          <a:xfrm>
            <a:off x="1752600" y="4019550"/>
            <a:ext cx="3593753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Defines die size, core area, I/O pad</a:t>
            </a:r>
            <a:b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placement, and macro block positions for</a:t>
            </a:r>
            <a:b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SoC layout.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1"/>
          <p:cNvSpPr/>
          <p:nvPr/>
        </p:nvSpPr>
        <p:spPr>
          <a:xfrm>
            <a:off x="7058025" y="3990975"/>
            <a:ext cx="356235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TritonRoute connects all placed cells</a:t>
            </a:r>
            <a:b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using metal layers, following PDK design</a:t>
            </a:r>
            <a:b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rules.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1"/>
          <p:cNvSpPr/>
          <p:nvPr/>
        </p:nvSpPr>
        <p:spPr>
          <a:xfrm>
            <a:off x="1752600" y="5505450"/>
            <a:ext cx="3457575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OpenROAD places synthesized standard</a:t>
            </a:r>
            <a:b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cells onto the floorplan, optimizing for</a:t>
            </a:r>
            <a:b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timing and density.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1"/>
          <p:cNvSpPr/>
          <p:nvPr/>
        </p:nvSpPr>
        <p:spPr>
          <a:xfrm>
            <a:off x="7058025" y="5486400"/>
            <a:ext cx="364614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Magic and Netgen perform Design Rule</a:t>
            </a:r>
            <a:b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Check and Layout vs. Schematic</a:t>
            </a:r>
            <a:b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verification before final GDSII generation.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769" y="1604665"/>
            <a:ext cx="1975098" cy="341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2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91867" y="1604665"/>
            <a:ext cx="2413992" cy="341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2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05859" y="1604665"/>
            <a:ext cx="6583710" cy="341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2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6769" y="1945897"/>
            <a:ext cx="1975098" cy="568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2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91867" y="1945897"/>
            <a:ext cx="2413992" cy="568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2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05859" y="1945897"/>
            <a:ext cx="6583710" cy="568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2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6769" y="2514335"/>
            <a:ext cx="1975098" cy="568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2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791867" y="2514335"/>
            <a:ext cx="2413992" cy="568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22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205859" y="2514335"/>
            <a:ext cx="6583710" cy="568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22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16769" y="3082773"/>
            <a:ext cx="1975098" cy="568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22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791867" y="3082773"/>
            <a:ext cx="2413992" cy="568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22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205859" y="3082773"/>
            <a:ext cx="6583710" cy="568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22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16769" y="3651211"/>
            <a:ext cx="1975098" cy="568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22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2791867" y="3651211"/>
            <a:ext cx="2413992" cy="568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22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205859" y="3651211"/>
            <a:ext cx="6583710" cy="568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22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16769" y="4219649"/>
            <a:ext cx="1975098" cy="568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22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2791867" y="4219649"/>
            <a:ext cx="2413992" cy="568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22" descr="preencoded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5205859" y="4219649"/>
            <a:ext cx="6583710" cy="568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22" descr="preencoded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16769" y="4788087"/>
            <a:ext cx="1975098" cy="56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22" descr="preencoded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2791867" y="4788087"/>
            <a:ext cx="2413992" cy="56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22" descr="preencoded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5205859" y="4788087"/>
            <a:ext cx="6583710" cy="568801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22"/>
          <p:cNvSpPr/>
          <p:nvPr/>
        </p:nvSpPr>
        <p:spPr>
          <a:xfrm>
            <a:off x="959644" y="1604665"/>
            <a:ext cx="1689348" cy="34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Tool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2"/>
          <p:cNvSpPr/>
          <p:nvPr/>
        </p:nvSpPr>
        <p:spPr>
          <a:xfrm>
            <a:off x="2934742" y="1604665"/>
            <a:ext cx="2902177" cy="34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Role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2"/>
          <p:cNvSpPr/>
          <p:nvPr/>
        </p:nvSpPr>
        <p:spPr>
          <a:xfrm>
            <a:off x="5348734" y="1604665"/>
            <a:ext cx="6297960" cy="34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Function &amp; Details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2"/>
          <p:cNvSpPr/>
          <p:nvPr/>
        </p:nvSpPr>
        <p:spPr>
          <a:xfrm>
            <a:off x="959644" y="1945897"/>
            <a:ext cx="1689348" cy="5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Yosys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2"/>
          <p:cNvSpPr/>
          <p:nvPr/>
        </p:nvSpPr>
        <p:spPr>
          <a:xfrm>
            <a:off x="2934742" y="1945897"/>
            <a:ext cx="2751022" cy="5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RTL Synthesis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2"/>
          <p:cNvSpPr/>
          <p:nvPr/>
        </p:nvSpPr>
        <p:spPr>
          <a:xfrm>
            <a:off x="5348734" y="1945897"/>
            <a:ext cx="6297960" cy="5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Converts Verilog RTL into a gate-level netlist; performs logic optimization and technology mapping to the SkyWater 130nm library.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2"/>
          <p:cNvSpPr/>
          <p:nvPr/>
        </p:nvSpPr>
        <p:spPr>
          <a:xfrm>
            <a:off x="959644" y="2514335"/>
            <a:ext cx="1689348" cy="5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OpenROAD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2"/>
          <p:cNvSpPr/>
          <p:nvPr/>
        </p:nvSpPr>
        <p:spPr>
          <a:xfrm>
            <a:off x="2934742" y="2514335"/>
            <a:ext cx="4443959" cy="5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Place and Route (PnR)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2"/>
          <p:cNvSpPr/>
          <p:nvPr/>
        </p:nvSpPr>
        <p:spPr>
          <a:xfrm>
            <a:off x="5348734" y="2514335"/>
            <a:ext cx="6297960" cy="5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Automates floorplanning, standard cell placement, clock tree synthesis (CTS), and detailed routing to produce a complete physical layout.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2"/>
          <p:cNvSpPr/>
          <p:nvPr/>
        </p:nvSpPr>
        <p:spPr>
          <a:xfrm>
            <a:off x="959644" y="3082773"/>
            <a:ext cx="1689348" cy="5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Magic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2"/>
          <p:cNvSpPr/>
          <p:nvPr/>
        </p:nvSpPr>
        <p:spPr>
          <a:xfrm>
            <a:off x="2934742" y="3082773"/>
            <a:ext cx="4020724" cy="5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DRC &amp; Layout Viewer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2"/>
          <p:cNvSpPr/>
          <p:nvPr/>
        </p:nvSpPr>
        <p:spPr>
          <a:xfrm>
            <a:off x="5348734" y="3082773"/>
            <a:ext cx="6297960" cy="5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Performs Design Rule Checking (DRC) to verify physical layout complies with SkyWater 130nm fabrication constraints.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2"/>
          <p:cNvSpPr/>
          <p:nvPr/>
        </p:nvSpPr>
        <p:spPr>
          <a:xfrm>
            <a:off x="959644" y="3651211"/>
            <a:ext cx="1689348" cy="5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OpenLane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2"/>
          <p:cNvSpPr/>
          <p:nvPr/>
        </p:nvSpPr>
        <p:spPr>
          <a:xfrm>
            <a:off x="2934742" y="3651211"/>
            <a:ext cx="2128242" cy="5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Unified Flow Orchestrator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2"/>
          <p:cNvSpPr/>
          <p:nvPr/>
        </p:nvSpPr>
        <p:spPr>
          <a:xfrm>
            <a:off x="5348734" y="3651211"/>
            <a:ext cx="6297960" cy="5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Integrates Yosys, OpenROAD, and Magic into a single automated RTL-to-GDSII pipeline, controlled via a configuration file.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2"/>
          <p:cNvSpPr/>
          <p:nvPr/>
        </p:nvSpPr>
        <p:spPr>
          <a:xfrm>
            <a:off x="959644" y="4219649"/>
            <a:ext cx="1689348" cy="5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SkyWater 130nm PDK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2"/>
          <p:cNvSpPr/>
          <p:nvPr/>
        </p:nvSpPr>
        <p:spPr>
          <a:xfrm>
            <a:off x="2934742" y="4219649"/>
            <a:ext cx="4655576" cy="5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Technology Integration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2"/>
          <p:cNvSpPr/>
          <p:nvPr/>
        </p:nvSpPr>
        <p:spPr>
          <a:xfrm>
            <a:off x="5348734" y="4219649"/>
            <a:ext cx="6297960" cy="5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Open-source Process Design Kit providing technology libraries, design rules, and SPICE models referenced by all design tools.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2"/>
          <p:cNvSpPr/>
          <p:nvPr/>
        </p:nvSpPr>
        <p:spPr>
          <a:xfrm>
            <a:off x="959644" y="4788087"/>
            <a:ext cx="1689348" cy="568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Netgen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2"/>
          <p:cNvSpPr/>
          <p:nvPr/>
        </p:nvSpPr>
        <p:spPr>
          <a:xfrm>
            <a:off x="2934742" y="4788087"/>
            <a:ext cx="3385873" cy="568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LVS Verification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2"/>
          <p:cNvSpPr/>
          <p:nvPr/>
        </p:nvSpPr>
        <p:spPr>
          <a:xfrm>
            <a:off x="5348734" y="4788087"/>
            <a:ext cx="6297960" cy="568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alibri"/>
              <a:buNone/>
            </a:pPr>
            <a:r>
              <a:rPr lang="en-US" sz="15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Performs Layout Versus Schematic (LVS) checks to confirm layout netlist is electrically equivalent to the original gate-level netlist.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2"/>
          <p:cNvSpPr/>
          <p:nvPr/>
        </p:nvSpPr>
        <p:spPr>
          <a:xfrm>
            <a:off x="362396" y="962025"/>
            <a:ext cx="11724233" cy="46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8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5"/>
              <a:buFont typeface="Noto Sans KR"/>
              <a:buNone/>
            </a:pPr>
            <a:r>
              <a:rPr lang="en-US" sz="3075" b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Physical Design Toolchain — Toolchain Overview</a:t>
            </a:r>
            <a:endParaRPr sz="30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23" descr="preencoded.png"/>
          <p:cNvPicPr preferRelativeResize="0"/>
          <p:nvPr/>
        </p:nvPicPr>
        <p:blipFill rotWithShape="1">
          <a:blip r:embed="rId3">
            <a:alphaModFix/>
          </a:blip>
          <a:srcRect t="81944"/>
          <a:stretch/>
        </p:blipFill>
        <p:spPr>
          <a:xfrm>
            <a:off x="0" y="5619750"/>
            <a:ext cx="12192000" cy="12382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584" name="Google Shape;584;p23"/>
          <p:cNvSpPr/>
          <p:nvPr/>
        </p:nvSpPr>
        <p:spPr>
          <a:xfrm>
            <a:off x="1378148" y="923925"/>
            <a:ext cx="9492555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 Black"/>
              <a:buNone/>
            </a:pPr>
            <a:r>
              <a:rPr lang="en-US" sz="4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Synthesis and Floorplanning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3"/>
          <p:cNvSpPr/>
          <p:nvPr/>
        </p:nvSpPr>
        <p:spPr>
          <a:xfrm>
            <a:off x="992717" y="1943100"/>
            <a:ext cx="4366683" cy="308670"/>
          </a:xfrm>
          <a:prstGeom prst="rect">
            <a:avLst/>
          </a:prstGeom>
          <a:solidFill>
            <a:srgbClr val="8DA9D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 Black"/>
              <a:buNone/>
            </a:pPr>
            <a:r>
              <a:rPr lang="en-US" sz="2025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Synthesis Process Flow</a:t>
            </a:r>
            <a:endParaRPr sz="20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3"/>
          <p:cNvSpPr/>
          <p:nvPr/>
        </p:nvSpPr>
        <p:spPr>
          <a:xfrm>
            <a:off x="7016055" y="1943100"/>
            <a:ext cx="4183229" cy="297210"/>
          </a:xfrm>
          <a:prstGeom prst="rect">
            <a:avLst/>
          </a:prstGeom>
          <a:solidFill>
            <a:srgbClr val="8DA9D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 Black"/>
              <a:buNone/>
            </a:pPr>
            <a:r>
              <a:rPr lang="en-US" sz="195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Floorplanning &amp; PDN Setup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3"/>
          <p:cNvSpPr/>
          <p:nvPr/>
        </p:nvSpPr>
        <p:spPr>
          <a:xfrm>
            <a:off x="100905" y="6019800"/>
            <a:ext cx="12090946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n-US" sz="1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PDN CONSTRUCTION CONCEPTUAL FLOW → VDD Ring → VDD Strap → Power Rail → Standard Cells</a:t>
            </a:r>
            <a:br>
              <a:rPr lang="en-US" sz="1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Synthesis to PDN Construction Conceptual Flow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3"/>
          <p:cNvSpPr/>
          <p:nvPr/>
        </p:nvSpPr>
        <p:spPr>
          <a:xfrm>
            <a:off x="962025" y="2514600"/>
            <a:ext cx="5490121" cy="36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RTL to Gate-Level Netlist: Transformation of RTL Verilog</a:t>
            </a:r>
            <a:b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into a netlist using Yosys as part of the OpenLane flow.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3"/>
          <p:cNvSpPr/>
          <p:nvPr/>
        </p:nvSpPr>
        <p:spPr>
          <a:xfrm>
            <a:off x="962025" y="3019425"/>
            <a:ext cx="5458718" cy="36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Standard Cell Mapping: Mapping the netlist gates to the</a:t>
            </a:r>
            <a:b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SkyWater 130nm process library.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3"/>
          <p:cNvSpPr/>
          <p:nvPr/>
        </p:nvSpPr>
        <p:spPr>
          <a:xfrm>
            <a:off x="962025" y="3524250"/>
            <a:ext cx="5228183" cy="36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Logic &amp; Area Optimization: Gate-level optimization for</a:t>
            </a:r>
            <a:b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reduced die area and logic depth.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3"/>
          <p:cNvSpPr/>
          <p:nvPr/>
        </p:nvSpPr>
        <p:spPr>
          <a:xfrm>
            <a:off x="962025" y="4048125"/>
            <a:ext cx="5469136" cy="38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Timing Analysis &amp; Constraint Checking: SDC (Synopsys</a:t>
            </a:r>
            <a:b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Constraints) analysis for initial timing.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3"/>
          <p:cNvSpPr/>
          <p:nvPr/>
        </p:nvSpPr>
        <p:spPr>
          <a:xfrm>
            <a:off x="962025" y="4552950"/>
            <a:ext cx="5395913" cy="36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Post-Synthesis Netlist Verification: Functional and area</a:t>
            </a:r>
            <a:b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verification of the generated netlist.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3"/>
          <p:cNvSpPr/>
          <p:nvPr/>
        </p:nvSpPr>
        <p:spPr>
          <a:xfrm>
            <a:off x="962025" y="5143500"/>
            <a:ext cx="5385346" cy="36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Logic Area Estimation &amp; Power Analysis: Estimation of</a:t>
            </a:r>
            <a:b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 core area and initial power consumption.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3"/>
          <p:cNvSpPr/>
          <p:nvPr/>
        </p:nvSpPr>
        <p:spPr>
          <a:xfrm>
            <a:off x="7058025" y="2514600"/>
            <a:ext cx="4756696" cy="339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en-U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Die Area Definition: Establishing the die boundary to</a:t>
            </a:r>
            <a:br>
              <a:rPr lang="en-U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1000um x 1000um.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3"/>
          <p:cNvSpPr/>
          <p:nvPr/>
        </p:nvSpPr>
        <p:spPr>
          <a:xfrm>
            <a:off x="7016055" y="3019425"/>
            <a:ext cx="5175796" cy="339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en-U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SRAM Macro Placement: Strategic placement of the 2KB</a:t>
            </a:r>
            <a:br>
              <a:rPr lang="en-U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SRAM hard macro near core data-path logic.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3"/>
          <p:cNvSpPr/>
          <p:nvPr/>
        </p:nvSpPr>
        <p:spPr>
          <a:xfrm>
            <a:off x="7058025" y="3524250"/>
            <a:ext cx="5039618" cy="339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en-U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I/O Pad &amp; Pin Assignment: Pad and VSS rings for initial</a:t>
            </a:r>
            <a:br>
              <a:rPr lang="en-U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power delivery.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3"/>
          <p:cNvSpPr/>
          <p:nvPr/>
        </p:nvSpPr>
        <p:spPr>
          <a:xfrm>
            <a:off x="7058025" y="4048125"/>
            <a:ext cx="4819650" cy="339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en-U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PDN Ring Construction: VDD and VSS rings for initial</a:t>
            </a:r>
            <a:br>
              <a:rPr lang="en-U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power delivery.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3"/>
          <p:cNvSpPr/>
          <p:nvPr/>
        </p:nvSpPr>
        <p:spPr>
          <a:xfrm>
            <a:off x="7058025" y="4552950"/>
            <a:ext cx="4809083" cy="339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en-U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VDD &amp; VSS Strap Construction: PDN straps on upper</a:t>
            </a:r>
            <a:br>
              <a:rPr lang="en-U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metal layers for power distribution.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3"/>
          <p:cNvSpPr/>
          <p:nvPr/>
        </p:nvSpPr>
        <p:spPr>
          <a:xfrm>
            <a:off x="7058025" y="5143500"/>
            <a:ext cx="5008215" cy="339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en-U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Standard Cell Power Grid Distribution: Power grid from</a:t>
            </a:r>
            <a:br>
              <a:rPr lang="en-U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straps to individual standard cells.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3"/>
          <p:cNvSpPr/>
          <p:nvPr/>
        </p:nvSpPr>
        <p:spPr>
          <a:xfrm>
            <a:off x="956667" y="2543175"/>
            <a:ext cx="115193" cy="17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3"/>
          <p:cNvSpPr/>
          <p:nvPr/>
        </p:nvSpPr>
        <p:spPr>
          <a:xfrm>
            <a:off x="956667" y="3048000"/>
            <a:ext cx="115193" cy="17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3"/>
          <p:cNvSpPr/>
          <p:nvPr/>
        </p:nvSpPr>
        <p:spPr>
          <a:xfrm>
            <a:off x="956667" y="3562350"/>
            <a:ext cx="115193" cy="17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3"/>
          <p:cNvSpPr/>
          <p:nvPr/>
        </p:nvSpPr>
        <p:spPr>
          <a:xfrm>
            <a:off x="956667" y="4591050"/>
            <a:ext cx="115193" cy="17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3"/>
          <p:cNvSpPr/>
          <p:nvPr/>
        </p:nvSpPr>
        <p:spPr>
          <a:xfrm>
            <a:off x="956667" y="5172075"/>
            <a:ext cx="115193" cy="17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3"/>
          <p:cNvSpPr/>
          <p:nvPr/>
        </p:nvSpPr>
        <p:spPr>
          <a:xfrm>
            <a:off x="6680746" y="2543175"/>
            <a:ext cx="125611" cy="18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40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Calibri"/>
              <a:buNone/>
            </a:pPr>
            <a:r>
              <a:rPr lang="en-US" sz="1275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3"/>
          <p:cNvSpPr/>
          <p:nvPr/>
        </p:nvSpPr>
        <p:spPr>
          <a:xfrm>
            <a:off x="6680746" y="3048000"/>
            <a:ext cx="125611" cy="18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40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Calibri"/>
              <a:buNone/>
            </a:pPr>
            <a:r>
              <a:rPr lang="en-US" sz="1275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3"/>
          <p:cNvSpPr/>
          <p:nvPr/>
        </p:nvSpPr>
        <p:spPr>
          <a:xfrm>
            <a:off x="6680746" y="3562350"/>
            <a:ext cx="125611" cy="18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40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Calibri"/>
              <a:buNone/>
            </a:pPr>
            <a:r>
              <a:rPr lang="en-US" sz="1275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3"/>
          <p:cNvSpPr/>
          <p:nvPr/>
        </p:nvSpPr>
        <p:spPr>
          <a:xfrm>
            <a:off x="6680746" y="4076700"/>
            <a:ext cx="125611" cy="18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40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Calibri"/>
              <a:buNone/>
            </a:pPr>
            <a:r>
              <a:rPr lang="en-US" sz="1275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3"/>
          <p:cNvSpPr/>
          <p:nvPr/>
        </p:nvSpPr>
        <p:spPr>
          <a:xfrm>
            <a:off x="6680746" y="4591050"/>
            <a:ext cx="125611" cy="18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40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Calibri"/>
              <a:buNone/>
            </a:pPr>
            <a:r>
              <a:rPr lang="en-US" sz="1275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3"/>
          <p:cNvSpPr/>
          <p:nvPr/>
        </p:nvSpPr>
        <p:spPr>
          <a:xfrm>
            <a:off x="6680746" y="5172075"/>
            <a:ext cx="125611" cy="18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40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Calibri"/>
              <a:buNone/>
            </a:pPr>
            <a:r>
              <a:rPr lang="en-US" sz="1275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" name="Google Shape;616;p24" descr="preencoded.png"/>
          <p:cNvPicPr preferRelativeResize="0"/>
          <p:nvPr/>
        </p:nvPicPr>
        <p:blipFill rotWithShape="1">
          <a:blip r:embed="rId3">
            <a:alphaModFix/>
          </a:blip>
          <a:srcRect t="80950" b="8121"/>
          <a:stretch/>
        </p:blipFill>
        <p:spPr>
          <a:xfrm>
            <a:off x="0" y="5551586"/>
            <a:ext cx="12192000" cy="749499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24"/>
          <p:cNvSpPr/>
          <p:nvPr/>
        </p:nvSpPr>
        <p:spPr>
          <a:xfrm>
            <a:off x="962025" y="923925"/>
            <a:ext cx="11229975" cy="555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75"/>
              <a:buFont typeface="Arial Black"/>
              <a:buNone/>
            </a:pPr>
            <a:r>
              <a:rPr lang="en-US" sz="3675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Placement and Clock Tree Synthesis</a:t>
            </a:r>
            <a:endParaRPr sz="3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4"/>
          <p:cNvSpPr/>
          <p:nvPr/>
        </p:nvSpPr>
        <p:spPr>
          <a:xfrm>
            <a:off x="465237" y="5810250"/>
            <a:ext cx="10928003" cy="49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 Narrow"/>
              <a:buNone/>
            </a:pPr>
            <a:r>
              <a:rPr lang="en-US" sz="1725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PHYSICAL DESIGN FLOW: FLOORPLANNING → PLACEMENT (Optimization) → CTS</a:t>
            </a:r>
            <a:br>
              <a:rPr lang="en-US" sz="1725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lang="en-US" sz="1725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(Clock Distribution) → TIMING VERIFICATION (STA)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4"/>
          <p:cNvSpPr/>
          <p:nvPr/>
        </p:nvSpPr>
        <p:spPr>
          <a:xfrm>
            <a:off x="962025" y="2038350"/>
            <a:ext cx="4664075" cy="233511"/>
          </a:xfrm>
          <a:prstGeom prst="rect">
            <a:avLst/>
          </a:prstGeom>
          <a:solidFill>
            <a:srgbClr val="8DA9D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8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STANDARD CELL PLACEMENT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4"/>
          <p:cNvSpPr/>
          <p:nvPr/>
        </p:nvSpPr>
        <p:spPr>
          <a:xfrm>
            <a:off x="7172325" y="2038350"/>
            <a:ext cx="3862388" cy="233511"/>
          </a:xfrm>
          <a:prstGeom prst="rect">
            <a:avLst/>
          </a:prstGeom>
          <a:solidFill>
            <a:srgbClr val="8DA9D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8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CLOCK TREE SYNTHESIS (CTS)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4"/>
          <p:cNvSpPr/>
          <p:nvPr/>
        </p:nvSpPr>
        <p:spPr>
          <a:xfrm>
            <a:off x="962025" y="2476500"/>
            <a:ext cx="5133975" cy="430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GATE-LEVEL NETLIST PLACEMENT: Place cells from</a:t>
            </a:r>
            <a:b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netlist onto chip floorplan.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4"/>
          <p:cNvSpPr/>
          <p:nvPr/>
        </p:nvSpPr>
        <p:spPr>
          <a:xfrm>
            <a:off x="962025" y="3000375"/>
            <a:ext cx="5123408" cy="408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0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PDK CONSTRAINTS: Optimize within SkyWater 130nm</a:t>
            </a:r>
            <a:b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PDK rules (Area/Timing/Routability).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4"/>
          <p:cNvSpPr/>
          <p:nvPr/>
        </p:nvSpPr>
        <p:spPr>
          <a:xfrm>
            <a:off x="962025" y="3524250"/>
            <a:ext cx="5395913" cy="408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0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WIRE LENGTH MINIMIZATION: Place cells to reduce total</a:t>
            </a:r>
            <a:b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interconnect length.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4"/>
          <p:cNvSpPr/>
          <p:nvPr/>
        </p:nvSpPr>
        <p:spPr>
          <a:xfrm>
            <a:off x="962025" y="4048125"/>
            <a:ext cx="5511105" cy="408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0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CONGESTION MANAGEMENT: Ensure cells are distributed</a:t>
            </a:r>
            <a:b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efficient routing.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4"/>
          <p:cNvSpPr/>
          <p:nvPr/>
        </p:nvSpPr>
        <p:spPr>
          <a:xfrm>
            <a:off x="962025" y="4572000"/>
            <a:ext cx="5521523" cy="408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0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CRITICAL PATH FOCUS: Optimize timing for PicoRV32 core</a:t>
            </a:r>
            <a:b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logic paths.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4"/>
          <p:cNvSpPr/>
          <p:nvPr/>
        </p:nvSpPr>
        <p:spPr>
          <a:xfrm>
            <a:off x="962025" y="5095875"/>
            <a:ext cx="5238750" cy="408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0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AXI4-LITE INTERCONNECT: Optimize logic for AXI4-Lite</a:t>
            </a:r>
            <a:b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subsystem interface.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4"/>
          <p:cNvSpPr/>
          <p:nvPr/>
        </p:nvSpPr>
        <p:spPr>
          <a:xfrm>
            <a:off x="7172325" y="2476500"/>
            <a:ext cx="4714875" cy="362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CLOCK DISTRIBUTION: Create balanced buffer tree for</a:t>
            </a:r>
            <a:b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uniform signal distribution.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4"/>
          <p:cNvSpPr/>
          <p:nvPr/>
        </p:nvSpPr>
        <p:spPr>
          <a:xfrm>
            <a:off x="7172325" y="3000375"/>
            <a:ext cx="4358580" cy="362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SKEW MINIMIZATION: Minimizing skew between all</a:t>
            </a:r>
            <a:b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sequential elements.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4"/>
          <p:cNvSpPr/>
          <p:nvPr/>
        </p:nvSpPr>
        <p:spPr>
          <a:xfrm>
            <a:off x="7172325" y="3524250"/>
            <a:ext cx="5019675" cy="181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TOPOLOGIES: Utilize balanced H-tree or mesh structures.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4"/>
          <p:cNvSpPr/>
          <p:nvPr/>
        </p:nvSpPr>
        <p:spPr>
          <a:xfrm>
            <a:off x="7172325" y="4048125"/>
            <a:ext cx="4620518" cy="362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LATENCY EQUALIZATION: Controlling clock latency to</a:t>
            </a:r>
            <a:b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prevent setup/hold violations.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4"/>
          <p:cNvSpPr/>
          <p:nvPr/>
        </p:nvSpPr>
        <p:spPr>
          <a:xfrm>
            <a:off x="7172325" y="4572000"/>
            <a:ext cx="4201418" cy="362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POST-CTS STA: Static Timing Analysis verifies all</a:t>
            </a:r>
            <a:b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constraints met.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4"/>
          <p:cNvSpPr/>
          <p:nvPr/>
        </p:nvSpPr>
        <p:spPr>
          <a:xfrm>
            <a:off x="7172325" y="5095875"/>
            <a:ext cx="4494758" cy="362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TIMING CLOSURE: Confirm SoC subsystems operate</a:t>
            </a:r>
            <a:b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correctly at target frequency.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4"/>
          <p:cNvSpPr/>
          <p:nvPr/>
        </p:nvSpPr>
        <p:spPr>
          <a:xfrm>
            <a:off x="958602" y="2524125"/>
            <a:ext cx="73223" cy="8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 Narrow"/>
              <a:buNone/>
            </a:pPr>
            <a:r>
              <a:rPr lang="en-US" sz="75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1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4"/>
          <p:cNvSpPr/>
          <p:nvPr/>
        </p:nvSpPr>
        <p:spPr>
          <a:xfrm>
            <a:off x="958602" y="3048000"/>
            <a:ext cx="73223" cy="8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 Narrow"/>
              <a:buNone/>
            </a:pPr>
            <a:r>
              <a:rPr lang="en-US" sz="75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2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4"/>
          <p:cNvSpPr/>
          <p:nvPr/>
        </p:nvSpPr>
        <p:spPr>
          <a:xfrm>
            <a:off x="958602" y="3571875"/>
            <a:ext cx="73223" cy="8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 Narrow"/>
              <a:buNone/>
            </a:pPr>
            <a:r>
              <a:rPr lang="en-US" sz="75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3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4"/>
          <p:cNvSpPr/>
          <p:nvPr/>
        </p:nvSpPr>
        <p:spPr>
          <a:xfrm>
            <a:off x="958602" y="4095750"/>
            <a:ext cx="73223" cy="8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 Narrow"/>
              <a:buNone/>
            </a:pPr>
            <a:r>
              <a:rPr lang="en-US" sz="75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4"/>
          <p:cNvSpPr/>
          <p:nvPr/>
        </p:nvSpPr>
        <p:spPr>
          <a:xfrm>
            <a:off x="958602" y="4629150"/>
            <a:ext cx="73223" cy="8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 Narrow"/>
              <a:buNone/>
            </a:pPr>
            <a:r>
              <a:rPr lang="en-US" sz="75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4"/>
          <p:cNvSpPr/>
          <p:nvPr/>
        </p:nvSpPr>
        <p:spPr>
          <a:xfrm>
            <a:off x="958602" y="5143500"/>
            <a:ext cx="73223" cy="8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 Narrow"/>
              <a:buNone/>
            </a:pPr>
            <a:r>
              <a:rPr lang="en-US" sz="75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6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4"/>
          <p:cNvSpPr/>
          <p:nvPr/>
        </p:nvSpPr>
        <p:spPr>
          <a:xfrm>
            <a:off x="6682680" y="2524125"/>
            <a:ext cx="83790" cy="10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Narrow"/>
              <a:buNone/>
            </a:pPr>
            <a:r>
              <a:rPr lang="en-US" sz="9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4"/>
          <p:cNvSpPr/>
          <p:nvPr/>
        </p:nvSpPr>
        <p:spPr>
          <a:xfrm>
            <a:off x="6682680" y="3048000"/>
            <a:ext cx="83790" cy="10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Narrow"/>
              <a:buNone/>
            </a:pPr>
            <a:r>
              <a:rPr lang="en-US" sz="9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4"/>
          <p:cNvSpPr/>
          <p:nvPr/>
        </p:nvSpPr>
        <p:spPr>
          <a:xfrm>
            <a:off x="6682680" y="3571875"/>
            <a:ext cx="83790" cy="10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Narrow"/>
              <a:buNone/>
            </a:pPr>
            <a:r>
              <a:rPr lang="en-US" sz="9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4"/>
          <p:cNvSpPr/>
          <p:nvPr/>
        </p:nvSpPr>
        <p:spPr>
          <a:xfrm>
            <a:off x="6682680" y="4095750"/>
            <a:ext cx="83790" cy="10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Narrow"/>
              <a:buNone/>
            </a:pPr>
            <a:r>
              <a:rPr lang="en-US" sz="9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4"/>
          <p:cNvSpPr/>
          <p:nvPr/>
        </p:nvSpPr>
        <p:spPr>
          <a:xfrm>
            <a:off x="6682680" y="4629150"/>
            <a:ext cx="83790" cy="10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Narrow"/>
              <a:buNone/>
            </a:pPr>
            <a:r>
              <a:rPr lang="en-US" sz="9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4"/>
          <p:cNvSpPr/>
          <p:nvPr/>
        </p:nvSpPr>
        <p:spPr>
          <a:xfrm>
            <a:off x="6682680" y="5143500"/>
            <a:ext cx="83790" cy="10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Narrow"/>
              <a:buNone/>
            </a:pPr>
            <a:r>
              <a:rPr lang="en-US" sz="9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25" descr="preencoded.png"/>
          <p:cNvPicPr preferRelativeResize="0"/>
          <p:nvPr/>
        </p:nvPicPr>
        <p:blipFill rotWithShape="1">
          <a:blip r:embed="rId3">
            <a:alphaModFix/>
          </a:blip>
          <a:srcRect t="23256" r="59824" b="17209"/>
          <a:stretch/>
        </p:blipFill>
        <p:spPr>
          <a:xfrm>
            <a:off x="5606534" y="1600169"/>
            <a:ext cx="5718571" cy="4082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25" descr="preencoded.png"/>
          <p:cNvPicPr preferRelativeResize="0"/>
          <p:nvPr/>
        </p:nvPicPr>
        <p:blipFill rotWithShape="1">
          <a:blip r:embed="rId3">
            <a:alphaModFix/>
          </a:blip>
          <a:srcRect t="23256" r="49021" b="17209"/>
          <a:stretch/>
        </p:blipFill>
        <p:spPr>
          <a:xfrm>
            <a:off x="0" y="1594884"/>
            <a:ext cx="6215360" cy="4082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2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78158" y="3764384"/>
            <a:ext cx="572988" cy="64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2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07296" y="2490576"/>
            <a:ext cx="585192" cy="534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2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20950" y="4862661"/>
            <a:ext cx="621655" cy="665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2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08747" y="3748236"/>
            <a:ext cx="646063" cy="64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2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16198" y="2579377"/>
            <a:ext cx="682675" cy="692646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25"/>
          <p:cNvSpPr/>
          <p:nvPr/>
        </p:nvSpPr>
        <p:spPr>
          <a:xfrm>
            <a:off x="1374874" y="838200"/>
            <a:ext cx="9565928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9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Poppins"/>
              <a:buNone/>
            </a:pPr>
            <a:r>
              <a:rPr lang="en-US" sz="375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Routing and Signoff Verification</a:t>
            </a:r>
            <a:endParaRPr sz="3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5"/>
          <p:cNvSpPr/>
          <p:nvPr/>
        </p:nvSpPr>
        <p:spPr>
          <a:xfrm>
            <a:off x="976759" y="1752600"/>
            <a:ext cx="4913858" cy="260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9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Poppins"/>
              <a:buNone/>
            </a:pPr>
            <a:r>
              <a:rPr lang="en-US" sz="1725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Detailed Routing &amp; Physical Checks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5"/>
          <p:cNvSpPr/>
          <p:nvPr/>
        </p:nvSpPr>
        <p:spPr>
          <a:xfrm>
            <a:off x="6983611" y="1752600"/>
            <a:ext cx="4149030" cy="272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None/>
            </a:pPr>
            <a:r>
              <a:rPr lang="en-US" sz="18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Verification &amp; Signoff Closure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5"/>
          <p:cNvSpPr/>
          <p:nvPr/>
        </p:nvSpPr>
        <p:spPr>
          <a:xfrm>
            <a:off x="953393" y="2314575"/>
            <a:ext cx="188565" cy="25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9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Poppins"/>
              <a:buNone/>
            </a:pPr>
            <a:r>
              <a:rPr lang="en-US" sz="1575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5"/>
          <p:cNvSpPr/>
          <p:nvPr/>
        </p:nvSpPr>
        <p:spPr>
          <a:xfrm>
            <a:off x="953393" y="3495675"/>
            <a:ext cx="188565" cy="25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9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Poppins"/>
              <a:buNone/>
            </a:pPr>
            <a:r>
              <a:rPr lang="en-US" sz="1575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5"/>
          <p:cNvSpPr/>
          <p:nvPr/>
        </p:nvSpPr>
        <p:spPr>
          <a:xfrm>
            <a:off x="953393" y="4610100"/>
            <a:ext cx="188565" cy="25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9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Poppins"/>
              <a:buNone/>
            </a:pPr>
            <a:r>
              <a:rPr lang="en-US" sz="1575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5"/>
          <p:cNvSpPr/>
          <p:nvPr/>
        </p:nvSpPr>
        <p:spPr>
          <a:xfrm>
            <a:off x="6677918" y="2314575"/>
            <a:ext cx="188565" cy="25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9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Poppins"/>
              <a:buNone/>
            </a:pPr>
            <a:r>
              <a:rPr lang="en-US" sz="1575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5"/>
          <p:cNvSpPr/>
          <p:nvPr/>
        </p:nvSpPr>
        <p:spPr>
          <a:xfrm>
            <a:off x="6677918" y="3495675"/>
            <a:ext cx="188565" cy="25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9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Poppins"/>
              <a:buNone/>
            </a:pPr>
            <a:r>
              <a:rPr lang="en-US" sz="1575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5"/>
          <p:cNvSpPr/>
          <p:nvPr/>
        </p:nvSpPr>
        <p:spPr>
          <a:xfrm>
            <a:off x="6677918" y="4610100"/>
            <a:ext cx="188565" cy="25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9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Poppins"/>
              <a:buNone/>
            </a:pPr>
            <a:r>
              <a:rPr lang="en-US" sz="1575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5"/>
          <p:cNvSpPr/>
          <p:nvPr/>
        </p:nvSpPr>
        <p:spPr>
          <a:xfrm>
            <a:off x="1352550" y="2333625"/>
            <a:ext cx="6515100" cy="233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8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Poppins"/>
              <a:buNone/>
            </a:pPr>
            <a:r>
              <a:rPr lang="en-US" sz="142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Detailed Routing with OpenLane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5"/>
          <p:cNvSpPr/>
          <p:nvPr/>
        </p:nvSpPr>
        <p:spPr>
          <a:xfrm>
            <a:off x="1352550" y="3514725"/>
            <a:ext cx="4994910" cy="233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8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Poppins"/>
              <a:buNone/>
            </a:pPr>
            <a:r>
              <a:rPr lang="en-US" sz="142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Design Rule Check (DRC)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5"/>
          <p:cNvSpPr/>
          <p:nvPr/>
        </p:nvSpPr>
        <p:spPr>
          <a:xfrm>
            <a:off x="1352550" y="4629150"/>
            <a:ext cx="5760720" cy="22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0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Poppins"/>
              <a:buNone/>
            </a:pPr>
            <a:r>
              <a:rPr lang="en-US" sz="135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Antenna Rule Violation Fixes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5"/>
          <p:cNvSpPr/>
          <p:nvPr/>
        </p:nvSpPr>
        <p:spPr>
          <a:xfrm>
            <a:off x="7077075" y="2333625"/>
            <a:ext cx="5114925" cy="233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8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Poppins"/>
              <a:buNone/>
            </a:pPr>
            <a:r>
              <a:rPr lang="en-US" sz="142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Layout vs. Schematic (LVS)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5"/>
          <p:cNvSpPr/>
          <p:nvPr/>
        </p:nvSpPr>
        <p:spPr>
          <a:xfrm>
            <a:off x="7077075" y="3514725"/>
            <a:ext cx="4560570" cy="233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8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Poppins"/>
              <a:buNone/>
            </a:pPr>
            <a:r>
              <a:rPr lang="en-US" sz="142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GDSII File Generation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5"/>
          <p:cNvSpPr/>
          <p:nvPr/>
        </p:nvSpPr>
        <p:spPr>
          <a:xfrm>
            <a:off x="7077075" y="4629150"/>
            <a:ext cx="5114925" cy="233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8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Poppins"/>
              <a:buNone/>
            </a:pPr>
            <a:r>
              <a:rPr lang="en-US" sz="142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Signoff Closure Confirmation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5"/>
          <p:cNvSpPr/>
          <p:nvPr/>
        </p:nvSpPr>
        <p:spPr>
          <a:xfrm>
            <a:off x="1352550" y="2628900"/>
            <a:ext cx="4274790" cy="589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OpenLane automates detailed routing, connecting</a:t>
            </a:r>
            <a:b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all placed standard cells using metal layers</a:t>
            </a:r>
            <a:b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defined by the SkyWater 130nm PDK design rules.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5"/>
          <p:cNvSpPr/>
          <p:nvPr/>
        </p:nvSpPr>
        <p:spPr>
          <a:xfrm>
            <a:off x="1352550" y="3819525"/>
            <a:ext cx="4452938" cy="552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8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Poppins"/>
              <a:buNone/>
            </a:pPr>
            <a:r>
              <a:rPr lang="en-US" sz="1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DRC verifies that the physical layout strictly</a:t>
            </a:r>
            <a:br>
              <a:rPr lang="en-US" sz="1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conforms to the foundry's manufacturing constraints,</a:t>
            </a:r>
            <a:br>
              <a:rPr lang="en-US" sz="1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ensuring no spacing or width violations exist.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5"/>
          <p:cNvSpPr/>
          <p:nvPr/>
        </p:nvSpPr>
        <p:spPr>
          <a:xfrm>
            <a:off x="1352550" y="4991100"/>
            <a:ext cx="4295775" cy="589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During routing, long metal wires can accumulate</a:t>
            </a:r>
            <a:b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charge and damage gates; antenna checks detect</a:t>
            </a:r>
            <a:b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resolve these violations before tape-out.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5"/>
          <p:cNvSpPr/>
          <p:nvPr/>
        </p:nvSpPr>
        <p:spPr>
          <a:xfrm>
            <a:off x="7077075" y="2628900"/>
            <a:ext cx="4285208" cy="589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LVS compares the extracted layout netlist against</a:t>
            </a:r>
            <a:b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original gate-level schematic to confirm both</a:t>
            </a:r>
            <a:b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representations are electrically equivalent.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5"/>
          <p:cNvSpPr/>
          <p:nvPr/>
        </p:nvSpPr>
        <p:spPr>
          <a:xfrm>
            <a:off x="7077075" y="3819525"/>
            <a:ext cx="4211836" cy="589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After all signoff checks pass, OpenLane produces</a:t>
            </a:r>
            <a:b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final GDSII layout file, which is submitted to</a:t>
            </a:r>
            <a:b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SkyWater 130nm foundry for fabrication.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5"/>
          <p:cNvSpPr/>
          <p:nvPr/>
        </p:nvSpPr>
        <p:spPr>
          <a:xfrm>
            <a:off x="7077075" y="4943475"/>
            <a:ext cx="4830068" cy="589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Successful DRC and LVS signoff closure confirms the</a:t>
            </a:r>
            <a:b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SoC subsystem layout is fully manufacturable and ready</a:t>
            </a:r>
            <a:b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physical production.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3" name="Google Shape;683;p2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769" y="1769269"/>
            <a:ext cx="10545961" cy="4711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2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6769" y="1769269"/>
            <a:ext cx="3374678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2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91446" y="1769269"/>
            <a:ext cx="7171283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2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6769" y="2178844"/>
            <a:ext cx="10545961" cy="713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2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6769" y="2178844"/>
            <a:ext cx="3374678" cy="713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2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91446" y="2178844"/>
            <a:ext cx="7171283" cy="713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26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6769" y="2892177"/>
            <a:ext cx="10545961" cy="724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26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6769" y="2892177"/>
            <a:ext cx="3374678" cy="724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26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191446" y="2892177"/>
            <a:ext cx="7171283" cy="724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26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696569" y="3017490"/>
            <a:ext cx="1171873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26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6769" y="3616226"/>
            <a:ext cx="10545961" cy="713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26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6769" y="3616226"/>
            <a:ext cx="3374678" cy="713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26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191446" y="3616226"/>
            <a:ext cx="7171283" cy="713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26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16769" y="4329559"/>
            <a:ext cx="10545961" cy="724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26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16769" y="4329559"/>
            <a:ext cx="3374678" cy="724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26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191446" y="4329559"/>
            <a:ext cx="7171283" cy="724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26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4696569" y="4454872"/>
            <a:ext cx="1171873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26" descr="preencoded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16769" y="5053608"/>
            <a:ext cx="10545961" cy="713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26" descr="preencoded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16769" y="5053608"/>
            <a:ext cx="3374678" cy="713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26" descr="preencoded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4191446" y="5053608"/>
            <a:ext cx="7171283" cy="713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26" descr="preencoded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816769" y="5766941"/>
            <a:ext cx="10545961" cy="713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26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6769" y="5766941"/>
            <a:ext cx="3374678" cy="713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26" descr="preencoded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4191446" y="5766941"/>
            <a:ext cx="7171283" cy="713631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26"/>
          <p:cNvSpPr/>
          <p:nvPr/>
        </p:nvSpPr>
        <p:spPr>
          <a:xfrm>
            <a:off x="950119" y="1769269"/>
            <a:ext cx="4310679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3"/>
              <a:buFont typeface="Calibri"/>
              <a:buNone/>
            </a:pPr>
            <a:r>
              <a:rPr lang="en-US" sz="1463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Configuration Setting</a:t>
            </a:r>
            <a:endParaRPr sz="146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6"/>
          <p:cNvSpPr/>
          <p:nvPr/>
        </p:nvSpPr>
        <p:spPr>
          <a:xfrm>
            <a:off x="4324796" y="1769269"/>
            <a:ext cx="690458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3"/>
              <a:buFont typeface="Calibri"/>
              <a:buNone/>
            </a:pPr>
            <a:r>
              <a:rPr lang="en-US" sz="1463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endParaRPr sz="146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6"/>
          <p:cNvSpPr/>
          <p:nvPr/>
        </p:nvSpPr>
        <p:spPr>
          <a:xfrm>
            <a:off x="950119" y="2178844"/>
            <a:ext cx="6363384" cy="71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938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63"/>
              <a:buFont typeface="Calibri"/>
              <a:buNone/>
            </a:pPr>
            <a:r>
              <a:rPr lang="en-US" sz="1463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PDK Selection: SkyWater 130nm</a:t>
            </a:r>
            <a:endParaRPr sz="146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6"/>
          <p:cNvSpPr/>
          <p:nvPr/>
        </p:nvSpPr>
        <p:spPr>
          <a:xfrm>
            <a:off x="4324796" y="2178844"/>
            <a:ext cx="6904583" cy="71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938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63"/>
              <a:buFont typeface="Calibri"/>
              <a:buNone/>
            </a:pPr>
            <a:r>
              <a:rPr lang="en-US" sz="1463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The SKY130 open-source PDK provides technology libraries, design rules, and models required for manufacturable physical layout generation.</a:t>
            </a:r>
            <a:endParaRPr sz="146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6"/>
          <p:cNvSpPr/>
          <p:nvPr/>
        </p:nvSpPr>
        <p:spPr>
          <a:xfrm>
            <a:off x="950119" y="2892177"/>
            <a:ext cx="4721220" cy="724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938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63"/>
              <a:buFont typeface="Calibri"/>
              <a:buNone/>
            </a:pPr>
            <a:r>
              <a:rPr lang="en-US" sz="1463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Clock Period Constraint</a:t>
            </a:r>
            <a:endParaRPr sz="146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6"/>
          <p:cNvSpPr/>
          <p:nvPr/>
        </p:nvSpPr>
        <p:spPr>
          <a:xfrm>
            <a:off x="4324796" y="2892177"/>
            <a:ext cx="6904583" cy="724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938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63"/>
              <a:buFont typeface="Calibri"/>
              <a:buNone/>
            </a:pPr>
            <a:r>
              <a:rPr lang="en-US" sz="1463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The  defines the target clock period, setting timing constraints that guide synthesis and placement for timing closure.</a:t>
            </a:r>
            <a:endParaRPr sz="146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6"/>
          <p:cNvSpPr/>
          <p:nvPr/>
        </p:nvSpPr>
        <p:spPr>
          <a:xfrm>
            <a:off x="950119" y="3616226"/>
            <a:ext cx="4721220" cy="71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938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63"/>
              <a:buFont typeface="Calibri"/>
              <a:buNone/>
            </a:pPr>
            <a:r>
              <a:rPr lang="en-US" sz="1463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Core Utilization Target</a:t>
            </a:r>
            <a:endParaRPr sz="146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6"/>
          <p:cNvSpPr/>
          <p:nvPr/>
        </p:nvSpPr>
        <p:spPr>
          <a:xfrm>
            <a:off x="4324796" y="3616226"/>
            <a:ext cx="6904583" cy="71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938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63"/>
              <a:buFont typeface="Calibri"/>
              <a:buNone/>
            </a:pPr>
            <a:r>
              <a:rPr lang="en-US" sz="1463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Core utilization is configured to balance cell density and routing congestion, typically set between 40-60% for reliable implementation.</a:t>
            </a:r>
            <a:endParaRPr sz="146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6"/>
          <p:cNvSpPr/>
          <p:nvPr/>
        </p:nvSpPr>
        <p:spPr>
          <a:xfrm>
            <a:off x="950119" y="4329559"/>
            <a:ext cx="6363384" cy="724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938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63"/>
              <a:buFont typeface="Calibri"/>
              <a:buNone/>
            </a:pPr>
            <a:r>
              <a:rPr lang="en-US" sz="1463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Die Area and Floorplan Settings</a:t>
            </a:r>
            <a:endParaRPr sz="146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6"/>
          <p:cNvSpPr/>
          <p:nvPr/>
        </p:nvSpPr>
        <p:spPr>
          <a:xfrm>
            <a:off x="4324796" y="4329559"/>
            <a:ext cx="6904583" cy="724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938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63"/>
              <a:buFont typeface="Calibri"/>
              <a:buNone/>
            </a:pPr>
            <a:r>
              <a:rPr lang="en-US" sz="1463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The  specifies die dimensions and core margins, defining the physical boundary for standard cell placement and routing.</a:t>
            </a:r>
            <a:endParaRPr sz="146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6"/>
          <p:cNvSpPr/>
          <p:nvPr/>
        </p:nvSpPr>
        <p:spPr>
          <a:xfrm>
            <a:off x="950119" y="5053608"/>
            <a:ext cx="5952843" cy="71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938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63"/>
              <a:buFont typeface="Calibri"/>
              <a:buNone/>
            </a:pPr>
            <a:r>
              <a:rPr lang="en-US" sz="1463" dirty="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Design Top Module Declaration</a:t>
            </a:r>
            <a:endParaRPr sz="146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6"/>
          <p:cNvSpPr/>
          <p:nvPr/>
        </p:nvSpPr>
        <p:spPr>
          <a:xfrm>
            <a:off x="4324796" y="5053608"/>
            <a:ext cx="6904583" cy="71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938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63"/>
              <a:buFont typeface="Calibri"/>
              <a:buNone/>
            </a:pPr>
            <a:r>
              <a:rPr lang="en-US" sz="1463" dirty="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The top-level Verilog module name and source file paths are declared, directing </a:t>
            </a:r>
            <a:r>
              <a:rPr lang="en-US" sz="1463" dirty="0" err="1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OpenLane</a:t>
            </a:r>
            <a:r>
              <a:rPr lang="en-US" sz="1463" dirty="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to the correct RTL entry point for synthesis.</a:t>
            </a:r>
            <a:endParaRPr sz="146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6"/>
          <p:cNvSpPr/>
          <p:nvPr/>
        </p:nvSpPr>
        <p:spPr>
          <a:xfrm>
            <a:off x="950119" y="5766941"/>
            <a:ext cx="6568654" cy="713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938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63"/>
              <a:buFont typeface="Calibri"/>
              <a:buNone/>
            </a:pPr>
            <a:r>
              <a:rPr lang="en-US" sz="1463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Synthesis and Routing Strategies</a:t>
            </a:r>
            <a:endParaRPr sz="146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6"/>
          <p:cNvSpPr/>
          <p:nvPr/>
        </p:nvSpPr>
        <p:spPr>
          <a:xfrm>
            <a:off x="4324796" y="5766941"/>
            <a:ext cx="6904583" cy="713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938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63"/>
              <a:buFont typeface="Calibri"/>
              <a:buNone/>
            </a:pPr>
            <a:r>
              <a:rPr lang="en-US" sz="1463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Parameters such as routing layer assignments and synthesis strategy flags are tuned to optimize area, power, and timing for the SoC subsystem.</a:t>
            </a:r>
            <a:endParaRPr sz="146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6"/>
          <p:cNvSpPr/>
          <p:nvPr/>
        </p:nvSpPr>
        <p:spPr>
          <a:xfrm>
            <a:off x="962025" y="914400"/>
            <a:ext cx="112299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Poppins"/>
              <a:buNone/>
            </a:pPr>
            <a:r>
              <a:rPr lang="en-US" sz="3375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OpenLane Configuration</a:t>
            </a:r>
            <a:endParaRPr sz="33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27" descr="preencoded.png"/>
          <p:cNvPicPr preferRelativeResize="0"/>
          <p:nvPr/>
        </p:nvPicPr>
        <p:blipFill rotWithShape="1">
          <a:blip r:embed="rId3">
            <a:alphaModFix/>
          </a:blip>
          <a:srcRect t="13472"/>
          <a:stretch/>
        </p:blipFill>
        <p:spPr>
          <a:xfrm>
            <a:off x="0" y="923924"/>
            <a:ext cx="12192000" cy="5934075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27"/>
          <p:cNvSpPr/>
          <p:nvPr/>
        </p:nvSpPr>
        <p:spPr>
          <a:xfrm>
            <a:off x="962025" y="923925"/>
            <a:ext cx="112299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 Black"/>
              <a:buNone/>
            </a:pPr>
            <a:r>
              <a:rPr lang="en-US" sz="3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Physical Implementation Results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7"/>
          <p:cNvSpPr/>
          <p:nvPr/>
        </p:nvSpPr>
        <p:spPr>
          <a:xfrm>
            <a:off x="1076325" y="2590800"/>
            <a:ext cx="5280660" cy="24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 Black"/>
              <a:buNone/>
            </a:pPr>
            <a:r>
              <a:rPr lang="en-US" sz="1575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Technology &amp; Toolchain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7"/>
          <p:cNvSpPr/>
          <p:nvPr/>
        </p:nvSpPr>
        <p:spPr>
          <a:xfrm>
            <a:off x="4495800" y="2590800"/>
            <a:ext cx="3840480" cy="24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 Black"/>
              <a:buNone/>
            </a:pPr>
            <a:r>
              <a:rPr lang="en-US" sz="1575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Area Utilization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7"/>
          <p:cNvSpPr/>
          <p:nvPr/>
        </p:nvSpPr>
        <p:spPr>
          <a:xfrm>
            <a:off x="7905750" y="2590800"/>
            <a:ext cx="3600450" cy="24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 Black"/>
              <a:buNone/>
            </a:pPr>
            <a:r>
              <a:rPr lang="en-US" sz="1575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Timing Analysis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7"/>
          <p:cNvSpPr/>
          <p:nvPr/>
        </p:nvSpPr>
        <p:spPr>
          <a:xfrm>
            <a:off x="1076325" y="4371975"/>
            <a:ext cx="3600450" cy="24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 Black"/>
              <a:buNone/>
            </a:pPr>
            <a:r>
              <a:rPr lang="en-US" sz="1575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Clock Frequency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7"/>
          <p:cNvSpPr/>
          <p:nvPr/>
        </p:nvSpPr>
        <p:spPr>
          <a:xfrm>
            <a:off x="4495800" y="4371975"/>
            <a:ext cx="5520690" cy="24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 Black"/>
              <a:buNone/>
            </a:pPr>
            <a:r>
              <a:rPr lang="en-US" sz="1575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Verification: DRC &amp; LVS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7"/>
          <p:cNvSpPr/>
          <p:nvPr/>
        </p:nvSpPr>
        <p:spPr>
          <a:xfrm>
            <a:off x="7905750" y="4371975"/>
            <a:ext cx="4286250" cy="24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 Black"/>
              <a:buNone/>
            </a:pPr>
            <a:r>
              <a:rPr lang="en-US" sz="1575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Final GDSII Output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7"/>
          <p:cNvSpPr/>
          <p:nvPr/>
        </p:nvSpPr>
        <p:spPr>
          <a:xfrm>
            <a:off x="1076325" y="1811833"/>
            <a:ext cx="8814820" cy="470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Roboto"/>
              <a:buNone/>
            </a:pPr>
            <a:r>
              <a:rPr lang="en-US" sz="142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physical implementation flow from RTL to GDSII was successfully executed using the OpenLane</a:t>
            </a:r>
            <a:br>
              <a:rPr lang="en-US" sz="142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42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toolchain and SkyWater 130nm PDK, achieving timing closure and a clean manufacturable design.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7"/>
          <p:cNvSpPr/>
          <p:nvPr/>
        </p:nvSpPr>
        <p:spPr>
          <a:xfrm>
            <a:off x="1076325" y="2981325"/>
            <a:ext cx="368796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oboto"/>
              <a:buNone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Implemented using the open-</a:t>
            </a:r>
            <a:b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source SkyWater 130nm process</a:t>
            </a:r>
            <a:b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design kit (PDK) via the OpenLane</a:t>
            </a:r>
            <a:b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RTL-to-GDSII flow.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7"/>
          <p:cNvSpPr/>
          <p:nvPr/>
        </p:nvSpPr>
        <p:spPr>
          <a:xfrm>
            <a:off x="4495800" y="2981325"/>
            <a:ext cx="3687961" cy="868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Roboto"/>
              <a:buNone/>
            </a:pPr>
            <a:r>
              <a:rPr lang="en-US" sz="142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Calculated standard cell area and</a:t>
            </a:r>
            <a:br>
              <a:rPr lang="en-US" sz="142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42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total core utilization percentage</a:t>
            </a:r>
            <a:br>
              <a:rPr lang="en-US" sz="142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42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after placement and routing stages</a:t>
            </a:r>
            <a:br>
              <a:rPr lang="en-US" sz="142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42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(e.g., 0.12mm² at 78% util).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7"/>
          <p:cNvSpPr/>
          <p:nvPr/>
        </p:nvSpPr>
        <p:spPr>
          <a:xfrm>
            <a:off x="7905750" y="2981325"/>
            <a:ext cx="3625155" cy="1085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Roboto"/>
              <a:buNone/>
            </a:pPr>
            <a:r>
              <a:rPr lang="en-US" sz="142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Worst Negative Slack (WNS) and</a:t>
            </a:r>
            <a:br>
              <a:rPr lang="en-US" sz="142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42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Total Negative Slack (TNS) verify</a:t>
            </a:r>
            <a:br>
              <a:rPr lang="en-US" sz="142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42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timing closure with no critical path</a:t>
            </a:r>
            <a:br>
              <a:rPr lang="en-US" sz="142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42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violations (e.g., WNS: 0.15ns,</a:t>
            </a:r>
            <a:br>
              <a:rPr lang="en-US" sz="142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42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TNS: 0ns).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7"/>
          <p:cNvSpPr/>
          <p:nvPr/>
        </p:nvSpPr>
        <p:spPr>
          <a:xfrm>
            <a:off x="1076325" y="4819650"/>
            <a:ext cx="362515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oboto"/>
              <a:buNone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PicoRV32-based SoC</a:t>
            </a:r>
            <a:b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subsystem meets the target clock</a:t>
            </a:r>
            <a:b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frequency after Clock Tree</a:t>
            </a:r>
            <a:b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Synthesis (CTS) and routing</a:t>
            </a:r>
            <a:b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optimization (e.g., 100 MHz).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7"/>
          <p:cNvSpPr/>
          <p:nvPr/>
        </p:nvSpPr>
        <p:spPr>
          <a:xfrm>
            <a:off x="4495800" y="4819650"/>
            <a:ext cx="3551783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oboto"/>
              <a:buNone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Successfully passed Design Rule</a:t>
            </a:r>
            <a:b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Check (DRC) and Layout vs.</a:t>
            </a:r>
            <a:b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Schematic (LVS) verification,</a:t>
            </a:r>
            <a:b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confirming a clean,</a:t>
            </a:r>
            <a:b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manufacturable layout with zero</a:t>
            </a:r>
            <a:b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violations.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7"/>
          <p:cNvSpPr/>
          <p:nvPr/>
        </p:nvSpPr>
        <p:spPr>
          <a:xfrm>
            <a:off x="7905750" y="4819650"/>
            <a:ext cx="376133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oboto"/>
              <a:buNone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Final GDSII file successfully</a:t>
            </a:r>
            <a:b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generated by OpenLane,</a:t>
            </a:r>
            <a:b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representing the complete physical</a:t>
            </a:r>
            <a:b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layout ready for foundry</a:t>
            </a:r>
            <a:b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submission.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24"/>
          <p:cNvSpPr/>
          <p:nvPr/>
        </p:nvSpPr>
        <p:spPr>
          <a:xfrm>
            <a:off x="365753" y="451100"/>
            <a:ext cx="11338400" cy="8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FFFFF"/>
              </a:buClr>
              <a:buSzPts val="2000"/>
            </a:pPr>
            <a:r>
              <a:rPr lang="en-US" sz="2667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Sub-module 8 — Complete Lab Command Reference</a:t>
            </a:r>
            <a:endParaRPr sz="26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24"/>
          <p:cNvSpPr/>
          <p:nvPr/>
        </p:nvSpPr>
        <p:spPr>
          <a:xfrm>
            <a:off x="365760" y="1280160"/>
            <a:ext cx="5608320" cy="82905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52" name="Google Shape;1152;p24"/>
          <p:cNvSpPr/>
          <p:nvPr/>
        </p:nvSpPr>
        <p:spPr>
          <a:xfrm>
            <a:off x="365760" y="1280160"/>
            <a:ext cx="73152" cy="829056"/>
          </a:xfrm>
          <a:prstGeom prst="rect">
            <a:avLst/>
          </a:prstGeom>
          <a:solidFill>
            <a:srgbClr val="15803D"/>
          </a:solidFill>
          <a:ln w="12700" cap="flat" cmpd="sng">
            <a:solidFill>
              <a:srgbClr val="1580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53" name="Google Shape;1153;p24"/>
          <p:cNvSpPr/>
          <p:nvPr/>
        </p:nvSpPr>
        <p:spPr>
          <a:xfrm>
            <a:off x="512064" y="1341120"/>
            <a:ext cx="2682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5803D"/>
              </a:buClr>
              <a:buSzPts val="1000"/>
            </a:pPr>
            <a:r>
              <a:rPr lang="en-US" sz="1333" b="1">
                <a:solidFill>
                  <a:srgbClr val="15803D"/>
                </a:solidFill>
                <a:latin typeface="Consolas"/>
                <a:ea typeface="Consolas"/>
                <a:cs typeface="Consolas"/>
                <a:sym typeface="Consolas"/>
              </a:rPr>
              <a:t>make fw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24"/>
          <p:cNvSpPr/>
          <p:nvPr/>
        </p:nvSpPr>
        <p:spPr>
          <a:xfrm>
            <a:off x="3267456" y="1365504"/>
            <a:ext cx="1097280" cy="268224"/>
          </a:xfrm>
          <a:prstGeom prst="roundRect">
            <a:avLst>
              <a:gd name="adj" fmla="val 27273"/>
            </a:avLst>
          </a:prstGeom>
          <a:solidFill>
            <a:srgbClr val="DBEAFE"/>
          </a:solidFill>
          <a:ln w="127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55" name="Google Shape;1155;p24"/>
          <p:cNvSpPr/>
          <p:nvPr/>
        </p:nvSpPr>
        <p:spPr>
          <a:xfrm>
            <a:off x="3267456" y="1365504"/>
            <a:ext cx="109728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2563EB"/>
              </a:buClr>
              <a:buSzPts val="750"/>
            </a:pPr>
            <a:r>
              <a:rPr lang="en-US" sz="10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24"/>
          <p:cNvSpPr/>
          <p:nvPr/>
        </p:nvSpPr>
        <p:spPr>
          <a:xfrm>
            <a:off x="512064" y="1719072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Compile fw/main.c → rom.hex (firmware binary)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24"/>
          <p:cNvSpPr/>
          <p:nvPr/>
        </p:nvSpPr>
        <p:spPr>
          <a:xfrm>
            <a:off x="6339840" y="1280160"/>
            <a:ext cx="5608320" cy="82905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58" name="Google Shape;1158;p24"/>
          <p:cNvSpPr/>
          <p:nvPr/>
        </p:nvSpPr>
        <p:spPr>
          <a:xfrm>
            <a:off x="6339840" y="1280160"/>
            <a:ext cx="73152" cy="829056"/>
          </a:xfrm>
          <a:prstGeom prst="rect">
            <a:avLst/>
          </a:prstGeom>
          <a:solidFill>
            <a:srgbClr val="1E40AF"/>
          </a:solidFill>
          <a:ln w="12700" cap="flat" cmpd="sng">
            <a:solidFill>
              <a:srgbClr val="1E40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59" name="Google Shape;1159;p24"/>
          <p:cNvSpPr/>
          <p:nvPr/>
        </p:nvSpPr>
        <p:spPr>
          <a:xfrm>
            <a:off x="6486144" y="1341120"/>
            <a:ext cx="2682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40AF"/>
              </a:buClr>
              <a:buSzPts val="1000"/>
            </a:pPr>
            <a:r>
              <a:rPr lang="en-US" sz="1333" b="1">
                <a:solidFill>
                  <a:srgbClr val="1E40AF"/>
                </a:solidFill>
                <a:latin typeface="Consolas"/>
                <a:ea typeface="Consolas"/>
                <a:cs typeface="Consolas"/>
                <a:sym typeface="Consolas"/>
              </a:rPr>
              <a:t>make soc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24"/>
          <p:cNvSpPr/>
          <p:nvPr/>
        </p:nvSpPr>
        <p:spPr>
          <a:xfrm>
            <a:off x="9241536" y="1365504"/>
            <a:ext cx="1097280" cy="268224"/>
          </a:xfrm>
          <a:prstGeom prst="roundRect">
            <a:avLst>
              <a:gd name="adj" fmla="val 27273"/>
            </a:avLst>
          </a:prstGeom>
          <a:solidFill>
            <a:srgbClr val="DBEAFE"/>
          </a:solidFill>
          <a:ln w="127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61" name="Google Shape;1161;p24"/>
          <p:cNvSpPr/>
          <p:nvPr/>
        </p:nvSpPr>
        <p:spPr>
          <a:xfrm>
            <a:off x="9241536" y="1365504"/>
            <a:ext cx="109728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2563EB"/>
              </a:buClr>
              <a:buSzPts val="750"/>
            </a:pPr>
            <a:r>
              <a:rPr lang="en-US" sz="10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Simulate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24"/>
          <p:cNvSpPr/>
          <p:nvPr/>
        </p:nvSpPr>
        <p:spPr>
          <a:xfrm>
            <a:off x="6486144" y="1719072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Full SoC sim: 9 RTL + tb_top.v → TEST PASSED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24"/>
          <p:cNvSpPr/>
          <p:nvPr/>
        </p:nvSpPr>
        <p:spPr>
          <a:xfrm>
            <a:off x="365760" y="2231136"/>
            <a:ext cx="5608320" cy="82905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64" name="Google Shape;1164;p24"/>
          <p:cNvSpPr/>
          <p:nvPr/>
        </p:nvSpPr>
        <p:spPr>
          <a:xfrm>
            <a:off x="365760" y="2231136"/>
            <a:ext cx="73152" cy="829056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65" name="Google Shape;1165;p24"/>
          <p:cNvSpPr/>
          <p:nvPr/>
        </p:nvSpPr>
        <p:spPr>
          <a:xfrm>
            <a:off x="512064" y="2292096"/>
            <a:ext cx="2682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0891B2"/>
              </a:buClr>
              <a:buSzPts val="1000"/>
            </a:pPr>
            <a:r>
              <a:rPr lang="en-US" sz="1333" b="1">
                <a:solidFill>
                  <a:srgbClr val="0891B2"/>
                </a:solidFill>
                <a:latin typeface="Consolas"/>
                <a:ea typeface="Consolas"/>
                <a:cs typeface="Consolas"/>
                <a:sym typeface="Consolas"/>
              </a:rPr>
              <a:t>make wave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24"/>
          <p:cNvSpPr/>
          <p:nvPr/>
        </p:nvSpPr>
        <p:spPr>
          <a:xfrm>
            <a:off x="3267456" y="2316480"/>
            <a:ext cx="1097280" cy="268224"/>
          </a:xfrm>
          <a:prstGeom prst="roundRect">
            <a:avLst>
              <a:gd name="adj" fmla="val 27273"/>
            </a:avLst>
          </a:prstGeom>
          <a:solidFill>
            <a:srgbClr val="DBEAFE"/>
          </a:solidFill>
          <a:ln w="127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67" name="Google Shape;1167;p24"/>
          <p:cNvSpPr/>
          <p:nvPr/>
        </p:nvSpPr>
        <p:spPr>
          <a:xfrm>
            <a:off x="3267456" y="2316480"/>
            <a:ext cx="109728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2563EB"/>
              </a:buClr>
              <a:buSzPts val="750"/>
            </a:pPr>
            <a:r>
              <a:rPr lang="en-US" sz="10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Debug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24"/>
          <p:cNvSpPr/>
          <p:nvPr/>
        </p:nvSpPr>
        <p:spPr>
          <a:xfrm>
            <a:off x="512064" y="2670048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vcd2fst compress + open GTKWave (tb_top.fst)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24"/>
          <p:cNvSpPr/>
          <p:nvPr/>
        </p:nvSpPr>
        <p:spPr>
          <a:xfrm>
            <a:off x="6339840" y="2231136"/>
            <a:ext cx="5608320" cy="82905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70" name="Google Shape;1170;p24"/>
          <p:cNvSpPr/>
          <p:nvPr/>
        </p:nvSpPr>
        <p:spPr>
          <a:xfrm>
            <a:off x="6339840" y="2231136"/>
            <a:ext cx="73152" cy="829056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71" name="Google Shape;1171;p24"/>
          <p:cNvSpPr/>
          <p:nvPr/>
        </p:nvSpPr>
        <p:spPr>
          <a:xfrm>
            <a:off x="6486144" y="2292096"/>
            <a:ext cx="2682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7C3AED"/>
              </a:buClr>
              <a:buSzPts val="1000"/>
            </a:pPr>
            <a:r>
              <a:rPr lang="en-US" sz="1333" b="1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make debug_soc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24"/>
          <p:cNvSpPr/>
          <p:nvPr/>
        </p:nvSpPr>
        <p:spPr>
          <a:xfrm>
            <a:off x="9241536" y="2316480"/>
            <a:ext cx="1097280" cy="268224"/>
          </a:xfrm>
          <a:prstGeom prst="roundRect">
            <a:avLst>
              <a:gd name="adj" fmla="val 27273"/>
            </a:avLst>
          </a:prstGeom>
          <a:solidFill>
            <a:srgbClr val="DBEAFE"/>
          </a:solidFill>
          <a:ln w="127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73" name="Google Shape;1173;p24"/>
          <p:cNvSpPr/>
          <p:nvPr/>
        </p:nvSpPr>
        <p:spPr>
          <a:xfrm>
            <a:off x="9241536" y="2316480"/>
            <a:ext cx="109728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2563EB"/>
              </a:buClr>
              <a:buSzPts val="750"/>
            </a:pPr>
            <a:r>
              <a:rPr lang="en-US" sz="10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Debug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24"/>
          <p:cNvSpPr/>
          <p:nvPr/>
        </p:nvSpPr>
        <p:spPr>
          <a:xfrm>
            <a:off x="6486144" y="2670048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Verbose tb_debug.v — extra signal logging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24"/>
          <p:cNvSpPr/>
          <p:nvPr/>
        </p:nvSpPr>
        <p:spPr>
          <a:xfrm>
            <a:off x="365760" y="3182112"/>
            <a:ext cx="5608320" cy="82905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76" name="Google Shape;1176;p24"/>
          <p:cNvSpPr/>
          <p:nvPr/>
        </p:nvSpPr>
        <p:spPr>
          <a:xfrm>
            <a:off x="365760" y="3182112"/>
            <a:ext cx="73152" cy="829056"/>
          </a:xfrm>
          <a:prstGeom prst="rect">
            <a:avLst/>
          </a:prstGeom>
          <a:solidFill>
            <a:srgbClr val="B45309"/>
          </a:solidFill>
          <a:ln w="12700" cap="flat" cmpd="sng">
            <a:solidFill>
              <a:srgbClr val="B4530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77" name="Google Shape;1177;p24"/>
          <p:cNvSpPr/>
          <p:nvPr/>
        </p:nvSpPr>
        <p:spPr>
          <a:xfrm>
            <a:off x="512064" y="3243072"/>
            <a:ext cx="2682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B45309"/>
              </a:buClr>
              <a:buSzPts val="1000"/>
            </a:pPr>
            <a:r>
              <a:rPr lang="en-US" sz="1333" b="1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make synth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24"/>
          <p:cNvSpPr/>
          <p:nvPr/>
        </p:nvSpPr>
        <p:spPr>
          <a:xfrm>
            <a:off x="3267456" y="3267456"/>
            <a:ext cx="1097280" cy="268224"/>
          </a:xfrm>
          <a:prstGeom prst="roundRect">
            <a:avLst>
              <a:gd name="adj" fmla="val 27273"/>
            </a:avLst>
          </a:prstGeom>
          <a:solidFill>
            <a:srgbClr val="DBEAFE"/>
          </a:solidFill>
          <a:ln w="127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79" name="Google Shape;1179;p24"/>
          <p:cNvSpPr/>
          <p:nvPr/>
        </p:nvSpPr>
        <p:spPr>
          <a:xfrm>
            <a:off x="3267456" y="3267456"/>
            <a:ext cx="109728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2563EB"/>
              </a:buClr>
              <a:buSzPts val="750"/>
            </a:pPr>
            <a:r>
              <a:rPr lang="en-US" sz="10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Synth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24"/>
          <p:cNvSpPr/>
          <p:nvPr/>
        </p:nvSpPr>
        <p:spPr>
          <a:xfrm>
            <a:off x="512064" y="3621024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Yosys synthesis: -D SYNTHESIS → top.json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24"/>
          <p:cNvSpPr/>
          <p:nvPr/>
        </p:nvSpPr>
        <p:spPr>
          <a:xfrm>
            <a:off x="6339840" y="3182112"/>
            <a:ext cx="5608320" cy="82905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82" name="Google Shape;1182;p24"/>
          <p:cNvSpPr/>
          <p:nvPr/>
        </p:nvSpPr>
        <p:spPr>
          <a:xfrm>
            <a:off x="6339840" y="3182112"/>
            <a:ext cx="73152" cy="829056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83" name="Google Shape;1183;p24"/>
          <p:cNvSpPr/>
          <p:nvPr/>
        </p:nvSpPr>
        <p:spPr>
          <a:xfrm>
            <a:off x="6486144" y="3243072"/>
            <a:ext cx="2682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DC2626"/>
              </a:buClr>
              <a:buSzPts val="1000"/>
            </a:pPr>
            <a:r>
              <a:rPr lang="en-US" sz="1333" b="1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make openlane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24"/>
          <p:cNvSpPr/>
          <p:nvPr/>
        </p:nvSpPr>
        <p:spPr>
          <a:xfrm>
            <a:off x="9241536" y="3267456"/>
            <a:ext cx="1097280" cy="268224"/>
          </a:xfrm>
          <a:prstGeom prst="roundRect">
            <a:avLst>
              <a:gd name="adj" fmla="val 27273"/>
            </a:avLst>
          </a:prstGeom>
          <a:solidFill>
            <a:srgbClr val="DBEAFE"/>
          </a:solidFill>
          <a:ln w="127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85" name="Google Shape;1185;p24"/>
          <p:cNvSpPr/>
          <p:nvPr/>
        </p:nvSpPr>
        <p:spPr>
          <a:xfrm>
            <a:off x="9241536" y="3267456"/>
            <a:ext cx="109728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2563EB"/>
              </a:buClr>
              <a:buSzPts val="750"/>
            </a:pPr>
            <a:r>
              <a:rPr lang="en-US" sz="10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ASIC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24"/>
          <p:cNvSpPr/>
          <p:nvPr/>
        </p:nvSpPr>
        <p:spPr>
          <a:xfrm>
            <a:off x="6486144" y="3621024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Full OpenLane2 flow → GDSII (SkyWater 130nm)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24"/>
          <p:cNvSpPr/>
          <p:nvPr/>
        </p:nvSpPr>
        <p:spPr>
          <a:xfrm>
            <a:off x="365760" y="4133088"/>
            <a:ext cx="5608320" cy="82905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88" name="Google Shape;1188;p24"/>
          <p:cNvSpPr/>
          <p:nvPr/>
        </p:nvSpPr>
        <p:spPr>
          <a:xfrm>
            <a:off x="365760" y="4133088"/>
            <a:ext cx="73152" cy="829056"/>
          </a:xfrm>
          <a:prstGeom prst="rect">
            <a:avLst/>
          </a:prstGeom>
          <a:solidFill>
            <a:srgbClr val="475569"/>
          </a:solidFill>
          <a:ln w="12700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89" name="Google Shape;1189;p24"/>
          <p:cNvSpPr/>
          <p:nvPr/>
        </p:nvSpPr>
        <p:spPr>
          <a:xfrm>
            <a:off x="512064" y="4194048"/>
            <a:ext cx="2682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75569"/>
              </a:buClr>
              <a:buSzPts val="1000"/>
            </a:pPr>
            <a:r>
              <a:rPr lang="en-US" sz="1333" b="1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make pico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24"/>
          <p:cNvSpPr/>
          <p:nvPr/>
        </p:nvSpPr>
        <p:spPr>
          <a:xfrm>
            <a:off x="3267456" y="4218432"/>
            <a:ext cx="1097280" cy="268224"/>
          </a:xfrm>
          <a:prstGeom prst="roundRect">
            <a:avLst>
              <a:gd name="adj" fmla="val 27273"/>
            </a:avLst>
          </a:prstGeom>
          <a:solidFill>
            <a:srgbClr val="DBEAFE"/>
          </a:solidFill>
          <a:ln w="127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91" name="Google Shape;1191;p24"/>
          <p:cNvSpPr/>
          <p:nvPr/>
        </p:nvSpPr>
        <p:spPr>
          <a:xfrm>
            <a:off x="3267456" y="4218432"/>
            <a:ext cx="109728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2563EB"/>
              </a:buClr>
              <a:buSzPts val="750"/>
            </a:pPr>
            <a:r>
              <a:rPr lang="en-US" sz="1000" dirty="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Sub-module 1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24"/>
          <p:cNvSpPr/>
          <p:nvPr/>
        </p:nvSpPr>
        <p:spPr>
          <a:xfrm>
            <a:off x="512064" y="457200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PicoRV32 core standalone test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24"/>
          <p:cNvSpPr/>
          <p:nvPr/>
        </p:nvSpPr>
        <p:spPr>
          <a:xfrm>
            <a:off x="6339840" y="4133088"/>
            <a:ext cx="5608320" cy="82905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94" name="Google Shape;1194;p24"/>
          <p:cNvSpPr/>
          <p:nvPr/>
        </p:nvSpPr>
        <p:spPr>
          <a:xfrm>
            <a:off x="6339840" y="4133088"/>
            <a:ext cx="73152" cy="829056"/>
          </a:xfrm>
          <a:prstGeom prst="rect">
            <a:avLst/>
          </a:prstGeom>
          <a:solidFill>
            <a:srgbClr val="475569"/>
          </a:solidFill>
          <a:ln w="12700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95" name="Google Shape;1195;p24"/>
          <p:cNvSpPr/>
          <p:nvPr/>
        </p:nvSpPr>
        <p:spPr>
          <a:xfrm>
            <a:off x="6486144" y="4194048"/>
            <a:ext cx="2682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75569"/>
              </a:buClr>
              <a:buSzPts val="1000"/>
            </a:pPr>
            <a:r>
              <a:rPr lang="en-US" sz="1333" b="1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make axi_sa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24"/>
          <p:cNvSpPr/>
          <p:nvPr/>
        </p:nvSpPr>
        <p:spPr>
          <a:xfrm>
            <a:off x="9241536" y="4218432"/>
            <a:ext cx="1097280" cy="268224"/>
          </a:xfrm>
          <a:prstGeom prst="roundRect">
            <a:avLst>
              <a:gd name="adj" fmla="val 27273"/>
            </a:avLst>
          </a:prstGeom>
          <a:solidFill>
            <a:srgbClr val="DBEAFE"/>
          </a:solidFill>
          <a:ln w="127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197" name="Google Shape;1197;p24"/>
          <p:cNvSpPr/>
          <p:nvPr/>
        </p:nvSpPr>
        <p:spPr>
          <a:xfrm>
            <a:off x="9241536" y="4218432"/>
            <a:ext cx="109728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2563EB"/>
              </a:buClr>
              <a:buSzPts val="750"/>
            </a:pPr>
            <a:r>
              <a:rPr lang="en-US" sz="1000" dirty="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Sub-module 2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24"/>
          <p:cNvSpPr/>
          <p:nvPr/>
        </p:nvSpPr>
        <p:spPr>
          <a:xfrm>
            <a:off x="6486144" y="457200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AXI-Lite handshake standalone test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24"/>
          <p:cNvSpPr/>
          <p:nvPr/>
        </p:nvSpPr>
        <p:spPr>
          <a:xfrm>
            <a:off x="365760" y="5084064"/>
            <a:ext cx="5608320" cy="82905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200" name="Google Shape;1200;p24"/>
          <p:cNvSpPr/>
          <p:nvPr/>
        </p:nvSpPr>
        <p:spPr>
          <a:xfrm>
            <a:off x="365760" y="5084064"/>
            <a:ext cx="73152" cy="829056"/>
          </a:xfrm>
          <a:prstGeom prst="rect">
            <a:avLst/>
          </a:prstGeom>
          <a:solidFill>
            <a:srgbClr val="475569"/>
          </a:solidFill>
          <a:ln w="12700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201" name="Google Shape;1201;p24"/>
          <p:cNvSpPr/>
          <p:nvPr/>
        </p:nvSpPr>
        <p:spPr>
          <a:xfrm>
            <a:off x="512064" y="5145024"/>
            <a:ext cx="2682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75569"/>
              </a:buClr>
              <a:buSzPts val="1000"/>
            </a:pPr>
            <a:r>
              <a:rPr lang="en-US" sz="1333" b="1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make uart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24"/>
          <p:cNvSpPr/>
          <p:nvPr/>
        </p:nvSpPr>
        <p:spPr>
          <a:xfrm>
            <a:off x="3267456" y="5169408"/>
            <a:ext cx="1097280" cy="268224"/>
          </a:xfrm>
          <a:prstGeom prst="roundRect">
            <a:avLst>
              <a:gd name="adj" fmla="val 27273"/>
            </a:avLst>
          </a:prstGeom>
          <a:solidFill>
            <a:srgbClr val="DBEAFE"/>
          </a:solidFill>
          <a:ln w="127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203" name="Google Shape;1203;p24"/>
          <p:cNvSpPr/>
          <p:nvPr/>
        </p:nvSpPr>
        <p:spPr>
          <a:xfrm>
            <a:off x="3267456" y="5169408"/>
            <a:ext cx="109728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2563EB"/>
              </a:buClr>
              <a:buSzPts val="750"/>
            </a:pPr>
            <a:r>
              <a:rPr lang="en-US" sz="1000" dirty="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Sub-module 3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24"/>
          <p:cNvSpPr/>
          <p:nvPr/>
        </p:nvSpPr>
        <p:spPr>
          <a:xfrm>
            <a:off x="512064" y="5522976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UART TX/RX loopback test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24"/>
          <p:cNvSpPr/>
          <p:nvPr/>
        </p:nvSpPr>
        <p:spPr>
          <a:xfrm>
            <a:off x="6339840" y="5084064"/>
            <a:ext cx="5608320" cy="82905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206" name="Google Shape;1206;p24"/>
          <p:cNvSpPr/>
          <p:nvPr/>
        </p:nvSpPr>
        <p:spPr>
          <a:xfrm>
            <a:off x="6339840" y="5084064"/>
            <a:ext cx="73152" cy="829056"/>
          </a:xfrm>
          <a:prstGeom prst="rect">
            <a:avLst/>
          </a:prstGeom>
          <a:solidFill>
            <a:srgbClr val="475569"/>
          </a:solidFill>
          <a:ln w="12700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207" name="Google Shape;1207;p24"/>
          <p:cNvSpPr/>
          <p:nvPr/>
        </p:nvSpPr>
        <p:spPr>
          <a:xfrm>
            <a:off x="6486144" y="5145024"/>
            <a:ext cx="2682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75569"/>
              </a:buClr>
              <a:buSzPts val="1000"/>
            </a:pPr>
            <a:r>
              <a:rPr lang="en-US" sz="1333" b="1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make soc_pico_uart_mem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24"/>
          <p:cNvSpPr/>
          <p:nvPr/>
        </p:nvSpPr>
        <p:spPr>
          <a:xfrm>
            <a:off x="9241536" y="5169408"/>
            <a:ext cx="1097280" cy="268224"/>
          </a:xfrm>
          <a:prstGeom prst="roundRect">
            <a:avLst>
              <a:gd name="adj" fmla="val 27273"/>
            </a:avLst>
          </a:prstGeom>
          <a:solidFill>
            <a:srgbClr val="DBEAFE"/>
          </a:solidFill>
          <a:ln w="127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209" name="Google Shape;1209;p24"/>
          <p:cNvSpPr/>
          <p:nvPr/>
        </p:nvSpPr>
        <p:spPr>
          <a:xfrm>
            <a:off x="9241536" y="5169408"/>
            <a:ext cx="109728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2563EB"/>
              </a:buClr>
              <a:buSzPts val="750"/>
            </a:pPr>
            <a:r>
              <a:rPr lang="en-US" sz="1000" dirty="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Sub-module 4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24"/>
          <p:cNvSpPr/>
          <p:nvPr/>
        </p:nvSpPr>
        <p:spPr>
          <a:xfrm>
            <a:off x="6486144" y="5522976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MMI SoC: PicoRV32 + UART + memory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24"/>
          <p:cNvSpPr/>
          <p:nvPr/>
        </p:nvSpPr>
        <p:spPr>
          <a:xfrm>
            <a:off x="365760" y="6035040"/>
            <a:ext cx="5608320" cy="82905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212" name="Google Shape;1212;p24"/>
          <p:cNvSpPr/>
          <p:nvPr/>
        </p:nvSpPr>
        <p:spPr>
          <a:xfrm>
            <a:off x="365760" y="6035040"/>
            <a:ext cx="73152" cy="829056"/>
          </a:xfrm>
          <a:prstGeom prst="rect">
            <a:avLst/>
          </a:prstGeom>
          <a:solidFill>
            <a:srgbClr val="475569"/>
          </a:solidFill>
          <a:ln w="12700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213" name="Google Shape;1213;p24"/>
          <p:cNvSpPr/>
          <p:nvPr/>
        </p:nvSpPr>
        <p:spPr>
          <a:xfrm>
            <a:off x="512064" y="6096000"/>
            <a:ext cx="2682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75569"/>
              </a:buClr>
              <a:buSzPts val="1000"/>
            </a:pPr>
            <a:r>
              <a:rPr lang="en-US" sz="1333" b="1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make riscv_axi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24"/>
          <p:cNvSpPr/>
          <p:nvPr/>
        </p:nvSpPr>
        <p:spPr>
          <a:xfrm>
            <a:off x="3267456" y="6120384"/>
            <a:ext cx="1097280" cy="268224"/>
          </a:xfrm>
          <a:prstGeom prst="roundRect">
            <a:avLst>
              <a:gd name="adj" fmla="val 27273"/>
            </a:avLst>
          </a:prstGeom>
          <a:solidFill>
            <a:srgbClr val="DBEAFE"/>
          </a:solidFill>
          <a:ln w="127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215" name="Google Shape;1215;p24"/>
          <p:cNvSpPr/>
          <p:nvPr/>
        </p:nvSpPr>
        <p:spPr>
          <a:xfrm>
            <a:off x="3267456" y="6120384"/>
            <a:ext cx="109728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2563EB"/>
              </a:buClr>
              <a:buSzPts val="750"/>
            </a:pPr>
            <a:r>
              <a:rPr lang="en-US" sz="1000" dirty="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Sub-module 5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24"/>
          <p:cNvSpPr/>
          <p:nvPr/>
        </p:nvSpPr>
        <p:spPr>
          <a:xfrm>
            <a:off x="512064" y="6473952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RISC-V to AXI bridge demo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24"/>
          <p:cNvSpPr/>
          <p:nvPr/>
        </p:nvSpPr>
        <p:spPr>
          <a:xfrm>
            <a:off x="6339840" y="6035040"/>
            <a:ext cx="5608320" cy="82905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218" name="Google Shape;1218;p24"/>
          <p:cNvSpPr/>
          <p:nvPr/>
        </p:nvSpPr>
        <p:spPr>
          <a:xfrm>
            <a:off x="6339840" y="6035040"/>
            <a:ext cx="73152" cy="829056"/>
          </a:xfrm>
          <a:prstGeom prst="rect">
            <a:avLst/>
          </a:prstGeom>
          <a:solidFill>
            <a:srgbClr val="475569"/>
          </a:solidFill>
          <a:ln w="12700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219" name="Google Shape;1219;p24"/>
          <p:cNvSpPr/>
          <p:nvPr/>
        </p:nvSpPr>
        <p:spPr>
          <a:xfrm>
            <a:off x="6486144" y="6096000"/>
            <a:ext cx="2682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475569"/>
              </a:buClr>
              <a:buSzPts val="1000"/>
            </a:pPr>
            <a:r>
              <a:rPr lang="en-US" sz="1333" b="1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make axi_uart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24"/>
          <p:cNvSpPr/>
          <p:nvPr/>
        </p:nvSpPr>
        <p:spPr>
          <a:xfrm>
            <a:off x="9241536" y="6120384"/>
            <a:ext cx="1097280" cy="268224"/>
          </a:xfrm>
          <a:prstGeom prst="roundRect">
            <a:avLst>
              <a:gd name="adj" fmla="val 27273"/>
            </a:avLst>
          </a:prstGeom>
          <a:solidFill>
            <a:srgbClr val="DBEAFE"/>
          </a:solidFill>
          <a:ln w="127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221" name="Google Shape;1221;p24"/>
          <p:cNvSpPr/>
          <p:nvPr/>
        </p:nvSpPr>
        <p:spPr>
          <a:xfrm>
            <a:off x="9241536" y="6120384"/>
            <a:ext cx="109728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2563EB"/>
              </a:buClr>
              <a:buSzPts val="750"/>
            </a:pPr>
            <a:r>
              <a:rPr lang="en-US" sz="1000" dirty="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Sub-module 6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24"/>
          <p:cNvSpPr/>
          <p:nvPr/>
        </p:nvSpPr>
        <p:spPr>
          <a:xfrm>
            <a:off x="6486144" y="6473952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850"/>
            </a:pPr>
            <a:r>
              <a:rPr lang="en-US" sz="11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AXI UART peripheral standalone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22"/>
          <p:cNvSpPr/>
          <p:nvPr/>
        </p:nvSpPr>
        <p:spPr>
          <a:xfrm>
            <a:off x="365753" y="390133"/>
            <a:ext cx="11338400" cy="8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FFFFF"/>
              </a:buClr>
              <a:buSzPts val="2000"/>
            </a:pPr>
            <a:r>
              <a:rPr lang="en-US" sz="2667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OpenLane &amp; Synthesis Configuration</a:t>
            </a:r>
            <a:endParaRPr sz="26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22"/>
          <p:cNvSpPr/>
          <p:nvPr/>
        </p:nvSpPr>
        <p:spPr>
          <a:xfrm>
            <a:off x="365760" y="1280160"/>
            <a:ext cx="5486400" cy="512064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025" name="Google Shape;1025;p22"/>
          <p:cNvSpPr/>
          <p:nvPr/>
        </p:nvSpPr>
        <p:spPr>
          <a:xfrm>
            <a:off x="548640" y="134112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B7280"/>
              </a:buClr>
              <a:buSzPts val="900"/>
            </a:pPr>
            <a:r>
              <a:rPr lang="en-US" sz="120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# Synthesis: make synth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22"/>
          <p:cNvSpPr/>
          <p:nvPr/>
        </p:nvSpPr>
        <p:spPr>
          <a:xfrm>
            <a:off x="548640" y="178003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93C5FD"/>
              </a:buClr>
              <a:buSzPts val="850"/>
            </a:pPr>
            <a:r>
              <a:rPr lang="en-US" sz="1133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yosys -D SYNTHESIS \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22"/>
          <p:cNvSpPr/>
          <p:nvPr/>
        </p:nvSpPr>
        <p:spPr>
          <a:xfrm>
            <a:off x="548640" y="2048256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E2E8F0"/>
              </a:buClr>
              <a:buSzPts val="850"/>
            </a:pPr>
            <a:r>
              <a:rPr lang="en-US" sz="1133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-p 'synth_design -top top' \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22"/>
          <p:cNvSpPr/>
          <p:nvPr/>
        </p:nvSpPr>
        <p:spPr>
          <a:xfrm>
            <a:off x="548640" y="231648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86EFAC"/>
              </a:buClr>
              <a:buSzPts val="850"/>
            </a:pPr>
            <a:r>
              <a:rPr lang="en-US" sz="1133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  rtl/picorv32.v rtl/top.v \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22"/>
          <p:cNvSpPr/>
          <p:nvPr/>
        </p:nvSpPr>
        <p:spPr>
          <a:xfrm>
            <a:off x="548640" y="2584704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86EFAC"/>
              </a:buClr>
              <a:buSzPts val="850"/>
            </a:pPr>
            <a:r>
              <a:rPr lang="en-US" sz="1133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  rtl/axi_lite_interconnect.v \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22"/>
          <p:cNvSpPr/>
          <p:nvPr/>
        </p:nvSpPr>
        <p:spPr>
          <a:xfrm>
            <a:off x="548640" y="2852928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86EFAC"/>
              </a:buClr>
              <a:buSzPts val="850"/>
            </a:pPr>
            <a:r>
              <a:rPr lang="en-US" sz="1133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  rtl/axi_decoder.v \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22"/>
          <p:cNvSpPr/>
          <p:nvPr/>
        </p:nvSpPr>
        <p:spPr>
          <a:xfrm>
            <a:off x="548640" y="3121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86EFAC"/>
              </a:buClr>
              <a:buSzPts val="850"/>
            </a:pPr>
            <a:r>
              <a:rPr lang="en-US" sz="1133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  rtl/rom.v rtl/sram.v \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22"/>
          <p:cNvSpPr/>
          <p:nvPr/>
        </p:nvSpPr>
        <p:spPr>
          <a:xfrm>
            <a:off x="548640" y="3389376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86EFAC"/>
              </a:buClr>
              <a:buSzPts val="850"/>
            </a:pPr>
            <a:r>
              <a:rPr lang="en-US" sz="1133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  rtl/uart_axi.v \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22"/>
          <p:cNvSpPr/>
          <p:nvPr/>
        </p:nvSpPr>
        <p:spPr>
          <a:xfrm>
            <a:off x="548640" y="365760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86EFAC"/>
              </a:buClr>
              <a:buSzPts val="850"/>
            </a:pPr>
            <a:r>
              <a:rPr lang="en-US" sz="1133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  rtl/uart_tx.v rtl/uart_rx.v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22"/>
          <p:cNvSpPr/>
          <p:nvPr/>
        </p:nvSpPr>
        <p:spPr>
          <a:xfrm>
            <a:off x="548640" y="3925824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chemeClr val="dk1"/>
              </a:buClr>
              <a:buSzPts val="850"/>
            </a:pP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22"/>
          <p:cNvSpPr/>
          <p:nvPr/>
        </p:nvSpPr>
        <p:spPr>
          <a:xfrm>
            <a:off x="548640" y="4194048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B7280"/>
              </a:buClr>
              <a:buSzPts val="850"/>
            </a:pPr>
            <a:r>
              <a:rPr lang="en-US" sz="1133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# Outputs: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22"/>
          <p:cNvSpPr/>
          <p:nvPr/>
        </p:nvSpPr>
        <p:spPr>
          <a:xfrm>
            <a:off x="548640" y="446227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FCD34D"/>
              </a:buClr>
              <a:buSzPts val="850"/>
            </a:pPr>
            <a:r>
              <a:rPr lang="en-US" sz="1133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→ top.json   (JSON netlist)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22"/>
          <p:cNvSpPr/>
          <p:nvPr/>
        </p:nvSpPr>
        <p:spPr>
          <a:xfrm>
            <a:off x="548640" y="4730496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FCD34D"/>
              </a:buClr>
              <a:buSzPts val="850"/>
            </a:pPr>
            <a:r>
              <a:rPr lang="en-US" sz="1133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→ synth.v    (Verilog netlist)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22"/>
          <p:cNvSpPr/>
          <p:nvPr/>
        </p:nvSpPr>
        <p:spPr>
          <a:xfrm>
            <a:off x="548640" y="499872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chemeClr val="dk1"/>
              </a:buClr>
              <a:buSzPts val="850"/>
            </a:pP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22"/>
          <p:cNvSpPr/>
          <p:nvPr/>
        </p:nvSpPr>
        <p:spPr>
          <a:xfrm>
            <a:off x="548640" y="5266944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6B7280"/>
              </a:buClr>
              <a:buSzPts val="850"/>
            </a:pPr>
            <a:r>
              <a:rPr lang="en-US" sz="1133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# ASIC-clean constraints: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22"/>
          <p:cNvSpPr/>
          <p:nvPr/>
        </p:nvSpPr>
        <p:spPr>
          <a:xfrm>
            <a:off x="548640" y="5535168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E2E8F0"/>
              </a:buClr>
              <a:buSzPts val="850"/>
            </a:pPr>
            <a:r>
              <a:rPr lang="en-US" sz="1133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-D SYNTHESIS activates: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22"/>
          <p:cNvSpPr/>
          <p:nvPr/>
        </p:nvSpPr>
        <p:spPr>
          <a:xfrm>
            <a:off x="548640" y="580339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86EFAC"/>
              </a:buClr>
              <a:buSzPts val="850"/>
            </a:pPr>
            <a:r>
              <a:rPr lang="en-US" sz="1133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  • case-stmt ROM (not readmemh)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22"/>
          <p:cNvSpPr/>
          <p:nvPr/>
        </p:nvSpPr>
        <p:spPr>
          <a:xfrm>
            <a:off x="548640" y="6071616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86EFAC"/>
              </a:buClr>
              <a:buSzPts val="850"/>
            </a:pPr>
            <a:r>
              <a:rPr lang="en-US" sz="1133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  • no initial blocks anywhere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22"/>
          <p:cNvSpPr/>
          <p:nvPr/>
        </p:nvSpPr>
        <p:spPr>
          <a:xfrm>
            <a:off x="548640" y="633984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86EFAC"/>
              </a:buClr>
              <a:buSzPts val="850"/>
            </a:pPr>
            <a:r>
              <a:rPr lang="en-US" sz="1133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  • no inline reg initializers</a:t>
            </a:r>
            <a:endParaRPr sz="1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22"/>
          <p:cNvSpPr/>
          <p:nvPr/>
        </p:nvSpPr>
        <p:spPr>
          <a:xfrm>
            <a:off x="6217920" y="1280160"/>
            <a:ext cx="5608320" cy="5120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045" name="Google Shape;1045;p22"/>
          <p:cNvSpPr/>
          <p:nvPr/>
        </p:nvSpPr>
        <p:spPr>
          <a:xfrm>
            <a:off x="6217920" y="1280160"/>
            <a:ext cx="5608320" cy="48768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046" name="Google Shape;1046;p22"/>
          <p:cNvSpPr/>
          <p:nvPr/>
        </p:nvSpPr>
        <p:spPr>
          <a:xfrm>
            <a:off x="6217920" y="1280160"/>
            <a:ext cx="560832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100"/>
            </a:pPr>
            <a:r>
              <a:rPr lang="en-US" sz="1467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OpenLane Physical Design Flow</a:t>
            </a:r>
            <a:endParaRPr sz="14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22"/>
          <p:cNvSpPr/>
          <p:nvPr/>
        </p:nvSpPr>
        <p:spPr>
          <a:xfrm>
            <a:off x="6315456" y="1853184"/>
            <a:ext cx="5388864" cy="58521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048" name="Google Shape;1048;p22"/>
          <p:cNvSpPr/>
          <p:nvPr/>
        </p:nvSpPr>
        <p:spPr>
          <a:xfrm>
            <a:off x="6364224" y="1926336"/>
            <a:ext cx="243840" cy="243840"/>
          </a:xfrm>
          <a:prstGeom prst="ellipse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049" name="Google Shape;1049;p22"/>
          <p:cNvSpPr/>
          <p:nvPr/>
        </p:nvSpPr>
        <p:spPr>
          <a:xfrm>
            <a:off x="6681216" y="1901952"/>
            <a:ext cx="146304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0F766E"/>
              </a:buClr>
              <a:buSzPts val="950"/>
            </a:pPr>
            <a:r>
              <a:rPr lang="en-US" sz="1267" b="1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Synthesis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22"/>
          <p:cNvSpPr/>
          <p:nvPr/>
        </p:nvSpPr>
        <p:spPr>
          <a:xfrm>
            <a:off x="8193024" y="1901952"/>
            <a:ext cx="3389376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900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Yosys: RTL → gate-level netlist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2"/>
          <p:cNvSpPr/>
          <p:nvPr/>
        </p:nvSpPr>
        <p:spPr>
          <a:xfrm>
            <a:off x="6315456" y="2487168"/>
            <a:ext cx="5388864" cy="58521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052" name="Google Shape;1052;p22"/>
          <p:cNvSpPr/>
          <p:nvPr/>
        </p:nvSpPr>
        <p:spPr>
          <a:xfrm>
            <a:off x="6364224" y="2560320"/>
            <a:ext cx="243840" cy="243840"/>
          </a:xfrm>
          <a:prstGeom prst="ellipse">
            <a:avLst/>
          </a:prstGeom>
          <a:solidFill>
            <a:srgbClr val="15803D"/>
          </a:solidFill>
          <a:ln w="12700" cap="flat" cmpd="sng">
            <a:solidFill>
              <a:srgbClr val="1580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053" name="Google Shape;1053;p22"/>
          <p:cNvSpPr/>
          <p:nvPr/>
        </p:nvSpPr>
        <p:spPr>
          <a:xfrm>
            <a:off x="6681216" y="2535936"/>
            <a:ext cx="146304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5803D"/>
              </a:buClr>
              <a:buSzPts val="950"/>
            </a:pPr>
            <a:r>
              <a:rPr lang="en-US" sz="1267" b="1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Floorplan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22"/>
          <p:cNvSpPr/>
          <p:nvPr/>
        </p:nvSpPr>
        <p:spPr>
          <a:xfrm>
            <a:off x="8193024" y="2535936"/>
            <a:ext cx="3389376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900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Die area, core area, I/O placement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22"/>
          <p:cNvSpPr/>
          <p:nvPr/>
        </p:nvSpPr>
        <p:spPr>
          <a:xfrm>
            <a:off x="6315456" y="3121152"/>
            <a:ext cx="5388864" cy="58521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056" name="Google Shape;1056;p22"/>
          <p:cNvSpPr/>
          <p:nvPr/>
        </p:nvSpPr>
        <p:spPr>
          <a:xfrm>
            <a:off x="6364224" y="3194304"/>
            <a:ext cx="243840" cy="243840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057" name="Google Shape;1057;p22"/>
          <p:cNvSpPr/>
          <p:nvPr/>
        </p:nvSpPr>
        <p:spPr>
          <a:xfrm>
            <a:off x="6681216" y="3169920"/>
            <a:ext cx="146304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2563EB"/>
              </a:buClr>
              <a:buSzPts val="950"/>
            </a:pPr>
            <a:r>
              <a:rPr lang="en-US" sz="1267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Placement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22"/>
          <p:cNvSpPr/>
          <p:nvPr/>
        </p:nvSpPr>
        <p:spPr>
          <a:xfrm>
            <a:off x="8193024" y="3169920"/>
            <a:ext cx="3389376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900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Standard cell placement (RePlAce)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22"/>
          <p:cNvSpPr/>
          <p:nvPr/>
        </p:nvSpPr>
        <p:spPr>
          <a:xfrm>
            <a:off x="6315456" y="3755136"/>
            <a:ext cx="5388864" cy="58521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060" name="Google Shape;1060;p22"/>
          <p:cNvSpPr/>
          <p:nvPr/>
        </p:nvSpPr>
        <p:spPr>
          <a:xfrm>
            <a:off x="6364224" y="3828288"/>
            <a:ext cx="243840" cy="243840"/>
          </a:xfrm>
          <a:prstGeom prst="ellipse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061" name="Google Shape;1061;p22"/>
          <p:cNvSpPr/>
          <p:nvPr/>
        </p:nvSpPr>
        <p:spPr>
          <a:xfrm>
            <a:off x="6681216" y="3803904"/>
            <a:ext cx="146304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7C3AED"/>
              </a:buClr>
              <a:buSzPts val="950"/>
            </a:pPr>
            <a:r>
              <a:rPr lang="en-US" sz="1267" b="1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CTS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22"/>
          <p:cNvSpPr/>
          <p:nvPr/>
        </p:nvSpPr>
        <p:spPr>
          <a:xfrm>
            <a:off x="8193024" y="3803904"/>
            <a:ext cx="3389376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900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Clock Tree Synthesis — H-tree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22"/>
          <p:cNvSpPr/>
          <p:nvPr/>
        </p:nvSpPr>
        <p:spPr>
          <a:xfrm>
            <a:off x="6315456" y="4389120"/>
            <a:ext cx="5388864" cy="58521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064" name="Google Shape;1064;p22"/>
          <p:cNvSpPr/>
          <p:nvPr/>
        </p:nvSpPr>
        <p:spPr>
          <a:xfrm>
            <a:off x="6364224" y="4462272"/>
            <a:ext cx="243840" cy="243840"/>
          </a:xfrm>
          <a:prstGeom prst="ellipse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065" name="Google Shape;1065;p22"/>
          <p:cNvSpPr/>
          <p:nvPr/>
        </p:nvSpPr>
        <p:spPr>
          <a:xfrm>
            <a:off x="6681216" y="4437888"/>
            <a:ext cx="146304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0891B2"/>
              </a:buClr>
              <a:buSzPts val="950"/>
            </a:pPr>
            <a:r>
              <a:rPr lang="en-US" sz="1267" b="1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Routing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22"/>
          <p:cNvSpPr/>
          <p:nvPr/>
        </p:nvSpPr>
        <p:spPr>
          <a:xfrm>
            <a:off x="8193024" y="4437888"/>
            <a:ext cx="3389376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900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Global + detailed (OpenROAD)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22"/>
          <p:cNvSpPr/>
          <p:nvPr/>
        </p:nvSpPr>
        <p:spPr>
          <a:xfrm>
            <a:off x="6315456" y="5023104"/>
            <a:ext cx="5388864" cy="58521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068" name="Google Shape;1068;p22"/>
          <p:cNvSpPr/>
          <p:nvPr/>
        </p:nvSpPr>
        <p:spPr>
          <a:xfrm>
            <a:off x="6364224" y="5096256"/>
            <a:ext cx="243840" cy="243840"/>
          </a:xfrm>
          <a:prstGeom prst="ellipse">
            <a:avLst/>
          </a:prstGeom>
          <a:solidFill>
            <a:srgbClr val="B45309"/>
          </a:solidFill>
          <a:ln w="12700" cap="flat" cmpd="sng">
            <a:solidFill>
              <a:srgbClr val="B4530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069" name="Google Shape;1069;p22"/>
          <p:cNvSpPr/>
          <p:nvPr/>
        </p:nvSpPr>
        <p:spPr>
          <a:xfrm>
            <a:off x="6681216" y="5071872"/>
            <a:ext cx="146304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B45309"/>
              </a:buClr>
              <a:buSzPts val="950"/>
            </a:pPr>
            <a:r>
              <a:rPr lang="en-US" sz="1267" b="1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DRC / LVS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22"/>
          <p:cNvSpPr/>
          <p:nvPr/>
        </p:nvSpPr>
        <p:spPr>
          <a:xfrm>
            <a:off x="8193024" y="5071872"/>
            <a:ext cx="3389376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900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Magic + Netgen checks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22"/>
          <p:cNvSpPr/>
          <p:nvPr/>
        </p:nvSpPr>
        <p:spPr>
          <a:xfrm>
            <a:off x="6315456" y="5657088"/>
            <a:ext cx="5388864" cy="58521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072" name="Google Shape;1072;p22"/>
          <p:cNvSpPr/>
          <p:nvPr/>
        </p:nvSpPr>
        <p:spPr>
          <a:xfrm>
            <a:off x="6364224" y="5730240"/>
            <a:ext cx="243840" cy="243840"/>
          </a:xfrm>
          <a:prstGeom prst="ellipse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073" name="Google Shape;1073;p22"/>
          <p:cNvSpPr/>
          <p:nvPr/>
        </p:nvSpPr>
        <p:spPr>
          <a:xfrm>
            <a:off x="6681216" y="5705856"/>
            <a:ext cx="146304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DC2626"/>
              </a:buClr>
              <a:buSzPts val="950"/>
            </a:pPr>
            <a:r>
              <a:rPr lang="en-US" sz="1267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GDSII Export</a:t>
            </a:r>
            <a:endParaRPr sz="1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22"/>
          <p:cNvSpPr/>
          <p:nvPr/>
        </p:nvSpPr>
        <p:spPr>
          <a:xfrm>
            <a:off x="8193024" y="5705856"/>
            <a:ext cx="3389376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1E293B"/>
              </a:buClr>
              <a:buSzPts val="900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KLayout → GDSII stream out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22"/>
          <p:cNvSpPr/>
          <p:nvPr/>
        </p:nvSpPr>
        <p:spPr>
          <a:xfrm>
            <a:off x="365760" y="6522720"/>
            <a:ext cx="11460480" cy="463296"/>
          </a:xfrm>
          <a:prstGeom prst="rect">
            <a:avLst/>
          </a:prstGeom>
          <a:solidFill>
            <a:srgbClr val="E0E7FF"/>
          </a:solidFill>
          <a:ln w="12700" cap="flat" cmpd="sng">
            <a:solidFill>
              <a:srgbClr val="A5B4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076" name="Google Shape;1076;p22"/>
          <p:cNvSpPr/>
          <p:nvPr/>
        </p:nvSpPr>
        <p:spPr>
          <a:xfrm>
            <a:off x="548640" y="6522720"/>
            <a:ext cx="1109472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4338CA"/>
              </a:buClr>
              <a:buSzPts val="1000"/>
            </a:pPr>
            <a:r>
              <a:rPr lang="en-US" sz="1333">
                <a:solidFill>
                  <a:srgbClr val="4338CA"/>
                </a:solidFill>
                <a:latin typeface="Calibri"/>
                <a:ea typeface="Calibri"/>
                <a:cs typeface="Calibri"/>
                <a:sym typeface="Calibri"/>
              </a:rPr>
              <a:t>Technology: SkyWater 130nm PDK  |  Config: openlane_design/config.json  |  Command: make openlane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2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78761" y="5657850"/>
            <a:ext cx="463153" cy="445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2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78761" y="4368403"/>
            <a:ext cx="463153" cy="445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2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78761" y="3161407"/>
            <a:ext cx="463153" cy="30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2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2196" y="5664696"/>
            <a:ext cx="463153" cy="438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2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38659" y="4361557"/>
            <a:ext cx="402282" cy="459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2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89992" y="3106638"/>
            <a:ext cx="475357" cy="438894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28"/>
          <p:cNvSpPr/>
          <p:nvPr/>
        </p:nvSpPr>
        <p:spPr>
          <a:xfrm>
            <a:off x="938659" y="1010345"/>
            <a:ext cx="11229975" cy="532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25"/>
              <a:buFont typeface="Noto Sans KR"/>
              <a:buNone/>
            </a:pPr>
            <a:r>
              <a:rPr lang="en-US" sz="3525" b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Applications of the SoC</a:t>
            </a:r>
            <a:endParaRPr sz="35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8"/>
          <p:cNvSpPr/>
          <p:nvPr/>
        </p:nvSpPr>
        <p:spPr>
          <a:xfrm>
            <a:off x="902196" y="1864271"/>
            <a:ext cx="10634663" cy="709613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9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lang="en-US" sz="1875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RISC-V SoC subsystem offers a flexible and efficient platform across various</a:t>
            </a:r>
            <a:br>
              <a:rPr lang="en-US" sz="1875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75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embedded application domains, from industrial control to academic research.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8"/>
          <p:cNvSpPr/>
          <p:nvPr/>
        </p:nvSpPr>
        <p:spPr>
          <a:xfrm>
            <a:off x="1447800" y="3143250"/>
            <a:ext cx="4572000" cy="307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Noto Sans KR"/>
              <a:buNone/>
            </a:pPr>
            <a:r>
              <a:rPr lang="en-US" sz="1875" b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IoT Edge Devices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8"/>
          <p:cNvSpPr/>
          <p:nvPr/>
        </p:nvSpPr>
        <p:spPr>
          <a:xfrm>
            <a:off x="1447800" y="4419600"/>
            <a:ext cx="6000750" cy="307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Noto Sans KR"/>
              <a:buNone/>
            </a:pPr>
            <a:r>
              <a:rPr lang="en-US" sz="1875" b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Wireless Sensor Nodes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8"/>
          <p:cNvSpPr/>
          <p:nvPr/>
        </p:nvSpPr>
        <p:spPr>
          <a:xfrm>
            <a:off x="1447800" y="5705475"/>
            <a:ext cx="8858250" cy="307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Noto Sans KR"/>
              <a:buNone/>
            </a:pPr>
            <a:r>
              <a:rPr lang="en-US" sz="1875" b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Industrial Embedded Controllers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8"/>
          <p:cNvSpPr/>
          <p:nvPr/>
        </p:nvSpPr>
        <p:spPr>
          <a:xfrm>
            <a:off x="6867525" y="3143250"/>
            <a:ext cx="5324475" cy="307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Noto Sans KR"/>
              <a:buNone/>
            </a:pPr>
            <a:r>
              <a:rPr lang="en-US" sz="1875" b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Educational VLSI Platform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8"/>
          <p:cNvSpPr/>
          <p:nvPr/>
        </p:nvSpPr>
        <p:spPr>
          <a:xfrm>
            <a:off x="6867525" y="4419600"/>
            <a:ext cx="5324475" cy="307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Noto Sans KR"/>
              <a:buNone/>
            </a:pPr>
            <a:r>
              <a:rPr lang="en-US" sz="1875" b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Custom Accelerator Prototyping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8"/>
          <p:cNvSpPr/>
          <p:nvPr/>
        </p:nvSpPr>
        <p:spPr>
          <a:xfrm>
            <a:off x="6867525" y="5705475"/>
            <a:ext cx="5324475" cy="307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Noto Sans KR"/>
              <a:buNone/>
            </a:pPr>
            <a:r>
              <a:rPr lang="en-US" sz="1875" b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Low-Cost Silicon Research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8"/>
          <p:cNvSpPr/>
          <p:nvPr/>
        </p:nvSpPr>
        <p:spPr>
          <a:xfrm>
            <a:off x="1447800" y="3486150"/>
            <a:ext cx="4882455" cy="565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8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Noto Sans KR"/>
              <a:buNone/>
            </a:pPr>
            <a:r>
              <a:rPr lang="en-US" sz="172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Low power, small footprint, for sensor</a:t>
            </a:r>
            <a:br>
              <a:rPr lang="en-US" sz="172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72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data processing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8"/>
          <p:cNvSpPr/>
          <p:nvPr/>
        </p:nvSpPr>
        <p:spPr>
          <a:xfrm>
            <a:off x="1447800" y="4762500"/>
            <a:ext cx="4934843" cy="565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8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Noto Sans KR"/>
              <a:buNone/>
            </a:pPr>
            <a:r>
              <a:rPr lang="en-US" sz="172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Efficient environmental data collection</a:t>
            </a:r>
            <a:br>
              <a:rPr lang="en-US" sz="172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72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with UART and SRAM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8"/>
          <p:cNvSpPr/>
          <p:nvPr/>
        </p:nvSpPr>
        <p:spPr>
          <a:xfrm>
            <a:off x="1447800" y="6048375"/>
            <a:ext cx="5050036" cy="565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8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Noto Sans KR"/>
              <a:buNone/>
            </a:pPr>
            <a:r>
              <a:rPr lang="en-US" sz="172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Reliable real-time control in lightweight</a:t>
            </a:r>
            <a:br>
              <a:rPr lang="en-US" sz="172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72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automation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8"/>
          <p:cNvSpPr/>
          <p:nvPr/>
        </p:nvSpPr>
        <p:spPr>
          <a:xfrm>
            <a:off x="6867525" y="3486150"/>
            <a:ext cx="4295775" cy="565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8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Noto Sans KR"/>
              <a:buNone/>
            </a:pPr>
            <a:r>
              <a:rPr lang="en-US" sz="172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Hands-on learning platform using</a:t>
            </a:r>
            <a:br>
              <a:rPr lang="en-US" sz="172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72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OpenLane &amp; SkyWater PDK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8"/>
          <p:cNvSpPr/>
          <p:nvPr/>
        </p:nvSpPr>
        <p:spPr>
          <a:xfrm>
            <a:off x="6867525" y="4762500"/>
            <a:ext cx="3687961" cy="565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8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Noto Sans KR"/>
              <a:buNone/>
            </a:pPr>
            <a:r>
              <a:rPr lang="en-US" sz="172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Domain-specific accelerator</a:t>
            </a:r>
            <a:br>
              <a:rPr lang="en-US" sz="172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72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prototyping with modular ISA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8"/>
          <p:cNvSpPr/>
          <p:nvPr/>
        </p:nvSpPr>
        <p:spPr>
          <a:xfrm>
            <a:off x="6867525" y="6048375"/>
            <a:ext cx="4568130" cy="565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8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Noto Sans KR"/>
              <a:buNone/>
            </a:pPr>
            <a:r>
              <a:rPr lang="en-US" sz="172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Affordable academic tape-outs with</a:t>
            </a:r>
            <a:br>
              <a:rPr lang="en-US" sz="172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72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royalty-free design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2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29751" y="5054203"/>
            <a:ext cx="755898" cy="774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2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62430" y="3633490"/>
            <a:ext cx="499765" cy="452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p2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25818" y="2933327"/>
            <a:ext cx="536377" cy="528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2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4494" y="4766221"/>
            <a:ext cx="482205" cy="483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2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41201" y="4781550"/>
            <a:ext cx="755898" cy="740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2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4965" y="2933327"/>
            <a:ext cx="731490" cy="754261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29"/>
          <p:cNvSpPr/>
          <p:nvPr/>
        </p:nvSpPr>
        <p:spPr>
          <a:xfrm>
            <a:off x="962025" y="923925"/>
            <a:ext cx="5829300" cy="612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6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5"/>
              <a:buFont typeface="Arial Black"/>
              <a:buNone/>
            </a:pPr>
            <a:r>
              <a:rPr lang="en-US" sz="3825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Conclusion</a:t>
            </a:r>
            <a:endParaRPr sz="3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9"/>
          <p:cNvSpPr/>
          <p:nvPr/>
        </p:nvSpPr>
        <p:spPr>
          <a:xfrm>
            <a:off x="1076325" y="2590800"/>
            <a:ext cx="3657600" cy="228600"/>
          </a:xfrm>
          <a:prstGeom prst="rect">
            <a:avLst/>
          </a:prstGeom>
          <a:solidFill>
            <a:srgbClr val="8DA9D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Core Integration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9"/>
          <p:cNvSpPr/>
          <p:nvPr/>
        </p:nvSpPr>
        <p:spPr>
          <a:xfrm>
            <a:off x="4495800" y="2590800"/>
            <a:ext cx="5181600" cy="238274"/>
          </a:xfrm>
          <a:prstGeom prst="rect">
            <a:avLst/>
          </a:prstGeom>
          <a:solidFill>
            <a:srgbClr val="8DA9D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AXI4-Lite Interconnect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9"/>
          <p:cNvSpPr/>
          <p:nvPr/>
        </p:nvSpPr>
        <p:spPr>
          <a:xfrm>
            <a:off x="7905750" y="2590800"/>
            <a:ext cx="3289846" cy="240060"/>
          </a:xfrm>
          <a:prstGeom prst="rect">
            <a:avLst/>
          </a:prstGeom>
          <a:solidFill>
            <a:srgbClr val="8DA9D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alibri"/>
              <a:buNone/>
            </a:pPr>
            <a:r>
              <a:rPr lang="en-US" sz="1575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Peripheral Design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9"/>
          <p:cNvSpPr/>
          <p:nvPr/>
        </p:nvSpPr>
        <p:spPr>
          <a:xfrm>
            <a:off x="1076325" y="4371975"/>
            <a:ext cx="4080510" cy="240060"/>
          </a:xfrm>
          <a:prstGeom prst="rect">
            <a:avLst/>
          </a:prstGeom>
          <a:solidFill>
            <a:srgbClr val="8DA9D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alibri"/>
              <a:buNone/>
            </a:pPr>
            <a:r>
              <a:rPr lang="en-US" sz="1575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RTL-to-GDSII Flow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9"/>
          <p:cNvSpPr/>
          <p:nvPr/>
        </p:nvSpPr>
        <p:spPr>
          <a:xfrm>
            <a:off x="4495800" y="4371975"/>
            <a:ext cx="4732020" cy="240060"/>
          </a:xfrm>
          <a:prstGeom prst="rect">
            <a:avLst/>
          </a:prstGeom>
          <a:solidFill>
            <a:srgbClr val="8DA9D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Manufacturability GDSII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9"/>
          <p:cNvSpPr/>
          <p:nvPr/>
        </p:nvSpPr>
        <p:spPr>
          <a:xfrm>
            <a:off x="7905750" y="4371975"/>
            <a:ext cx="3289846" cy="228600"/>
          </a:xfrm>
          <a:prstGeom prst="rect">
            <a:avLst/>
          </a:prstGeom>
          <a:solidFill>
            <a:srgbClr val="8DA9D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Ecosystem Validation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9"/>
          <p:cNvSpPr/>
          <p:nvPr/>
        </p:nvSpPr>
        <p:spPr>
          <a:xfrm>
            <a:off x="1024456" y="1778570"/>
            <a:ext cx="10022287" cy="569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99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n-US" sz="1725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project successfully demonstrates a low-cost, all-open-source design-to-silicon flow for a</a:t>
            </a:r>
            <a:br>
              <a:rPr lang="en-US" sz="1725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25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RISC-V SoC subsystem, from RTL implementation to physical design.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9"/>
          <p:cNvSpPr/>
          <p:nvPr/>
        </p:nvSpPr>
        <p:spPr>
          <a:xfrm>
            <a:off x="1076325" y="3000375"/>
            <a:ext cx="3488978" cy="1200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PicoRV32 RV32IMC core was</a:t>
            </a:r>
            <a:b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implemented with an AXI4-Lite</a:t>
            </a:r>
            <a:b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master interface, enabling</a:t>
            </a:r>
            <a:b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seamless communication across</a:t>
            </a:r>
            <a:b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SoC subsystem.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9"/>
          <p:cNvSpPr/>
          <p:nvPr/>
        </p:nvSpPr>
        <p:spPr>
          <a:xfrm>
            <a:off x="4495800" y="3000375"/>
            <a:ext cx="3499396" cy="114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6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five-channel AXI4-Lite fabric</a:t>
            </a:r>
            <a:b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VALID/READY handshake</a:t>
            </a:r>
            <a:b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was functionally verified, ensuring</a:t>
            </a:r>
            <a:b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reliable data transfer between the</a:t>
            </a:r>
            <a:b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master and slave peripherals.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9"/>
          <p:cNvSpPr/>
          <p:nvPr/>
        </p:nvSpPr>
        <p:spPr>
          <a:xfrm>
            <a:off x="7905750" y="3000375"/>
            <a:ext cx="3499396" cy="114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6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n-US" sz="14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2KB SRAM and UART modules</a:t>
            </a:r>
            <a:br>
              <a:rPr lang="en-US" sz="14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were successfully designed in</a:t>
            </a:r>
            <a:br>
              <a:rPr lang="en-US" sz="14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RTL and verified, supporting data</a:t>
            </a:r>
            <a:br>
              <a:rPr lang="en-US" sz="14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storage and serial communication</a:t>
            </a:r>
            <a:br>
              <a:rPr lang="en-US" sz="14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embedded applications.</a:t>
            </a:r>
            <a:endParaRPr sz="14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9"/>
          <p:cNvSpPr/>
          <p:nvPr/>
        </p:nvSpPr>
        <p:spPr>
          <a:xfrm>
            <a:off x="1076325" y="4781550"/>
            <a:ext cx="3488978" cy="1259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OpenLane automated the full</a:t>
            </a:r>
            <a:b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 design flow including</a:t>
            </a:r>
            <a:b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synthesis, placement, routing,</a:t>
            </a:r>
            <a:b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DRC/LVS checks using the</a:t>
            </a:r>
            <a:b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SkyWater 130nm PDK.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9"/>
          <p:cNvSpPr/>
          <p:nvPr/>
        </p:nvSpPr>
        <p:spPr>
          <a:xfrm>
            <a:off x="4495800" y="4781550"/>
            <a:ext cx="3488978" cy="1200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final GDSII output was</a:t>
            </a:r>
            <a:b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produced, demonstrating a</a:t>
            </a:r>
            <a:b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complete and low-cost path from</a:t>
            </a:r>
            <a:b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RTL design to a foundry-ready</a:t>
            </a:r>
            <a:b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 layout.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9"/>
          <p:cNvSpPr/>
          <p:nvPr/>
        </p:nvSpPr>
        <p:spPr>
          <a:xfrm>
            <a:off x="7905750" y="4781550"/>
            <a:ext cx="3289846" cy="1368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6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project confirms that open-</a:t>
            </a:r>
            <a:b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tools including RISC-V,</a:t>
            </a:r>
            <a:b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OpenLane, and SkyWater PDK</a:t>
            </a:r>
            <a:b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 a viable, accessible</a:t>
            </a:r>
            <a:b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platform for custom SoC</a:t>
            </a:r>
            <a:b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development.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6625</Words>
  <Application>Microsoft Office PowerPoint</Application>
  <PresentationFormat>Widescreen</PresentationFormat>
  <Paragraphs>971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Noto Sans KR</vt:lpstr>
      <vt:lpstr>Calibri</vt:lpstr>
      <vt:lpstr>Arial Narrow</vt:lpstr>
      <vt:lpstr>Poppins</vt:lpstr>
      <vt:lpstr>Arial</vt:lpstr>
      <vt:lpstr>Roboto</vt:lpstr>
      <vt:lpstr>Arial Black</vt:lpstr>
      <vt:lpstr>Consolas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                                                    </vt:lpstr>
      <vt:lpstr>PowerPoint Presentation</vt:lpstr>
      <vt:lpstr>                                              </vt:lpstr>
      <vt:lpstr>PowerPoint Presentation</vt:lpstr>
      <vt:lpstr>PowerPoint Presentation</vt:lpstr>
      <vt:lpstr>PowerPoint Presentation</vt:lpstr>
      <vt:lpstr>              </vt:lpstr>
      <vt:lpstr>      </vt:lpstr>
      <vt:lpstr>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acer</cp:lastModifiedBy>
  <cp:revision>2</cp:revision>
  <dcterms:created xsi:type="dcterms:W3CDTF">2026-04-16T10:47:59Z</dcterms:created>
  <dcterms:modified xsi:type="dcterms:W3CDTF">2026-05-09T13:16:16Z</dcterms:modified>
</cp:coreProperties>
</file>